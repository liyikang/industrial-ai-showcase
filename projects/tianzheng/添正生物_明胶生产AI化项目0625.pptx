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3.xml" ContentType="application/vnd.openxmlformats-officedocument.presentationml.notesSlide+xml"/>
  <Override PartName="/ppt/tags/tag13.xml" ContentType="application/vnd.openxmlformats-officedocument.presentationml.tags+xml"/>
  <Override PartName="/ppt/notesSlides/notesSlide4.xml" ContentType="application/vnd.openxmlformats-officedocument.presentationml.notesSlide+xml"/>
  <Override PartName="/ppt/tags/tag14.xml" ContentType="application/vnd.openxmlformats-officedocument.presentationml.tags+xml"/>
  <Override PartName="/ppt/notesSlides/notesSlide5.xml" ContentType="application/vnd.openxmlformats-officedocument.presentationml.notesSlide+xml"/>
  <Override PartName="/ppt/tags/tag15.xml" ContentType="application/vnd.openxmlformats-officedocument.presentationml.tags+xml"/>
  <Override PartName="/ppt/notesSlides/notesSlide6.xml" ContentType="application/vnd.openxmlformats-officedocument.presentationml.notesSlide+xml"/>
  <Override PartName="/ppt/tags/tag16.xml" ContentType="application/vnd.openxmlformats-officedocument.presentationml.tags+xml"/>
  <Override PartName="/ppt/notesSlides/notesSlide7.xml" ContentType="application/vnd.openxmlformats-officedocument.presentationml.notesSlide+xml"/>
  <Override PartName="/ppt/tags/tag17.xml" ContentType="application/vnd.openxmlformats-officedocument.presentationml.tags+xml"/>
  <Override PartName="/ppt/notesSlides/notesSlide8.xml" ContentType="application/vnd.openxmlformats-officedocument.presentationml.notesSlide+xml"/>
  <Override PartName="/ppt/tags/tag18.xml" ContentType="application/vnd.openxmlformats-officedocument.presentationml.tags+xml"/>
  <Override PartName="/ppt/notesSlides/notesSlide9.xml" ContentType="application/vnd.openxmlformats-officedocument.presentationml.notesSlide+xml"/>
  <Override PartName="/ppt/tags/tag19.xml" ContentType="application/vnd.openxmlformats-officedocument.presentationml.tags+xml"/>
  <Override PartName="/ppt/notesSlides/notesSlide10.xml" ContentType="application/vnd.openxmlformats-officedocument.presentationml.notesSlide+xml"/>
  <Override PartName="/ppt/tags/tag20.xml" ContentType="application/vnd.openxmlformats-officedocument.presentationml.tags+xml"/>
  <Override PartName="/ppt/notesSlides/notesSlide11.xml" ContentType="application/vnd.openxmlformats-officedocument.presentationml.notesSlide+xml"/>
  <Override PartName="/ppt/tags/tag21.xml" ContentType="application/vnd.openxmlformats-officedocument.presentationml.tags+xml"/>
  <Override PartName="/ppt/notesSlides/notesSlide12.xml" ContentType="application/vnd.openxmlformats-officedocument.presentationml.notesSlide+xml"/>
  <Override PartName="/ppt/tags/tag22.xml" ContentType="application/vnd.openxmlformats-officedocument.presentationml.tags+xml"/>
  <Override PartName="/ppt/notesSlides/notesSlide13.xml" ContentType="application/vnd.openxmlformats-officedocument.presentationml.notesSlide+xml"/>
  <Override PartName="/ppt/tags/tag23.xml" ContentType="application/vnd.openxmlformats-officedocument.presentationml.tags+xml"/>
  <Override PartName="/ppt/notesSlides/notesSlide14.xml" ContentType="application/vnd.openxmlformats-officedocument.presentationml.notesSlide+xml"/>
  <Override PartName="/ppt/tags/tag24.xml" ContentType="application/vnd.openxmlformats-officedocument.presentationml.tags+xml"/>
  <Override PartName="/ppt/notesSlides/notesSlide15.xml" ContentType="application/vnd.openxmlformats-officedocument.presentationml.notesSlide+xml"/>
  <Override PartName="/ppt/tags/tag25.xml" ContentType="application/vnd.openxmlformats-officedocument.presentationml.tags+xml"/>
  <Override PartName="/ppt/notesSlides/notesSlide16.xml" ContentType="application/vnd.openxmlformats-officedocument.presentationml.notesSlide+xml"/>
  <Override PartName="/ppt/tags/tag26.xml" ContentType="application/vnd.openxmlformats-officedocument.presentationml.tags+xml"/>
  <Override PartName="/ppt/notesSlides/notesSlide17.xml" ContentType="application/vnd.openxmlformats-officedocument.presentationml.notesSlide+xml"/>
  <Override PartName="/ppt/tags/tag27.xml" ContentType="application/vnd.openxmlformats-officedocument.presentationml.tags+xml"/>
  <Override PartName="/ppt/notesSlides/notesSlide18.xml" ContentType="application/vnd.openxmlformats-officedocument.presentationml.notesSlide+xml"/>
  <Override PartName="/ppt/tags/tag28.xml" ContentType="application/vnd.openxmlformats-officedocument.presentationml.tags+xml"/>
  <Override PartName="/ppt/notesSlides/notesSlide19.xml" ContentType="application/vnd.openxmlformats-officedocument.presentationml.notesSlide+xml"/>
  <Override PartName="/ppt/tags/tag29.xml" ContentType="application/vnd.openxmlformats-officedocument.presentationml.tags+xml"/>
  <Override PartName="/ppt/notesSlides/notesSlide20.xml" ContentType="application/vnd.openxmlformats-officedocument.presentationml.notesSlide+xml"/>
  <Override PartName="/ppt/tags/tag30.xml" ContentType="application/vnd.openxmlformats-officedocument.presentationml.tags+xml"/>
  <Override PartName="/ppt/notesSlides/notesSlide21.xml" ContentType="application/vnd.openxmlformats-officedocument.presentationml.notesSlide+xml"/>
  <Override PartName="/ppt/tags/tag31.xml" ContentType="application/vnd.openxmlformats-officedocument.presentationml.tags+xml"/>
  <Override PartName="/ppt/notesSlides/notesSlide22.xml" ContentType="application/vnd.openxmlformats-officedocument.presentationml.notesSlide+xml"/>
  <Override PartName="/ppt/tags/tag32.xml" ContentType="application/vnd.openxmlformats-officedocument.presentationml.tags+xml"/>
  <Override PartName="/ppt/notesSlides/notesSlide23.xml" ContentType="application/vnd.openxmlformats-officedocument.presentationml.notesSlide+xml"/>
  <Override PartName="/ppt/tags/tag33.xml" ContentType="application/vnd.openxmlformats-officedocument.presentationml.tags+xml"/>
  <Override PartName="/ppt/notesSlides/notesSlide24.xml" ContentType="application/vnd.openxmlformats-officedocument.presentationml.notesSlide+xml"/>
  <Override PartName="/ppt/tags/tag34.xml" ContentType="application/vnd.openxmlformats-officedocument.presentationml.tags+xml"/>
  <Override PartName="/ppt/notesSlides/notesSlide25.xml" ContentType="application/vnd.openxmlformats-officedocument.presentationml.notesSlide+xml"/>
  <Override PartName="/ppt/tags/tag35.xml" ContentType="application/vnd.openxmlformats-officedocument.presentationml.tags+xml"/>
  <Override PartName="/ppt/notesSlides/notesSlide26.xml" ContentType="application/vnd.openxmlformats-officedocument.presentationml.notesSlide+xml"/>
  <Override PartName="/ppt/tags/tag36.xml" ContentType="application/vnd.openxmlformats-officedocument.presentationml.tags+xml"/>
  <Override PartName="/ppt/notesSlides/notesSlide27.xml" ContentType="application/vnd.openxmlformats-officedocument.presentationml.notesSlide+xml"/>
  <Override PartName="/ppt/tags/tag37.xml" ContentType="application/vnd.openxmlformats-officedocument.presentationml.tags+xml"/>
  <Override PartName="/ppt/notesSlides/notesSlide28.xml" ContentType="application/vnd.openxmlformats-officedocument.presentationml.notesSlide+xml"/>
  <Override PartName="/ppt/tags/tag38.xml" ContentType="application/vnd.openxmlformats-officedocument.presentationml.tags+xml"/>
  <Override PartName="/ppt/notesSlides/notesSlide29.xml" ContentType="application/vnd.openxmlformats-officedocument.presentationml.notesSlide+xml"/>
  <Override PartName="/ppt/tags/tag39.xml" ContentType="application/vnd.openxmlformats-officedocument.presentationml.tags+xml"/>
  <Override PartName="/ppt/notesSlides/notesSlide30.xml" ContentType="application/vnd.openxmlformats-officedocument.presentationml.notesSlide+xml"/>
  <Override PartName="/ppt/tags/tag40.xml" ContentType="application/vnd.openxmlformats-officedocument.presentationml.tags+xml"/>
  <Override PartName="/ppt/notesSlides/notesSlide31.xml" ContentType="application/vnd.openxmlformats-officedocument.presentationml.notesSlide+xml"/>
  <Override PartName="/ppt/tags/tag41.xml" ContentType="application/vnd.openxmlformats-officedocument.presentationml.tags+xml"/>
  <Override PartName="/ppt/notesSlides/notesSlide32.xml" ContentType="application/vnd.openxmlformats-officedocument.presentationml.notesSlide+xml"/>
  <Override PartName="/ppt/tags/tag42.xml" ContentType="application/vnd.openxmlformats-officedocument.presentationml.tags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9"/>
  </p:notesMasterIdLst>
  <p:sldIdLst>
    <p:sldId id="256" r:id="rId2"/>
    <p:sldId id="273" r:id="rId3"/>
    <p:sldId id="272" r:id="rId4"/>
    <p:sldId id="271" r:id="rId5"/>
    <p:sldId id="285" r:id="rId6"/>
    <p:sldId id="279" r:id="rId7"/>
    <p:sldId id="288" r:id="rId8"/>
    <p:sldId id="289" r:id="rId9"/>
    <p:sldId id="284" r:id="rId10"/>
    <p:sldId id="286" r:id="rId11"/>
    <p:sldId id="260" r:id="rId12"/>
    <p:sldId id="283" r:id="rId13"/>
    <p:sldId id="290" r:id="rId14"/>
    <p:sldId id="298" r:id="rId15"/>
    <p:sldId id="305" r:id="rId16"/>
    <p:sldId id="311" r:id="rId17"/>
    <p:sldId id="315" r:id="rId18"/>
    <p:sldId id="262" r:id="rId19"/>
    <p:sldId id="265" r:id="rId20"/>
    <p:sldId id="264" r:id="rId21"/>
    <p:sldId id="287" r:id="rId22"/>
    <p:sldId id="268" r:id="rId23"/>
    <p:sldId id="259" r:id="rId24"/>
    <p:sldId id="261" r:id="rId25"/>
    <p:sldId id="267" r:id="rId26"/>
    <p:sldId id="263" r:id="rId27"/>
    <p:sldId id="266" r:id="rId28"/>
    <p:sldId id="258" r:id="rId29"/>
    <p:sldId id="276" r:id="rId30"/>
    <p:sldId id="269" r:id="rId31"/>
    <p:sldId id="281" r:id="rId32"/>
    <p:sldId id="282" r:id="rId33"/>
    <p:sldId id="280" r:id="rId34"/>
    <p:sldId id="278" r:id="rId35"/>
    <p:sldId id="277" r:id="rId36"/>
    <p:sldId id="270" r:id="rId37"/>
    <p:sldId id="257" r:id="rId38"/>
  </p:sldIdLst>
  <p:sldSz cx="12192000" cy="6858000"/>
  <p:notesSz cx="6858000" cy="12192000"/>
  <p:custDataLst>
    <p:tags r:id="rId40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2F4E"/>
    <a:srgbClr val="F7FAFC"/>
    <a:srgbClr val="5E6B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40" autoAdjust="0"/>
    <p:restoredTop sz="92641" autoAdjust="0"/>
  </p:normalViewPr>
  <p:slideViewPr>
    <p:cSldViewPr snapToGrid="0" snapToObjects="1">
      <p:cViewPr>
        <p:scale>
          <a:sx n="119" d="100"/>
          <a:sy n="119" d="100"/>
        </p:scale>
        <p:origin x="592" y="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04587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fld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689276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762783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912975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766038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84532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658611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361456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366545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070202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骨明胶</a:t>
            </a:r>
            <a:b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盐酸拿出来矿物质，产出是胶原蛋白（取出矿物质）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侵灰，氢氧化钙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2w-20w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道尔顿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水洗酸化脱酸，分为三步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提胶，用水煮，过滤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5.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阴阳离子交换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6.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膜过滤，超滤膜和纳滤膜把水过滤掉 浓度到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8-10</a:t>
            </a: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7.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蒸发，减压蒸馏，沸点变低，不想让分子量太小慢慢提高温度，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45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度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-100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度逐步上升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8.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灭菌，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138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度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秒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9.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降温，挤成面条状，然后慢慢风干，用冷风开始慢慢升温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10.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粉碎，作为半成品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11.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成品需要通过不同的半成品合成到成品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蛋白，进一步水解出来的产物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胶原蛋白肽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酶解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数字化正在推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库存有大量的半成品 在混版的过程当中合理 学习混胶原的经验，更加高效的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加权平均的公式现在通过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excel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在整理，人力为主，企业为主，销售的评判指标判断现在的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在配方之前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询问市场现状 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质量问题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异物较多，设备层面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冻力为准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重量为主，冻力，粘度等指标，加权平均的方式推算出来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重量相加，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SUMPRODUCT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C#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C##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B#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B##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/B1</a:t>
            </a: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最常来的几个冻力指标是什么？误差不能低于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，不能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205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OK</a:t>
            </a: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的内容来了 上线和下线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先筛选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左右的冻力内容区间有标准吗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是胶囊用的，不能小于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150</a:t>
            </a: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最贴近两百的再次筛选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每天都有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5-6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个小时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数据量多的时候有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8000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行左右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库存半成品是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库存不支持的情况下可以提高标准、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排产，插单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仓库 智能仓库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叉车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fld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280412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926545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微软雅黑" panose="020B0503020204020204" pitchFamily="34" charset="-122"/>
                <a:ea typeface="微软雅黑" panose="020B0503020204020204" pitchFamily="34" charset="-122"/>
              </a:rPr>
              <a:t>18</a:t>
            </a:fld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微软雅黑" panose="020B0503020204020204" pitchFamily="34" charset="-122"/>
                <a:ea typeface="微软雅黑" panose="020B0503020204020204" pitchFamily="34" charset="-122"/>
              </a:rPr>
              <a:t>19</a:t>
            </a:fld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fld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1662252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4F2DB-D8D1-37FD-237C-C1A4918D0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C1C92B-9F2D-9ADC-6B07-BD548C585D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435127-4AFA-D06C-9A02-B35A5D0CF8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3B2728-983A-4C12-BECA-48AA5292BC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微软雅黑" panose="020B0503020204020204" pitchFamily="34" charset="-122"/>
                <a:ea typeface="微软雅黑" panose="020B0503020204020204" pitchFamily="34" charset="-122"/>
              </a:rPr>
              <a:t>22</a:t>
            </a:fld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8652441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GB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23</a:t>
            </a:fld>
            <a:endParaRPr lang="en-GB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微软雅黑" panose="020B0503020204020204" pitchFamily="34" charset="-122"/>
                <a:ea typeface="微软雅黑" panose="020B0503020204020204" pitchFamily="34" charset="-122"/>
              </a:rPr>
              <a:t>24</a:t>
            </a:fld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B8C6A-E6C7-C026-F2C4-0A0BF592D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FD9C96-58E7-1AA2-EEA4-32C654ED5A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3BB532-633C-877F-B1C4-354D642676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68C780-BC43-06D3-2500-D3675997DE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微软雅黑" panose="020B0503020204020204" pitchFamily="34" charset="-122"/>
                <a:ea typeface="微软雅黑" panose="020B0503020204020204" pitchFamily="34" charset="-122"/>
              </a:rPr>
              <a:t>25</a:t>
            </a:fld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3599988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微软雅黑" panose="020B0503020204020204" pitchFamily="34" charset="-122"/>
                <a:ea typeface="微软雅黑" panose="020B0503020204020204" pitchFamily="34" charset="-122"/>
              </a:rPr>
              <a:t>26</a:t>
            </a:fld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微软雅黑" panose="020B0503020204020204" pitchFamily="34" charset="-122"/>
                <a:ea typeface="微软雅黑" panose="020B0503020204020204" pitchFamily="34" charset="-122"/>
              </a:rPr>
              <a:t>27</a:t>
            </a:fld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微软雅黑" panose="020B0503020204020204" pitchFamily="34" charset="-122"/>
                <a:ea typeface="微软雅黑" panose="020B0503020204020204" pitchFamily="34" charset="-122"/>
              </a:rPr>
              <a:t>28</a:t>
            </a:fld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317093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DE849-ABF8-0ED4-F63D-C9A9738CB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52FFF9-6057-8633-14A3-653A096D93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FDE88B-8D5B-2954-C83D-826A5B0E82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631D94-E538-2241-FEF7-E2BC4D2DAE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微软雅黑" panose="020B0503020204020204" pitchFamily="34" charset="-122"/>
                <a:ea typeface="微软雅黑" panose="020B0503020204020204" pitchFamily="34" charset="-122"/>
              </a:rPr>
              <a:t>29</a:t>
            </a:fld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8084621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4767698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1DE3E-4230-AB37-A643-56292E0F0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2AA7AC-E137-7C24-9591-D6867D8169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511407-F3B2-6579-3FB2-F4943207F6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8ACAE9-E20B-75AF-1F06-CA702EA2DB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微软雅黑" panose="020B0503020204020204" pitchFamily="34" charset="-122"/>
                <a:ea typeface="微软雅黑" panose="020B0503020204020204" pitchFamily="34" charset="-122"/>
              </a:rPr>
              <a:t>31</a:t>
            </a:fld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4376068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BC327-CDF4-CC7B-788A-9CE0B35A9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B22794-27D1-A41C-E1B5-B625E048D8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FC1E7A-CDB9-479F-8F58-4527AE0B1F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8DFFD4-9CDC-E099-95E8-156A668455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微软雅黑" panose="020B0503020204020204" pitchFamily="34" charset="-122"/>
                <a:ea typeface="微软雅黑" panose="020B0503020204020204" pitchFamily="34" charset="-122"/>
              </a:rPr>
              <a:t>32</a:t>
            </a:fld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8469530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FD37D-5472-9C1A-A131-1EFC4CAE2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EC47B6-BAA0-D964-03B2-3A2F0C07A2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915381-45B6-628D-9F68-B552D43157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284F3B-8FFF-27AD-B569-97A1397567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微软雅黑" panose="020B0503020204020204" pitchFamily="34" charset="-122"/>
                <a:ea typeface="微软雅黑" panose="020B0503020204020204" pitchFamily="34" charset="-122"/>
              </a:rPr>
              <a:t>33</a:t>
            </a:fld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5266434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1103B-279B-FA6B-D8B3-7D4C25B6D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05B9AB-D112-F432-623F-711D804290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0A3D86-CBBB-95E1-2B18-7284F8AA92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BE851E-16A7-81E9-64EA-5DC36AB1D4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微软雅黑" panose="020B0503020204020204" pitchFamily="34" charset="-122"/>
                <a:ea typeface="微软雅黑" panose="020B0503020204020204" pitchFamily="34" charset="-122"/>
              </a:rPr>
              <a:t>34</a:t>
            </a:fld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352020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2C0298-1152-F0F7-E680-073640646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EEBE7B-07F4-D839-68BA-A6837A6394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F9E09A-D924-5F7F-7EAE-B8002DEB20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A79F18-F2EE-8050-1F4E-CF2726717D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微软雅黑" panose="020B0503020204020204" pitchFamily="34" charset="-122"/>
                <a:ea typeface="微软雅黑" panose="020B0503020204020204" pitchFamily="34" charset="-122"/>
              </a:rPr>
              <a:t>35</a:t>
            </a:fld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1281122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6399990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微软雅黑" panose="020B0503020204020204" pitchFamily="34" charset="-122"/>
                <a:ea typeface="微软雅黑" panose="020B0503020204020204" pitchFamily="34" charset="-122"/>
              </a:rPr>
              <a:t>37</a:t>
            </a:fld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419408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61A99957-6323-6B57-2C18-E6F0B709137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2943790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1A99957-6323-6B57-2C18-E6F0B709137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2F4E"/>
          </a:solidFill>
          <a:ln w="12700">
            <a:solidFill>
              <a:srgbClr val="0B2F4E"/>
            </a:solidFill>
            <a:prstDash val="solid"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8A8"/>
                </a:solidFill>
                <a:latin typeface="微软雅黑" panose="020B0503020204020204" pitchFamily="34" charset="-122"/>
                <a:ea typeface="Noto Sans CJK SC"/>
                <a:cs typeface="Noto Sans CJK SC"/>
              </a:defRPr>
            </a:lvl1pPr>
          </a:lstStyle>
          <a:p>
            <a:fld id="{F7021451-1387-4CA6-816F-3879F97B5CBC}" type="slidenum">
              <a:rPr lang="en-US" smtClean="0"/>
              <a:pPr/>
              <a:t>‹#›</a:t>
            </a:fld>
            <a:endParaRPr lang="en-US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.bin"/><Relationship Id="rId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48FDC52E-2398-D7F7-6F0C-1A69FC9B556C}"/>
              </a:ext>
            </a:extLst>
          </p:cNvPr>
          <p:cNvGraphicFramePr>
            <a:graphicFrameLocks/>
          </p:cNvGraphicFramePr>
          <p:nvPr userDrawn="1"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97301464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73" imgH="473" progId="TCLayout.ActiveDocument.1">
                  <p:embed/>
                </p:oleObj>
              </mc:Choice>
              <mc:Fallback>
                <p:oleObj name="think-cell Slide" r:id="rId5" imgW="473" imgH="473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8FDC52E-2398-D7F7-6F0C-1A69FC9B556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8A8"/>
                </a:solidFill>
                <a:latin typeface="微软雅黑" panose="020B0503020204020204" pitchFamily="34" charset="-122"/>
                <a:ea typeface="Noto Sans CJK SC"/>
                <a:cs typeface="Noto Sans CJK SC"/>
              </a:defRPr>
            </a:lvl1pPr>
          </a:lstStyle>
          <a:p>
            <a:fld id="{F7021451-1387-4CA6-816F-3879F97B5CBC}" type="slidenum">
              <a:rPr lang="en-US" smtClean="0"/>
              <a:pPr/>
              <a:t>‹#›</a:t>
            </a:fld>
            <a:endParaRPr lang="en-US">
              <a:latin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3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4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13" Type="http://schemas.openxmlformats.org/officeDocument/2006/relationships/image" Target="../media/image4.svg"/><Relationship Id="rId3" Type="http://schemas.openxmlformats.org/officeDocument/2006/relationships/tags" Target="../tags/tag8.xml"/><Relationship Id="rId7" Type="http://schemas.openxmlformats.org/officeDocument/2006/relationships/tags" Target="../tags/tag12.xml"/><Relationship Id="rId12" Type="http://schemas.openxmlformats.org/officeDocument/2006/relationships/image" Target="../media/image3.svg"/><Relationship Id="rId2" Type="http://schemas.openxmlformats.org/officeDocument/2006/relationships/tags" Target="../tags/tag7.xml"/><Relationship Id="rId16" Type="http://schemas.openxmlformats.org/officeDocument/2006/relationships/image" Target="../media/image7.svg"/><Relationship Id="rId1" Type="http://schemas.openxmlformats.org/officeDocument/2006/relationships/tags" Target="../tags/tag6.xml"/><Relationship Id="rId6" Type="http://schemas.openxmlformats.org/officeDocument/2006/relationships/tags" Target="../tags/tag11.xml"/><Relationship Id="rId11" Type="http://schemas.openxmlformats.org/officeDocument/2006/relationships/image" Target="../media/image1.emf"/><Relationship Id="rId5" Type="http://schemas.openxmlformats.org/officeDocument/2006/relationships/tags" Target="../tags/tag10.xml"/><Relationship Id="rId15" Type="http://schemas.openxmlformats.org/officeDocument/2006/relationships/image" Target="../media/image6.svg"/><Relationship Id="rId10" Type="http://schemas.openxmlformats.org/officeDocument/2006/relationships/oleObject" Target="../embeddings/oleObject5.bin"/><Relationship Id="rId4" Type="http://schemas.openxmlformats.org/officeDocument/2006/relationships/tags" Target="../tags/tag9.xml"/><Relationship Id="rId9" Type="http://schemas.openxmlformats.org/officeDocument/2006/relationships/notesSlide" Target="../notesSlides/notesSlide3.xml"/><Relationship Id="rId1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6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7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8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9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0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7" Type="http://schemas.openxmlformats.org/officeDocument/2006/relationships/image" Target="../media/image8.sv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Relationship Id="rId6" Type="http://schemas.openxmlformats.org/officeDocument/2006/relationships/image" Target="../media/image9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1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Relationship Id="rId6" Type="http://schemas.openxmlformats.org/officeDocument/2006/relationships/image" Target="../media/image10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2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3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4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5.bin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6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7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8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9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0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1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9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2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0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3.bin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1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4.bin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2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5.bin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3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6.bin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4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7.bin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5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8.bin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6.xml"/><Relationship Id="rId6" Type="http://schemas.openxmlformats.org/officeDocument/2006/relationships/image" Target="../media/image1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9.bin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7.xml"/><Relationship Id="rId6" Type="http://schemas.openxmlformats.org/officeDocument/2006/relationships/image" Target="../media/image1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30.bin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8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31.bin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9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32.bin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0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33.bin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1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34.bin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2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35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think-cell data - do not delete" hidden="1">
            <a:extLst>
              <a:ext uri="{FF2B5EF4-FFF2-40B4-BE49-F238E27FC236}">
                <a16:creationId xmlns:a16="http://schemas.microsoft.com/office/drawing/2014/main" id="{5259ED33-6989-783F-EE7F-8BCAF410122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1115485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3" progId="TCLayout.ActiveDocument.1">
                  <p:embed/>
                </p:oleObj>
              </mc:Choice>
              <mc:Fallback>
                <p:oleObj name="think-cell Slide" r:id="rId4" imgW="473" imgH="473" progId="TCLayout.ActiveDocument.1">
                  <p:embed/>
                  <p:pic>
                    <p:nvPicPr>
                      <p:cNvPr id="2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259ED33-6989-783F-EE7F-8BCAF410122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hape 1"/>
          <p:cNvSpPr/>
          <p:nvPr/>
        </p:nvSpPr>
        <p:spPr>
          <a:xfrm>
            <a:off x="0" y="0"/>
            <a:ext cx="3749040" cy="6858000"/>
          </a:xfrm>
          <a:prstGeom prst="rect">
            <a:avLst/>
          </a:prstGeom>
          <a:solidFill>
            <a:srgbClr val="0B2F4E"/>
          </a:solidFill>
          <a:ln w="12700">
            <a:solidFill>
              <a:srgbClr val="0B2F4E"/>
            </a:solidFill>
            <a:prstDash val="solid"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 3"/>
          <p:cNvSpPr/>
          <p:nvPr/>
        </p:nvSpPr>
        <p:spPr>
          <a:xfrm>
            <a:off x="566928" y="62179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000" b="1" dirty="0">
                <a:solidFill>
                  <a:srgbClr val="AEEFE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项目方案</a:t>
            </a:r>
            <a:endParaRPr 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 4"/>
          <p:cNvSpPr/>
          <p:nvPr/>
        </p:nvSpPr>
        <p:spPr>
          <a:xfrm>
            <a:off x="566928" y="1327933"/>
            <a:ext cx="2880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3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添正生物</a:t>
            </a:r>
            <a:endParaRPr lang="en-US" sz="32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CJK SC" pitchFamily="34" charset="-120"/>
            </a:endParaRPr>
          </a:p>
          <a:p>
            <a:pPr marL="0" indent="0">
              <a:buNone/>
            </a:pPr>
            <a:r>
              <a:rPr lang="en-US" b="1" dirty="0" err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明胶生产分子量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与产出智能控制项目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 5"/>
          <p:cNvSpPr/>
          <p:nvPr/>
        </p:nvSpPr>
        <p:spPr>
          <a:xfrm>
            <a:off x="566928" y="297180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C8D7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以凝胶/复配阶段为切入点，建立标准算法、现场校正与 AI 决策闭环</a:t>
            </a: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 7"/>
          <p:cNvSpPr/>
          <p:nvPr/>
        </p:nvSpPr>
        <p:spPr>
          <a:xfrm>
            <a:off x="566928" y="3959352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2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66928" y="614476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8A8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lang="en-US" b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fld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A3A6AE09-32E8-1598-DF35-7EB0B9DB46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19269" y="1945153"/>
            <a:ext cx="5333654" cy="3320599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DF06D-1242-7F72-D588-F86E5CC37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5A1DA37D-DC06-5CCA-B23F-32AF2316764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3239710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3" progId="TCLayout.ActiveDocument.1">
                  <p:embed/>
                </p:oleObj>
              </mc:Choice>
              <mc:Fallback>
                <p:oleObj name="think-cell Slide" r:id="rId4" imgW="473" imgH="473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A1DA37D-DC06-5CCA-B23F-32AF2316764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0">
            <a:extLst>
              <a:ext uri="{FF2B5EF4-FFF2-40B4-BE49-F238E27FC236}">
                <a16:creationId xmlns:a16="http://schemas.microsoft.com/office/drawing/2014/main" id="{C54754BB-7313-8A59-F2C4-5F0D6E74C023}"/>
              </a:ext>
            </a:extLst>
          </p:cNvPr>
          <p:cNvSpPr/>
          <p:nvPr/>
        </p:nvSpPr>
        <p:spPr>
          <a:xfrm>
            <a:off x="502920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2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目录</a:t>
            </a:r>
            <a:endParaRPr lang="en-US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2A997A-CB22-8750-9459-3E517CE93836}"/>
              </a:ext>
            </a:extLst>
          </p:cNvPr>
          <p:cNvSpPr txBox="1"/>
          <p:nvPr/>
        </p:nvSpPr>
        <p:spPr>
          <a:xfrm>
            <a:off x="821802" y="1817225"/>
            <a:ext cx="5077428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1800"/>
              </a:spcAft>
              <a:buAutoNum type="arabicPeriod"/>
            </a:pP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项目背景与目标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AutoNum type="arabicPeriod"/>
            </a:pPr>
            <a:r>
              <a:rPr lang="zh-CN" altLang="en-US" b="1" dirty="0">
                <a:solidFill>
                  <a:srgbClr val="0B2F4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项目方法论</a:t>
            </a:r>
            <a:endParaRPr lang="en-US" altLang="zh-CN" b="1" dirty="0">
              <a:solidFill>
                <a:srgbClr val="0B2F4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AutoNum type="arabicPeriod"/>
            </a:pP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项目开展思路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AutoNum type="arabicPeriod"/>
            </a:pP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项目计划与报价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AutoNum type="arabicPeriod"/>
            </a:pP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过往项目分享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057280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think-cell data - do not delete" hidden="1">
            <a:extLst>
              <a:ext uri="{FF2B5EF4-FFF2-40B4-BE49-F238E27FC236}">
                <a16:creationId xmlns:a16="http://schemas.microsoft.com/office/drawing/2014/main" id="{652AA41A-8E7E-9F00-10C8-A1B8934A485B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592861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473" imgH="473" progId="TCLayout.ActiveDocument.1">
                  <p:embed/>
                </p:oleObj>
              </mc:Choice>
              <mc:Fallback>
                <p:oleObj name="think-cell Slide" r:id="rId10" imgW="473" imgH="473" progId="TCLayout.ActiveDocument.1">
                  <p:embed/>
                  <p:pic>
                    <p:nvPicPr>
                      <p:cNvPr id="2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52AA41A-8E7E-9F00-10C8-A1B8934A485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0">
            <a:extLst>
              <a:ext uri="{FF2B5EF4-FFF2-40B4-BE49-F238E27FC236}">
                <a16:creationId xmlns:a16="http://schemas.microsoft.com/office/drawing/2014/main" id="{8EB85C76-BB18-57BE-027C-24394E72A344}"/>
              </a:ext>
            </a:extLst>
          </p:cNvPr>
          <p:cNvSpPr/>
          <p:nvPr/>
        </p:nvSpPr>
        <p:spPr>
          <a:xfrm>
            <a:off x="502920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2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项目方法论</a:t>
            </a:r>
            <a:endParaRPr lang="en-US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" name="LineSpecialityArrow 37">
            <a:extLst>
              <a:ext uri="{FF2B5EF4-FFF2-40B4-BE49-F238E27FC236}">
                <a16:creationId xmlns:a16="http://schemas.microsoft.com/office/drawing/2014/main" id="{FDC2F343-31CF-C8BF-4220-AF733719DD1B}"/>
              </a:ext>
            </a:extLst>
          </p:cNvPr>
          <p:cNvCxnSpPr>
            <a:cxnSpLocks/>
          </p:cNvCxnSpPr>
          <p:nvPr>
            <p:custDataLst>
              <p:tags r:id="rId2"/>
            </p:custDataLst>
          </p:nvPr>
        </p:nvCxnSpPr>
        <p:spPr>
          <a:xfrm>
            <a:off x="337391" y="2494782"/>
            <a:ext cx="11520000" cy="0"/>
          </a:xfrm>
          <a:prstGeom prst="straightConnector1">
            <a:avLst/>
          </a:prstGeom>
          <a:ln w="50800" cap="flat">
            <a:solidFill>
              <a:schemeClr val="tx2">
                <a:lumMod val="20000"/>
                <a:lumOff val="80000"/>
              </a:schemeClr>
            </a:solidFill>
            <a:miter lim="800000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3">
            <a:extLst>
              <a:ext uri="{FF2B5EF4-FFF2-40B4-BE49-F238E27FC236}">
                <a16:creationId xmlns:a16="http://schemas.microsoft.com/office/drawing/2014/main" id="{87F650BB-B5C0-A01C-D2EA-AB22797B0093}"/>
              </a:ext>
            </a:extLst>
          </p:cNvPr>
          <p:cNvSpPr txBox="1">
            <a:spLocks/>
          </p:cNvSpPr>
          <p:nvPr/>
        </p:nvSpPr>
        <p:spPr>
          <a:xfrm>
            <a:off x="548471" y="3207844"/>
            <a:ext cx="1807464" cy="1841228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全链路诊断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lvl="0" indent="-171450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  <a:defRPr/>
            </a:pPr>
            <a:r>
              <a:rPr lang="en-US" sz="1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看清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端到端</a:t>
            </a:r>
            <a:r>
              <a:rPr lang="en-US" sz="1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工艺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流程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环节</a:t>
            </a:r>
            <a:r>
              <a:rPr lang="en-US" sz="1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传递关系</a:t>
            </a:r>
            <a:endParaRPr 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lvl="0" indent="-171450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明确</a:t>
            </a:r>
            <a:r>
              <a:rPr lang="en-US" sz="1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输入、控制参数、输出</a:t>
            </a:r>
            <a:r>
              <a:rPr 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设备情况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lvl="0" indent="-171450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明确各环节的痛点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3B4F6C3-DD19-A0B8-F894-83E82D4F8BBF}"/>
              </a:ext>
            </a:extLst>
          </p:cNvPr>
          <p:cNvSpPr>
            <a:spLocks/>
          </p:cNvSpPr>
          <p:nvPr/>
        </p:nvSpPr>
        <p:spPr>
          <a:xfrm>
            <a:off x="995501" y="2063717"/>
            <a:ext cx="862130" cy="862130"/>
          </a:xfrm>
          <a:prstGeom prst="ellipse">
            <a:avLst/>
          </a:prstGeom>
          <a:solidFill>
            <a:srgbClr val="0B2F4E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Graphic 17">
            <a:extLst>
              <a:ext uri="{FF2B5EF4-FFF2-40B4-BE49-F238E27FC236}">
                <a16:creationId xmlns:a16="http://schemas.microsoft.com/office/drawing/2014/main" id="{B82AB7A5-E67F-2198-4C80-5232B0F192D1}"/>
              </a:ext>
            </a:extLst>
          </p:cNvPr>
          <p:cNvPicPr>
            <a:picLocks/>
          </p:cNvPicPr>
          <p:nvPr>
            <p:custDataLst>
              <p:tags r:id="rId3"/>
            </p:custDataLst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44984" y="2213201"/>
            <a:ext cx="563166" cy="563164"/>
          </a:xfrm>
          <a:prstGeom prst="rect">
            <a:avLst/>
          </a:prstGeom>
        </p:spPr>
      </p:pic>
      <p:sp>
        <p:nvSpPr>
          <p:cNvPr id="11" name="Oval 6">
            <a:extLst>
              <a:ext uri="{FF2B5EF4-FFF2-40B4-BE49-F238E27FC236}">
                <a16:creationId xmlns:a16="http://schemas.microsoft.com/office/drawing/2014/main" id="{FC7557B3-15FA-D3C0-C1C9-A6A6EED91490}"/>
              </a:ext>
            </a:extLst>
          </p:cNvPr>
          <p:cNvSpPr>
            <a:spLocks/>
          </p:cNvSpPr>
          <p:nvPr/>
        </p:nvSpPr>
        <p:spPr>
          <a:xfrm>
            <a:off x="5635805" y="2063717"/>
            <a:ext cx="862130" cy="862130"/>
          </a:xfrm>
          <a:prstGeom prst="ellipse">
            <a:avLst/>
          </a:prstGeom>
          <a:solidFill>
            <a:srgbClr val="0B2F4E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Box 7">
            <a:extLst>
              <a:ext uri="{FF2B5EF4-FFF2-40B4-BE49-F238E27FC236}">
                <a16:creationId xmlns:a16="http://schemas.microsoft.com/office/drawing/2014/main" id="{CB8F1BDD-C1F0-3085-8861-1AD8AF35B52D}"/>
              </a:ext>
            </a:extLst>
          </p:cNvPr>
          <p:cNvSpPr txBox="1">
            <a:spLocks/>
          </p:cNvSpPr>
          <p:nvPr/>
        </p:nvSpPr>
        <p:spPr>
          <a:xfrm>
            <a:off x="5188775" y="3207844"/>
            <a:ext cx="1807464" cy="1841228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标准算法固化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lvl="0" indent="-171450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  <a:defRPr/>
            </a:pPr>
            <a:r>
              <a:rPr lang="en-US" sz="1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把经验转成公式和模型</a:t>
            </a:r>
            <a:endParaRPr 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lvl="0" indent="-171450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关注</a:t>
            </a:r>
            <a:r>
              <a:rPr lang="en-US" sz="1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GPC、黏度法、复配公式、产出模型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Graphic 19">
            <a:extLst>
              <a:ext uri="{FF2B5EF4-FFF2-40B4-BE49-F238E27FC236}">
                <a16:creationId xmlns:a16="http://schemas.microsoft.com/office/drawing/2014/main" id="{E19F7FE0-1603-35DD-9FBB-64BAEB7A088C}"/>
              </a:ext>
            </a:extLst>
          </p:cNvPr>
          <p:cNvPicPr>
            <a:picLocks/>
          </p:cNvPicPr>
          <p:nvPr>
            <p:custDataLst>
              <p:tags r:id="rId4"/>
            </p:custDataLst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846080" y="2273992"/>
            <a:ext cx="441581" cy="441581"/>
          </a:xfrm>
          <a:prstGeom prst="rect">
            <a:avLst/>
          </a:prstGeom>
        </p:spPr>
      </p:pic>
      <p:sp>
        <p:nvSpPr>
          <p:cNvPr id="14" name="Oval 8">
            <a:extLst>
              <a:ext uri="{FF2B5EF4-FFF2-40B4-BE49-F238E27FC236}">
                <a16:creationId xmlns:a16="http://schemas.microsoft.com/office/drawing/2014/main" id="{B4F8BCB9-2E9E-4F3A-B0A6-56E1E7932663}"/>
              </a:ext>
            </a:extLst>
          </p:cNvPr>
          <p:cNvSpPr>
            <a:spLocks/>
          </p:cNvSpPr>
          <p:nvPr/>
        </p:nvSpPr>
        <p:spPr>
          <a:xfrm>
            <a:off x="7955957" y="2063717"/>
            <a:ext cx="862130" cy="862130"/>
          </a:xfrm>
          <a:prstGeom prst="ellipse">
            <a:avLst/>
          </a:prstGeom>
          <a:solidFill>
            <a:srgbClr val="0B2F4E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extBox 9">
            <a:extLst>
              <a:ext uri="{FF2B5EF4-FFF2-40B4-BE49-F238E27FC236}">
                <a16:creationId xmlns:a16="http://schemas.microsoft.com/office/drawing/2014/main" id="{251F175D-C4AD-E80E-9847-C240FA9AADB9}"/>
              </a:ext>
            </a:extLst>
          </p:cNvPr>
          <p:cNvSpPr txBox="1">
            <a:spLocks/>
          </p:cNvSpPr>
          <p:nvPr/>
        </p:nvSpPr>
        <p:spPr>
          <a:xfrm>
            <a:off x="7508927" y="3207844"/>
            <a:ext cx="1807464" cy="1841228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 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应用开发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lvl="0" indent="-171450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  <a:defRPr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智能驱动</a:t>
            </a:r>
            <a:r>
              <a:rPr lang="en-US" sz="1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复配</a:t>
            </a:r>
            <a:r>
              <a:rPr 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sz="1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凝胶决策</a:t>
            </a:r>
            <a:endParaRPr 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lvl="0" indent="-171450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包括</a:t>
            </a:r>
            <a:r>
              <a:rPr lang="en-US" sz="1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推荐比例、预测结果、风险解释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6" name="Graphic 25">
            <a:extLst>
              <a:ext uri="{FF2B5EF4-FFF2-40B4-BE49-F238E27FC236}">
                <a16:creationId xmlns:a16="http://schemas.microsoft.com/office/drawing/2014/main" id="{8FD681C5-360B-5293-1E50-A40F3C57A573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171890" y="2279651"/>
            <a:ext cx="430266" cy="430264"/>
          </a:xfrm>
          <a:prstGeom prst="rect">
            <a:avLst/>
          </a:prstGeom>
        </p:spPr>
      </p:pic>
      <p:sp>
        <p:nvSpPr>
          <p:cNvPr id="17" name="Oval 10">
            <a:extLst>
              <a:ext uri="{FF2B5EF4-FFF2-40B4-BE49-F238E27FC236}">
                <a16:creationId xmlns:a16="http://schemas.microsoft.com/office/drawing/2014/main" id="{E0CCC759-210D-B49A-DB8E-BBDED91C5C55}"/>
              </a:ext>
            </a:extLst>
          </p:cNvPr>
          <p:cNvSpPr>
            <a:spLocks/>
          </p:cNvSpPr>
          <p:nvPr/>
        </p:nvSpPr>
        <p:spPr>
          <a:xfrm>
            <a:off x="10276109" y="2063717"/>
            <a:ext cx="862130" cy="862130"/>
          </a:xfrm>
          <a:prstGeom prst="ellipse">
            <a:avLst/>
          </a:prstGeom>
          <a:solidFill>
            <a:srgbClr val="0B2F4E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TextBox 11">
            <a:extLst>
              <a:ext uri="{FF2B5EF4-FFF2-40B4-BE49-F238E27FC236}">
                <a16:creationId xmlns:a16="http://schemas.microsoft.com/office/drawing/2014/main" id="{91BFEB49-67CE-C41B-7E92-7CE473A3F90D}"/>
              </a:ext>
            </a:extLst>
          </p:cNvPr>
          <p:cNvSpPr txBox="1">
            <a:spLocks/>
          </p:cNvSpPr>
          <p:nvPr/>
        </p:nvSpPr>
        <p:spPr>
          <a:xfrm>
            <a:off x="9829079" y="3207844"/>
            <a:ext cx="1807464" cy="1841228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5. 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试运行闭环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lvl="0" indent="-171450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  <a:defRPr/>
            </a:pPr>
            <a:r>
              <a:rPr lang="en-US" sz="1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用实际结果校正模型</a:t>
            </a:r>
            <a:endParaRPr 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lvl="0" indent="-171450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覆盖</a:t>
            </a:r>
            <a:r>
              <a:rPr lang="en-US" sz="1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质检回传、模型修正、持续优化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9" name="Graphic 31">
            <a:extLst>
              <a:ext uri="{FF2B5EF4-FFF2-40B4-BE49-F238E27FC236}">
                <a16:creationId xmlns:a16="http://schemas.microsoft.com/office/drawing/2014/main" id="{102F91AE-0793-E714-D634-D63F8536EA5E}"/>
              </a:ext>
            </a:extLst>
          </p:cNvPr>
          <p:cNvPicPr>
            <a:picLocks/>
          </p:cNvPicPr>
          <p:nvPr>
            <p:custDataLst>
              <p:tags r:id="rId6"/>
            </p:custDataLst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447900" y="2235509"/>
            <a:ext cx="518550" cy="518548"/>
          </a:xfrm>
          <a:prstGeom prst="rect">
            <a:avLst/>
          </a:prstGeom>
        </p:spPr>
      </p:pic>
      <p:sp>
        <p:nvSpPr>
          <p:cNvPr id="20" name="TextBox 49">
            <a:extLst>
              <a:ext uri="{FF2B5EF4-FFF2-40B4-BE49-F238E27FC236}">
                <a16:creationId xmlns:a16="http://schemas.microsoft.com/office/drawing/2014/main" id="{F129CC71-A4D8-7DC7-23B3-6EB2C6E24DEC}"/>
              </a:ext>
            </a:extLst>
          </p:cNvPr>
          <p:cNvSpPr txBox="1">
            <a:spLocks/>
          </p:cNvSpPr>
          <p:nvPr/>
        </p:nvSpPr>
        <p:spPr>
          <a:xfrm>
            <a:off x="2868623" y="3207844"/>
            <a:ext cx="1899320" cy="1841228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偏差归因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  <a:defRPr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明确标准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目标值，识别偏差</a:t>
            </a:r>
            <a:endParaRPr 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  <a:defRPr/>
            </a:pPr>
            <a:r>
              <a:rPr lang="en-US" sz="1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找到问题主要来源</a:t>
            </a:r>
            <a:endParaRPr 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  <a:defRPr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识别</a:t>
            </a:r>
            <a:r>
              <a:rPr 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Mw </a:t>
            </a:r>
            <a:r>
              <a:rPr lang="en-US" sz="1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偏差、产出偏差、关键影响因子</a:t>
            </a:r>
            <a:endParaRPr 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Oval 90">
            <a:extLst>
              <a:ext uri="{FF2B5EF4-FFF2-40B4-BE49-F238E27FC236}">
                <a16:creationId xmlns:a16="http://schemas.microsoft.com/office/drawing/2014/main" id="{0C357826-8CE8-D45D-FD85-9FB6B310022C}"/>
              </a:ext>
            </a:extLst>
          </p:cNvPr>
          <p:cNvSpPr>
            <a:spLocks/>
          </p:cNvSpPr>
          <p:nvPr/>
        </p:nvSpPr>
        <p:spPr>
          <a:xfrm>
            <a:off x="3315653" y="2063717"/>
            <a:ext cx="862130" cy="862130"/>
          </a:xfrm>
          <a:prstGeom prst="ellipse">
            <a:avLst/>
          </a:prstGeom>
          <a:solidFill>
            <a:srgbClr val="0B2F4E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2" name="Graphic 93">
            <a:extLst>
              <a:ext uri="{FF2B5EF4-FFF2-40B4-BE49-F238E27FC236}">
                <a16:creationId xmlns:a16="http://schemas.microsoft.com/office/drawing/2014/main" id="{A356D610-E784-1DFF-EBE8-1AAD3D1F7920}"/>
              </a:ext>
            </a:extLst>
          </p:cNvPr>
          <p:cNvPicPr>
            <a:picLocks/>
          </p:cNvPicPr>
          <p:nvPr>
            <p:custDataLst>
              <p:tags r:id="rId7"/>
            </p:custDataLst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468979" y="2217044"/>
            <a:ext cx="555480" cy="555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2422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606907D9-72F4-3695-085B-F6BF383509E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0470731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3" progId="TCLayout.ActiveDocument.1">
                  <p:embed/>
                </p:oleObj>
              </mc:Choice>
              <mc:Fallback>
                <p:oleObj name="think-cell Slide" r:id="rId4" imgW="473" imgH="473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06907D9-72F4-3695-085B-F6BF383509E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0">
            <a:extLst>
              <a:ext uri="{FF2B5EF4-FFF2-40B4-BE49-F238E27FC236}">
                <a16:creationId xmlns:a16="http://schemas.microsoft.com/office/drawing/2014/main" id="{3E5C3043-E91C-36A1-35CA-8E45C661AFC0}"/>
              </a:ext>
            </a:extLst>
          </p:cNvPr>
          <p:cNvSpPr/>
          <p:nvPr/>
        </p:nvSpPr>
        <p:spPr>
          <a:xfrm>
            <a:off x="502920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2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目录</a:t>
            </a:r>
            <a:endParaRPr lang="en-US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B34803-6C7A-389F-B6CB-12E21676A3DB}"/>
              </a:ext>
            </a:extLst>
          </p:cNvPr>
          <p:cNvSpPr txBox="1"/>
          <p:nvPr/>
        </p:nvSpPr>
        <p:spPr>
          <a:xfrm>
            <a:off x="821802" y="1817225"/>
            <a:ext cx="5077428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1800"/>
              </a:spcAft>
              <a:buAutoNum type="arabicPeriod"/>
            </a:pP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项目背景与目标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AutoNum type="arabicPeriod"/>
            </a:pPr>
            <a:r>
              <a:rPr lang="zh-CN" altLang="en-US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项目方法论</a:t>
            </a:r>
            <a:endParaRPr lang="en-US" altLang="zh-CN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AutoNum type="arabicPeriod"/>
            </a:pP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项目计划与报价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AutoNum type="arabicPeriod"/>
            </a:pP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过往项目分享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713086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3D3B3-A7DE-1432-0C1B-FBE6E08A5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think-cell data - do not delete" hidden="1">
            <a:extLst>
              <a:ext uri="{FF2B5EF4-FFF2-40B4-BE49-F238E27FC236}">
                <a16:creationId xmlns:a16="http://schemas.microsoft.com/office/drawing/2014/main" id="{A4C6F308-1265-C3AD-D4FB-2D055BD9FC3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5588265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3" progId="TCLayout.ActiveDocument.1">
                  <p:embed/>
                </p:oleObj>
              </mc:Choice>
              <mc:Fallback>
                <p:oleObj name="think-cell Slide" r:id="rId4" imgW="473" imgH="473" progId="TCLayout.ActiveDocument.1">
                  <p:embed/>
                  <p:pic>
                    <p:nvPicPr>
                      <p:cNvPr id="2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4C6F308-1265-C3AD-D4FB-2D055BD9FC3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hape 3">
            <a:extLst>
              <a:ext uri="{FF2B5EF4-FFF2-40B4-BE49-F238E27FC236}">
                <a16:creationId xmlns:a16="http://schemas.microsoft.com/office/drawing/2014/main" id="{2430893A-3B8A-F894-CA8B-4EB4808A19DF}"/>
              </a:ext>
            </a:extLst>
          </p:cNvPr>
          <p:cNvSpPr/>
          <p:nvPr/>
        </p:nvSpPr>
        <p:spPr>
          <a:xfrm>
            <a:off x="888870" y="1275839"/>
            <a:ext cx="1400555" cy="987526"/>
          </a:xfrm>
          <a:prstGeom prst="roundRect">
            <a:avLst>
              <a:gd name="adj" fmla="val 10526"/>
            </a:avLst>
          </a:prstGeom>
          <a:noFill/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820EBC7D-C810-8D40-1EA5-28CF328F504D}"/>
              </a:ext>
            </a:extLst>
          </p:cNvPr>
          <p:cNvSpPr/>
          <p:nvPr/>
        </p:nvSpPr>
        <p:spPr>
          <a:xfrm>
            <a:off x="946824" y="1442159"/>
            <a:ext cx="1284648" cy="187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原料预处理</a:t>
            </a: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9F3ECFA1-BD1C-3802-02FC-C295099D7646}"/>
              </a:ext>
            </a:extLst>
          </p:cNvPr>
          <p:cNvSpPr/>
          <p:nvPr/>
        </p:nvSpPr>
        <p:spPr>
          <a:xfrm>
            <a:off x="946824" y="1663392"/>
            <a:ext cx="1284648" cy="3915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00" b="1" dirty="0" err="1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去除油脂、矿物质与杂质，保留纯胶原基础</a:t>
            </a:r>
            <a:endParaRPr lang="en-US" sz="1000" b="1" dirty="0">
              <a:solidFill>
                <a:srgbClr val="5E6B7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45ABE0A7-430F-EBC5-5F96-814C26B718F5}"/>
              </a:ext>
            </a:extLst>
          </p:cNvPr>
          <p:cNvSpPr/>
          <p:nvPr/>
        </p:nvSpPr>
        <p:spPr>
          <a:xfrm>
            <a:off x="2318403" y="1764404"/>
            <a:ext cx="106249" cy="0"/>
          </a:xfrm>
          <a:prstGeom prst="line">
            <a:avLst/>
          </a:prstGeom>
          <a:noFill/>
          <a:ln w="19050">
            <a:solidFill>
              <a:srgbClr val="00206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2EF97449-7B0F-4926-59DA-7B18E1743A79}"/>
              </a:ext>
            </a:extLst>
          </p:cNvPr>
          <p:cNvSpPr/>
          <p:nvPr/>
        </p:nvSpPr>
        <p:spPr>
          <a:xfrm>
            <a:off x="2434311" y="1275839"/>
            <a:ext cx="1400555" cy="987526"/>
          </a:xfrm>
          <a:prstGeom prst="roundRect">
            <a:avLst>
              <a:gd name="adj" fmla="val 10526"/>
            </a:avLst>
          </a:prstGeom>
          <a:noFill/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906A6B3D-8D77-8A1D-6F04-6D0BADF03986}"/>
              </a:ext>
            </a:extLst>
          </p:cNvPr>
          <p:cNvSpPr/>
          <p:nvPr/>
        </p:nvSpPr>
        <p:spPr>
          <a:xfrm>
            <a:off x="2492265" y="1442159"/>
            <a:ext cx="1284648" cy="187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浸灰水解</a:t>
            </a: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9A703926-B7ED-EC3F-7E03-9A1EF8523823}"/>
              </a:ext>
            </a:extLst>
          </p:cNvPr>
          <p:cNvSpPr/>
          <p:nvPr/>
        </p:nvSpPr>
        <p:spPr>
          <a:xfrm>
            <a:off x="2492265" y="1774800"/>
            <a:ext cx="1284648" cy="207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000" b="1" dirty="0" err="1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通过碱浸控制胶原断链程度，决定分子量基础区间</a:t>
            </a:r>
            <a:endParaRPr lang="en-US" sz="1000" b="1" dirty="0">
              <a:solidFill>
                <a:srgbClr val="5E6B7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96BC04EF-2394-7CB5-B891-7BBC3E8F7D78}"/>
              </a:ext>
            </a:extLst>
          </p:cNvPr>
          <p:cNvSpPr/>
          <p:nvPr/>
        </p:nvSpPr>
        <p:spPr>
          <a:xfrm>
            <a:off x="3863844" y="1764404"/>
            <a:ext cx="106249" cy="0"/>
          </a:xfrm>
          <a:prstGeom prst="line">
            <a:avLst/>
          </a:prstGeom>
          <a:noFill/>
          <a:ln w="19050">
            <a:solidFill>
              <a:srgbClr val="00206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F52F2FB9-4469-B3C0-2246-4DDE019662B5}"/>
              </a:ext>
            </a:extLst>
          </p:cNvPr>
          <p:cNvSpPr/>
          <p:nvPr/>
        </p:nvSpPr>
        <p:spPr>
          <a:xfrm>
            <a:off x="3979753" y="1275839"/>
            <a:ext cx="1400555" cy="987526"/>
          </a:xfrm>
          <a:prstGeom prst="roundRect">
            <a:avLst>
              <a:gd name="adj" fmla="val 10526"/>
            </a:avLst>
          </a:prstGeom>
          <a:noFill/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 12">
            <a:extLst>
              <a:ext uri="{FF2B5EF4-FFF2-40B4-BE49-F238E27FC236}">
                <a16:creationId xmlns:a16="http://schemas.microsoft.com/office/drawing/2014/main" id="{DE2F08B5-D3C8-8204-8D8B-AAFCA3DAC65B}"/>
              </a:ext>
            </a:extLst>
          </p:cNvPr>
          <p:cNvSpPr/>
          <p:nvPr/>
        </p:nvSpPr>
        <p:spPr>
          <a:xfrm>
            <a:off x="4037706" y="1442159"/>
            <a:ext cx="1284648" cy="187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中和水洗</a:t>
            </a: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 13">
            <a:extLst>
              <a:ext uri="{FF2B5EF4-FFF2-40B4-BE49-F238E27FC236}">
                <a16:creationId xmlns:a16="http://schemas.microsoft.com/office/drawing/2014/main" id="{D4F61750-F352-763C-C2D8-C5C86665BD3E}"/>
              </a:ext>
            </a:extLst>
          </p:cNvPr>
          <p:cNvSpPr/>
          <p:nvPr/>
        </p:nvSpPr>
        <p:spPr>
          <a:xfrm>
            <a:off x="4014787" y="1701120"/>
            <a:ext cx="1307567" cy="3187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000" b="1" dirty="0" err="1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去除残余碱性与杂质，稳定</a:t>
            </a:r>
            <a:r>
              <a:rPr lang="en-US" sz="1000" b="1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pH </a:t>
            </a:r>
            <a:r>
              <a:rPr lang="en-US" sz="1000" b="1" dirty="0" err="1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与胶液纯净度</a:t>
            </a:r>
            <a:endParaRPr lang="en-US" sz="1000" b="1" dirty="0">
              <a:solidFill>
                <a:srgbClr val="5E6B7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EF61CEF2-969D-62FE-88E8-C081DEF53DC6}"/>
              </a:ext>
            </a:extLst>
          </p:cNvPr>
          <p:cNvSpPr/>
          <p:nvPr/>
        </p:nvSpPr>
        <p:spPr>
          <a:xfrm>
            <a:off x="5409285" y="1764404"/>
            <a:ext cx="106249" cy="0"/>
          </a:xfrm>
          <a:prstGeom prst="line">
            <a:avLst/>
          </a:prstGeom>
          <a:noFill/>
          <a:ln w="19050">
            <a:solidFill>
              <a:srgbClr val="00206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79C32B20-5174-FC1E-F3EC-3E736D4468DC}"/>
              </a:ext>
            </a:extLst>
          </p:cNvPr>
          <p:cNvSpPr/>
          <p:nvPr/>
        </p:nvSpPr>
        <p:spPr>
          <a:xfrm>
            <a:off x="5525193" y="1275839"/>
            <a:ext cx="1400555" cy="987526"/>
          </a:xfrm>
          <a:prstGeom prst="roundRect">
            <a:avLst>
              <a:gd name="adj" fmla="val 10526"/>
            </a:avLst>
          </a:prstGeom>
          <a:noFill/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Text 16">
            <a:extLst>
              <a:ext uri="{FF2B5EF4-FFF2-40B4-BE49-F238E27FC236}">
                <a16:creationId xmlns:a16="http://schemas.microsoft.com/office/drawing/2014/main" id="{050552BE-3BDD-568D-6D0E-E6DF4E3C2460}"/>
              </a:ext>
            </a:extLst>
          </p:cNvPr>
          <p:cNvSpPr/>
          <p:nvPr/>
        </p:nvSpPr>
        <p:spPr>
          <a:xfrm>
            <a:off x="5583147" y="1442159"/>
            <a:ext cx="1284648" cy="187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分段提胶</a:t>
            </a: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Text 17">
            <a:extLst>
              <a:ext uri="{FF2B5EF4-FFF2-40B4-BE49-F238E27FC236}">
                <a16:creationId xmlns:a16="http://schemas.microsoft.com/office/drawing/2014/main" id="{13FF2F29-1733-1BAB-679E-71284C78377F}"/>
              </a:ext>
            </a:extLst>
          </p:cNvPr>
          <p:cNvSpPr/>
          <p:nvPr/>
        </p:nvSpPr>
        <p:spPr>
          <a:xfrm>
            <a:off x="5525192" y="1699774"/>
            <a:ext cx="1410216" cy="3187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000" b="1" dirty="0" err="1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按温度梯度提取不同分子量胶液，实现天然分级</a:t>
            </a:r>
            <a:endParaRPr lang="en-US" sz="1000" b="1" dirty="0">
              <a:solidFill>
                <a:srgbClr val="5E6B7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49B88724-BB0C-1D31-5044-B3A3619C955C}"/>
              </a:ext>
            </a:extLst>
          </p:cNvPr>
          <p:cNvSpPr/>
          <p:nvPr/>
        </p:nvSpPr>
        <p:spPr>
          <a:xfrm>
            <a:off x="6954726" y="1764404"/>
            <a:ext cx="106249" cy="0"/>
          </a:xfrm>
          <a:prstGeom prst="line">
            <a:avLst/>
          </a:prstGeom>
          <a:noFill/>
          <a:ln w="19050">
            <a:solidFill>
              <a:srgbClr val="00206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1BA7C61F-6CB0-AEF7-2FC7-4C0CA863051D}"/>
              </a:ext>
            </a:extLst>
          </p:cNvPr>
          <p:cNvSpPr/>
          <p:nvPr/>
        </p:nvSpPr>
        <p:spPr>
          <a:xfrm>
            <a:off x="7070634" y="1275839"/>
            <a:ext cx="1400555" cy="987526"/>
          </a:xfrm>
          <a:prstGeom prst="roundRect">
            <a:avLst>
              <a:gd name="adj" fmla="val 10526"/>
            </a:avLst>
          </a:prstGeom>
          <a:noFill/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Text 20">
            <a:extLst>
              <a:ext uri="{FF2B5EF4-FFF2-40B4-BE49-F238E27FC236}">
                <a16:creationId xmlns:a16="http://schemas.microsoft.com/office/drawing/2014/main" id="{9FB5BF4A-F9D3-85F3-0FC0-2A6224D2BE81}"/>
              </a:ext>
            </a:extLst>
          </p:cNvPr>
          <p:cNvSpPr/>
          <p:nvPr/>
        </p:nvSpPr>
        <p:spPr>
          <a:xfrm>
            <a:off x="7128588" y="1442159"/>
            <a:ext cx="1284648" cy="187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浓缩复配</a:t>
            </a: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Text 21">
            <a:extLst>
              <a:ext uri="{FF2B5EF4-FFF2-40B4-BE49-F238E27FC236}">
                <a16:creationId xmlns:a16="http://schemas.microsoft.com/office/drawing/2014/main" id="{683DB94A-5A10-7C12-2F57-A3DF642207E6}"/>
              </a:ext>
            </a:extLst>
          </p:cNvPr>
          <p:cNvSpPr/>
          <p:nvPr/>
        </p:nvSpPr>
        <p:spPr>
          <a:xfrm>
            <a:off x="7089952" y="1740149"/>
            <a:ext cx="1390898" cy="3534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000" b="1" dirty="0" err="1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按订单目标调配不同批次胶液，影响目标</a:t>
            </a:r>
            <a:r>
              <a:rPr lang="en-US" sz="1000" b="1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Mw </a:t>
            </a:r>
            <a:r>
              <a:rPr lang="en-US" sz="1000" b="1" dirty="0" err="1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与产出</a:t>
            </a:r>
            <a:endParaRPr lang="en-US" sz="1000" b="1" dirty="0">
              <a:solidFill>
                <a:srgbClr val="5E6B7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Shape 22">
            <a:extLst>
              <a:ext uri="{FF2B5EF4-FFF2-40B4-BE49-F238E27FC236}">
                <a16:creationId xmlns:a16="http://schemas.microsoft.com/office/drawing/2014/main" id="{A76DA506-EAC0-3F04-1D90-CDEFBFC4136C}"/>
              </a:ext>
            </a:extLst>
          </p:cNvPr>
          <p:cNvSpPr/>
          <p:nvPr/>
        </p:nvSpPr>
        <p:spPr>
          <a:xfrm>
            <a:off x="8500167" y="1764404"/>
            <a:ext cx="106249" cy="0"/>
          </a:xfrm>
          <a:prstGeom prst="line">
            <a:avLst/>
          </a:prstGeom>
          <a:noFill/>
          <a:ln w="19050">
            <a:solidFill>
              <a:srgbClr val="00206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Shape 26">
            <a:extLst>
              <a:ext uri="{FF2B5EF4-FFF2-40B4-BE49-F238E27FC236}">
                <a16:creationId xmlns:a16="http://schemas.microsoft.com/office/drawing/2014/main" id="{B2149C39-91C0-41FF-BA6A-727D93189384}"/>
              </a:ext>
            </a:extLst>
          </p:cNvPr>
          <p:cNvSpPr/>
          <p:nvPr/>
        </p:nvSpPr>
        <p:spPr>
          <a:xfrm>
            <a:off x="10045608" y="1764404"/>
            <a:ext cx="106249" cy="0"/>
          </a:xfrm>
          <a:prstGeom prst="line">
            <a:avLst/>
          </a:prstGeom>
          <a:noFill/>
          <a:ln w="19050">
            <a:solidFill>
              <a:srgbClr val="00206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Shape 27">
            <a:extLst>
              <a:ext uri="{FF2B5EF4-FFF2-40B4-BE49-F238E27FC236}">
                <a16:creationId xmlns:a16="http://schemas.microsoft.com/office/drawing/2014/main" id="{6B84EA60-2202-BF8D-D37D-6E9FEA8037D3}"/>
              </a:ext>
            </a:extLst>
          </p:cNvPr>
          <p:cNvSpPr/>
          <p:nvPr/>
        </p:nvSpPr>
        <p:spPr>
          <a:xfrm>
            <a:off x="10161517" y="1275839"/>
            <a:ext cx="1400555" cy="987526"/>
          </a:xfrm>
          <a:prstGeom prst="roundRect">
            <a:avLst>
              <a:gd name="adj" fmla="val 10526"/>
            </a:avLst>
          </a:prstGeom>
          <a:noFill/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Text 28">
            <a:extLst>
              <a:ext uri="{FF2B5EF4-FFF2-40B4-BE49-F238E27FC236}">
                <a16:creationId xmlns:a16="http://schemas.microsoft.com/office/drawing/2014/main" id="{C7B71B12-6160-92F2-A169-747C60A2B9A4}"/>
              </a:ext>
            </a:extLst>
          </p:cNvPr>
          <p:cNvSpPr/>
          <p:nvPr/>
        </p:nvSpPr>
        <p:spPr>
          <a:xfrm>
            <a:off x="10219470" y="1442159"/>
            <a:ext cx="1284648" cy="187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粉碎成品</a:t>
            </a: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Text 29">
            <a:extLst>
              <a:ext uri="{FF2B5EF4-FFF2-40B4-BE49-F238E27FC236}">
                <a16:creationId xmlns:a16="http://schemas.microsoft.com/office/drawing/2014/main" id="{3C1B90D7-6FA1-937E-9C8D-294F8FF25310}"/>
              </a:ext>
            </a:extLst>
          </p:cNvPr>
          <p:cNvSpPr/>
          <p:nvPr/>
        </p:nvSpPr>
        <p:spPr>
          <a:xfrm>
            <a:off x="10219470" y="1774800"/>
            <a:ext cx="1284648" cy="207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000" b="1" dirty="0" err="1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粉碎、筛分、包装入库，完成最终质量检验</a:t>
            </a:r>
            <a:endParaRPr lang="en-US" sz="1000" b="1" dirty="0">
              <a:solidFill>
                <a:srgbClr val="5E6B7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44C7F8B-FE97-683A-A62A-C852060FB6F7}"/>
              </a:ext>
            </a:extLst>
          </p:cNvPr>
          <p:cNvSpPr txBox="1"/>
          <p:nvPr/>
        </p:nvSpPr>
        <p:spPr>
          <a:xfrm>
            <a:off x="946823" y="2457447"/>
            <a:ext cx="134260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牛骨原料、骨粒规格、原料杂质状态</a:t>
            </a:r>
            <a:endParaRPr 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9E2136C-CF77-1D6B-B2BA-1F2C5B0C063C}"/>
              </a:ext>
            </a:extLst>
          </p:cNvPr>
          <p:cNvSpPr txBox="1"/>
          <p:nvPr/>
        </p:nvSpPr>
        <p:spPr>
          <a:xfrm>
            <a:off x="312951" y="2519001"/>
            <a:ext cx="5517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</a:t>
            </a:r>
            <a:endParaRPr lang="en-US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0E5182A-F365-BD47-4EF9-4DF23BDA838C}"/>
              </a:ext>
            </a:extLst>
          </p:cNvPr>
          <p:cNvSpPr txBox="1"/>
          <p:nvPr/>
        </p:nvSpPr>
        <p:spPr>
          <a:xfrm>
            <a:off x="2448016" y="2568529"/>
            <a:ext cx="142953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预处理后的胶原骨粒</a:t>
            </a:r>
            <a:endParaRPr 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0BED918-453A-08F3-5F14-AE736AC4B2F6}"/>
              </a:ext>
            </a:extLst>
          </p:cNvPr>
          <p:cNvSpPr txBox="1"/>
          <p:nvPr/>
        </p:nvSpPr>
        <p:spPr>
          <a:xfrm>
            <a:off x="4027264" y="2462569"/>
            <a:ext cx="142470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浸灰后的胶原骨粒、残余碱和杂质</a:t>
            </a:r>
            <a:endParaRPr 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E829AB5-207E-684E-398C-7A964E9D036D}"/>
              </a:ext>
            </a:extLst>
          </p:cNvPr>
          <p:cNvSpPr txBox="1"/>
          <p:nvPr/>
        </p:nvSpPr>
        <p:spPr>
          <a:xfrm>
            <a:off x="5612125" y="2564682"/>
            <a:ext cx="13426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中和后的胶原原料</a:t>
            </a:r>
            <a:endParaRPr 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115C1C5-4C5F-ACBA-5617-F35FF1980EA8}"/>
              </a:ext>
            </a:extLst>
          </p:cNvPr>
          <p:cNvSpPr txBox="1"/>
          <p:nvPr/>
        </p:nvSpPr>
        <p:spPr>
          <a:xfrm>
            <a:off x="7169857" y="2462569"/>
            <a:ext cx="1342601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各道次胶液的重量、Mw、固含量、黏度、pH</a:t>
            </a:r>
            <a:endParaRPr 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81ED1361-BB47-A2BF-706E-6AA25639C595}"/>
              </a:ext>
            </a:extLst>
          </p:cNvPr>
          <p:cNvGrpSpPr/>
          <p:nvPr/>
        </p:nvGrpSpPr>
        <p:grpSpPr>
          <a:xfrm>
            <a:off x="2371527" y="2334766"/>
            <a:ext cx="7727230" cy="3231966"/>
            <a:chOff x="2342525" y="2168446"/>
            <a:chExt cx="7727230" cy="5085046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DC28513E-91C9-434E-F955-9DB22BBD3CE7}"/>
                </a:ext>
              </a:extLst>
            </p:cNvPr>
            <p:cNvCxnSpPr>
              <a:cxnSpLocks/>
            </p:cNvCxnSpPr>
            <p:nvPr/>
          </p:nvCxnSpPr>
          <p:spPr>
            <a:xfrm>
              <a:off x="2342525" y="2170460"/>
              <a:ext cx="0" cy="5083032"/>
            </a:xfrm>
            <a:prstGeom prst="line">
              <a:avLst/>
            </a:prstGeom>
            <a:ln w="12700">
              <a:solidFill>
                <a:schemeClr val="bg2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F7F3F62-BD5A-C3FB-1126-231E68EA8B6B}"/>
                </a:ext>
              </a:extLst>
            </p:cNvPr>
            <p:cNvCxnSpPr>
              <a:cxnSpLocks/>
            </p:cNvCxnSpPr>
            <p:nvPr/>
          </p:nvCxnSpPr>
          <p:spPr>
            <a:xfrm>
              <a:off x="5433407" y="2170460"/>
              <a:ext cx="0" cy="5083032"/>
            </a:xfrm>
            <a:prstGeom prst="line">
              <a:avLst/>
            </a:prstGeom>
            <a:ln w="12700">
              <a:solidFill>
                <a:schemeClr val="bg2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696DC9B6-CB52-2912-57E1-6D3D3337AF30}"/>
                </a:ext>
              </a:extLst>
            </p:cNvPr>
            <p:cNvCxnSpPr>
              <a:cxnSpLocks/>
            </p:cNvCxnSpPr>
            <p:nvPr/>
          </p:nvCxnSpPr>
          <p:spPr>
            <a:xfrm>
              <a:off x="3883412" y="2170460"/>
              <a:ext cx="0" cy="5034872"/>
            </a:xfrm>
            <a:prstGeom prst="line">
              <a:avLst/>
            </a:prstGeom>
            <a:ln w="12700">
              <a:solidFill>
                <a:schemeClr val="bg2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855E3F07-64C8-CCC6-F0DA-96CE81814BD6}"/>
                </a:ext>
              </a:extLst>
            </p:cNvPr>
            <p:cNvCxnSpPr>
              <a:cxnSpLocks/>
            </p:cNvCxnSpPr>
            <p:nvPr/>
          </p:nvCxnSpPr>
          <p:spPr>
            <a:xfrm>
              <a:off x="6991139" y="2168446"/>
              <a:ext cx="0" cy="5085046"/>
            </a:xfrm>
            <a:prstGeom prst="line">
              <a:avLst/>
            </a:prstGeom>
            <a:ln w="12700">
              <a:solidFill>
                <a:schemeClr val="bg2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516E20A6-DE33-1EC9-2285-58155071D89F}"/>
                </a:ext>
              </a:extLst>
            </p:cNvPr>
            <p:cNvCxnSpPr>
              <a:cxnSpLocks/>
            </p:cNvCxnSpPr>
            <p:nvPr/>
          </p:nvCxnSpPr>
          <p:spPr>
            <a:xfrm>
              <a:off x="8559314" y="2170460"/>
              <a:ext cx="0" cy="5083032"/>
            </a:xfrm>
            <a:prstGeom prst="line">
              <a:avLst/>
            </a:prstGeom>
            <a:ln w="12700">
              <a:solidFill>
                <a:schemeClr val="bg2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A06B7286-C006-9949-EF59-DE9F99A072F8}"/>
                </a:ext>
              </a:extLst>
            </p:cNvPr>
            <p:cNvCxnSpPr>
              <a:cxnSpLocks/>
            </p:cNvCxnSpPr>
            <p:nvPr/>
          </p:nvCxnSpPr>
          <p:spPr>
            <a:xfrm>
              <a:off x="10069755" y="2168446"/>
              <a:ext cx="0" cy="5085046"/>
            </a:xfrm>
            <a:prstGeom prst="line">
              <a:avLst/>
            </a:prstGeom>
            <a:ln w="12700">
              <a:solidFill>
                <a:schemeClr val="bg2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62BECE88-3BBE-1AA9-CEB4-CFC38A0B34AF}"/>
              </a:ext>
            </a:extLst>
          </p:cNvPr>
          <p:cNvSpPr txBox="1"/>
          <p:nvPr/>
        </p:nvSpPr>
        <p:spPr>
          <a:xfrm>
            <a:off x="10295763" y="2572376"/>
            <a:ext cx="134260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干燥后的明胶产品</a:t>
            </a:r>
            <a:endParaRPr 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34DACD3A-9D6D-1EA5-3CCC-B2D3BA55C3CD}"/>
              </a:ext>
            </a:extLst>
          </p:cNvPr>
          <p:cNvCxnSpPr>
            <a:cxnSpLocks/>
          </p:cNvCxnSpPr>
          <p:nvPr/>
        </p:nvCxnSpPr>
        <p:spPr>
          <a:xfrm>
            <a:off x="428682" y="3111221"/>
            <a:ext cx="11162392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074BD12A-4D03-C832-D763-0B39F0DFDD1E}"/>
              </a:ext>
            </a:extLst>
          </p:cNvPr>
          <p:cNvSpPr txBox="1"/>
          <p:nvPr/>
        </p:nvSpPr>
        <p:spPr>
          <a:xfrm>
            <a:off x="291206" y="3419395"/>
            <a:ext cx="5517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过程参数</a:t>
            </a:r>
            <a:endParaRPr lang="en-US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9F9AA968-145E-8621-0A54-12BDCF662697}"/>
              </a:ext>
            </a:extLst>
          </p:cNvPr>
          <p:cNvCxnSpPr>
            <a:cxnSpLocks/>
          </p:cNvCxnSpPr>
          <p:nvPr/>
        </p:nvCxnSpPr>
        <p:spPr>
          <a:xfrm>
            <a:off x="432634" y="4300877"/>
            <a:ext cx="11162392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1" name="Group 70">
            <a:extLst>
              <a:ext uri="{FF2B5EF4-FFF2-40B4-BE49-F238E27FC236}">
                <a16:creationId xmlns:a16="http://schemas.microsoft.com/office/drawing/2014/main" id="{FE6BB738-3406-690F-CD49-CBAEEED15317}"/>
              </a:ext>
            </a:extLst>
          </p:cNvPr>
          <p:cNvGrpSpPr/>
          <p:nvPr/>
        </p:nvGrpSpPr>
        <p:grpSpPr>
          <a:xfrm>
            <a:off x="888869" y="3210498"/>
            <a:ext cx="1332941" cy="964624"/>
            <a:chOff x="880066" y="3150387"/>
            <a:chExt cx="1342602" cy="906380"/>
          </a:xfrm>
          <a:solidFill>
            <a:schemeClr val="tx2">
              <a:lumMod val="20000"/>
              <a:lumOff val="80000"/>
            </a:schemeClr>
          </a:solidFill>
        </p:grpSpPr>
        <p:sp>
          <p:nvSpPr>
            <p:cNvPr id="66" name="Rectangle: Rounded Corners 65">
              <a:extLst>
                <a:ext uri="{FF2B5EF4-FFF2-40B4-BE49-F238E27FC236}">
                  <a16:creationId xmlns:a16="http://schemas.microsoft.com/office/drawing/2014/main" id="{27E2B26B-A858-99E5-A225-30E3A5DC921C}"/>
                </a:ext>
              </a:extLst>
            </p:cNvPr>
            <p:cNvSpPr/>
            <p:nvPr/>
          </p:nvSpPr>
          <p:spPr>
            <a:xfrm>
              <a:off x="880067" y="3150387"/>
              <a:ext cx="1342601" cy="179672"/>
            </a:xfrm>
            <a:prstGeom prst="roundRect">
              <a:avLst>
                <a:gd name="adj" fmla="val 9450"/>
              </a:avLst>
            </a:prstGeom>
            <a:grpFill/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 err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清洗强度</a:t>
              </a:r>
              <a:endParaRPr lang="en-US" sz="105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7" name="Rectangle: Rounded Corners 66">
              <a:extLst>
                <a:ext uri="{FF2B5EF4-FFF2-40B4-BE49-F238E27FC236}">
                  <a16:creationId xmlns:a16="http://schemas.microsoft.com/office/drawing/2014/main" id="{FE970B1C-5970-BF9C-8200-97AC05C982AA}"/>
                </a:ext>
              </a:extLst>
            </p:cNvPr>
            <p:cNvSpPr/>
            <p:nvPr/>
          </p:nvSpPr>
          <p:spPr>
            <a:xfrm>
              <a:off x="880067" y="3392623"/>
              <a:ext cx="1342601" cy="179672"/>
            </a:xfrm>
            <a:prstGeom prst="roundRect">
              <a:avLst>
                <a:gd name="adj" fmla="val 9450"/>
              </a:avLst>
            </a:prstGeom>
            <a:grpFill/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 err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脱脂温度</a:t>
              </a:r>
              <a:r>
                <a:rPr lang="en-US" sz="105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en-US" sz="1050" dirty="0" err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时间</a:t>
              </a:r>
              <a:endParaRPr lang="en-US" sz="105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8" name="Rectangle: Rounded Corners 67">
              <a:extLst>
                <a:ext uri="{FF2B5EF4-FFF2-40B4-BE49-F238E27FC236}">
                  <a16:creationId xmlns:a16="http://schemas.microsoft.com/office/drawing/2014/main" id="{8D648882-A648-DD88-BC39-13A8554ABC71}"/>
                </a:ext>
              </a:extLst>
            </p:cNvPr>
            <p:cNvSpPr/>
            <p:nvPr/>
          </p:nvSpPr>
          <p:spPr>
            <a:xfrm>
              <a:off x="880066" y="3634859"/>
              <a:ext cx="1342601" cy="179672"/>
            </a:xfrm>
            <a:prstGeom prst="roundRect">
              <a:avLst>
                <a:gd name="adj" fmla="val 9450"/>
              </a:avLst>
            </a:prstGeom>
            <a:grpFill/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 err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脱矿酸浓度</a:t>
              </a:r>
              <a:endParaRPr lang="en-US" sz="105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9" name="Rectangle: Rounded Corners 68">
              <a:extLst>
                <a:ext uri="{FF2B5EF4-FFF2-40B4-BE49-F238E27FC236}">
                  <a16:creationId xmlns:a16="http://schemas.microsoft.com/office/drawing/2014/main" id="{FB4747D0-EBF5-B99B-4BC1-672F62B44D34}"/>
                </a:ext>
              </a:extLst>
            </p:cNvPr>
            <p:cNvSpPr/>
            <p:nvPr/>
          </p:nvSpPr>
          <p:spPr>
            <a:xfrm>
              <a:off x="880066" y="3877095"/>
              <a:ext cx="1342601" cy="179672"/>
            </a:xfrm>
            <a:prstGeom prst="roundRect">
              <a:avLst>
                <a:gd name="adj" fmla="val 9450"/>
              </a:avLst>
            </a:prstGeom>
            <a:grpFill/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 err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粉碎粒度</a:t>
              </a:r>
              <a:endParaRPr lang="en-US" sz="105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5E76CA0A-3DEE-FCA8-F861-0CF81DF3F0AC}"/>
              </a:ext>
            </a:extLst>
          </p:cNvPr>
          <p:cNvGrpSpPr/>
          <p:nvPr/>
        </p:nvGrpSpPr>
        <p:grpSpPr>
          <a:xfrm>
            <a:off x="2468158" y="3208228"/>
            <a:ext cx="1332941" cy="966894"/>
            <a:chOff x="880066" y="3150387"/>
            <a:chExt cx="1342602" cy="906380"/>
          </a:xfrm>
          <a:solidFill>
            <a:schemeClr val="tx2">
              <a:lumMod val="20000"/>
              <a:lumOff val="80000"/>
            </a:schemeClr>
          </a:solidFill>
        </p:grpSpPr>
        <p:sp>
          <p:nvSpPr>
            <p:cNvPr id="73" name="Rectangle: Rounded Corners 72">
              <a:extLst>
                <a:ext uri="{FF2B5EF4-FFF2-40B4-BE49-F238E27FC236}">
                  <a16:creationId xmlns:a16="http://schemas.microsoft.com/office/drawing/2014/main" id="{BC3DDEDC-293F-5FE1-88C7-0B0BE1A4895A}"/>
                </a:ext>
              </a:extLst>
            </p:cNvPr>
            <p:cNvSpPr/>
            <p:nvPr/>
          </p:nvSpPr>
          <p:spPr>
            <a:xfrm>
              <a:off x="880067" y="3150387"/>
              <a:ext cx="1342601" cy="179672"/>
            </a:xfrm>
            <a:prstGeom prst="roundRect">
              <a:avLst>
                <a:gd name="adj" fmla="val 9450"/>
              </a:avLst>
            </a:prstGeom>
            <a:grpFill/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 err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浸灰时间</a:t>
              </a:r>
              <a:endParaRPr lang="en-US" sz="105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4" name="Rectangle: Rounded Corners 73">
              <a:extLst>
                <a:ext uri="{FF2B5EF4-FFF2-40B4-BE49-F238E27FC236}">
                  <a16:creationId xmlns:a16="http://schemas.microsoft.com/office/drawing/2014/main" id="{A1F70E89-03D7-2D8C-7B06-EEEDF4853D2D}"/>
                </a:ext>
              </a:extLst>
            </p:cNvPr>
            <p:cNvSpPr/>
            <p:nvPr/>
          </p:nvSpPr>
          <p:spPr>
            <a:xfrm>
              <a:off x="880067" y="3392623"/>
              <a:ext cx="1342601" cy="179672"/>
            </a:xfrm>
            <a:prstGeom prst="roundRect">
              <a:avLst>
                <a:gd name="adj" fmla="val 9450"/>
              </a:avLst>
            </a:prstGeom>
            <a:grpFill/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 err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石灰乳浓度</a:t>
              </a:r>
              <a:endParaRPr lang="en-US" sz="105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5" name="Rectangle: Rounded Corners 74">
              <a:extLst>
                <a:ext uri="{FF2B5EF4-FFF2-40B4-BE49-F238E27FC236}">
                  <a16:creationId xmlns:a16="http://schemas.microsoft.com/office/drawing/2014/main" id="{070C2E9C-242A-5704-8946-C2B479DFA2BF}"/>
                </a:ext>
              </a:extLst>
            </p:cNvPr>
            <p:cNvSpPr/>
            <p:nvPr/>
          </p:nvSpPr>
          <p:spPr>
            <a:xfrm>
              <a:off x="880066" y="3634859"/>
              <a:ext cx="1342601" cy="179672"/>
            </a:xfrm>
            <a:prstGeom prst="roundRect">
              <a:avLst>
                <a:gd name="adj" fmla="val 9450"/>
              </a:avLst>
            </a:prstGeom>
            <a:grpFill/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 err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料液比</a:t>
              </a:r>
              <a:endParaRPr lang="en-US" sz="105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6" name="Rectangle: Rounded Corners 75">
              <a:extLst>
                <a:ext uri="{FF2B5EF4-FFF2-40B4-BE49-F238E27FC236}">
                  <a16:creationId xmlns:a16="http://schemas.microsoft.com/office/drawing/2014/main" id="{75E9C298-F23A-ED2B-5F83-D7437AC9B23F}"/>
                </a:ext>
              </a:extLst>
            </p:cNvPr>
            <p:cNvSpPr/>
            <p:nvPr/>
          </p:nvSpPr>
          <p:spPr>
            <a:xfrm>
              <a:off x="880066" y="3877095"/>
              <a:ext cx="1342601" cy="179672"/>
            </a:xfrm>
            <a:prstGeom prst="roundRect">
              <a:avLst>
                <a:gd name="adj" fmla="val 9450"/>
              </a:avLst>
            </a:prstGeom>
            <a:grpFill/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5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温度</a:t>
              </a:r>
              <a:endParaRPr lang="en-US" sz="105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3C718596-8562-D5D2-4983-0012A1E67DF6}"/>
              </a:ext>
            </a:extLst>
          </p:cNvPr>
          <p:cNvGrpSpPr/>
          <p:nvPr/>
        </p:nvGrpSpPr>
        <p:grpSpPr>
          <a:xfrm>
            <a:off x="4021495" y="3211423"/>
            <a:ext cx="1332941" cy="961686"/>
            <a:chOff x="880066" y="3150387"/>
            <a:chExt cx="1342602" cy="906380"/>
          </a:xfrm>
          <a:solidFill>
            <a:schemeClr val="tx2">
              <a:lumMod val="20000"/>
              <a:lumOff val="80000"/>
            </a:schemeClr>
          </a:solidFill>
        </p:grpSpPr>
        <p:sp>
          <p:nvSpPr>
            <p:cNvPr id="78" name="Rectangle: Rounded Corners 77">
              <a:extLst>
                <a:ext uri="{FF2B5EF4-FFF2-40B4-BE49-F238E27FC236}">
                  <a16:creationId xmlns:a16="http://schemas.microsoft.com/office/drawing/2014/main" id="{E25F9D3C-9715-90BA-B265-4F57E3AB9CED}"/>
                </a:ext>
              </a:extLst>
            </p:cNvPr>
            <p:cNvSpPr/>
            <p:nvPr/>
          </p:nvSpPr>
          <p:spPr>
            <a:xfrm>
              <a:off x="880067" y="3150387"/>
              <a:ext cx="1342601" cy="179672"/>
            </a:xfrm>
            <a:prstGeom prst="roundRect">
              <a:avLst>
                <a:gd name="adj" fmla="val 9450"/>
              </a:avLst>
            </a:prstGeom>
            <a:grpFill/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 err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酸碱中和程度</a:t>
              </a:r>
              <a:endParaRPr lang="en-US" sz="105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9" name="Rectangle: Rounded Corners 78">
              <a:extLst>
                <a:ext uri="{FF2B5EF4-FFF2-40B4-BE49-F238E27FC236}">
                  <a16:creationId xmlns:a16="http://schemas.microsoft.com/office/drawing/2014/main" id="{480E5ECA-4FC2-DFD8-A293-1F8583AFC5E6}"/>
                </a:ext>
              </a:extLst>
            </p:cNvPr>
            <p:cNvSpPr/>
            <p:nvPr/>
          </p:nvSpPr>
          <p:spPr>
            <a:xfrm>
              <a:off x="880067" y="3392623"/>
              <a:ext cx="1342601" cy="179672"/>
            </a:xfrm>
            <a:prstGeom prst="roundRect">
              <a:avLst>
                <a:gd name="adj" fmla="val 9450"/>
              </a:avLst>
            </a:prstGeom>
            <a:grpFill/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 err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洗涤次数</a:t>
              </a:r>
              <a:endParaRPr lang="en-US" sz="105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0" name="Rectangle: Rounded Corners 79">
              <a:extLst>
                <a:ext uri="{FF2B5EF4-FFF2-40B4-BE49-F238E27FC236}">
                  <a16:creationId xmlns:a16="http://schemas.microsoft.com/office/drawing/2014/main" id="{A6647503-6A70-3C6C-DC0B-988A7865439B}"/>
                </a:ext>
              </a:extLst>
            </p:cNvPr>
            <p:cNvSpPr/>
            <p:nvPr/>
          </p:nvSpPr>
          <p:spPr>
            <a:xfrm>
              <a:off x="880066" y="3634859"/>
              <a:ext cx="1342601" cy="179672"/>
            </a:xfrm>
            <a:prstGeom prst="roundRect">
              <a:avLst>
                <a:gd name="adj" fmla="val 9450"/>
              </a:avLst>
            </a:prstGeom>
            <a:grpFill/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 err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用水量</a:t>
              </a:r>
              <a:endParaRPr lang="en-US" sz="105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1" name="Rectangle: Rounded Corners 80">
              <a:extLst>
                <a:ext uri="{FF2B5EF4-FFF2-40B4-BE49-F238E27FC236}">
                  <a16:creationId xmlns:a16="http://schemas.microsoft.com/office/drawing/2014/main" id="{4CFFAD4F-5FD0-BEE6-4A26-FAC5A76D5CA4}"/>
                </a:ext>
              </a:extLst>
            </p:cNvPr>
            <p:cNvSpPr/>
            <p:nvPr/>
          </p:nvSpPr>
          <p:spPr>
            <a:xfrm>
              <a:off x="880066" y="3877095"/>
              <a:ext cx="1342601" cy="179672"/>
            </a:xfrm>
            <a:prstGeom prst="roundRect">
              <a:avLst>
                <a:gd name="adj" fmla="val 9450"/>
              </a:avLst>
            </a:prstGeom>
            <a:grpFill/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 err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终点</a:t>
              </a:r>
              <a:r>
                <a:rPr lang="en-US" sz="105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pH</a:t>
              </a:r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34F0032B-1A68-E4AA-7FEA-31C1C48835B1}"/>
              </a:ext>
            </a:extLst>
          </p:cNvPr>
          <p:cNvGrpSpPr/>
          <p:nvPr/>
        </p:nvGrpSpPr>
        <p:grpSpPr>
          <a:xfrm>
            <a:off x="5583805" y="3213507"/>
            <a:ext cx="1332941" cy="959602"/>
            <a:chOff x="880066" y="3150387"/>
            <a:chExt cx="1342602" cy="664144"/>
          </a:xfrm>
          <a:solidFill>
            <a:schemeClr val="tx2">
              <a:lumMod val="20000"/>
              <a:lumOff val="80000"/>
            </a:schemeClr>
          </a:solidFill>
        </p:grpSpPr>
        <p:sp>
          <p:nvSpPr>
            <p:cNvPr id="83" name="Rectangle: Rounded Corners 82">
              <a:extLst>
                <a:ext uri="{FF2B5EF4-FFF2-40B4-BE49-F238E27FC236}">
                  <a16:creationId xmlns:a16="http://schemas.microsoft.com/office/drawing/2014/main" id="{2BB49412-EC98-00F9-2CDC-915E27D903A5}"/>
                </a:ext>
              </a:extLst>
            </p:cNvPr>
            <p:cNvSpPr/>
            <p:nvPr/>
          </p:nvSpPr>
          <p:spPr>
            <a:xfrm>
              <a:off x="880067" y="3150387"/>
              <a:ext cx="1342601" cy="179672"/>
            </a:xfrm>
            <a:prstGeom prst="roundRect">
              <a:avLst>
                <a:gd name="adj" fmla="val 9450"/>
              </a:avLst>
            </a:prstGeom>
            <a:grpFill/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 err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提胶温度</a:t>
              </a:r>
              <a:endParaRPr lang="en-US" sz="105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4" name="Rectangle: Rounded Corners 83">
              <a:extLst>
                <a:ext uri="{FF2B5EF4-FFF2-40B4-BE49-F238E27FC236}">
                  <a16:creationId xmlns:a16="http://schemas.microsoft.com/office/drawing/2014/main" id="{84FF211C-41FF-4259-5234-ABA5B5DB5B50}"/>
                </a:ext>
              </a:extLst>
            </p:cNvPr>
            <p:cNvSpPr/>
            <p:nvPr/>
          </p:nvSpPr>
          <p:spPr>
            <a:xfrm>
              <a:off x="880067" y="3392623"/>
              <a:ext cx="1342601" cy="179672"/>
            </a:xfrm>
            <a:prstGeom prst="roundRect">
              <a:avLst>
                <a:gd name="adj" fmla="val 9450"/>
              </a:avLst>
            </a:prstGeom>
            <a:grpFill/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 err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提胶时间</a:t>
              </a:r>
              <a:endParaRPr lang="en-US" sz="105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5" name="Rectangle: Rounded Corners 84">
              <a:extLst>
                <a:ext uri="{FF2B5EF4-FFF2-40B4-BE49-F238E27FC236}">
                  <a16:creationId xmlns:a16="http://schemas.microsoft.com/office/drawing/2014/main" id="{E25CEEEC-2D01-0003-15D7-B22BCAC8E57D}"/>
                </a:ext>
              </a:extLst>
            </p:cNvPr>
            <p:cNvSpPr/>
            <p:nvPr/>
          </p:nvSpPr>
          <p:spPr>
            <a:xfrm>
              <a:off x="880066" y="3634859"/>
              <a:ext cx="1342601" cy="179672"/>
            </a:xfrm>
            <a:prstGeom prst="roundRect">
              <a:avLst>
                <a:gd name="adj" fmla="val 9450"/>
              </a:avLst>
            </a:prstGeom>
            <a:grpFill/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 err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提胶道次</a:t>
              </a:r>
              <a:endParaRPr lang="en-US" sz="105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6BEE7E44-A61C-60A8-746F-9DA54B56D9A5}"/>
              </a:ext>
            </a:extLst>
          </p:cNvPr>
          <p:cNvGrpSpPr/>
          <p:nvPr/>
        </p:nvGrpSpPr>
        <p:grpSpPr>
          <a:xfrm>
            <a:off x="7150002" y="3206270"/>
            <a:ext cx="1332941" cy="968852"/>
            <a:chOff x="880066" y="3150387"/>
            <a:chExt cx="1342602" cy="906380"/>
          </a:xfrm>
          <a:solidFill>
            <a:schemeClr val="tx2">
              <a:lumMod val="20000"/>
              <a:lumOff val="80000"/>
            </a:schemeClr>
          </a:solidFill>
        </p:grpSpPr>
        <p:sp>
          <p:nvSpPr>
            <p:cNvPr id="88" name="Rectangle: Rounded Corners 87">
              <a:extLst>
                <a:ext uri="{FF2B5EF4-FFF2-40B4-BE49-F238E27FC236}">
                  <a16:creationId xmlns:a16="http://schemas.microsoft.com/office/drawing/2014/main" id="{F4015E8A-74D2-5506-3EC0-8561CDAAE057}"/>
                </a:ext>
              </a:extLst>
            </p:cNvPr>
            <p:cNvSpPr/>
            <p:nvPr/>
          </p:nvSpPr>
          <p:spPr>
            <a:xfrm>
              <a:off x="880067" y="3150387"/>
              <a:ext cx="1342601" cy="179672"/>
            </a:xfrm>
            <a:prstGeom prst="roundRect">
              <a:avLst>
                <a:gd name="adj" fmla="val 9450"/>
              </a:avLst>
            </a:prstGeom>
            <a:grpFill/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 err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浓缩浓度</a:t>
              </a:r>
              <a:endParaRPr lang="en-US" sz="105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9" name="Rectangle: Rounded Corners 88">
              <a:extLst>
                <a:ext uri="{FF2B5EF4-FFF2-40B4-BE49-F238E27FC236}">
                  <a16:creationId xmlns:a16="http://schemas.microsoft.com/office/drawing/2014/main" id="{D872FD68-4944-900C-7654-FF4F02A988B9}"/>
                </a:ext>
              </a:extLst>
            </p:cNvPr>
            <p:cNvSpPr/>
            <p:nvPr/>
          </p:nvSpPr>
          <p:spPr>
            <a:xfrm>
              <a:off x="880067" y="3392623"/>
              <a:ext cx="1342601" cy="179672"/>
            </a:xfrm>
            <a:prstGeom prst="roundRect">
              <a:avLst>
                <a:gd name="adj" fmla="val 9450"/>
              </a:avLst>
            </a:prstGeom>
            <a:grpFill/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 err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各批次加入比例</a:t>
              </a:r>
              <a:endParaRPr lang="en-US" sz="105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0" name="Rectangle: Rounded Corners 89">
              <a:extLst>
                <a:ext uri="{FF2B5EF4-FFF2-40B4-BE49-F238E27FC236}">
                  <a16:creationId xmlns:a16="http://schemas.microsoft.com/office/drawing/2014/main" id="{F5FF5F89-553C-2EE6-2DDB-D5474FCCF7B9}"/>
                </a:ext>
              </a:extLst>
            </p:cNvPr>
            <p:cNvSpPr/>
            <p:nvPr/>
          </p:nvSpPr>
          <p:spPr>
            <a:xfrm>
              <a:off x="880066" y="3634859"/>
              <a:ext cx="1342601" cy="179672"/>
            </a:xfrm>
            <a:prstGeom prst="roundRect">
              <a:avLst>
                <a:gd name="adj" fmla="val 9450"/>
              </a:avLst>
            </a:prstGeom>
            <a:grpFill/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 err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复配顺序</a:t>
              </a:r>
              <a:endParaRPr lang="en-US" sz="105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1" name="Rectangle: Rounded Corners 90">
              <a:extLst>
                <a:ext uri="{FF2B5EF4-FFF2-40B4-BE49-F238E27FC236}">
                  <a16:creationId xmlns:a16="http://schemas.microsoft.com/office/drawing/2014/main" id="{76AA92F6-D294-AC38-272D-735D334716A9}"/>
                </a:ext>
              </a:extLst>
            </p:cNvPr>
            <p:cNvSpPr/>
            <p:nvPr/>
          </p:nvSpPr>
          <p:spPr>
            <a:xfrm>
              <a:off x="880066" y="3877095"/>
              <a:ext cx="1342601" cy="179672"/>
            </a:xfrm>
            <a:prstGeom prst="roundRect">
              <a:avLst>
                <a:gd name="adj" fmla="val 9450"/>
              </a:avLst>
            </a:prstGeom>
            <a:grpFill/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 err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目标</a:t>
              </a:r>
              <a:r>
                <a:rPr lang="en-US" sz="105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Mw</a:t>
              </a:r>
            </a:p>
          </p:txBody>
        </p: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5B02DAE9-F061-60DD-0245-DC9721E77EE0}"/>
              </a:ext>
            </a:extLst>
          </p:cNvPr>
          <p:cNvGrpSpPr/>
          <p:nvPr/>
        </p:nvGrpSpPr>
        <p:grpSpPr>
          <a:xfrm>
            <a:off x="10219470" y="3206270"/>
            <a:ext cx="1332941" cy="968852"/>
            <a:chOff x="880066" y="3150387"/>
            <a:chExt cx="1342602" cy="906380"/>
          </a:xfrm>
          <a:solidFill>
            <a:schemeClr val="tx2">
              <a:lumMod val="20000"/>
              <a:lumOff val="80000"/>
            </a:schemeClr>
          </a:solidFill>
        </p:grpSpPr>
        <p:sp>
          <p:nvSpPr>
            <p:cNvPr id="100" name="Rectangle: Rounded Corners 99">
              <a:extLst>
                <a:ext uri="{FF2B5EF4-FFF2-40B4-BE49-F238E27FC236}">
                  <a16:creationId xmlns:a16="http://schemas.microsoft.com/office/drawing/2014/main" id="{516105F3-6A57-1CC1-4FE5-E256A8DEEE3E}"/>
                </a:ext>
              </a:extLst>
            </p:cNvPr>
            <p:cNvSpPr/>
            <p:nvPr/>
          </p:nvSpPr>
          <p:spPr>
            <a:xfrm>
              <a:off x="880067" y="3150387"/>
              <a:ext cx="1342601" cy="179672"/>
            </a:xfrm>
            <a:prstGeom prst="roundRect">
              <a:avLst>
                <a:gd name="adj" fmla="val 9450"/>
              </a:avLst>
            </a:prstGeom>
            <a:grpFill/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 err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粉碎粒度</a:t>
              </a:r>
              <a:endParaRPr lang="en-US" sz="105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1" name="Rectangle: Rounded Corners 100">
              <a:extLst>
                <a:ext uri="{FF2B5EF4-FFF2-40B4-BE49-F238E27FC236}">
                  <a16:creationId xmlns:a16="http://schemas.microsoft.com/office/drawing/2014/main" id="{F7627235-B608-4738-80FB-11442B3A048B}"/>
                </a:ext>
              </a:extLst>
            </p:cNvPr>
            <p:cNvSpPr/>
            <p:nvPr/>
          </p:nvSpPr>
          <p:spPr>
            <a:xfrm>
              <a:off x="880067" y="3392623"/>
              <a:ext cx="1342601" cy="179672"/>
            </a:xfrm>
            <a:prstGeom prst="roundRect">
              <a:avLst>
                <a:gd name="adj" fmla="val 9450"/>
              </a:avLst>
            </a:prstGeom>
            <a:grpFill/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 err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筛分标准</a:t>
              </a:r>
              <a:endParaRPr lang="en-US" sz="105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2" name="Rectangle: Rounded Corners 101">
              <a:extLst>
                <a:ext uri="{FF2B5EF4-FFF2-40B4-BE49-F238E27FC236}">
                  <a16:creationId xmlns:a16="http://schemas.microsoft.com/office/drawing/2014/main" id="{60D9ADDF-C8D3-D627-4047-1180A0BB8864}"/>
                </a:ext>
              </a:extLst>
            </p:cNvPr>
            <p:cNvSpPr/>
            <p:nvPr/>
          </p:nvSpPr>
          <p:spPr>
            <a:xfrm>
              <a:off x="880066" y="3634859"/>
              <a:ext cx="1342601" cy="179672"/>
            </a:xfrm>
            <a:prstGeom prst="roundRect">
              <a:avLst>
                <a:gd name="adj" fmla="val 9450"/>
              </a:avLst>
            </a:prstGeom>
            <a:grpFill/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 err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检测方法</a:t>
              </a:r>
              <a:endParaRPr lang="en-US" sz="105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3" name="Rectangle: Rounded Corners 102">
              <a:extLst>
                <a:ext uri="{FF2B5EF4-FFF2-40B4-BE49-F238E27FC236}">
                  <a16:creationId xmlns:a16="http://schemas.microsoft.com/office/drawing/2014/main" id="{AB677FAA-27E6-568F-A0C2-5D0ED63F93F7}"/>
                </a:ext>
              </a:extLst>
            </p:cNvPr>
            <p:cNvSpPr/>
            <p:nvPr/>
          </p:nvSpPr>
          <p:spPr>
            <a:xfrm>
              <a:off x="880066" y="3877095"/>
              <a:ext cx="1342601" cy="179672"/>
            </a:xfrm>
            <a:prstGeom prst="roundRect">
              <a:avLst>
                <a:gd name="adj" fmla="val 9450"/>
              </a:avLst>
            </a:prstGeom>
            <a:grpFill/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 err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入库判定标准</a:t>
              </a:r>
              <a:endParaRPr lang="en-US" sz="105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04" name="TextBox 103">
            <a:extLst>
              <a:ext uri="{FF2B5EF4-FFF2-40B4-BE49-F238E27FC236}">
                <a16:creationId xmlns:a16="http://schemas.microsoft.com/office/drawing/2014/main" id="{0D77EB20-EF74-52C0-5C98-47ED53A08833}"/>
              </a:ext>
            </a:extLst>
          </p:cNvPr>
          <p:cNvSpPr txBox="1"/>
          <p:nvPr/>
        </p:nvSpPr>
        <p:spPr>
          <a:xfrm>
            <a:off x="309318" y="4448053"/>
            <a:ext cx="5517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</a:t>
            </a:r>
            <a:endParaRPr lang="en-US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A9DE6BB7-7D51-488A-B224-1CA7D72631D1}"/>
              </a:ext>
            </a:extLst>
          </p:cNvPr>
          <p:cNvSpPr txBox="1"/>
          <p:nvPr/>
        </p:nvSpPr>
        <p:spPr>
          <a:xfrm>
            <a:off x="1116085" y="4453670"/>
            <a:ext cx="9190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胶原骨粒</a:t>
            </a:r>
            <a:endParaRPr 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D6CA1EA4-6F56-FA95-63E2-FD2648A445C6}"/>
              </a:ext>
            </a:extLst>
          </p:cNvPr>
          <p:cNvSpPr txBox="1"/>
          <p:nvPr/>
        </p:nvSpPr>
        <p:spPr>
          <a:xfrm>
            <a:off x="2756634" y="4448117"/>
            <a:ext cx="9190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浸灰骨粒</a:t>
            </a:r>
            <a:endParaRPr 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69075623-DB5C-FACC-91F8-816B486A6ADC}"/>
              </a:ext>
            </a:extLst>
          </p:cNvPr>
          <p:cNvSpPr txBox="1"/>
          <p:nvPr/>
        </p:nvSpPr>
        <p:spPr>
          <a:xfrm>
            <a:off x="4324808" y="4450820"/>
            <a:ext cx="9190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中和骨粒</a:t>
            </a:r>
            <a:endParaRPr 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C4F35247-811F-23E3-F854-79F66431D52C}"/>
              </a:ext>
            </a:extLst>
          </p:cNvPr>
          <p:cNvSpPr txBox="1"/>
          <p:nvPr/>
        </p:nvSpPr>
        <p:spPr>
          <a:xfrm>
            <a:off x="5850321" y="4448053"/>
            <a:ext cx="9190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分道次胶液</a:t>
            </a:r>
            <a:endParaRPr 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F85D0D2B-8C8B-776A-E761-E846BDCA5E19}"/>
              </a:ext>
            </a:extLst>
          </p:cNvPr>
          <p:cNvSpPr txBox="1"/>
          <p:nvPr/>
        </p:nvSpPr>
        <p:spPr>
          <a:xfrm>
            <a:off x="7490870" y="4442500"/>
            <a:ext cx="9190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复配浓胶</a:t>
            </a:r>
            <a:endParaRPr 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7A9C0F10-065B-35A0-315D-05FB99241A51}"/>
              </a:ext>
            </a:extLst>
          </p:cNvPr>
          <p:cNvSpPr txBox="1"/>
          <p:nvPr/>
        </p:nvSpPr>
        <p:spPr>
          <a:xfrm>
            <a:off x="10258439" y="4448063"/>
            <a:ext cx="140912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成品明胶</a:t>
            </a:r>
            <a:r>
              <a:rPr 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/ </a:t>
            </a:r>
            <a:r>
              <a:rPr lang="en-US" sz="105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质检数据</a:t>
            </a:r>
            <a:endParaRPr 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7911CCDA-7613-EA76-6442-4BCCA1BE985F}"/>
              </a:ext>
            </a:extLst>
          </p:cNvPr>
          <p:cNvCxnSpPr>
            <a:cxnSpLocks/>
          </p:cNvCxnSpPr>
          <p:nvPr/>
        </p:nvCxnSpPr>
        <p:spPr>
          <a:xfrm>
            <a:off x="428682" y="4891816"/>
            <a:ext cx="11162392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F08A7C6A-6DC9-907E-76FD-FB7DBC5A61BA}"/>
              </a:ext>
            </a:extLst>
          </p:cNvPr>
          <p:cNvSpPr txBox="1"/>
          <p:nvPr/>
        </p:nvSpPr>
        <p:spPr>
          <a:xfrm>
            <a:off x="296088" y="5806274"/>
            <a:ext cx="5517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数据采集</a:t>
            </a:r>
            <a:endParaRPr lang="en-US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09F6B1FC-064C-DCB3-AB81-422D1FC0A768}"/>
              </a:ext>
            </a:extLst>
          </p:cNvPr>
          <p:cNvSpPr/>
          <p:nvPr/>
        </p:nvSpPr>
        <p:spPr>
          <a:xfrm>
            <a:off x="933595" y="5806274"/>
            <a:ext cx="5178178" cy="461659"/>
          </a:xfrm>
          <a:prstGeom prst="rect">
            <a:avLst/>
          </a:prstGeom>
          <a:solidFill>
            <a:srgbClr val="0B2F4E"/>
          </a:solidFill>
          <a:ln>
            <a:solidFill>
              <a:srgbClr val="0B2F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已有系统（待进一步交流后细化）</a:t>
            </a:r>
            <a:endParaRPr lang="en-US" sz="1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F6013A1D-8814-606A-D1D3-9041BF736DDA}"/>
              </a:ext>
            </a:extLst>
          </p:cNvPr>
          <p:cNvSpPr/>
          <p:nvPr/>
        </p:nvSpPr>
        <p:spPr>
          <a:xfrm>
            <a:off x="6346899" y="5806280"/>
            <a:ext cx="5226586" cy="461659"/>
          </a:xfrm>
          <a:prstGeom prst="rect">
            <a:avLst/>
          </a:prstGeom>
          <a:solidFill>
            <a:srgbClr val="0B2F4E"/>
          </a:solidFill>
          <a:ln>
            <a:solidFill>
              <a:srgbClr val="0B2F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已有设备（待进一步交流后细化）</a:t>
            </a:r>
            <a:endParaRPr lang="en-US" sz="1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7" name="Text 0">
            <a:extLst>
              <a:ext uri="{FF2B5EF4-FFF2-40B4-BE49-F238E27FC236}">
                <a16:creationId xmlns:a16="http://schemas.microsoft.com/office/drawing/2014/main" id="{BD13B611-036E-A49A-2ADD-8127515F31EA}"/>
              </a:ext>
            </a:extLst>
          </p:cNvPr>
          <p:cNvSpPr/>
          <p:nvPr/>
        </p:nvSpPr>
        <p:spPr>
          <a:xfrm>
            <a:off x="502920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2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骨明胶生产工艺流程现状</a:t>
            </a:r>
            <a:endParaRPr lang="en-US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77CE3FA6-CBE7-64D8-8E0B-1B1EFAEC35F8}"/>
              </a:ext>
            </a:extLst>
          </p:cNvPr>
          <p:cNvCxnSpPr>
            <a:cxnSpLocks/>
          </p:cNvCxnSpPr>
          <p:nvPr/>
        </p:nvCxnSpPr>
        <p:spPr>
          <a:xfrm>
            <a:off x="432634" y="5604056"/>
            <a:ext cx="11162392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TextBox 118">
            <a:extLst>
              <a:ext uri="{FF2B5EF4-FFF2-40B4-BE49-F238E27FC236}">
                <a16:creationId xmlns:a16="http://schemas.microsoft.com/office/drawing/2014/main" id="{D39DB544-FFC1-C108-3C05-D43DF75CB916}"/>
              </a:ext>
            </a:extLst>
          </p:cNvPr>
          <p:cNvSpPr txBox="1"/>
          <p:nvPr/>
        </p:nvSpPr>
        <p:spPr>
          <a:xfrm>
            <a:off x="861087" y="4929679"/>
            <a:ext cx="1446449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05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原料洁净度</a:t>
            </a:r>
            <a:endParaRPr 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05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骨粒规格一致性</a:t>
            </a:r>
            <a:endParaRPr 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05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脱脂</a:t>
            </a:r>
            <a:r>
              <a:rPr 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sz="105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脱矿充分性</a:t>
            </a:r>
            <a:endParaRPr 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32CC2304-8BA3-CDDC-6143-419456C130D6}"/>
              </a:ext>
            </a:extLst>
          </p:cNvPr>
          <p:cNvSpPr txBox="1"/>
          <p:nvPr/>
        </p:nvSpPr>
        <p:spPr>
          <a:xfrm>
            <a:off x="2429199" y="4986335"/>
            <a:ext cx="151077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05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断链可控性</a:t>
            </a:r>
            <a:endParaRPr 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05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分子量基础稳定性</a:t>
            </a:r>
            <a:endParaRPr 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46793461-5998-78E6-6297-0ECBE1E77363}"/>
              </a:ext>
            </a:extLst>
          </p:cNvPr>
          <p:cNvSpPr txBox="1"/>
          <p:nvPr/>
        </p:nvSpPr>
        <p:spPr>
          <a:xfrm>
            <a:off x="4086386" y="4929679"/>
            <a:ext cx="1200384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pH </a:t>
            </a:r>
            <a:r>
              <a:rPr lang="en-US" sz="105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稳定性</a:t>
            </a:r>
            <a:endParaRPr 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05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透明度</a:t>
            </a:r>
            <a:endParaRPr 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05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残留离子控制</a:t>
            </a:r>
            <a:endParaRPr 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0E271162-98EF-7C75-A7D7-F3EDBEE3D017}"/>
              </a:ext>
            </a:extLst>
          </p:cNvPr>
          <p:cNvSpPr txBox="1"/>
          <p:nvPr/>
        </p:nvSpPr>
        <p:spPr>
          <a:xfrm>
            <a:off x="5518191" y="4929678"/>
            <a:ext cx="1409128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Mw </a:t>
            </a:r>
            <a:r>
              <a:rPr lang="en-US" sz="105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分级准确性</a:t>
            </a:r>
            <a:endParaRPr 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05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黏度</a:t>
            </a:r>
            <a:r>
              <a:rPr 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sz="105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冻力稳定性</a:t>
            </a:r>
            <a:endParaRPr 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05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出胶率</a:t>
            </a:r>
            <a:endParaRPr 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00E694BF-CF21-10E1-16B6-A5F899CFCF26}"/>
              </a:ext>
            </a:extLst>
          </p:cNvPr>
          <p:cNvSpPr txBox="1"/>
          <p:nvPr/>
        </p:nvSpPr>
        <p:spPr>
          <a:xfrm>
            <a:off x="7160493" y="4978728"/>
            <a:ext cx="1510774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05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目标</a:t>
            </a:r>
            <a:r>
              <a:rPr 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Mw </a:t>
            </a:r>
            <a:r>
              <a:rPr lang="en-US" sz="105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达成率</a:t>
            </a:r>
            <a:endParaRPr 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05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固含量稳定性</a:t>
            </a:r>
            <a:endParaRPr 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05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产出预测偏差</a:t>
            </a:r>
            <a:endParaRPr 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072AB298-5C4A-7588-4A94-CBBAFFF95636}"/>
              </a:ext>
            </a:extLst>
          </p:cNvPr>
          <p:cNvSpPr txBox="1"/>
          <p:nvPr/>
        </p:nvSpPr>
        <p:spPr>
          <a:xfrm>
            <a:off x="10249485" y="4922071"/>
            <a:ext cx="1409128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05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成品一致性</a:t>
            </a:r>
            <a:endParaRPr 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05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质检准确性</a:t>
            </a:r>
            <a:endParaRPr 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05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异常追溯完整性</a:t>
            </a:r>
            <a:endParaRPr 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F75C865D-9F5A-167E-FE9C-72E9E11DCFA7}"/>
              </a:ext>
            </a:extLst>
          </p:cNvPr>
          <p:cNvSpPr txBox="1"/>
          <p:nvPr/>
        </p:nvSpPr>
        <p:spPr>
          <a:xfrm>
            <a:off x="312951" y="5003955"/>
            <a:ext cx="5517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关键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指标</a:t>
            </a:r>
            <a:endParaRPr lang="en-US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9" name="Shape 23">
            <a:extLst>
              <a:ext uri="{FF2B5EF4-FFF2-40B4-BE49-F238E27FC236}">
                <a16:creationId xmlns:a16="http://schemas.microsoft.com/office/drawing/2014/main" id="{E2CC5E36-FD8E-AE61-E42A-9CC4572421DB}"/>
              </a:ext>
            </a:extLst>
          </p:cNvPr>
          <p:cNvSpPr/>
          <p:nvPr/>
        </p:nvSpPr>
        <p:spPr>
          <a:xfrm>
            <a:off x="8616075" y="1275839"/>
            <a:ext cx="1400555" cy="987526"/>
          </a:xfrm>
          <a:prstGeom prst="roundRect">
            <a:avLst>
              <a:gd name="adj" fmla="val 10526"/>
            </a:avLst>
          </a:prstGeom>
          <a:noFill/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0" name="Text 24">
            <a:extLst>
              <a:ext uri="{FF2B5EF4-FFF2-40B4-BE49-F238E27FC236}">
                <a16:creationId xmlns:a16="http://schemas.microsoft.com/office/drawing/2014/main" id="{13A160C1-D88F-6CEE-F4E2-76A209FFD423}"/>
              </a:ext>
            </a:extLst>
          </p:cNvPr>
          <p:cNvSpPr/>
          <p:nvPr/>
        </p:nvSpPr>
        <p:spPr>
          <a:xfrm>
            <a:off x="8674030" y="1442159"/>
            <a:ext cx="1284648" cy="187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凝胶干燥</a:t>
            </a: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1" name="Text 25">
            <a:extLst>
              <a:ext uri="{FF2B5EF4-FFF2-40B4-BE49-F238E27FC236}">
                <a16:creationId xmlns:a16="http://schemas.microsoft.com/office/drawing/2014/main" id="{662A0473-9ED3-1D4D-5AEA-B04EF542AC5C}"/>
              </a:ext>
            </a:extLst>
          </p:cNvPr>
          <p:cNvSpPr/>
          <p:nvPr/>
        </p:nvSpPr>
        <p:spPr>
          <a:xfrm>
            <a:off x="8674030" y="1774798"/>
            <a:ext cx="1342602" cy="3187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000" b="1" dirty="0" err="1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胶液成型并脱水干燥，是质量与产出偏差的集中显现点</a:t>
            </a:r>
            <a:endParaRPr lang="en-US" sz="1000" b="1" dirty="0">
              <a:solidFill>
                <a:srgbClr val="5E6B7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52A1799B-4DDD-C9C6-6DB1-6B048C2ECFBF}"/>
              </a:ext>
            </a:extLst>
          </p:cNvPr>
          <p:cNvSpPr txBox="1"/>
          <p:nvPr/>
        </p:nvSpPr>
        <p:spPr>
          <a:xfrm>
            <a:off x="8785322" y="2574389"/>
            <a:ext cx="134260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复配后的浓胶</a:t>
            </a:r>
            <a:endParaRPr 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B649D140-4B86-164B-5C6C-CE3A0DB1CB26}"/>
              </a:ext>
            </a:extLst>
          </p:cNvPr>
          <p:cNvGrpSpPr/>
          <p:nvPr/>
        </p:nvGrpSpPr>
        <p:grpSpPr>
          <a:xfrm>
            <a:off x="8674030" y="3202115"/>
            <a:ext cx="1337980" cy="973006"/>
            <a:chOff x="8645028" y="3035794"/>
            <a:chExt cx="1337980" cy="870321"/>
          </a:xfrm>
        </p:grpSpPr>
        <p:grpSp>
          <p:nvGrpSpPr>
            <p:cNvPr id="144" name="Group 143">
              <a:extLst>
                <a:ext uri="{FF2B5EF4-FFF2-40B4-BE49-F238E27FC236}">
                  <a16:creationId xmlns:a16="http://schemas.microsoft.com/office/drawing/2014/main" id="{3099515C-0621-E835-4C56-D7581907C7C6}"/>
                </a:ext>
              </a:extLst>
            </p:cNvPr>
            <p:cNvGrpSpPr/>
            <p:nvPr/>
          </p:nvGrpSpPr>
          <p:grpSpPr>
            <a:xfrm>
              <a:off x="8645028" y="3035794"/>
              <a:ext cx="1332941" cy="683550"/>
              <a:chOff x="880066" y="3150387"/>
              <a:chExt cx="1342602" cy="906380"/>
            </a:xfrm>
            <a:solidFill>
              <a:schemeClr val="tx2">
                <a:lumMod val="20000"/>
                <a:lumOff val="80000"/>
              </a:schemeClr>
            </a:solidFill>
          </p:grpSpPr>
          <p:sp>
            <p:nvSpPr>
              <p:cNvPr id="146" name="Rectangle: Rounded Corners 145">
                <a:extLst>
                  <a:ext uri="{FF2B5EF4-FFF2-40B4-BE49-F238E27FC236}">
                    <a16:creationId xmlns:a16="http://schemas.microsoft.com/office/drawing/2014/main" id="{0E72796E-567D-C9BF-94E8-19F104AB6C49}"/>
                  </a:ext>
                </a:extLst>
              </p:cNvPr>
              <p:cNvSpPr/>
              <p:nvPr/>
            </p:nvSpPr>
            <p:spPr>
              <a:xfrm>
                <a:off x="880067" y="3150387"/>
                <a:ext cx="1342601" cy="179672"/>
              </a:xfrm>
              <a:prstGeom prst="roundRect">
                <a:avLst>
                  <a:gd name="adj" fmla="val 9450"/>
                </a:avLst>
              </a:prstGeom>
              <a:grpFill/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 err="1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冷却温度</a:t>
                </a:r>
                <a:endParaRPr lang="en-US" sz="105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7" name="Rectangle: Rounded Corners 146">
                <a:extLst>
                  <a:ext uri="{FF2B5EF4-FFF2-40B4-BE49-F238E27FC236}">
                    <a16:creationId xmlns:a16="http://schemas.microsoft.com/office/drawing/2014/main" id="{64AAE0E1-9380-0181-E8B9-CE4CF7658B8B}"/>
                  </a:ext>
                </a:extLst>
              </p:cNvPr>
              <p:cNvSpPr/>
              <p:nvPr/>
            </p:nvSpPr>
            <p:spPr>
              <a:xfrm>
                <a:off x="880067" y="3392623"/>
                <a:ext cx="1342601" cy="179672"/>
              </a:xfrm>
              <a:prstGeom prst="roundRect">
                <a:avLst>
                  <a:gd name="adj" fmla="val 9450"/>
                </a:avLst>
              </a:prstGeom>
              <a:grpFill/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 err="1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凝胶时间</a:t>
                </a:r>
                <a:endParaRPr lang="en-US" sz="105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8" name="Rectangle: Rounded Corners 147">
                <a:extLst>
                  <a:ext uri="{FF2B5EF4-FFF2-40B4-BE49-F238E27FC236}">
                    <a16:creationId xmlns:a16="http://schemas.microsoft.com/office/drawing/2014/main" id="{007A826E-BAEC-963A-A9F6-26D0A5CCB956}"/>
                  </a:ext>
                </a:extLst>
              </p:cNvPr>
              <p:cNvSpPr/>
              <p:nvPr/>
            </p:nvSpPr>
            <p:spPr>
              <a:xfrm>
                <a:off x="880066" y="3634859"/>
                <a:ext cx="1342601" cy="179672"/>
              </a:xfrm>
              <a:prstGeom prst="roundRect">
                <a:avLst>
                  <a:gd name="adj" fmla="val 9450"/>
                </a:avLst>
              </a:prstGeom>
              <a:grpFill/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 err="1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干燥温度</a:t>
                </a:r>
                <a:endParaRPr lang="en-US" sz="105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9" name="Rectangle: Rounded Corners 148">
                <a:extLst>
                  <a:ext uri="{FF2B5EF4-FFF2-40B4-BE49-F238E27FC236}">
                    <a16:creationId xmlns:a16="http://schemas.microsoft.com/office/drawing/2014/main" id="{E5DC692B-445C-7F0A-0135-A25B28321713}"/>
                  </a:ext>
                </a:extLst>
              </p:cNvPr>
              <p:cNvSpPr/>
              <p:nvPr/>
            </p:nvSpPr>
            <p:spPr>
              <a:xfrm>
                <a:off x="880066" y="3877095"/>
                <a:ext cx="1342601" cy="179672"/>
              </a:xfrm>
              <a:prstGeom prst="roundRect">
                <a:avLst>
                  <a:gd name="adj" fmla="val 9450"/>
                </a:avLst>
              </a:prstGeom>
              <a:grpFill/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 err="1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干燥时间</a:t>
                </a:r>
                <a:endParaRPr lang="en-US" sz="105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45" name="Rectangle: Rounded Corners 144">
              <a:extLst>
                <a:ext uri="{FF2B5EF4-FFF2-40B4-BE49-F238E27FC236}">
                  <a16:creationId xmlns:a16="http://schemas.microsoft.com/office/drawing/2014/main" id="{9FA16A4A-9194-6B74-8FDF-B157887A1D1D}"/>
                </a:ext>
              </a:extLst>
            </p:cNvPr>
            <p:cNvSpPr/>
            <p:nvPr/>
          </p:nvSpPr>
          <p:spPr>
            <a:xfrm>
              <a:off x="8650068" y="3770615"/>
              <a:ext cx="1332940" cy="135500"/>
            </a:xfrm>
            <a:prstGeom prst="roundRect">
              <a:avLst>
                <a:gd name="adj" fmla="val 9450"/>
              </a:avLst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 err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目标水分</a:t>
              </a:r>
              <a:endParaRPr lang="en-US" sz="105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50" name="TextBox 149">
            <a:extLst>
              <a:ext uri="{FF2B5EF4-FFF2-40B4-BE49-F238E27FC236}">
                <a16:creationId xmlns:a16="http://schemas.microsoft.com/office/drawing/2014/main" id="{87CE5CBC-00B3-F67E-1A2A-FCC3CD5AD327}"/>
              </a:ext>
            </a:extLst>
          </p:cNvPr>
          <p:cNvSpPr txBox="1"/>
          <p:nvPr/>
        </p:nvSpPr>
        <p:spPr>
          <a:xfrm>
            <a:off x="8973421" y="4445203"/>
            <a:ext cx="9190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干燥明胶</a:t>
            </a:r>
            <a:endParaRPr 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FE3306DF-44A0-6130-45B8-42506D6164FD}"/>
              </a:ext>
            </a:extLst>
          </p:cNvPr>
          <p:cNvSpPr txBox="1"/>
          <p:nvPr/>
        </p:nvSpPr>
        <p:spPr>
          <a:xfrm>
            <a:off x="8817680" y="4922072"/>
            <a:ext cx="1200384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05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成型稳定性</a:t>
            </a:r>
            <a:endParaRPr 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05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水分达标率</a:t>
            </a:r>
            <a:endParaRPr 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05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产出偏差</a:t>
            </a:r>
            <a:endParaRPr 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Star: 5 Points 1">
            <a:extLst>
              <a:ext uri="{FF2B5EF4-FFF2-40B4-BE49-F238E27FC236}">
                <a16:creationId xmlns:a16="http://schemas.microsoft.com/office/drawing/2014/main" id="{61FED55F-75A6-655D-F146-CD904FB30716}"/>
              </a:ext>
            </a:extLst>
          </p:cNvPr>
          <p:cNvSpPr/>
          <p:nvPr/>
        </p:nvSpPr>
        <p:spPr>
          <a:xfrm>
            <a:off x="8548461" y="1203281"/>
            <a:ext cx="294351" cy="274391"/>
          </a:xfrm>
          <a:prstGeom prst="star5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478255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think-cell data - do not delete" hidden="1">
            <a:extLst>
              <a:ext uri="{FF2B5EF4-FFF2-40B4-BE49-F238E27FC236}">
                <a16:creationId xmlns:a16="http://schemas.microsoft.com/office/drawing/2014/main" id="{E42EB1F4-3480-A3A0-C9A8-6CC5CC30791B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705775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3" progId="TCLayout.ActiveDocument.1">
                  <p:embed/>
                </p:oleObj>
              </mc:Choice>
              <mc:Fallback>
                <p:oleObj name="think-cell Slide" r:id="rId4" imgW="473" imgH="473" progId="TCLayout.ActiveDocument.1">
                  <p:embed/>
                  <p:pic>
                    <p:nvPicPr>
                      <p:cNvPr id="2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42EB1F4-3480-A3A0-C9A8-6CC5CC3079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Freeform 3">
            <a:extLst>
              <a:ext uri="{FF2B5EF4-FFF2-40B4-BE49-F238E27FC236}">
                <a16:creationId xmlns:a16="http://schemas.microsoft.com/office/drawing/2014/main" id="{C7500544-844D-4B81-6ADB-4B5E6103CC1D}"/>
              </a:ext>
            </a:extLst>
          </p:cNvPr>
          <p:cNvSpPr>
            <a:spLocks/>
          </p:cNvSpPr>
          <p:nvPr/>
        </p:nvSpPr>
        <p:spPr bwMode="auto">
          <a:xfrm>
            <a:off x="1224111" y="2373426"/>
            <a:ext cx="2913339" cy="3521563"/>
          </a:xfrm>
          <a:custGeom>
            <a:avLst/>
            <a:gdLst>
              <a:gd name="T0" fmla="*/ 2147483647 w 2551"/>
              <a:gd name="T1" fmla="*/ 2147483647 h 2008"/>
              <a:gd name="T2" fmla="*/ 2147483647 w 2551"/>
              <a:gd name="T3" fmla="*/ 0 h 2008"/>
              <a:gd name="T4" fmla="*/ 2147483647 w 2551"/>
              <a:gd name="T5" fmla="*/ 2147483647 h 2008"/>
              <a:gd name="T6" fmla="*/ 0 w 2551"/>
              <a:gd name="T7" fmla="*/ 0 h 2008"/>
              <a:gd name="T8" fmla="*/ 0 w 2551"/>
              <a:gd name="T9" fmla="*/ 2147483647 h 2008"/>
              <a:gd name="T10" fmla="*/ 2147483647 w 2551"/>
              <a:gd name="T11" fmla="*/ 2147483647 h 200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551" h="2008">
                <a:moveTo>
                  <a:pt x="2551" y="2008"/>
                </a:moveTo>
                <a:lnTo>
                  <a:pt x="2551" y="0"/>
                </a:lnTo>
                <a:lnTo>
                  <a:pt x="1274" y="97"/>
                </a:lnTo>
                <a:lnTo>
                  <a:pt x="0" y="0"/>
                </a:lnTo>
                <a:lnTo>
                  <a:pt x="0" y="2008"/>
                </a:lnTo>
                <a:lnTo>
                  <a:pt x="2551" y="2008"/>
                </a:lnTo>
              </a:path>
            </a:pathLst>
          </a:custGeom>
          <a:noFill/>
          <a:ln w="6350" cmpd="sng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996C6172-E213-7198-0999-0F1CFBBCCE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3957" y="1965328"/>
            <a:ext cx="2790477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16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关键参数判断依赖老师傅经验</a:t>
            </a:r>
            <a:endParaRPr lang="en-US" altLang="zh-CN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CE64DE6C-BC9F-67D5-3F6F-52DDC16B6B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6777" y="2697872"/>
            <a:ext cx="2724838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marL="342900" indent="-342900" defTabSz="330200">
              <a:tabLst>
                <a:tab pos="8521700" algn="r"/>
              </a:tabLst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190500" indent="-188913" defTabSz="330200">
              <a:tabLst>
                <a:tab pos="8521700" algn="r"/>
              </a:tabLst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330200">
              <a:tabLst>
                <a:tab pos="8521700" algn="r"/>
              </a:tabLst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330200">
              <a:tabLst>
                <a:tab pos="8521700" algn="r"/>
              </a:tabLst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330200">
              <a:tabLst>
                <a:tab pos="8521700" algn="r"/>
              </a:tabLst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330200" eaLnBrk="0" fontAlgn="base" hangingPunct="0">
              <a:spcBef>
                <a:spcPct val="0"/>
              </a:spcBef>
              <a:spcAft>
                <a:spcPct val="0"/>
              </a:spcAft>
              <a:tabLst>
                <a:tab pos="8521700" algn="r"/>
              </a:tabLst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330200" eaLnBrk="0" fontAlgn="base" hangingPunct="0">
              <a:spcBef>
                <a:spcPct val="0"/>
              </a:spcBef>
              <a:spcAft>
                <a:spcPct val="0"/>
              </a:spcAft>
              <a:tabLst>
                <a:tab pos="8521700" algn="r"/>
              </a:tabLst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330200" eaLnBrk="0" fontAlgn="base" hangingPunct="0">
              <a:spcBef>
                <a:spcPct val="0"/>
              </a:spcBef>
              <a:spcAft>
                <a:spcPct val="0"/>
              </a:spcAft>
              <a:tabLst>
                <a:tab pos="8521700" algn="r"/>
              </a:tabLst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330200" eaLnBrk="0" fontAlgn="base" hangingPunct="0">
              <a:spcBef>
                <a:spcPct val="0"/>
              </a:spcBef>
              <a:spcAft>
                <a:spcPct val="0"/>
              </a:spcAft>
              <a:tabLst>
                <a:tab pos="8521700" algn="r"/>
              </a:tabLst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1587" lvl="1" indent="0"/>
            <a:r>
              <a:rPr lang="zh-CN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经验驱动：关键工艺判断缺少标准化口径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buFontTx/>
              <a:buChar char="•"/>
            </a:pPr>
            <a:endParaRPr kumimoji="1" lang="en-US" altLang="zh-CN" sz="14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7337" lvl="1" indent="-285750">
              <a:buFont typeface="Courier New" panose="02070309020205020404" pitchFamily="49" charset="0"/>
              <a:buChar char="o"/>
            </a:pPr>
            <a:r>
              <a:rPr lang="zh-CN" altLang="zh-CN" sz="1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浸灰时间、提胶道次、复配比例、凝胶/干燥状态等关键判断仍较多依赖</a:t>
            </a:r>
            <a:r>
              <a:rPr lang="zh-CN" altLang="zh-CN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老师傅经验</a:t>
            </a:r>
            <a:r>
              <a:rPr lang="zh-CN" altLang="zh-CN" sz="1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，缺少统一的</a:t>
            </a:r>
            <a:r>
              <a:rPr lang="zh-CN" altLang="zh-CN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计算口径</a:t>
            </a:r>
            <a:r>
              <a:rPr lang="zh-CN" altLang="zh-CN" sz="1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，不同人员、不同批次之间容易产生</a:t>
            </a:r>
            <a:r>
              <a:rPr lang="zh-CN" altLang="zh-CN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判断差异</a:t>
            </a:r>
            <a:endParaRPr kumimoji="1" lang="zh-CN" altLang="de-DE" sz="14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FAD65CFD-A0A4-838B-339F-8014DCBAE959}"/>
              </a:ext>
            </a:extLst>
          </p:cNvPr>
          <p:cNvSpPr>
            <a:spLocks/>
          </p:cNvSpPr>
          <p:nvPr/>
        </p:nvSpPr>
        <p:spPr bwMode="auto">
          <a:xfrm>
            <a:off x="4646056" y="2373426"/>
            <a:ext cx="2913339" cy="3521563"/>
          </a:xfrm>
          <a:custGeom>
            <a:avLst/>
            <a:gdLst>
              <a:gd name="T0" fmla="*/ 2147483647 w 2551"/>
              <a:gd name="T1" fmla="*/ 2147483647 h 2008"/>
              <a:gd name="T2" fmla="*/ 2147483647 w 2551"/>
              <a:gd name="T3" fmla="*/ 0 h 2008"/>
              <a:gd name="T4" fmla="*/ 2147483647 w 2551"/>
              <a:gd name="T5" fmla="*/ 2147483647 h 2008"/>
              <a:gd name="T6" fmla="*/ 0 w 2551"/>
              <a:gd name="T7" fmla="*/ 0 h 2008"/>
              <a:gd name="T8" fmla="*/ 0 w 2551"/>
              <a:gd name="T9" fmla="*/ 2147483647 h 2008"/>
              <a:gd name="T10" fmla="*/ 2147483647 w 2551"/>
              <a:gd name="T11" fmla="*/ 2147483647 h 200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551" h="2008">
                <a:moveTo>
                  <a:pt x="2551" y="2008"/>
                </a:moveTo>
                <a:lnTo>
                  <a:pt x="2551" y="0"/>
                </a:lnTo>
                <a:lnTo>
                  <a:pt x="1274" y="97"/>
                </a:lnTo>
                <a:lnTo>
                  <a:pt x="0" y="0"/>
                </a:lnTo>
                <a:lnTo>
                  <a:pt x="0" y="2008"/>
                </a:lnTo>
                <a:lnTo>
                  <a:pt x="2551" y="2008"/>
                </a:lnTo>
              </a:path>
            </a:pathLst>
          </a:custGeom>
          <a:noFill/>
          <a:ln w="6350" cmpd="sng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 Box 9">
            <a:extLst>
              <a:ext uri="{FF2B5EF4-FFF2-40B4-BE49-F238E27FC236}">
                <a16:creationId xmlns:a16="http://schemas.microsoft.com/office/drawing/2014/main" id="{8137E6D5-D58A-A711-D55B-6CA3055C8D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08329" y="1965328"/>
            <a:ext cx="2790477" cy="246221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 anchor="ctr">
            <a:spAutoFit/>
          </a:bodyPr>
          <a:lstStyle>
            <a:lvl1pPr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16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凝胶阶段是偏差集中暴露点</a:t>
            </a:r>
            <a:endParaRPr lang="en-US" altLang="zh-CN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F3B4C81-9F65-F920-42B6-3845A596FC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8722" y="2697872"/>
            <a:ext cx="2724838" cy="1723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marL="342900" indent="-342900" defTabSz="330200">
              <a:tabLst>
                <a:tab pos="8521700" algn="r"/>
              </a:tabLst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190500" indent="-188913" defTabSz="330200">
              <a:tabLst>
                <a:tab pos="8521700" algn="r"/>
              </a:tabLst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330200">
              <a:tabLst>
                <a:tab pos="8521700" algn="r"/>
              </a:tabLst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330200">
              <a:tabLst>
                <a:tab pos="8521700" algn="r"/>
              </a:tabLst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330200">
              <a:tabLst>
                <a:tab pos="8521700" algn="r"/>
              </a:tabLst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330200" eaLnBrk="0" fontAlgn="base" hangingPunct="0">
              <a:spcBef>
                <a:spcPct val="0"/>
              </a:spcBef>
              <a:spcAft>
                <a:spcPct val="0"/>
              </a:spcAft>
              <a:tabLst>
                <a:tab pos="8521700" algn="r"/>
              </a:tabLst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330200" eaLnBrk="0" fontAlgn="base" hangingPunct="0">
              <a:spcBef>
                <a:spcPct val="0"/>
              </a:spcBef>
              <a:spcAft>
                <a:spcPct val="0"/>
              </a:spcAft>
              <a:tabLst>
                <a:tab pos="8521700" algn="r"/>
              </a:tabLst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330200" eaLnBrk="0" fontAlgn="base" hangingPunct="0">
              <a:spcBef>
                <a:spcPct val="0"/>
              </a:spcBef>
              <a:spcAft>
                <a:spcPct val="0"/>
              </a:spcAft>
              <a:tabLst>
                <a:tab pos="8521700" algn="r"/>
              </a:tabLst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330200" eaLnBrk="0" fontAlgn="base" hangingPunct="0">
              <a:spcBef>
                <a:spcPct val="0"/>
              </a:spcBef>
              <a:spcAft>
                <a:spcPct val="0"/>
              </a:spcAft>
              <a:tabLst>
                <a:tab pos="8521700" algn="r"/>
              </a:tabLst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1587" lvl="1" indent="0"/>
            <a:r>
              <a:rPr lang="zh-CN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偏差暴露：复配与凝胶结果偏离理论计算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buFontTx/>
              <a:buChar char="•"/>
            </a:pPr>
            <a:endParaRPr kumimoji="1" lang="en-US" altLang="zh-CN" sz="14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7337" lvl="1" indent="-285750">
              <a:buFont typeface="Courier New" panose="02070309020205020404" pitchFamily="49" charset="0"/>
              <a:buChar char="o"/>
            </a:pPr>
            <a:r>
              <a:rPr lang="zh-CN" altLang="zh-CN" sz="1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凝胶/干燥后的</a:t>
            </a:r>
            <a:r>
              <a:rPr lang="zh-CN" altLang="zh-CN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分子量</a:t>
            </a:r>
            <a:r>
              <a:rPr lang="zh-CN" altLang="zh-CN" sz="1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zh-CN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质量</a:t>
            </a:r>
            <a:r>
              <a:rPr lang="zh-CN" altLang="zh-CN" sz="1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zh-CN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实际产出</a:t>
            </a:r>
            <a:r>
              <a:rPr lang="zh-CN" altLang="zh-CN" sz="1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与理论计算存在偏差，偏差来源可能来自浸灰、提胶、浓缩复配、</a:t>
            </a:r>
            <a:r>
              <a:rPr lang="zh-CN" altLang="zh-CN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固含量</a:t>
            </a:r>
            <a:r>
              <a:rPr lang="zh-CN" altLang="zh-CN" sz="1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zh-CN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水分</a:t>
            </a:r>
            <a:r>
              <a:rPr lang="zh-CN" altLang="zh-CN" sz="1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zh-CN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损耗率</a:t>
            </a:r>
            <a:r>
              <a:rPr lang="zh-CN" altLang="zh-CN" sz="1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等多个环节</a:t>
            </a:r>
            <a:endParaRPr kumimoji="1" lang="zh-CN" altLang="de-DE" sz="14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34AA25CE-128D-D0A8-8671-57AF5521576C}"/>
              </a:ext>
            </a:extLst>
          </p:cNvPr>
          <p:cNvSpPr>
            <a:spLocks/>
          </p:cNvSpPr>
          <p:nvPr/>
        </p:nvSpPr>
        <p:spPr bwMode="auto">
          <a:xfrm>
            <a:off x="8069684" y="2373426"/>
            <a:ext cx="2913338" cy="3521563"/>
          </a:xfrm>
          <a:custGeom>
            <a:avLst/>
            <a:gdLst>
              <a:gd name="T0" fmla="*/ 2147483647 w 2551"/>
              <a:gd name="T1" fmla="*/ 2147483647 h 2008"/>
              <a:gd name="T2" fmla="*/ 2147483647 w 2551"/>
              <a:gd name="T3" fmla="*/ 0 h 2008"/>
              <a:gd name="T4" fmla="*/ 2147483647 w 2551"/>
              <a:gd name="T5" fmla="*/ 2147483647 h 2008"/>
              <a:gd name="T6" fmla="*/ 0 w 2551"/>
              <a:gd name="T7" fmla="*/ 0 h 2008"/>
              <a:gd name="T8" fmla="*/ 0 w 2551"/>
              <a:gd name="T9" fmla="*/ 2147483647 h 2008"/>
              <a:gd name="T10" fmla="*/ 2147483647 w 2551"/>
              <a:gd name="T11" fmla="*/ 2147483647 h 200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551" h="2008">
                <a:moveTo>
                  <a:pt x="2551" y="2008"/>
                </a:moveTo>
                <a:lnTo>
                  <a:pt x="2551" y="0"/>
                </a:lnTo>
                <a:lnTo>
                  <a:pt x="1274" y="97"/>
                </a:lnTo>
                <a:lnTo>
                  <a:pt x="0" y="0"/>
                </a:lnTo>
                <a:lnTo>
                  <a:pt x="0" y="2008"/>
                </a:lnTo>
                <a:lnTo>
                  <a:pt x="2551" y="2008"/>
                </a:lnTo>
              </a:path>
            </a:pathLst>
          </a:custGeom>
          <a:noFill/>
          <a:ln w="6350" cmpd="sng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 Box 13">
            <a:extLst>
              <a:ext uri="{FF2B5EF4-FFF2-40B4-BE49-F238E27FC236}">
                <a16:creationId xmlns:a16="http://schemas.microsoft.com/office/drawing/2014/main" id="{6576F0BD-7B00-43EA-51AF-93CCCD526F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72349" y="1872906"/>
            <a:ext cx="2790477" cy="492443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16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质量检测与生产调整尚未形成闭环</a:t>
            </a:r>
            <a:endParaRPr lang="en-US" altLang="zh-CN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97B61D-5D57-F93A-7026-731311FED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72349" y="2697872"/>
            <a:ext cx="2724839" cy="1723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marL="342900" indent="-342900" defTabSz="330200">
              <a:tabLst>
                <a:tab pos="8521700" algn="r"/>
              </a:tabLst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190500" indent="-188913" defTabSz="330200">
              <a:tabLst>
                <a:tab pos="8521700" algn="r"/>
              </a:tabLst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330200">
              <a:tabLst>
                <a:tab pos="8521700" algn="r"/>
              </a:tabLst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330200">
              <a:tabLst>
                <a:tab pos="8521700" algn="r"/>
              </a:tabLst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330200">
              <a:tabLst>
                <a:tab pos="8521700" algn="r"/>
              </a:tabLst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330200" eaLnBrk="0" fontAlgn="base" hangingPunct="0">
              <a:spcBef>
                <a:spcPct val="0"/>
              </a:spcBef>
              <a:spcAft>
                <a:spcPct val="0"/>
              </a:spcAft>
              <a:tabLst>
                <a:tab pos="8521700" algn="r"/>
              </a:tabLst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330200" eaLnBrk="0" fontAlgn="base" hangingPunct="0">
              <a:spcBef>
                <a:spcPct val="0"/>
              </a:spcBef>
              <a:spcAft>
                <a:spcPct val="0"/>
              </a:spcAft>
              <a:tabLst>
                <a:tab pos="8521700" algn="r"/>
              </a:tabLst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330200" eaLnBrk="0" fontAlgn="base" hangingPunct="0">
              <a:spcBef>
                <a:spcPct val="0"/>
              </a:spcBef>
              <a:spcAft>
                <a:spcPct val="0"/>
              </a:spcAft>
              <a:tabLst>
                <a:tab pos="8521700" algn="r"/>
              </a:tabLst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330200" eaLnBrk="0" fontAlgn="base" hangingPunct="0">
              <a:spcBef>
                <a:spcPct val="0"/>
              </a:spcBef>
              <a:spcAft>
                <a:spcPct val="0"/>
              </a:spcAft>
              <a:tabLst>
                <a:tab pos="8521700" algn="r"/>
              </a:tabLst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1587" lvl="1" indent="0"/>
            <a:r>
              <a:rPr lang="zh-CN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闭环缺失：质检数据未反向驱动生产优化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buFontTx/>
              <a:buChar char="•"/>
            </a:pPr>
            <a:endParaRPr kumimoji="1" lang="en-US" altLang="zh-CN" sz="14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7337" lvl="1" indent="-285750">
              <a:buFont typeface="Courier New" panose="02070309020205020404" pitchFamily="49" charset="0"/>
              <a:buChar char="o"/>
            </a:pPr>
            <a:r>
              <a:rPr lang="zh-CN" altLang="zh-CN" sz="1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GPC、黏度、PDI、冻力、产出和入库检验等数据更多用于</a:t>
            </a:r>
            <a:r>
              <a:rPr lang="zh-CN" altLang="zh-CN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事后判断</a:t>
            </a:r>
            <a:r>
              <a:rPr lang="zh-CN" altLang="zh-CN" sz="1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，尚未反向校正</a:t>
            </a:r>
            <a:r>
              <a:rPr lang="zh-CN" altLang="zh-CN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复配计算</a:t>
            </a:r>
            <a:r>
              <a:rPr lang="zh-CN" altLang="zh-CN" sz="1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zh-CN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工艺参数</a:t>
            </a:r>
            <a:r>
              <a:rPr lang="zh-CN" altLang="zh-CN" sz="1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，导致经验难以沉淀、模型难以持续优化。</a:t>
            </a:r>
            <a:endParaRPr kumimoji="1" lang="zh-CN" altLang="de-DE" sz="14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Text 0">
            <a:extLst>
              <a:ext uri="{FF2B5EF4-FFF2-40B4-BE49-F238E27FC236}">
                <a16:creationId xmlns:a16="http://schemas.microsoft.com/office/drawing/2014/main" id="{6C6B5A76-51C3-63B4-7C11-A40A47F634CB}"/>
              </a:ext>
            </a:extLst>
          </p:cNvPr>
          <p:cNvSpPr/>
          <p:nvPr/>
        </p:nvSpPr>
        <p:spPr>
          <a:xfrm>
            <a:off x="502920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CN" altLang="en-US" sz="22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痛点汇总</a:t>
            </a:r>
            <a:endParaRPr lang="en-US" sz="2200" b="1" dirty="0">
              <a:solidFill>
                <a:srgbClr val="1020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15FDF76-62B6-D476-170D-0F2E93C09C97}"/>
              </a:ext>
            </a:extLst>
          </p:cNvPr>
          <p:cNvSpPr/>
          <p:nvPr/>
        </p:nvSpPr>
        <p:spPr>
          <a:xfrm>
            <a:off x="9370502" y="1056044"/>
            <a:ext cx="1819684" cy="45779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初步设想，待讨论</a:t>
            </a:r>
            <a:endParaRPr lang="en-US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750530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50D7019C-1867-C446-9EF5-8BEDE686E428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125838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3" progId="TCLayout.ActiveDocument.1">
                  <p:embed/>
                </p:oleObj>
              </mc:Choice>
              <mc:Fallback>
                <p:oleObj name="think-cell Slide" r:id="rId4" imgW="473" imgH="473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0D7019C-1867-C446-9EF5-8BEDE686E4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C395897-A5B5-CFDF-47EA-15EE9D1E9B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4331059"/>
              </p:ext>
            </p:extLst>
          </p:nvPr>
        </p:nvGraphicFramePr>
        <p:xfrm>
          <a:off x="629228" y="1868816"/>
          <a:ext cx="7797798" cy="405638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838685">
                  <a:extLst>
                    <a:ext uri="{9D8B030D-6E8A-4147-A177-3AD203B41FA5}">
                      <a16:colId xmlns:a16="http://schemas.microsoft.com/office/drawing/2014/main" val="3530259573"/>
                    </a:ext>
                  </a:extLst>
                </a:gridCol>
                <a:gridCol w="3359847">
                  <a:extLst>
                    <a:ext uri="{9D8B030D-6E8A-4147-A177-3AD203B41FA5}">
                      <a16:colId xmlns:a16="http://schemas.microsoft.com/office/drawing/2014/main" val="1746421010"/>
                    </a:ext>
                  </a:extLst>
                </a:gridCol>
                <a:gridCol w="2599266">
                  <a:extLst>
                    <a:ext uri="{9D8B030D-6E8A-4147-A177-3AD203B41FA5}">
                      <a16:colId xmlns:a16="http://schemas.microsoft.com/office/drawing/2014/main" val="3794627354"/>
                    </a:ext>
                  </a:extLst>
                </a:gridCol>
              </a:tblGrid>
              <a:tr h="44303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开展模块</a:t>
                      </a:r>
                      <a:endParaRPr lang="en-US" sz="14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rgbClr val="0B2F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要作什么</a:t>
                      </a:r>
                      <a:endParaRPr lang="en-US" sz="14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rgbClr val="0B2F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目的</a:t>
                      </a:r>
                      <a:endParaRPr lang="en-US" sz="14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rgbClr val="0B2F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6605685"/>
                  </a:ext>
                </a:extLst>
              </a:tr>
              <a:tr h="61903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 </a:t>
                      </a:r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统一计算口径</a:t>
                      </a:r>
                      <a:endParaRPr lang="en-US" sz="14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明确当前</a:t>
                      </a:r>
                      <a:r>
                        <a:rPr lang="en-US" sz="1400" b="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Mw、Mn、PDI、黏度、固含量、产出、水分的计算口径</a:t>
                      </a:r>
                      <a:endParaRPr lang="en-US" sz="14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防止不同部门、不同人员算法不一致</a:t>
                      </a:r>
                      <a:endParaRPr lang="en-US" sz="14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9728947"/>
                  </a:ext>
                </a:extLst>
              </a:tr>
              <a:tr h="61903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 </a:t>
                      </a:r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建立理论值</a:t>
                      </a:r>
                      <a:endParaRPr lang="en-US" sz="14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运用标准</a:t>
                      </a:r>
                      <a:r>
                        <a:rPr lang="en-US" sz="1400" b="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复配</a:t>
                      </a:r>
                      <a:r>
                        <a:rPr 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Mw </a:t>
                      </a:r>
                      <a:r>
                        <a:rPr lang="en-US" sz="1400" b="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加权公式，计算进入凝胶前的理论</a:t>
                      </a:r>
                      <a:r>
                        <a:rPr 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Mw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防止不同部门、不同人员算法不一致</a:t>
                      </a:r>
                      <a:endParaRPr lang="en-US" sz="14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7528799"/>
                  </a:ext>
                </a:extLst>
              </a:tr>
              <a:tr h="61903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 </a:t>
                      </a:r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建立中控估算值</a:t>
                      </a:r>
                      <a:endParaRPr lang="en-US" sz="14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基于</a:t>
                      </a:r>
                      <a:r>
                        <a:rPr 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Mark-</a:t>
                      </a:r>
                      <a:r>
                        <a:rPr lang="en-US" sz="1400" b="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Houwink</a:t>
                      </a:r>
                      <a:r>
                        <a:rPr 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400" b="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黏度法，根据黏度估算</a:t>
                      </a:r>
                      <a:r>
                        <a:rPr 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Mw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看车间快速判断和理论复配值是否一致</a:t>
                      </a:r>
                      <a:endParaRPr lang="en-US" sz="14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9053835"/>
                  </a:ext>
                </a:extLst>
              </a:tr>
              <a:tr h="443037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4. </a:t>
                      </a:r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建立实测基准值</a:t>
                      </a:r>
                      <a:endParaRPr lang="en-US" sz="14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Mark-</a:t>
                      </a:r>
                      <a:r>
                        <a:rPr lang="en-US" sz="1400" b="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Houwink</a:t>
                      </a:r>
                      <a:r>
                        <a:rPr 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400" b="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黏度法，根据黏度估算</a:t>
                      </a:r>
                      <a:r>
                        <a:rPr 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Mw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作为最终质量判断基准</a:t>
                      </a:r>
                      <a:endParaRPr lang="en-US" sz="14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9149953"/>
                  </a:ext>
                </a:extLst>
              </a:tr>
              <a:tr h="61903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5. </a:t>
                      </a:r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拆解偏差来源</a:t>
                      </a:r>
                      <a:endParaRPr lang="en-US" sz="14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对比理论</a:t>
                      </a:r>
                      <a:r>
                        <a:rPr 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400" b="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Mw、中控估算</a:t>
                      </a:r>
                      <a:r>
                        <a:rPr 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400" b="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Mw、实际</a:t>
                      </a:r>
                      <a:r>
                        <a:rPr 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GPC </a:t>
                      </a:r>
                      <a:r>
                        <a:rPr lang="en-US" sz="1400" b="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Mw、实际产出、水分</a:t>
                      </a:r>
                      <a:endParaRPr lang="en-US" sz="14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b="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判断偏差来自复配、胶液状态、凝胶干燥还是检测</a:t>
                      </a:r>
                      <a:r>
                        <a:rPr 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en-US" sz="1400" b="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记录口径</a:t>
                      </a:r>
                      <a:endParaRPr lang="en-US" sz="14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4584099"/>
                  </a:ext>
                </a:extLst>
              </a:tr>
              <a:tr h="61903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6. </a:t>
                      </a:r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识别关键影响变量</a:t>
                      </a:r>
                      <a:endParaRPr lang="en-US" sz="14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b="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分析固含量、黏度、pH、干燥温度、干燥时间、目标水分等变量</a:t>
                      </a:r>
                      <a:endParaRPr lang="en-US" sz="14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找出最影响凝胶结果的输入和控制参数</a:t>
                      </a:r>
                      <a:endParaRPr lang="en-US" sz="14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6768363"/>
                  </a:ext>
                </a:extLst>
              </a:tr>
            </a:tbl>
          </a:graphicData>
        </a:graphic>
      </p:graphicFrame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9D85306-43F3-1556-F236-44418B38E22A}"/>
              </a:ext>
            </a:extLst>
          </p:cNvPr>
          <p:cNvSpPr/>
          <p:nvPr/>
        </p:nvSpPr>
        <p:spPr>
          <a:xfrm>
            <a:off x="8950960" y="3537585"/>
            <a:ext cx="2611812" cy="2365289"/>
          </a:xfrm>
          <a:prstGeom prst="roundRect">
            <a:avLst>
              <a:gd name="adj" fmla="val 3441"/>
            </a:avLst>
          </a:prstGeom>
          <a:noFill/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32CC3D-1DE2-0423-DF43-A836CC5895A6}"/>
              </a:ext>
            </a:extLst>
          </p:cNvPr>
          <p:cNvSpPr txBox="1"/>
          <p:nvPr/>
        </p:nvSpPr>
        <p:spPr>
          <a:xfrm>
            <a:off x="9694775" y="3712492"/>
            <a:ext cx="11737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预计产出</a:t>
            </a:r>
            <a:endParaRPr 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6801B2-CC16-C223-8949-7F371F5AA9A7}"/>
              </a:ext>
            </a:extLst>
          </p:cNvPr>
          <p:cNvSpPr txBox="1"/>
          <p:nvPr/>
        </p:nvSpPr>
        <p:spPr>
          <a:xfrm>
            <a:off x="9096433" y="4212439"/>
            <a:ext cx="2611812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凝胶偏差归因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分析</a:t>
            </a: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理论公式</a:t>
            </a:r>
            <a:r>
              <a:rPr lang="en-US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适用性评估</a:t>
            </a: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关键影响因子</a:t>
            </a: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模型建设需求清单</a:t>
            </a: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45E3C018-158F-2370-D154-7F3A61DFE948}"/>
              </a:ext>
            </a:extLst>
          </p:cNvPr>
          <p:cNvSpPr/>
          <p:nvPr/>
        </p:nvSpPr>
        <p:spPr>
          <a:xfrm>
            <a:off x="502919" y="384048"/>
            <a:ext cx="11218025" cy="5487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22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2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偏差归因分析：明确为什么算不准？差在哪里？</a:t>
            </a:r>
            <a:endParaRPr lang="en-US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3CF7DB9-CC4D-FC72-BCB3-B3D462CF3CB3}"/>
              </a:ext>
            </a:extLst>
          </p:cNvPr>
          <p:cNvSpPr/>
          <p:nvPr/>
        </p:nvSpPr>
        <p:spPr>
          <a:xfrm>
            <a:off x="8950961" y="2016858"/>
            <a:ext cx="2611812" cy="1111519"/>
          </a:xfrm>
          <a:prstGeom prst="roundRect">
            <a:avLst>
              <a:gd name="adj" fmla="val 3441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i="1" dirty="0">
                <a:solidFill>
                  <a:srgbClr val="0B2F4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本环节重点关注复现当前具体做法，并识别</a:t>
            </a:r>
            <a:r>
              <a:rPr lang="en-US" sz="1400" i="1" dirty="0" err="1">
                <a:solidFill>
                  <a:srgbClr val="0B2F4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标准公式和现场结果之间存在</a:t>
            </a:r>
            <a:r>
              <a:rPr lang="zh-CN" altLang="en-US" sz="1400" i="1" dirty="0">
                <a:solidFill>
                  <a:srgbClr val="0B2F4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sz="1400" i="1" dirty="0" err="1">
                <a:solidFill>
                  <a:srgbClr val="0B2F4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系统性偏差</a:t>
            </a:r>
            <a:r>
              <a:rPr lang="en-US" sz="1400" i="1" dirty="0">
                <a:solidFill>
                  <a:srgbClr val="0B2F4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8268546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think-cell data - do not delete" hidden="1">
            <a:extLst>
              <a:ext uri="{FF2B5EF4-FFF2-40B4-BE49-F238E27FC236}">
                <a16:creationId xmlns:a16="http://schemas.microsoft.com/office/drawing/2014/main" id="{602048F1-45F9-9C05-DEE0-B679E5730E1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626370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3" progId="TCLayout.ActiveDocument.1">
                  <p:embed/>
                </p:oleObj>
              </mc:Choice>
              <mc:Fallback>
                <p:oleObj name="think-cell Slide" r:id="rId4" imgW="473" imgH="473" progId="TCLayout.ActiveDocument.1">
                  <p:embed/>
                  <p:pic>
                    <p:nvPicPr>
                      <p:cNvPr id="2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02048F1-45F9-9C05-DEE0-B679E5730E1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0">
            <a:extLst>
              <a:ext uri="{FF2B5EF4-FFF2-40B4-BE49-F238E27FC236}">
                <a16:creationId xmlns:a16="http://schemas.microsoft.com/office/drawing/2014/main" id="{E2073C9A-6AC8-9011-2B5C-7F4A4D6679BF}"/>
              </a:ext>
            </a:extLst>
          </p:cNvPr>
          <p:cNvSpPr/>
          <p:nvPr/>
        </p:nvSpPr>
        <p:spPr>
          <a:xfrm>
            <a:off x="502919" y="384048"/>
            <a:ext cx="11218025" cy="738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22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22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标准算法固化：</a:t>
            </a:r>
            <a:r>
              <a:rPr lang="zh-CN" altLang="en-US" sz="220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基于识别出的偏差来源、关键影响变量和公式适用性问题，将这些偏差转化为具体的公式固化、模型校正和预测能力建设任务</a:t>
            </a:r>
            <a:endParaRPr lang="en-US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51A2796-52FC-BCE0-53D8-30B4C10645CC}"/>
              </a:ext>
            </a:extLst>
          </p:cNvPr>
          <p:cNvSpPr/>
          <p:nvPr/>
        </p:nvSpPr>
        <p:spPr>
          <a:xfrm>
            <a:off x="649918" y="1506266"/>
            <a:ext cx="6111433" cy="101857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9CA073E-C742-7974-B903-FC62CB208B08}"/>
              </a:ext>
            </a:extLst>
          </p:cNvPr>
          <p:cNvSpPr/>
          <p:nvPr/>
        </p:nvSpPr>
        <p:spPr>
          <a:xfrm>
            <a:off x="568896" y="1295992"/>
            <a:ext cx="2233916" cy="420547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0B2F4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b="1" dirty="0">
                <a:solidFill>
                  <a:srgbClr val="0B2F4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固化标准工时</a:t>
            </a:r>
            <a:endParaRPr lang="en-US" b="1" dirty="0">
              <a:solidFill>
                <a:srgbClr val="0B2F4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F5BCA5-97A7-CACF-D62E-71DCF00E5E07}"/>
              </a:ext>
            </a:extLst>
          </p:cNvPr>
          <p:cNvSpPr txBox="1"/>
          <p:nvPr/>
        </p:nvSpPr>
        <p:spPr>
          <a:xfrm>
            <a:off x="927712" y="1807208"/>
            <a:ext cx="56947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GPC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分子量计算、黏度法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Mw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估算、复配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Mw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加权公式转化为系统可调用的公式引擎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EBCEB62-34A0-6419-A501-1F396A8EA013}"/>
              </a:ext>
            </a:extLst>
          </p:cNvPr>
          <p:cNvSpPr/>
          <p:nvPr/>
        </p:nvSpPr>
        <p:spPr>
          <a:xfrm>
            <a:off x="649918" y="2871826"/>
            <a:ext cx="6111433" cy="101857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3C3B9A7-D055-2B96-36C7-96A824FBB52A}"/>
              </a:ext>
            </a:extLst>
          </p:cNvPr>
          <p:cNvSpPr/>
          <p:nvPr/>
        </p:nvSpPr>
        <p:spPr>
          <a:xfrm>
            <a:off x="568896" y="2644188"/>
            <a:ext cx="2592731" cy="420547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0B2F4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b="1" dirty="0">
                <a:solidFill>
                  <a:srgbClr val="0B2F4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补充凝胶产出逻辑</a:t>
            </a:r>
            <a:endParaRPr lang="en-US" sz="1400" b="1" dirty="0">
              <a:solidFill>
                <a:srgbClr val="0B2F4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317B480-8905-7AC4-CD7E-411555518EFE}"/>
              </a:ext>
            </a:extLst>
          </p:cNvPr>
          <p:cNvSpPr txBox="1"/>
          <p:nvPr/>
        </p:nvSpPr>
        <p:spPr>
          <a:xfrm>
            <a:off x="927712" y="3172768"/>
            <a:ext cx="56947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在分子量公式之外，加入胶液重量、固含量、目标水分、干燥损耗等变量，建立理论产出和实际产出之间的计算逻辑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3296830-A80D-1744-A467-88E55E4D9145}"/>
              </a:ext>
            </a:extLst>
          </p:cNvPr>
          <p:cNvSpPr/>
          <p:nvPr/>
        </p:nvSpPr>
        <p:spPr>
          <a:xfrm>
            <a:off x="649918" y="4237386"/>
            <a:ext cx="6111433" cy="101857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2620CE8-C6BB-E8B2-811C-D978FAADC434}"/>
              </a:ext>
            </a:extLst>
          </p:cNvPr>
          <p:cNvSpPr/>
          <p:nvPr/>
        </p:nvSpPr>
        <p:spPr>
          <a:xfrm>
            <a:off x="568896" y="4009748"/>
            <a:ext cx="2592731" cy="420547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0B2F4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b="1" dirty="0">
                <a:solidFill>
                  <a:srgbClr val="0B2F4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建立偏差校正模型</a:t>
            </a:r>
            <a:endParaRPr lang="en-US" sz="1400" b="1" dirty="0">
              <a:solidFill>
                <a:srgbClr val="0B2F4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44B5193-AD0B-6408-61D4-1C6E5BCC9020}"/>
              </a:ext>
            </a:extLst>
          </p:cNvPr>
          <p:cNvSpPr txBox="1"/>
          <p:nvPr/>
        </p:nvSpPr>
        <p:spPr>
          <a:xfrm>
            <a:off x="927712" y="4538328"/>
            <a:ext cx="56947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基于历史批次数据，对理论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Mw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与实际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GPC Mw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、理论产出与实际入库量、预测水分与实际水分时间的偏差进行校正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B93E864-159D-469B-CFF1-7687D54F5E8E}"/>
              </a:ext>
            </a:extLst>
          </p:cNvPr>
          <p:cNvSpPr/>
          <p:nvPr/>
        </p:nvSpPr>
        <p:spPr>
          <a:xfrm>
            <a:off x="649918" y="5521924"/>
            <a:ext cx="6111433" cy="101857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FE030F4-7529-E727-C748-F901E42D36A9}"/>
              </a:ext>
            </a:extLst>
          </p:cNvPr>
          <p:cNvSpPr/>
          <p:nvPr/>
        </p:nvSpPr>
        <p:spPr>
          <a:xfrm>
            <a:off x="568896" y="5294286"/>
            <a:ext cx="2592731" cy="420547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0B2F4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 </a:t>
            </a:r>
            <a:r>
              <a:rPr lang="zh-CN" altLang="en-US" b="1" dirty="0">
                <a:solidFill>
                  <a:srgbClr val="0B2F4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形成质量风险判断</a:t>
            </a:r>
            <a:endParaRPr lang="en-US" sz="1400" b="1" dirty="0">
              <a:solidFill>
                <a:srgbClr val="0B2F4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A1162AC-B1AF-8AD9-1B10-8705B20992D4}"/>
              </a:ext>
            </a:extLst>
          </p:cNvPr>
          <p:cNvSpPr txBox="1"/>
          <p:nvPr/>
        </p:nvSpPr>
        <p:spPr>
          <a:xfrm>
            <a:off x="927712" y="5822866"/>
            <a:ext cx="56947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结合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Mw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、黏度、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pH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、固含量、干燥温度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时间等因素，识别凝胶成型、水分达标、产出偏差和质量异常风险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Flowchart: Manual Operation 21">
            <a:extLst>
              <a:ext uri="{FF2B5EF4-FFF2-40B4-BE49-F238E27FC236}">
                <a16:creationId xmlns:a16="http://schemas.microsoft.com/office/drawing/2014/main" id="{AF6906F0-7D7B-AAF9-15C6-10EBFDE1BA5B}"/>
              </a:ext>
            </a:extLst>
          </p:cNvPr>
          <p:cNvSpPr/>
          <p:nvPr/>
        </p:nvSpPr>
        <p:spPr>
          <a:xfrm rot="16200000">
            <a:off x="5575600" y="3875617"/>
            <a:ext cx="3345083" cy="417993"/>
          </a:xfrm>
          <a:prstGeom prst="flowChartManualOperation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D1ACDCB-BED8-F3D4-EA3D-FFE9AAC9640B}"/>
              </a:ext>
            </a:extLst>
          </p:cNvPr>
          <p:cNvGrpSpPr/>
          <p:nvPr/>
        </p:nvGrpSpPr>
        <p:grpSpPr>
          <a:xfrm>
            <a:off x="8040869" y="3890398"/>
            <a:ext cx="3223419" cy="1984339"/>
            <a:chOff x="8950960" y="3537585"/>
            <a:chExt cx="2611812" cy="1984339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5BAC4725-D969-1B81-1C37-68786B6B060A}"/>
                </a:ext>
              </a:extLst>
            </p:cNvPr>
            <p:cNvSpPr/>
            <p:nvPr/>
          </p:nvSpPr>
          <p:spPr>
            <a:xfrm>
              <a:off x="8950960" y="3537585"/>
              <a:ext cx="2611812" cy="1984339"/>
            </a:xfrm>
            <a:prstGeom prst="roundRect">
              <a:avLst>
                <a:gd name="adj" fmla="val 3441"/>
              </a:avLst>
            </a:prstGeom>
            <a:noFill/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CAC21B4B-37B7-CB84-4535-7122376EA556}"/>
                </a:ext>
              </a:extLst>
            </p:cNvPr>
            <p:cNvSpPr txBox="1"/>
            <p:nvPr/>
          </p:nvSpPr>
          <p:spPr>
            <a:xfrm>
              <a:off x="9826075" y="3671194"/>
              <a:ext cx="117371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预计产出</a:t>
              </a:r>
              <a:endParaRPr 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035E0E82-E583-CE68-845C-5A0116AB860B}"/>
                </a:ext>
              </a:extLst>
            </p:cNvPr>
            <p:cNvSpPr txBox="1"/>
            <p:nvPr/>
          </p:nvSpPr>
          <p:spPr>
            <a:xfrm>
              <a:off x="9096433" y="4248215"/>
              <a:ext cx="2255427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spcBef>
                  <a:spcPts val="600"/>
                </a:spcBef>
                <a:spcAft>
                  <a:spcPts val="600"/>
                </a:spcAft>
                <a:buFont typeface="Courier New" panose="02070309020205020404" pitchFamily="49" charset="0"/>
                <a:buChar char="o"/>
              </a:pP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形成“标准公式引擎</a:t>
              </a: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+</a:t>
              </a: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凝胶预测模型”能力包，包括：理论</a:t>
              </a: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Mw</a:t>
              </a: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计算、黏度法</a:t>
              </a: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Mw</a:t>
              </a: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估算、</a:t>
              </a: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GPC</a:t>
              </a: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结果核算、产出预测、水分预测等</a:t>
              </a:r>
              <a:endParaRPr 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BFE1176B-FE0B-F1AE-229E-DC6698BC577A}"/>
              </a:ext>
            </a:extLst>
          </p:cNvPr>
          <p:cNvSpPr/>
          <p:nvPr/>
        </p:nvSpPr>
        <p:spPr>
          <a:xfrm>
            <a:off x="8040869" y="2330613"/>
            <a:ext cx="3223419" cy="1111519"/>
          </a:xfrm>
          <a:prstGeom prst="roundRect">
            <a:avLst>
              <a:gd name="adj" fmla="val 3441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i="1" dirty="0">
                <a:solidFill>
                  <a:srgbClr val="0B2F4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将标准公式与现场数据校正结合起来，形成既有工艺依据、又贴近实际生产结果的模型底座</a:t>
            </a:r>
            <a:endParaRPr lang="en-US" sz="1400" i="1" dirty="0">
              <a:solidFill>
                <a:srgbClr val="0B2F4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677213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5" name="think-cell data - do not delete" hidden="1">
            <a:extLst>
              <a:ext uri="{FF2B5EF4-FFF2-40B4-BE49-F238E27FC236}">
                <a16:creationId xmlns:a16="http://schemas.microsoft.com/office/drawing/2014/main" id="{65E2B53B-FF9C-6895-D87F-81C448C9D8C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7672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3" progId="TCLayout.ActiveDocument.1">
                  <p:embed/>
                </p:oleObj>
              </mc:Choice>
              <mc:Fallback>
                <p:oleObj name="think-cell Slide" r:id="rId4" imgW="473" imgH="473" progId="TCLayout.ActiveDocument.1">
                  <p:embed/>
                  <p:pic>
                    <p:nvPicPr>
                      <p:cNvPr id="18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5E2B53B-FF9C-6895-D87F-81C448C9D8C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hape 3">
            <a:extLst>
              <a:ext uri="{FF2B5EF4-FFF2-40B4-BE49-F238E27FC236}">
                <a16:creationId xmlns:a16="http://schemas.microsoft.com/office/drawing/2014/main" id="{09DB0B33-86CE-9A4B-8E51-92ACBD4F0D35}"/>
              </a:ext>
            </a:extLst>
          </p:cNvPr>
          <p:cNvSpPr/>
          <p:nvPr/>
        </p:nvSpPr>
        <p:spPr>
          <a:xfrm>
            <a:off x="888870" y="1275839"/>
            <a:ext cx="1400555" cy="987526"/>
          </a:xfrm>
          <a:prstGeom prst="roundRect">
            <a:avLst>
              <a:gd name="adj" fmla="val 10526"/>
            </a:avLst>
          </a:prstGeom>
          <a:noFill/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D0D51B33-973F-A896-0942-2DA4AC76D7CD}"/>
              </a:ext>
            </a:extLst>
          </p:cNvPr>
          <p:cNvSpPr/>
          <p:nvPr/>
        </p:nvSpPr>
        <p:spPr>
          <a:xfrm>
            <a:off x="946824" y="1442159"/>
            <a:ext cx="1284648" cy="187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原料预处理</a:t>
            </a: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C44E3946-909A-768D-E7A3-AC5DFA7E1F3C}"/>
              </a:ext>
            </a:extLst>
          </p:cNvPr>
          <p:cNvSpPr/>
          <p:nvPr/>
        </p:nvSpPr>
        <p:spPr>
          <a:xfrm>
            <a:off x="946824" y="1663392"/>
            <a:ext cx="1284648" cy="3915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00" b="1" dirty="0" err="1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去除油脂、矿物质与杂质，保留纯胶原基础</a:t>
            </a:r>
            <a:endParaRPr lang="en-US" sz="1000" b="1" dirty="0">
              <a:solidFill>
                <a:srgbClr val="5E6B7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72A3C834-A76D-E9A9-83F2-ACDD9E6112AE}"/>
              </a:ext>
            </a:extLst>
          </p:cNvPr>
          <p:cNvSpPr/>
          <p:nvPr/>
        </p:nvSpPr>
        <p:spPr>
          <a:xfrm>
            <a:off x="2318403" y="1764404"/>
            <a:ext cx="106249" cy="0"/>
          </a:xfrm>
          <a:prstGeom prst="line">
            <a:avLst/>
          </a:prstGeom>
          <a:noFill/>
          <a:ln w="19050">
            <a:solidFill>
              <a:srgbClr val="00206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CDD252D7-2A29-09DC-CD4E-919B85EEC842}"/>
              </a:ext>
            </a:extLst>
          </p:cNvPr>
          <p:cNvSpPr/>
          <p:nvPr/>
        </p:nvSpPr>
        <p:spPr>
          <a:xfrm>
            <a:off x="2434311" y="1275839"/>
            <a:ext cx="1400555" cy="987526"/>
          </a:xfrm>
          <a:prstGeom prst="roundRect">
            <a:avLst>
              <a:gd name="adj" fmla="val 10526"/>
            </a:avLst>
          </a:prstGeom>
          <a:noFill/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979EEB79-ACB4-B576-98EF-232A6C29679C}"/>
              </a:ext>
            </a:extLst>
          </p:cNvPr>
          <p:cNvSpPr/>
          <p:nvPr/>
        </p:nvSpPr>
        <p:spPr>
          <a:xfrm>
            <a:off x="2492265" y="1442159"/>
            <a:ext cx="1284648" cy="187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浸灰水解</a:t>
            </a: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F48E9501-8FC0-2B53-22F7-058A57F6BC84}"/>
              </a:ext>
            </a:extLst>
          </p:cNvPr>
          <p:cNvSpPr/>
          <p:nvPr/>
        </p:nvSpPr>
        <p:spPr>
          <a:xfrm>
            <a:off x="2492265" y="1774800"/>
            <a:ext cx="1284648" cy="207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000" b="1" dirty="0" err="1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通过碱浸控制胶原断链程度，决定分子量基础区间</a:t>
            </a:r>
            <a:endParaRPr lang="en-US" sz="1000" b="1" dirty="0">
              <a:solidFill>
                <a:srgbClr val="5E6B7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1B5C83D5-BD39-6571-6962-7C454E046DA6}"/>
              </a:ext>
            </a:extLst>
          </p:cNvPr>
          <p:cNvSpPr/>
          <p:nvPr/>
        </p:nvSpPr>
        <p:spPr>
          <a:xfrm>
            <a:off x="3863844" y="1764404"/>
            <a:ext cx="106249" cy="0"/>
          </a:xfrm>
          <a:prstGeom prst="line">
            <a:avLst/>
          </a:prstGeom>
          <a:noFill/>
          <a:ln w="19050">
            <a:solidFill>
              <a:srgbClr val="00206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E0CC982B-2F2D-6E42-398B-C0466B44DBA5}"/>
              </a:ext>
            </a:extLst>
          </p:cNvPr>
          <p:cNvSpPr/>
          <p:nvPr/>
        </p:nvSpPr>
        <p:spPr>
          <a:xfrm>
            <a:off x="3979753" y="1275839"/>
            <a:ext cx="1400555" cy="987526"/>
          </a:xfrm>
          <a:prstGeom prst="roundRect">
            <a:avLst>
              <a:gd name="adj" fmla="val 10526"/>
            </a:avLst>
          </a:prstGeom>
          <a:noFill/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 12">
            <a:extLst>
              <a:ext uri="{FF2B5EF4-FFF2-40B4-BE49-F238E27FC236}">
                <a16:creationId xmlns:a16="http://schemas.microsoft.com/office/drawing/2014/main" id="{AAA2600D-7718-829F-5426-D14C640292B4}"/>
              </a:ext>
            </a:extLst>
          </p:cNvPr>
          <p:cNvSpPr/>
          <p:nvPr/>
        </p:nvSpPr>
        <p:spPr>
          <a:xfrm>
            <a:off x="4037706" y="1442159"/>
            <a:ext cx="1284648" cy="187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中和水洗</a:t>
            </a: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 13">
            <a:extLst>
              <a:ext uri="{FF2B5EF4-FFF2-40B4-BE49-F238E27FC236}">
                <a16:creationId xmlns:a16="http://schemas.microsoft.com/office/drawing/2014/main" id="{6879A33E-7783-DB0F-2A57-58095DFBAEDA}"/>
              </a:ext>
            </a:extLst>
          </p:cNvPr>
          <p:cNvSpPr/>
          <p:nvPr/>
        </p:nvSpPr>
        <p:spPr>
          <a:xfrm>
            <a:off x="4014787" y="1701120"/>
            <a:ext cx="1307567" cy="3187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000" b="1" dirty="0" err="1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去除残余碱性与杂质，稳定</a:t>
            </a:r>
            <a:r>
              <a:rPr lang="en-US" sz="1000" b="1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pH </a:t>
            </a:r>
            <a:r>
              <a:rPr lang="en-US" sz="1000" b="1" dirty="0" err="1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与胶液纯净度</a:t>
            </a:r>
            <a:endParaRPr lang="en-US" sz="1000" b="1" dirty="0">
              <a:solidFill>
                <a:srgbClr val="5E6B7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27EFDD02-D61D-2E4F-A08B-75EFF23035FE}"/>
              </a:ext>
            </a:extLst>
          </p:cNvPr>
          <p:cNvSpPr/>
          <p:nvPr/>
        </p:nvSpPr>
        <p:spPr>
          <a:xfrm>
            <a:off x="5409285" y="1764404"/>
            <a:ext cx="106249" cy="0"/>
          </a:xfrm>
          <a:prstGeom prst="line">
            <a:avLst/>
          </a:prstGeom>
          <a:noFill/>
          <a:ln w="19050">
            <a:solidFill>
              <a:srgbClr val="00206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E3B9BBDD-7ABB-F7D2-2256-6FC94D82F1F0}"/>
              </a:ext>
            </a:extLst>
          </p:cNvPr>
          <p:cNvSpPr/>
          <p:nvPr/>
        </p:nvSpPr>
        <p:spPr>
          <a:xfrm>
            <a:off x="5525193" y="1275839"/>
            <a:ext cx="1400555" cy="987526"/>
          </a:xfrm>
          <a:prstGeom prst="roundRect">
            <a:avLst>
              <a:gd name="adj" fmla="val 10526"/>
            </a:avLst>
          </a:prstGeom>
          <a:noFill/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Text 16">
            <a:extLst>
              <a:ext uri="{FF2B5EF4-FFF2-40B4-BE49-F238E27FC236}">
                <a16:creationId xmlns:a16="http://schemas.microsoft.com/office/drawing/2014/main" id="{01E82589-2B90-3EF3-3551-0836A6835A31}"/>
              </a:ext>
            </a:extLst>
          </p:cNvPr>
          <p:cNvSpPr/>
          <p:nvPr/>
        </p:nvSpPr>
        <p:spPr>
          <a:xfrm>
            <a:off x="5583147" y="1442159"/>
            <a:ext cx="1284648" cy="187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分段提胶</a:t>
            </a: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Text 17">
            <a:extLst>
              <a:ext uri="{FF2B5EF4-FFF2-40B4-BE49-F238E27FC236}">
                <a16:creationId xmlns:a16="http://schemas.microsoft.com/office/drawing/2014/main" id="{067AEE54-6E67-CE8E-0C4A-DC79FEDE0956}"/>
              </a:ext>
            </a:extLst>
          </p:cNvPr>
          <p:cNvSpPr/>
          <p:nvPr/>
        </p:nvSpPr>
        <p:spPr>
          <a:xfrm>
            <a:off x="5525192" y="1699774"/>
            <a:ext cx="1410216" cy="3187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000" b="1" dirty="0" err="1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按温度梯度提取不同分子量胶液，实现天然分级</a:t>
            </a:r>
            <a:endParaRPr lang="en-US" sz="1000" b="1" dirty="0">
              <a:solidFill>
                <a:srgbClr val="5E6B7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E5F6DEF7-D8B4-3D11-A903-0DF219668EAE}"/>
              </a:ext>
            </a:extLst>
          </p:cNvPr>
          <p:cNvSpPr/>
          <p:nvPr/>
        </p:nvSpPr>
        <p:spPr>
          <a:xfrm>
            <a:off x="6954726" y="1764404"/>
            <a:ext cx="106249" cy="0"/>
          </a:xfrm>
          <a:prstGeom prst="line">
            <a:avLst/>
          </a:prstGeom>
          <a:noFill/>
          <a:ln w="19050">
            <a:solidFill>
              <a:srgbClr val="00206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72F65F76-9DEB-7D22-1885-6F7A83927AED}"/>
              </a:ext>
            </a:extLst>
          </p:cNvPr>
          <p:cNvSpPr/>
          <p:nvPr/>
        </p:nvSpPr>
        <p:spPr>
          <a:xfrm>
            <a:off x="7070634" y="1275839"/>
            <a:ext cx="1400555" cy="987526"/>
          </a:xfrm>
          <a:prstGeom prst="roundRect">
            <a:avLst>
              <a:gd name="adj" fmla="val 10526"/>
            </a:avLst>
          </a:prstGeom>
          <a:noFill/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Text 20">
            <a:extLst>
              <a:ext uri="{FF2B5EF4-FFF2-40B4-BE49-F238E27FC236}">
                <a16:creationId xmlns:a16="http://schemas.microsoft.com/office/drawing/2014/main" id="{C82D177C-01F7-048D-C242-8D41D7A0C789}"/>
              </a:ext>
            </a:extLst>
          </p:cNvPr>
          <p:cNvSpPr/>
          <p:nvPr/>
        </p:nvSpPr>
        <p:spPr>
          <a:xfrm>
            <a:off x="7128588" y="1442159"/>
            <a:ext cx="1284648" cy="187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浓缩复配</a:t>
            </a: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Text 21">
            <a:extLst>
              <a:ext uri="{FF2B5EF4-FFF2-40B4-BE49-F238E27FC236}">
                <a16:creationId xmlns:a16="http://schemas.microsoft.com/office/drawing/2014/main" id="{07F3CE49-7433-9354-0BA2-C3D5DBD35F8B}"/>
              </a:ext>
            </a:extLst>
          </p:cNvPr>
          <p:cNvSpPr/>
          <p:nvPr/>
        </p:nvSpPr>
        <p:spPr>
          <a:xfrm>
            <a:off x="7089952" y="1740149"/>
            <a:ext cx="1390898" cy="3534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000" b="1" dirty="0" err="1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按订单目标调配不同批次胶液，影响目标</a:t>
            </a:r>
            <a:r>
              <a:rPr lang="en-US" sz="1000" b="1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Mw </a:t>
            </a:r>
            <a:r>
              <a:rPr lang="en-US" sz="1000" b="1" dirty="0" err="1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与产出</a:t>
            </a:r>
            <a:endParaRPr lang="en-US" sz="1000" b="1" dirty="0">
              <a:solidFill>
                <a:srgbClr val="5E6B7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Shape 22">
            <a:extLst>
              <a:ext uri="{FF2B5EF4-FFF2-40B4-BE49-F238E27FC236}">
                <a16:creationId xmlns:a16="http://schemas.microsoft.com/office/drawing/2014/main" id="{79157E41-7296-C998-D0ED-10DC32D7A680}"/>
              </a:ext>
            </a:extLst>
          </p:cNvPr>
          <p:cNvSpPr/>
          <p:nvPr/>
        </p:nvSpPr>
        <p:spPr>
          <a:xfrm>
            <a:off x="8500167" y="1764404"/>
            <a:ext cx="106249" cy="0"/>
          </a:xfrm>
          <a:prstGeom prst="line">
            <a:avLst/>
          </a:prstGeom>
          <a:noFill/>
          <a:ln w="19050">
            <a:solidFill>
              <a:srgbClr val="00206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Shape 26">
            <a:extLst>
              <a:ext uri="{FF2B5EF4-FFF2-40B4-BE49-F238E27FC236}">
                <a16:creationId xmlns:a16="http://schemas.microsoft.com/office/drawing/2014/main" id="{D49F5F5A-7B41-0DB0-F0C3-B5EF0E73C15B}"/>
              </a:ext>
            </a:extLst>
          </p:cNvPr>
          <p:cNvSpPr/>
          <p:nvPr/>
        </p:nvSpPr>
        <p:spPr>
          <a:xfrm>
            <a:off x="10045608" y="1764404"/>
            <a:ext cx="106249" cy="0"/>
          </a:xfrm>
          <a:prstGeom prst="line">
            <a:avLst/>
          </a:prstGeom>
          <a:noFill/>
          <a:ln w="19050">
            <a:solidFill>
              <a:srgbClr val="00206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Shape 27">
            <a:extLst>
              <a:ext uri="{FF2B5EF4-FFF2-40B4-BE49-F238E27FC236}">
                <a16:creationId xmlns:a16="http://schemas.microsoft.com/office/drawing/2014/main" id="{5983C79B-0C1C-99D4-84E5-D9841B0AD974}"/>
              </a:ext>
            </a:extLst>
          </p:cNvPr>
          <p:cNvSpPr/>
          <p:nvPr/>
        </p:nvSpPr>
        <p:spPr>
          <a:xfrm>
            <a:off x="10161517" y="1275839"/>
            <a:ext cx="1400555" cy="987526"/>
          </a:xfrm>
          <a:prstGeom prst="roundRect">
            <a:avLst>
              <a:gd name="adj" fmla="val 10526"/>
            </a:avLst>
          </a:prstGeom>
          <a:noFill/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Text 28">
            <a:extLst>
              <a:ext uri="{FF2B5EF4-FFF2-40B4-BE49-F238E27FC236}">
                <a16:creationId xmlns:a16="http://schemas.microsoft.com/office/drawing/2014/main" id="{A74D4351-47DA-4AFD-3D8E-5061670872E8}"/>
              </a:ext>
            </a:extLst>
          </p:cNvPr>
          <p:cNvSpPr/>
          <p:nvPr/>
        </p:nvSpPr>
        <p:spPr>
          <a:xfrm>
            <a:off x="10219470" y="1442159"/>
            <a:ext cx="1284648" cy="187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粉碎成品</a:t>
            </a: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Text 29">
            <a:extLst>
              <a:ext uri="{FF2B5EF4-FFF2-40B4-BE49-F238E27FC236}">
                <a16:creationId xmlns:a16="http://schemas.microsoft.com/office/drawing/2014/main" id="{C3523600-45A5-5E99-9D83-F0989866CDBF}"/>
              </a:ext>
            </a:extLst>
          </p:cNvPr>
          <p:cNvSpPr/>
          <p:nvPr/>
        </p:nvSpPr>
        <p:spPr>
          <a:xfrm>
            <a:off x="10219470" y="1774800"/>
            <a:ext cx="1284648" cy="207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000" b="1" dirty="0" err="1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粉碎、筛分、包装入库，完成最终质量检验</a:t>
            </a:r>
            <a:endParaRPr lang="en-US" sz="1000" b="1" dirty="0">
              <a:solidFill>
                <a:srgbClr val="5E6B7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AD6E396-50C7-44A6-3B4D-4FBCD4B39871}"/>
              </a:ext>
            </a:extLst>
          </p:cNvPr>
          <p:cNvSpPr txBox="1"/>
          <p:nvPr/>
        </p:nvSpPr>
        <p:spPr>
          <a:xfrm>
            <a:off x="946823" y="2457447"/>
            <a:ext cx="134260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牛骨原料、骨粒规格、原料杂质状态</a:t>
            </a:r>
            <a:endParaRPr 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3146A6F-577A-8840-FE87-495F9A6B0D1B}"/>
              </a:ext>
            </a:extLst>
          </p:cNvPr>
          <p:cNvSpPr txBox="1"/>
          <p:nvPr/>
        </p:nvSpPr>
        <p:spPr>
          <a:xfrm>
            <a:off x="312951" y="2519001"/>
            <a:ext cx="5517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</a:t>
            </a:r>
            <a:endParaRPr lang="en-US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D7F24C0-A64D-5EB6-041F-10B20C943362}"/>
              </a:ext>
            </a:extLst>
          </p:cNvPr>
          <p:cNvSpPr txBox="1"/>
          <p:nvPr/>
        </p:nvSpPr>
        <p:spPr>
          <a:xfrm>
            <a:off x="2448016" y="2568529"/>
            <a:ext cx="142953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预处理后的胶原骨粒</a:t>
            </a:r>
            <a:endParaRPr 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F16C171-FBF0-E736-851A-1D2EA8F9C786}"/>
              </a:ext>
            </a:extLst>
          </p:cNvPr>
          <p:cNvSpPr txBox="1"/>
          <p:nvPr/>
        </p:nvSpPr>
        <p:spPr>
          <a:xfrm>
            <a:off x="4027264" y="2462569"/>
            <a:ext cx="142470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浸灰后的胶原骨粒、残余碱和杂质</a:t>
            </a:r>
            <a:endParaRPr 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25371A3-97FC-3898-5552-1F7CAF5717E9}"/>
              </a:ext>
            </a:extLst>
          </p:cNvPr>
          <p:cNvSpPr txBox="1"/>
          <p:nvPr/>
        </p:nvSpPr>
        <p:spPr>
          <a:xfrm>
            <a:off x="5612125" y="2564682"/>
            <a:ext cx="13426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中和后的胶原原料</a:t>
            </a:r>
            <a:endParaRPr 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9A8C2D3-344C-A21F-AE94-A74BE88C1897}"/>
              </a:ext>
            </a:extLst>
          </p:cNvPr>
          <p:cNvSpPr txBox="1"/>
          <p:nvPr/>
        </p:nvSpPr>
        <p:spPr>
          <a:xfrm>
            <a:off x="7169857" y="2462569"/>
            <a:ext cx="1342601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各道次胶液的重量、Mw、固含量、黏度、pH</a:t>
            </a:r>
            <a:endParaRPr 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189EBD87-EE67-2874-75DE-77E38AC56353}"/>
              </a:ext>
            </a:extLst>
          </p:cNvPr>
          <p:cNvGrpSpPr/>
          <p:nvPr/>
        </p:nvGrpSpPr>
        <p:grpSpPr>
          <a:xfrm>
            <a:off x="2371527" y="2334766"/>
            <a:ext cx="7727230" cy="3231966"/>
            <a:chOff x="2342525" y="2168446"/>
            <a:chExt cx="7727230" cy="5085046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78E07DB9-7365-D403-0D6C-8C233F2E5E82}"/>
                </a:ext>
              </a:extLst>
            </p:cNvPr>
            <p:cNvCxnSpPr>
              <a:cxnSpLocks/>
            </p:cNvCxnSpPr>
            <p:nvPr/>
          </p:nvCxnSpPr>
          <p:spPr>
            <a:xfrm>
              <a:off x="2342525" y="2170460"/>
              <a:ext cx="0" cy="5083032"/>
            </a:xfrm>
            <a:prstGeom prst="line">
              <a:avLst/>
            </a:prstGeom>
            <a:ln w="12700">
              <a:solidFill>
                <a:schemeClr val="bg2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56914089-4B20-C3DC-831B-3CE36F2DE960}"/>
                </a:ext>
              </a:extLst>
            </p:cNvPr>
            <p:cNvCxnSpPr>
              <a:cxnSpLocks/>
            </p:cNvCxnSpPr>
            <p:nvPr/>
          </p:nvCxnSpPr>
          <p:spPr>
            <a:xfrm>
              <a:off x="5433407" y="2170460"/>
              <a:ext cx="0" cy="5083032"/>
            </a:xfrm>
            <a:prstGeom prst="line">
              <a:avLst/>
            </a:prstGeom>
            <a:ln w="12700">
              <a:solidFill>
                <a:schemeClr val="bg2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14C660FD-1920-FD23-5055-08E773C4BC66}"/>
                </a:ext>
              </a:extLst>
            </p:cNvPr>
            <p:cNvCxnSpPr>
              <a:cxnSpLocks/>
            </p:cNvCxnSpPr>
            <p:nvPr/>
          </p:nvCxnSpPr>
          <p:spPr>
            <a:xfrm>
              <a:off x="3883412" y="2170460"/>
              <a:ext cx="0" cy="5034872"/>
            </a:xfrm>
            <a:prstGeom prst="line">
              <a:avLst/>
            </a:prstGeom>
            <a:ln w="12700">
              <a:solidFill>
                <a:schemeClr val="bg2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8626E476-8C4E-B4FC-CE1C-E656005D640D}"/>
                </a:ext>
              </a:extLst>
            </p:cNvPr>
            <p:cNvCxnSpPr>
              <a:cxnSpLocks/>
            </p:cNvCxnSpPr>
            <p:nvPr/>
          </p:nvCxnSpPr>
          <p:spPr>
            <a:xfrm>
              <a:off x="6991139" y="2168446"/>
              <a:ext cx="0" cy="5085046"/>
            </a:xfrm>
            <a:prstGeom prst="line">
              <a:avLst/>
            </a:prstGeom>
            <a:ln w="12700">
              <a:solidFill>
                <a:schemeClr val="bg2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BDD22E74-465C-FF74-6A85-6A7699756C26}"/>
                </a:ext>
              </a:extLst>
            </p:cNvPr>
            <p:cNvCxnSpPr>
              <a:cxnSpLocks/>
            </p:cNvCxnSpPr>
            <p:nvPr/>
          </p:nvCxnSpPr>
          <p:spPr>
            <a:xfrm>
              <a:off x="8559314" y="2170460"/>
              <a:ext cx="0" cy="5083032"/>
            </a:xfrm>
            <a:prstGeom prst="line">
              <a:avLst/>
            </a:prstGeom>
            <a:ln w="12700">
              <a:solidFill>
                <a:schemeClr val="bg2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C7F20C44-5271-6D74-6BB4-052F9D0AA504}"/>
                </a:ext>
              </a:extLst>
            </p:cNvPr>
            <p:cNvCxnSpPr>
              <a:cxnSpLocks/>
            </p:cNvCxnSpPr>
            <p:nvPr/>
          </p:nvCxnSpPr>
          <p:spPr>
            <a:xfrm>
              <a:off x="10069755" y="2168446"/>
              <a:ext cx="0" cy="5085046"/>
            </a:xfrm>
            <a:prstGeom prst="line">
              <a:avLst/>
            </a:prstGeom>
            <a:ln w="12700">
              <a:solidFill>
                <a:schemeClr val="bg2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0943482E-A7CF-D9F5-5AFF-21A236B03B7F}"/>
              </a:ext>
            </a:extLst>
          </p:cNvPr>
          <p:cNvSpPr txBox="1"/>
          <p:nvPr/>
        </p:nvSpPr>
        <p:spPr>
          <a:xfrm>
            <a:off x="10295763" y="2572376"/>
            <a:ext cx="134260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干燥后的明胶产品</a:t>
            </a:r>
            <a:endParaRPr 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B01E51EC-EF7D-4478-F42D-3407208116AD}"/>
              </a:ext>
            </a:extLst>
          </p:cNvPr>
          <p:cNvCxnSpPr>
            <a:cxnSpLocks/>
          </p:cNvCxnSpPr>
          <p:nvPr/>
        </p:nvCxnSpPr>
        <p:spPr>
          <a:xfrm>
            <a:off x="428682" y="3111221"/>
            <a:ext cx="11162392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B9A71D07-1A91-1E15-5769-C489BB3754B5}"/>
              </a:ext>
            </a:extLst>
          </p:cNvPr>
          <p:cNvSpPr txBox="1"/>
          <p:nvPr/>
        </p:nvSpPr>
        <p:spPr>
          <a:xfrm>
            <a:off x="291206" y="3419395"/>
            <a:ext cx="5517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过程参数</a:t>
            </a:r>
            <a:endParaRPr lang="en-US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AA04AE00-80A4-D465-8648-5DCA2587F539}"/>
              </a:ext>
            </a:extLst>
          </p:cNvPr>
          <p:cNvCxnSpPr>
            <a:cxnSpLocks/>
          </p:cNvCxnSpPr>
          <p:nvPr/>
        </p:nvCxnSpPr>
        <p:spPr>
          <a:xfrm>
            <a:off x="432634" y="4300877"/>
            <a:ext cx="11162392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1" name="Group 70">
            <a:extLst>
              <a:ext uri="{FF2B5EF4-FFF2-40B4-BE49-F238E27FC236}">
                <a16:creationId xmlns:a16="http://schemas.microsoft.com/office/drawing/2014/main" id="{73340F31-E930-E1D2-8CE2-DC3751DBF5B6}"/>
              </a:ext>
            </a:extLst>
          </p:cNvPr>
          <p:cNvGrpSpPr/>
          <p:nvPr/>
        </p:nvGrpSpPr>
        <p:grpSpPr>
          <a:xfrm>
            <a:off x="888869" y="3210498"/>
            <a:ext cx="1332941" cy="964624"/>
            <a:chOff x="880066" y="3150387"/>
            <a:chExt cx="1342602" cy="906380"/>
          </a:xfrm>
          <a:solidFill>
            <a:schemeClr val="tx2">
              <a:lumMod val="20000"/>
              <a:lumOff val="80000"/>
            </a:schemeClr>
          </a:solidFill>
        </p:grpSpPr>
        <p:sp>
          <p:nvSpPr>
            <p:cNvPr id="66" name="Rectangle: Rounded Corners 65">
              <a:extLst>
                <a:ext uri="{FF2B5EF4-FFF2-40B4-BE49-F238E27FC236}">
                  <a16:creationId xmlns:a16="http://schemas.microsoft.com/office/drawing/2014/main" id="{9EF515D6-BE15-03E9-78BA-630A06EEC788}"/>
                </a:ext>
              </a:extLst>
            </p:cNvPr>
            <p:cNvSpPr/>
            <p:nvPr/>
          </p:nvSpPr>
          <p:spPr>
            <a:xfrm>
              <a:off x="880067" y="3150387"/>
              <a:ext cx="1342601" cy="179672"/>
            </a:xfrm>
            <a:prstGeom prst="roundRect">
              <a:avLst>
                <a:gd name="adj" fmla="val 9450"/>
              </a:avLst>
            </a:prstGeom>
            <a:grpFill/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 err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清洗强度</a:t>
              </a:r>
              <a:endParaRPr lang="en-US" sz="105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7" name="Rectangle: Rounded Corners 66">
              <a:extLst>
                <a:ext uri="{FF2B5EF4-FFF2-40B4-BE49-F238E27FC236}">
                  <a16:creationId xmlns:a16="http://schemas.microsoft.com/office/drawing/2014/main" id="{3E13ABC7-E3F4-C04C-3465-FF06BF12878D}"/>
                </a:ext>
              </a:extLst>
            </p:cNvPr>
            <p:cNvSpPr/>
            <p:nvPr/>
          </p:nvSpPr>
          <p:spPr>
            <a:xfrm>
              <a:off x="880067" y="3392623"/>
              <a:ext cx="1342601" cy="179672"/>
            </a:xfrm>
            <a:prstGeom prst="roundRect">
              <a:avLst>
                <a:gd name="adj" fmla="val 9450"/>
              </a:avLst>
            </a:prstGeom>
            <a:grpFill/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 err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脱脂温度</a:t>
              </a:r>
              <a:r>
                <a:rPr lang="en-US" sz="105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en-US" sz="1050" dirty="0" err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时间</a:t>
              </a:r>
              <a:endParaRPr lang="en-US" sz="105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8" name="Rectangle: Rounded Corners 67">
              <a:extLst>
                <a:ext uri="{FF2B5EF4-FFF2-40B4-BE49-F238E27FC236}">
                  <a16:creationId xmlns:a16="http://schemas.microsoft.com/office/drawing/2014/main" id="{60195F1A-A5C3-8978-7501-1B50118E61E4}"/>
                </a:ext>
              </a:extLst>
            </p:cNvPr>
            <p:cNvSpPr/>
            <p:nvPr/>
          </p:nvSpPr>
          <p:spPr>
            <a:xfrm>
              <a:off x="880066" y="3634859"/>
              <a:ext cx="1342601" cy="179672"/>
            </a:xfrm>
            <a:prstGeom prst="roundRect">
              <a:avLst>
                <a:gd name="adj" fmla="val 9450"/>
              </a:avLst>
            </a:prstGeom>
            <a:grpFill/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 err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脱矿酸浓度</a:t>
              </a:r>
              <a:endParaRPr lang="en-US" sz="105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9" name="Rectangle: Rounded Corners 68">
              <a:extLst>
                <a:ext uri="{FF2B5EF4-FFF2-40B4-BE49-F238E27FC236}">
                  <a16:creationId xmlns:a16="http://schemas.microsoft.com/office/drawing/2014/main" id="{94B480E8-4BAF-72E9-0ED3-3A897D92F5C8}"/>
                </a:ext>
              </a:extLst>
            </p:cNvPr>
            <p:cNvSpPr/>
            <p:nvPr/>
          </p:nvSpPr>
          <p:spPr>
            <a:xfrm>
              <a:off x="880066" y="3877095"/>
              <a:ext cx="1342601" cy="179672"/>
            </a:xfrm>
            <a:prstGeom prst="roundRect">
              <a:avLst>
                <a:gd name="adj" fmla="val 9450"/>
              </a:avLst>
            </a:prstGeom>
            <a:grpFill/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 err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粉碎粒度</a:t>
              </a:r>
              <a:endParaRPr lang="en-US" sz="105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68B64601-5C9F-43AA-9353-8AB6D4694B46}"/>
              </a:ext>
            </a:extLst>
          </p:cNvPr>
          <p:cNvGrpSpPr/>
          <p:nvPr/>
        </p:nvGrpSpPr>
        <p:grpSpPr>
          <a:xfrm>
            <a:off x="2468158" y="3208228"/>
            <a:ext cx="1332941" cy="966894"/>
            <a:chOff x="880066" y="3150387"/>
            <a:chExt cx="1342602" cy="906380"/>
          </a:xfrm>
          <a:solidFill>
            <a:schemeClr val="tx2">
              <a:lumMod val="20000"/>
              <a:lumOff val="80000"/>
            </a:schemeClr>
          </a:solidFill>
        </p:grpSpPr>
        <p:sp>
          <p:nvSpPr>
            <p:cNvPr id="73" name="Rectangle: Rounded Corners 72">
              <a:extLst>
                <a:ext uri="{FF2B5EF4-FFF2-40B4-BE49-F238E27FC236}">
                  <a16:creationId xmlns:a16="http://schemas.microsoft.com/office/drawing/2014/main" id="{D0C6E790-8B5A-F07E-BDD6-9BF4415C53C4}"/>
                </a:ext>
              </a:extLst>
            </p:cNvPr>
            <p:cNvSpPr/>
            <p:nvPr/>
          </p:nvSpPr>
          <p:spPr>
            <a:xfrm>
              <a:off x="880067" y="3150387"/>
              <a:ext cx="1342601" cy="179672"/>
            </a:xfrm>
            <a:prstGeom prst="roundRect">
              <a:avLst>
                <a:gd name="adj" fmla="val 9450"/>
              </a:avLst>
            </a:prstGeom>
            <a:grpFill/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 err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浸灰时间</a:t>
              </a:r>
              <a:endParaRPr lang="en-US" sz="105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4" name="Rectangle: Rounded Corners 73">
              <a:extLst>
                <a:ext uri="{FF2B5EF4-FFF2-40B4-BE49-F238E27FC236}">
                  <a16:creationId xmlns:a16="http://schemas.microsoft.com/office/drawing/2014/main" id="{0A712218-C805-2361-C34B-0EF70FAC5668}"/>
                </a:ext>
              </a:extLst>
            </p:cNvPr>
            <p:cNvSpPr/>
            <p:nvPr/>
          </p:nvSpPr>
          <p:spPr>
            <a:xfrm>
              <a:off x="880067" y="3392623"/>
              <a:ext cx="1342601" cy="179672"/>
            </a:xfrm>
            <a:prstGeom prst="roundRect">
              <a:avLst>
                <a:gd name="adj" fmla="val 9450"/>
              </a:avLst>
            </a:prstGeom>
            <a:grpFill/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 err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石灰乳浓度</a:t>
              </a:r>
              <a:endParaRPr lang="en-US" sz="105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5" name="Rectangle: Rounded Corners 74">
              <a:extLst>
                <a:ext uri="{FF2B5EF4-FFF2-40B4-BE49-F238E27FC236}">
                  <a16:creationId xmlns:a16="http://schemas.microsoft.com/office/drawing/2014/main" id="{4E6EA6EC-7382-61D2-7640-59D50CBFE94A}"/>
                </a:ext>
              </a:extLst>
            </p:cNvPr>
            <p:cNvSpPr/>
            <p:nvPr/>
          </p:nvSpPr>
          <p:spPr>
            <a:xfrm>
              <a:off x="880066" y="3634859"/>
              <a:ext cx="1342601" cy="179672"/>
            </a:xfrm>
            <a:prstGeom prst="roundRect">
              <a:avLst>
                <a:gd name="adj" fmla="val 9450"/>
              </a:avLst>
            </a:prstGeom>
            <a:grpFill/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 err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料液比</a:t>
              </a:r>
              <a:endParaRPr lang="en-US" sz="105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6" name="Rectangle: Rounded Corners 75">
              <a:extLst>
                <a:ext uri="{FF2B5EF4-FFF2-40B4-BE49-F238E27FC236}">
                  <a16:creationId xmlns:a16="http://schemas.microsoft.com/office/drawing/2014/main" id="{5F0E0BA8-C67B-E71C-D943-0DE9BF12DF10}"/>
                </a:ext>
              </a:extLst>
            </p:cNvPr>
            <p:cNvSpPr/>
            <p:nvPr/>
          </p:nvSpPr>
          <p:spPr>
            <a:xfrm>
              <a:off x="880066" y="3877095"/>
              <a:ext cx="1342601" cy="179672"/>
            </a:xfrm>
            <a:prstGeom prst="roundRect">
              <a:avLst>
                <a:gd name="adj" fmla="val 9450"/>
              </a:avLst>
            </a:prstGeom>
            <a:grpFill/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5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温度</a:t>
              </a:r>
              <a:endParaRPr lang="en-US" sz="105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939D75F2-6A1E-56D7-31B5-D629290B7632}"/>
              </a:ext>
            </a:extLst>
          </p:cNvPr>
          <p:cNvGrpSpPr/>
          <p:nvPr/>
        </p:nvGrpSpPr>
        <p:grpSpPr>
          <a:xfrm>
            <a:off x="4021495" y="3211423"/>
            <a:ext cx="1332941" cy="961686"/>
            <a:chOff x="880066" y="3150387"/>
            <a:chExt cx="1342602" cy="906380"/>
          </a:xfrm>
          <a:solidFill>
            <a:schemeClr val="tx2">
              <a:lumMod val="20000"/>
              <a:lumOff val="80000"/>
            </a:schemeClr>
          </a:solidFill>
        </p:grpSpPr>
        <p:sp>
          <p:nvSpPr>
            <p:cNvPr id="78" name="Rectangle: Rounded Corners 77">
              <a:extLst>
                <a:ext uri="{FF2B5EF4-FFF2-40B4-BE49-F238E27FC236}">
                  <a16:creationId xmlns:a16="http://schemas.microsoft.com/office/drawing/2014/main" id="{96651F8F-47A5-E779-35FC-5290BF841417}"/>
                </a:ext>
              </a:extLst>
            </p:cNvPr>
            <p:cNvSpPr/>
            <p:nvPr/>
          </p:nvSpPr>
          <p:spPr>
            <a:xfrm>
              <a:off x="880067" y="3150387"/>
              <a:ext cx="1342601" cy="179672"/>
            </a:xfrm>
            <a:prstGeom prst="roundRect">
              <a:avLst>
                <a:gd name="adj" fmla="val 9450"/>
              </a:avLst>
            </a:prstGeom>
            <a:grpFill/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 err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酸碱中和程度</a:t>
              </a:r>
              <a:endParaRPr lang="en-US" sz="105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9" name="Rectangle: Rounded Corners 78">
              <a:extLst>
                <a:ext uri="{FF2B5EF4-FFF2-40B4-BE49-F238E27FC236}">
                  <a16:creationId xmlns:a16="http://schemas.microsoft.com/office/drawing/2014/main" id="{D8C5DA46-2B36-69CB-6A0F-A4221B641ADF}"/>
                </a:ext>
              </a:extLst>
            </p:cNvPr>
            <p:cNvSpPr/>
            <p:nvPr/>
          </p:nvSpPr>
          <p:spPr>
            <a:xfrm>
              <a:off x="880067" y="3392623"/>
              <a:ext cx="1342601" cy="179672"/>
            </a:xfrm>
            <a:prstGeom prst="roundRect">
              <a:avLst>
                <a:gd name="adj" fmla="val 9450"/>
              </a:avLst>
            </a:prstGeom>
            <a:grpFill/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 err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洗涤次数</a:t>
              </a:r>
              <a:endParaRPr lang="en-US" sz="105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0" name="Rectangle: Rounded Corners 79">
              <a:extLst>
                <a:ext uri="{FF2B5EF4-FFF2-40B4-BE49-F238E27FC236}">
                  <a16:creationId xmlns:a16="http://schemas.microsoft.com/office/drawing/2014/main" id="{C5CE8198-790C-3038-44D9-D8DB80F1B3C8}"/>
                </a:ext>
              </a:extLst>
            </p:cNvPr>
            <p:cNvSpPr/>
            <p:nvPr/>
          </p:nvSpPr>
          <p:spPr>
            <a:xfrm>
              <a:off x="880066" y="3634859"/>
              <a:ext cx="1342601" cy="179672"/>
            </a:xfrm>
            <a:prstGeom prst="roundRect">
              <a:avLst>
                <a:gd name="adj" fmla="val 9450"/>
              </a:avLst>
            </a:prstGeom>
            <a:grpFill/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 err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用水量</a:t>
              </a:r>
              <a:endParaRPr lang="en-US" sz="105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1" name="Rectangle: Rounded Corners 80">
              <a:extLst>
                <a:ext uri="{FF2B5EF4-FFF2-40B4-BE49-F238E27FC236}">
                  <a16:creationId xmlns:a16="http://schemas.microsoft.com/office/drawing/2014/main" id="{775F2938-28CA-E8D8-8B89-28CA85EB5C78}"/>
                </a:ext>
              </a:extLst>
            </p:cNvPr>
            <p:cNvSpPr/>
            <p:nvPr/>
          </p:nvSpPr>
          <p:spPr>
            <a:xfrm>
              <a:off x="880066" y="3877095"/>
              <a:ext cx="1342601" cy="179672"/>
            </a:xfrm>
            <a:prstGeom prst="roundRect">
              <a:avLst>
                <a:gd name="adj" fmla="val 9450"/>
              </a:avLst>
            </a:prstGeom>
            <a:grpFill/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 err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终点</a:t>
              </a:r>
              <a:r>
                <a:rPr lang="en-US" sz="105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pH</a:t>
              </a:r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89EE43EF-2E75-FE89-C52F-334783FE050B}"/>
              </a:ext>
            </a:extLst>
          </p:cNvPr>
          <p:cNvGrpSpPr/>
          <p:nvPr/>
        </p:nvGrpSpPr>
        <p:grpSpPr>
          <a:xfrm>
            <a:off x="5583805" y="3213507"/>
            <a:ext cx="1332941" cy="959602"/>
            <a:chOff x="880066" y="3150387"/>
            <a:chExt cx="1342602" cy="664144"/>
          </a:xfrm>
          <a:solidFill>
            <a:schemeClr val="tx2">
              <a:lumMod val="20000"/>
              <a:lumOff val="80000"/>
            </a:schemeClr>
          </a:solidFill>
        </p:grpSpPr>
        <p:sp>
          <p:nvSpPr>
            <p:cNvPr id="83" name="Rectangle: Rounded Corners 82">
              <a:extLst>
                <a:ext uri="{FF2B5EF4-FFF2-40B4-BE49-F238E27FC236}">
                  <a16:creationId xmlns:a16="http://schemas.microsoft.com/office/drawing/2014/main" id="{6459CEF6-023B-658A-6085-CCC0EE4BA7CE}"/>
                </a:ext>
              </a:extLst>
            </p:cNvPr>
            <p:cNvSpPr/>
            <p:nvPr/>
          </p:nvSpPr>
          <p:spPr>
            <a:xfrm>
              <a:off x="880067" y="3150387"/>
              <a:ext cx="1342601" cy="179672"/>
            </a:xfrm>
            <a:prstGeom prst="roundRect">
              <a:avLst>
                <a:gd name="adj" fmla="val 9450"/>
              </a:avLst>
            </a:prstGeom>
            <a:grpFill/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 err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提胶温度</a:t>
              </a:r>
              <a:endParaRPr lang="en-US" sz="105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4" name="Rectangle: Rounded Corners 83">
              <a:extLst>
                <a:ext uri="{FF2B5EF4-FFF2-40B4-BE49-F238E27FC236}">
                  <a16:creationId xmlns:a16="http://schemas.microsoft.com/office/drawing/2014/main" id="{F5AAEC04-A6C9-B36E-082A-88A3EE30FF1E}"/>
                </a:ext>
              </a:extLst>
            </p:cNvPr>
            <p:cNvSpPr/>
            <p:nvPr/>
          </p:nvSpPr>
          <p:spPr>
            <a:xfrm>
              <a:off x="880067" y="3392623"/>
              <a:ext cx="1342601" cy="179672"/>
            </a:xfrm>
            <a:prstGeom prst="roundRect">
              <a:avLst>
                <a:gd name="adj" fmla="val 9450"/>
              </a:avLst>
            </a:prstGeom>
            <a:grpFill/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 err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提胶时间</a:t>
              </a:r>
              <a:endParaRPr lang="en-US" sz="105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5" name="Rectangle: Rounded Corners 84">
              <a:extLst>
                <a:ext uri="{FF2B5EF4-FFF2-40B4-BE49-F238E27FC236}">
                  <a16:creationId xmlns:a16="http://schemas.microsoft.com/office/drawing/2014/main" id="{66981FE5-B3BA-2FCF-0801-F63D45CE3367}"/>
                </a:ext>
              </a:extLst>
            </p:cNvPr>
            <p:cNvSpPr/>
            <p:nvPr/>
          </p:nvSpPr>
          <p:spPr>
            <a:xfrm>
              <a:off x="880066" y="3634859"/>
              <a:ext cx="1342601" cy="179672"/>
            </a:xfrm>
            <a:prstGeom prst="roundRect">
              <a:avLst>
                <a:gd name="adj" fmla="val 9450"/>
              </a:avLst>
            </a:prstGeom>
            <a:grpFill/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 err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提胶道次</a:t>
              </a:r>
              <a:endParaRPr lang="en-US" sz="105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A3DFC50A-6F9B-4580-398C-F7A1E85CDD3D}"/>
              </a:ext>
            </a:extLst>
          </p:cNvPr>
          <p:cNvGrpSpPr/>
          <p:nvPr/>
        </p:nvGrpSpPr>
        <p:grpSpPr>
          <a:xfrm>
            <a:off x="7150002" y="3206270"/>
            <a:ext cx="1332941" cy="968852"/>
            <a:chOff x="880066" y="3150387"/>
            <a:chExt cx="1342602" cy="906380"/>
          </a:xfrm>
          <a:solidFill>
            <a:schemeClr val="tx2">
              <a:lumMod val="20000"/>
              <a:lumOff val="80000"/>
            </a:schemeClr>
          </a:solidFill>
        </p:grpSpPr>
        <p:sp>
          <p:nvSpPr>
            <p:cNvPr id="88" name="Rectangle: Rounded Corners 87">
              <a:extLst>
                <a:ext uri="{FF2B5EF4-FFF2-40B4-BE49-F238E27FC236}">
                  <a16:creationId xmlns:a16="http://schemas.microsoft.com/office/drawing/2014/main" id="{4E6DCA44-B09F-6106-0BD7-8C40BBD1FB1B}"/>
                </a:ext>
              </a:extLst>
            </p:cNvPr>
            <p:cNvSpPr/>
            <p:nvPr/>
          </p:nvSpPr>
          <p:spPr>
            <a:xfrm>
              <a:off x="880067" y="3150387"/>
              <a:ext cx="1342601" cy="179672"/>
            </a:xfrm>
            <a:prstGeom prst="roundRect">
              <a:avLst>
                <a:gd name="adj" fmla="val 9450"/>
              </a:avLst>
            </a:prstGeom>
            <a:grpFill/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 err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浓缩浓度</a:t>
              </a:r>
              <a:endParaRPr lang="en-US" sz="105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9" name="Rectangle: Rounded Corners 88">
              <a:extLst>
                <a:ext uri="{FF2B5EF4-FFF2-40B4-BE49-F238E27FC236}">
                  <a16:creationId xmlns:a16="http://schemas.microsoft.com/office/drawing/2014/main" id="{1C8DADD1-5F13-6CBF-07C0-FD01EC470E1B}"/>
                </a:ext>
              </a:extLst>
            </p:cNvPr>
            <p:cNvSpPr/>
            <p:nvPr/>
          </p:nvSpPr>
          <p:spPr>
            <a:xfrm>
              <a:off x="880067" y="3392623"/>
              <a:ext cx="1342601" cy="179672"/>
            </a:xfrm>
            <a:prstGeom prst="roundRect">
              <a:avLst>
                <a:gd name="adj" fmla="val 9450"/>
              </a:avLst>
            </a:prstGeom>
            <a:grpFill/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 err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各批次加入比例</a:t>
              </a:r>
              <a:endParaRPr lang="en-US" sz="105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0" name="Rectangle: Rounded Corners 89">
              <a:extLst>
                <a:ext uri="{FF2B5EF4-FFF2-40B4-BE49-F238E27FC236}">
                  <a16:creationId xmlns:a16="http://schemas.microsoft.com/office/drawing/2014/main" id="{F7F021AA-5BD8-50A4-E8EB-223FCD1735E4}"/>
                </a:ext>
              </a:extLst>
            </p:cNvPr>
            <p:cNvSpPr/>
            <p:nvPr/>
          </p:nvSpPr>
          <p:spPr>
            <a:xfrm>
              <a:off x="880066" y="3634859"/>
              <a:ext cx="1342601" cy="179672"/>
            </a:xfrm>
            <a:prstGeom prst="roundRect">
              <a:avLst>
                <a:gd name="adj" fmla="val 9450"/>
              </a:avLst>
            </a:prstGeom>
            <a:grpFill/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 err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复配顺序</a:t>
              </a:r>
              <a:endParaRPr lang="en-US" sz="105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1" name="Rectangle: Rounded Corners 90">
              <a:extLst>
                <a:ext uri="{FF2B5EF4-FFF2-40B4-BE49-F238E27FC236}">
                  <a16:creationId xmlns:a16="http://schemas.microsoft.com/office/drawing/2014/main" id="{2D6E679F-3B28-30CD-D0EA-CE2F00784B6B}"/>
                </a:ext>
              </a:extLst>
            </p:cNvPr>
            <p:cNvSpPr/>
            <p:nvPr/>
          </p:nvSpPr>
          <p:spPr>
            <a:xfrm>
              <a:off x="880066" y="3877095"/>
              <a:ext cx="1342601" cy="179672"/>
            </a:xfrm>
            <a:prstGeom prst="roundRect">
              <a:avLst>
                <a:gd name="adj" fmla="val 9450"/>
              </a:avLst>
            </a:prstGeom>
            <a:grpFill/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 err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目标</a:t>
              </a:r>
              <a:r>
                <a:rPr lang="en-US" sz="105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Mw</a:t>
              </a:r>
            </a:p>
          </p:txBody>
        </p: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BC24BF8F-4789-9348-DA46-1613014F6C3A}"/>
              </a:ext>
            </a:extLst>
          </p:cNvPr>
          <p:cNvGrpSpPr/>
          <p:nvPr/>
        </p:nvGrpSpPr>
        <p:grpSpPr>
          <a:xfrm>
            <a:off x="10219470" y="3206270"/>
            <a:ext cx="1332941" cy="968852"/>
            <a:chOff x="880066" y="3150387"/>
            <a:chExt cx="1342602" cy="906380"/>
          </a:xfrm>
          <a:solidFill>
            <a:schemeClr val="tx2">
              <a:lumMod val="20000"/>
              <a:lumOff val="80000"/>
            </a:schemeClr>
          </a:solidFill>
        </p:grpSpPr>
        <p:sp>
          <p:nvSpPr>
            <p:cNvPr id="100" name="Rectangle: Rounded Corners 99">
              <a:extLst>
                <a:ext uri="{FF2B5EF4-FFF2-40B4-BE49-F238E27FC236}">
                  <a16:creationId xmlns:a16="http://schemas.microsoft.com/office/drawing/2014/main" id="{1F109480-E381-137B-CBB8-19EB1B452CDA}"/>
                </a:ext>
              </a:extLst>
            </p:cNvPr>
            <p:cNvSpPr/>
            <p:nvPr/>
          </p:nvSpPr>
          <p:spPr>
            <a:xfrm>
              <a:off x="880067" y="3150387"/>
              <a:ext cx="1342601" cy="179672"/>
            </a:xfrm>
            <a:prstGeom prst="roundRect">
              <a:avLst>
                <a:gd name="adj" fmla="val 9450"/>
              </a:avLst>
            </a:prstGeom>
            <a:grpFill/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 err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粉碎粒度</a:t>
              </a:r>
              <a:endParaRPr lang="en-US" sz="105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1" name="Rectangle: Rounded Corners 100">
              <a:extLst>
                <a:ext uri="{FF2B5EF4-FFF2-40B4-BE49-F238E27FC236}">
                  <a16:creationId xmlns:a16="http://schemas.microsoft.com/office/drawing/2014/main" id="{35B628B7-B844-61EF-F4B9-381F640A5D97}"/>
                </a:ext>
              </a:extLst>
            </p:cNvPr>
            <p:cNvSpPr/>
            <p:nvPr/>
          </p:nvSpPr>
          <p:spPr>
            <a:xfrm>
              <a:off x="880067" y="3392623"/>
              <a:ext cx="1342601" cy="179672"/>
            </a:xfrm>
            <a:prstGeom prst="roundRect">
              <a:avLst>
                <a:gd name="adj" fmla="val 9450"/>
              </a:avLst>
            </a:prstGeom>
            <a:grpFill/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 err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筛分标准</a:t>
              </a:r>
              <a:endParaRPr lang="en-US" sz="105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2" name="Rectangle: Rounded Corners 101">
              <a:extLst>
                <a:ext uri="{FF2B5EF4-FFF2-40B4-BE49-F238E27FC236}">
                  <a16:creationId xmlns:a16="http://schemas.microsoft.com/office/drawing/2014/main" id="{B5C2D360-10CC-BEA6-A74C-DB40406DBA8D}"/>
                </a:ext>
              </a:extLst>
            </p:cNvPr>
            <p:cNvSpPr/>
            <p:nvPr/>
          </p:nvSpPr>
          <p:spPr>
            <a:xfrm>
              <a:off x="880066" y="3634859"/>
              <a:ext cx="1342601" cy="179672"/>
            </a:xfrm>
            <a:prstGeom prst="roundRect">
              <a:avLst>
                <a:gd name="adj" fmla="val 9450"/>
              </a:avLst>
            </a:prstGeom>
            <a:grpFill/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 err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检测方法</a:t>
              </a:r>
              <a:endParaRPr lang="en-US" sz="105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3" name="Rectangle: Rounded Corners 102">
              <a:extLst>
                <a:ext uri="{FF2B5EF4-FFF2-40B4-BE49-F238E27FC236}">
                  <a16:creationId xmlns:a16="http://schemas.microsoft.com/office/drawing/2014/main" id="{6533988B-D956-4E69-D1BA-FF58D176ADB1}"/>
                </a:ext>
              </a:extLst>
            </p:cNvPr>
            <p:cNvSpPr/>
            <p:nvPr/>
          </p:nvSpPr>
          <p:spPr>
            <a:xfrm>
              <a:off x="880066" y="3877095"/>
              <a:ext cx="1342601" cy="179672"/>
            </a:xfrm>
            <a:prstGeom prst="roundRect">
              <a:avLst>
                <a:gd name="adj" fmla="val 9450"/>
              </a:avLst>
            </a:prstGeom>
            <a:grpFill/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 err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入库判定标准</a:t>
              </a:r>
              <a:endParaRPr lang="en-US" sz="105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04" name="TextBox 103">
            <a:extLst>
              <a:ext uri="{FF2B5EF4-FFF2-40B4-BE49-F238E27FC236}">
                <a16:creationId xmlns:a16="http://schemas.microsoft.com/office/drawing/2014/main" id="{503360AB-CF4A-75A2-2F04-ED327AE2773A}"/>
              </a:ext>
            </a:extLst>
          </p:cNvPr>
          <p:cNvSpPr txBox="1"/>
          <p:nvPr/>
        </p:nvSpPr>
        <p:spPr>
          <a:xfrm>
            <a:off x="309318" y="4448053"/>
            <a:ext cx="5517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</a:t>
            </a:r>
            <a:endParaRPr lang="en-US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340B5A90-B41A-6527-81DC-C0C85130BA1E}"/>
              </a:ext>
            </a:extLst>
          </p:cNvPr>
          <p:cNvSpPr txBox="1"/>
          <p:nvPr/>
        </p:nvSpPr>
        <p:spPr>
          <a:xfrm>
            <a:off x="1116085" y="4453670"/>
            <a:ext cx="9190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胶原骨粒</a:t>
            </a:r>
            <a:endParaRPr 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40DBEABD-EFB6-B613-EA78-4B87D1EE016C}"/>
              </a:ext>
            </a:extLst>
          </p:cNvPr>
          <p:cNvSpPr txBox="1"/>
          <p:nvPr/>
        </p:nvSpPr>
        <p:spPr>
          <a:xfrm>
            <a:off x="2756634" y="4448117"/>
            <a:ext cx="9190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浸灰骨粒</a:t>
            </a:r>
            <a:endParaRPr 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C3304E78-3D87-69AC-70D5-08090E45496B}"/>
              </a:ext>
            </a:extLst>
          </p:cNvPr>
          <p:cNvSpPr txBox="1"/>
          <p:nvPr/>
        </p:nvSpPr>
        <p:spPr>
          <a:xfrm>
            <a:off x="4324808" y="4450820"/>
            <a:ext cx="9190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中和骨粒</a:t>
            </a:r>
            <a:endParaRPr 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8305AF3F-0DDA-42B4-243D-6EBD16506643}"/>
              </a:ext>
            </a:extLst>
          </p:cNvPr>
          <p:cNvSpPr txBox="1"/>
          <p:nvPr/>
        </p:nvSpPr>
        <p:spPr>
          <a:xfrm>
            <a:off x="5850321" y="4448053"/>
            <a:ext cx="9190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分道次胶液</a:t>
            </a:r>
            <a:endParaRPr 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5E4F6933-7207-16D0-65B0-4A587E1B9982}"/>
              </a:ext>
            </a:extLst>
          </p:cNvPr>
          <p:cNvSpPr txBox="1"/>
          <p:nvPr/>
        </p:nvSpPr>
        <p:spPr>
          <a:xfrm>
            <a:off x="7490870" y="4442500"/>
            <a:ext cx="9190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复配浓胶</a:t>
            </a:r>
            <a:endParaRPr 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8F0DB281-D03F-A417-82E7-3EA24FC1DF4F}"/>
              </a:ext>
            </a:extLst>
          </p:cNvPr>
          <p:cNvSpPr txBox="1"/>
          <p:nvPr/>
        </p:nvSpPr>
        <p:spPr>
          <a:xfrm>
            <a:off x="10258439" y="4448063"/>
            <a:ext cx="140912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成品明胶</a:t>
            </a:r>
            <a:r>
              <a:rPr 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/ </a:t>
            </a:r>
            <a:r>
              <a:rPr lang="en-US" sz="105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质检数据</a:t>
            </a:r>
            <a:endParaRPr 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2180148D-B469-DE25-B16C-042A6ED17C94}"/>
              </a:ext>
            </a:extLst>
          </p:cNvPr>
          <p:cNvCxnSpPr>
            <a:cxnSpLocks/>
          </p:cNvCxnSpPr>
          <p:nvPr/>
        </p:nvCxnSpPr>
        <p:spPr>
          <a:xfrm>
            <a:off x="428682" y="4891816"/>
            <a:ext cx="11162392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0E5E5782-CB19-D79B-7998-AE4955542833}"/>
              </a:ext>
            </a:extLst>
          </p:cNvPr>
          <p:cNvSpPr txBox="1"/>
          <p:nvPr/>
        </p:nvSpPr>
        <p:spPr>
          <a:xfrm>
            <a:off x="296088" y="5806274"/>
            <a:ext cx="5517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数据采集</a:t>
            </a:r>
            <a:endParaRPr lang="en-US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55F7C056-E79C-C685-BE67-6B666453179A}"/>
              </a:ext>
            </a:extLst>
          </p:cNvPr>
          <p:cNvSpPr/>
          <p:nvPr/>
        </p:nvSpPr>
        <p:spPr>
          <a:xfrm>
            <a:off x="933595" y="5806274"/>
            <a:ext cx="5178178" cy="46165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已有系统（待交流后细化）</a:t>
            </a:r>
            <a:endParaRPr 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105BC4D8-30C3-5623-1D78-0A078451774B}"/>
              </a:ext>
            </a:extLst>
          </p:cNvPr>
          <p:cNvSpPr/>
          <p:nvPr/>
        </p:nvSpPr>
        <p:spPr>
          <a:xfrm>
            <a:off x="6346899" y="5806280"/>
            <a:ext cx="5226586" cy="46165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已有设备（待交流后细化）</a:t>
            </a:r>
            <a:endParaRPr 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7" name="Text 0">
            <a:extLst>
              <a:ext uri="{FF2B5EF4-FFF2-40B4-BE49-F238E27FC236}">
                <a16:creationId xmlns:a16="http://schemas.microsoft.com/office/drawing/2014/main" id="{A1C08739-9CB5-FE43-A71E-145FD50A4B55}"/>
              </a:ext>
            </a:extLst>
          </p:cNvPr>
          <p:cNvSpPr/>
          <p:nvPr/>
        </p:nvSpPr>
        <p:spPr>
          <a:xfrm>
            <a:off x="502920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22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 </a:t>
            </a:r>
            <a:r>
              <a:rPr lang="zh-CN" altLang="en-US" sz="22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应用开发</a:t>
            </a:r>
            <a:endParaRPr lang="en-US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D0B6A674-956B-50A1-D987-9EDF56CDDB2D}"/>
              </a:ext>
            </a:extLst>
          </p:cNvPr>
          <p:cNvCxnSpPr>
            <a:cxnSpLocks/>
          </p:cNvCxnSpPr>
          <p:nvPr/>
        </p:nvCxnSpPr>
        <p:spPr>
          <a:xfrm>
            <a:off x="432634" y="5604056"/>
            <a:ext cx="11162392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TextBox 118">
            <a:extLst>
              <a:ext uri="{FF2B5EF4-FFF2-40B4-BE49-F238E27FC236}">
                <a16:creationId xmlns:a16="http://schemas.microsoft.com/office/drawing/2014/main" id="{CFA6B5F1-8404-EECC-B0BC-9B97275A2AF8}"/>
              </a:ext>
            </a:extLst>
          </p:cNvPr>
          <p:cNvSpPr txBox="1"/>
          <p:nvPr/>
        </p:nvSpPr>
        <p:spPr>
          <a:xfrm>
            <a:off x="861087" y="4929679"/>
            <a:ext cx="1446449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05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原料洁净度</a:t>
            </a:r>
            <a:endParaRPr 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05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骨粒规格一致性</a:t>
            </a:r>
            <a:endParaRPr 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05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脱脂</a:t>
            </a:r>
            <a:r>
              <a:rPr 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sz="105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脱矿充分性</a:t>
            </a:r>
            <a:endParaRPr 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E2BAEC47-AA91-CB57-526C-3804330B13A7}"/>
              </a:ext>
            </a:extLst>
          </p:cNvPr>
          <p:cNvSpPr txBox="1"/>
          <p:nvPr/>
        </p:nvSpPr>
        <p:spPr>
          <a:xfrm>
            <a:off x="2429199" y="4986335"/>
            <a:ext cx="151077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05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断链可控性</a:t>
            </a:r>
            <a:endParaRPr 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05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分子量基础稳定性</a:t>
            </a:r>
            <a:endParaRPr 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B36A2819-F8A8-8F4E-CF1A-E56DE53B78DD}"/>
              </a:ext>
            </a:extLst>
          </p:cNvPr>
          <p:cNvSpPr txBox="1"/>
          <p:nvPr/>
        </p:nvSpPr>
        <p:spPr>
          <a:xfrm>
            <a:off x="4086386" y="4929679"/>
            <a:ext cx="1200384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pH </a:t>
            </a:r>
            <a:r>
              <a:rPr lang="en-US" sz="105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稳定性</a:t>
            </a:r>
            <a:endParaRPr 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05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透明度</a:t>
            </a:r>
            <a:endParaRPr 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05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残留离子控制</a:t>
            </a:r>
            <a:endParaRPr 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5FB2CFFE-A056-8331-BEA9-68E0B76A5752}"/>
              </a:ext>
            </a:extLst>
          </p:cNvPr>
          <p:cNvSpPr txBox="1"/>
          <p:nvPr/>
        </p:nvSpPr>
        <p:spPr>
          <a:xfrm>
            <a:off x="5518191" y="4929678"/>
            <a:ext cx="1409128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Mw </a:t>
            </a:r>
            <a:r>
              <a:rPr lang="en-US" sz="105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分级准确性</a:t>
            </a:r>
            <a:endParaRPr 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05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黏度</a:t>
            </a:r>
            <a:r>
              <a:rPr 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sz="105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冻力稳定性</a:t>
            </a:r>
            <a:endParaRPr 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05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出胶率</a:t>
            </a:r>
            <a:endParaRPr 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E6AD0BCC-8DB5-5DF9-00FE-CC8D4D9A33B2}"/>
              </a:ext>
            </a:extLst>
          </p:cNvPr>
          <p:cNvSpPr txBox="1"/>
          <p:nvPr/>
        </p:nvSpPr>
        <p:spPr>
          <a:xfrm>
            <a:off x="7160493" y="4978728"/>
            <a:ext cx="1510774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05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目标</a:t>
            </a:r>
            <a:r>
              <a:rPr 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Mw </a:t>
            </a:r>
            <a:r>
              <a:rPr lang="en-US" sz="105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达成率</a:t>
            </a:r>
            <a:endParaRPr 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05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固含量稳定性</a:t>
            </a:r>
            <a:endParaRPr 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05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产出预测偏差</a:t>
            </a:r>
            <a:endParaRPr 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4A2567E4-0AEC-75C7-4D34-00DDB7B99619}"/>
              </a:ext>
            </a:extLst>
          </p:cNvPr>
          <p:cNvSpPr txBox="1"/>
          <p:nvPr/>
        </p:nvSpPr>
        <p:spPr>
          <a:xfrm>
            <a:off x="10249485" y="4922071"/>
            <a:ext cx="1409128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05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成品一致性</a:t>
            </a:r>
            <a:endParaRPr 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05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质检准确性</a:t>
            </a:r>
            <a:endParaRPr 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05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异常追溯完整性</a:t>
            </a:r>
            <a:endParaRPr 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51BA264A-03DB-FA1A-C693-6E822A852C94}"/>
              </a:ext>
            </a:extLst>
          </p:cNvPr>
          <p:cNvSpPr txBox="1"/>
          <p:nvPr/>
        </p:nvSpPr>
        <p:spPr>
          <a:xfrm>
            <a:off x="312951" y="5003955"/>
            <a:ext cx="5517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关键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指标</a:t>
            </a:r>
            <a:endParaRPr lang="en-US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525969D7-7E3D-D575-E71B-D5A54ECB9C5A}"/>
              </a:ext>
            </a:extLst>
          </p:cNvPr>
          <p:cNvSpPr txBox="1"/>
          <p:nvPr/>
        </p:nvSpPr>
        <p:spPr>
          <a:xfrm>
            <a:off x="8785322" y="2574389"/>
            <a:ext cx="134260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复配后的浓胶</a:t>
            </a:r>
            <a:endParaRPr 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1A7D6E0B-2698-2B47-93E6-60AA38B16016}"/>
              </a:ext>
            </a:extLst>
          </p:cNvPr>
          <p:cNvGrpSpPr/>
          <p:nvPr/>
        </p:nvGrpSpPr>
        <p:grpSpPr>
          <a:xfrm>
            <a:off x="8674030" y="3202115"/>
            <a:ext cx="1337980" cy="973006"/>
            <a:chOff x="8645028" y="3035794"/>
            <a:chExt cx="1337980" cy="870321"/>
          </a:xfrm>
        </p:grpSpPr>
        <p:grpSp>
          <p:nvGrpSpPr>
            <p:cNvPr id="144" name="Group 143">
              <a:extLst>
                <a:ext uri="{FF2B5EF4-FFF2-40B4-BE49-F238E27FC236}">
                  <a16:creationId xmlns:a16="http://schemas.microsoft.com/office/drawing/2014/main" id="{3051ABA7-E73A-F8FA-BA70-C98CFE1A3E0D}"/>
                </a:ext>
              </a:extLst>
            </p:cNvPr>
            <p:cNvGrpSpPr/>
            <p:nvPr/>
          </p:nvGrpSpPr>
          <p:grpSpPr>
            <a:xfrm>
              <a:off x="8645028" y="3035794"/>
              <a:ext cx="1332941" cy="683550"/>
              <a:chOff x="880066" y="3150387"/>
              <a:chExt cx="1342602" cy="906380"/>
            </a:xfrm>
            <a:solidFill>
              <a:schemeClr val="tx2">
                <a:lumMod val="20000"/>
                <a:lumOff val="80000"/>
              </a:schemeClr>
            </a:solidFill>
          </p:grpSpPr>
          <p:sp>
            <p:nvSpPr>
              <p:cNvPr id="146" name="Rectangle: Rounded Corners 145">
                <a:extLst>
                  <a:ext uri="{FF2B5EF4-FFF2-40B4-BE49-F238E27FC236}">
                    <a16:creationId xmlns:a16="http://schemas.microsoft.com/office/drawing/2014/main" id="{28F0EB10-B1B6-1E78-1AA6-A9A4EDA4FAFE}"/>
                  </a:ext>
                </a:extLst>
              </p:cNvPr>
              <p:cNvSpPr/>
              <p:nvPr/>
            </p:nvSpPr>
            <p:spPr>
              <a:xfrm>
                <a:off x="880067" y="3150387"/>
                <a:ext cx="1342601" cy="179672"/>
              </a:xfrm>
              <a:prstGeom prst="roundRect">
                <a:avLst>
                  <a:gd name="adj" fmla="val 9450"/>
                </a:avLst>
              </a:prstGeom>
              <a:grpFill/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 err="1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冷却温度</a:t>
                </a:r>
                <a:endParaRPr lang="en-US" sz="105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7" name="Rectangle: Rounded Corners 146">
                <a:extLst>
                  <a:ext uri="{FF2B5EF4-FFF2-40B4-BE49-F238E27FC236}">
                    <a16:creationId xmlns:a16="http://schemas.microsoft.com/office/drawing/2014/main" id="{5814BAF8-09B4-222D-63EE-1C132FFDF4CE}"/>
                  </a:ext>
                </a:extLst>
              </p:cNvPr>
              <p:cNvSpPr/>
              <p:nvPr/>
            </p:nvSpPr>
            <p:spPr>
              <a:xfrm>
                <a:off x="880067" y="3392623"/>
                <a:ext cx="1342601" cy="179672"/>
              </a:xfrm>
              <a:prstGeom prst="roundRect">
                <a:avLst>
                  <a:gd name="adj" fmla="val 9450"/>
                </a:avLst>
              </a:prstGeom>
              <a:grpFill/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 err="1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凝胶时间</a:t>
                </a:r>
                <a:endParaRPr lang="en-US" sz="105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8" name="Rectangle: Rounded Corners 147">
                <a:extLst>
                  <a:ext uri="{FF2B5EF4-FFF2-40B4-BE49-F238E27FC236}">
                    <a16:creationId xmlns:a16="http://schemas.microsoft.com/office/drawing/2014/main" id="{D3BF9B7E-3186-8577-6E5B-3A0E9DBEC9D9}"/>
                  </a:ext>
                </a:extLst>
              </p:cNvPr>
              <p:cNvSpPr/>
              <p:nvPr/>
            </p:nvSpPr>
            <p:spPr>
              <a:xfrm>
                <a:off x="880066" y="3634859"/>
                <a:ext cx="1342601" cy="179672"/>
              </a:xfrm>
              <a:prstGeom prst="roundRect">
                <a:avLst>
                  <a:gd name="adj" fmla="val 9450"/>
                </a:avLst>
              </a:prstGeom>
              <a:grpFill/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 err="1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干燥温度</a:t>
                </a:r>
                <a:endParaRPr lang="en-US" sz="105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9" name="Rectangle: Rounded Corners 148">
                <a:extLst>
                  <a:ext uri="{FF2B5EF4-FFF2-40B4-BE49-F238E27FC236}">
                    <a16:creationId xmlns:a16="http://schemas.microsoft.com/office/drawing/2014/main" id="{54BBAEB6-2E85-F9E7-7B88-0E2EC55C1094}"/>
                  </a:ext>
                </a:extLst>
              </p:cNvPr>
              <p:cNvSpPr/>
              <p:nvPr/>
            </p:nvSpPr>
            <p:spPr>
              <a:xfrm>
                <a:off x="880066" y="3877095"/>
                <a:ext cx="1342601" cy="179672"/>
              </a:xfrm>
              <a:prstGeom prst="roundRect">
                <a:avLst>
                  <a:gd name="adj" fmla="val 9450"/>
                </a:avLst>
              </a:prstGeom>
              <a:grpFill/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 err="1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干燥时间</a:t>
                </a:r>
                <a:endParaRPr lang="en-US" sz="105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45" name="Rectangle: Rounded Corners 144">
              <a:extLst>
                <a:ext uri="{FF2B5EF4-FFF2-40B4-BE49-F238E27FC236}">
                  <a16:creationId xmlns:a16="http://schemas.microsoft.com/office/drawing/2014/main" id="{5FBF819B-D80C-12EF-BF68-B4E1ED38ABA9}"/>
                </a:ext>
              </a:extLst>
            </p:cNvPr>
            <p:cNvSpPr/>
            <p:nvPr/>
          </p:nvSpPr>
          <p:spPr>
            <a:xfrm>
              <a:off x="8650068" y="3770615"/>
              <a:ext cx="1332940" cy="135500"/>
            </a:xfrm>
            <a:prstGeom prst="roundRect">
              <a:avLst>
                <a:gd name="adj" fmla="val 9450"/>
              </a:avLst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 err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目标水分</a:t>
              </a:r>
              <a:endParaRPr lang="en-US" sz="105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50" name="TextBox 149">
            <a:extLst>
              <a:ext uri="{FF2B5EF4-FFF2-40B4-BE49-F238E27FC236}">
                <a16:creationId xmlns:a16="http://schemas.microsoft.com/office/drawing/2014/main" id="{20594AED-1FF8-E7F6-0346-E6DA70FFFE93}"/>
              </a:ext>
            </a:extLst>
          </p:cNvPr>
          <p:cNvSpPr txBox="1"/>
          <p:nvPr/>
        </p:nvSpPr>
        <p:spPr>
          <a:xfrm>
            <a:off x="8973421" y="4445203"/>
            <a:ext cx="9190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干燥明胶</a:t>
            </a:r>
            <a:endParaRPr 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55759F1B-05F8-8D71-B8EA-8DEAD0C7326D}"/>
              </a:ext>
            </a:extLst>
          </p:cNvPr>
          <p:cNvSpPr txBox="1"/>
          <p:nvPr/>
        </p:nvSpPr>
        <p:spPr>
          <a:xfrm>
            <a:off x="8817680" y="4922072"/>
            <a:ext cx="1200384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05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成型稳定性</a:t>
            </a:r>
            <a:endParaRPr 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05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水分达标率</a:t>
            </a:r>
            <a:endParaRPr 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05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产出偏差</a:t>
            </a:r>
            <a:endParaRPr 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44252E5C-9550-6B71-0876-3C4A78F1F5BC}"/>
              </a:ext>
            </a:extLst>
          </p:cNvPr>
          <p:cNvSpPr/>
          <p:nvPr/>
        </p:nvSpPr>
        <p:spPr>
          <a:xfrm>
            <a:off x="92598" y="1145894"/>
            <a:ext cx="11666768" cy="5328058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3" name="Shape 23">
            <a:extLst>
              <a:ext uri="{FF2B5EF4-FFF2-40B4-BE49-F238E27FC236}">
                <a16:creationId xmlns:a16="http://schemas.microsoft.com/office/drawing/2014/main" id="{42B0F389-13D7-62E3-7509-1ADFB28E61BB}"/>
              </a:ext>
            </a:extLst>
          </p:cNvPr>
          <p:cNvSpPr/>
          <p:nvPr/>
        </p:nvSpPr>
        <p:spPr>
          <a:xfrm>
            <a:off x="8616075" y="1275839"/>
            <a:ext cx="1400555" cy="987526"/>
          </a:xfrm>
          <a:prstGeom prst="roundRect">
            <a:avLst>
              <a:gd name="adj" fmla="val 10526"/>
            </a:avLst>
          </a:prstGeom>
          <a:noFill/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4" name="Text 24">
            <a:extLst>
              <a:ext uri="{FF2B5EF4-FFF2-40B4-BE49-F238E27FC236}">
                <a16:creationId xmlns:a16="http://schemas.microsoft.com/office/drawing/2014/main" id="{24791BEE-EF59-018E-C14C-CF305819C644}"/>
              </a:ext>
            </a:extLst>
          </p:cNvPr>
          <p:cNvSpPr/>
          <p:nvPr/>
        </p:nvSpPr>
        <p:spPr>
          <a:xfrm>
            <a:off x="8674030" y="1442159"/>
            <a:ext cx="1284648" cy="187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凝胶干燥</a:t>
            </a: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5" name="Text 25">
            <a:extLst>
              <a:ext uri="{FF2B5EF4-FFF2-40B4-BE49-F238E27FC236}">
                <a16:creationId xmlns:a16="http://schemas.microsoft.com/office/drawing/2014/main" id="{E18C7969-3C97-6D66-B3FD-58B474AD3E61}"/>
              </a:ext>
            </a:extLst>
          </p:cNvPr>
          <p:cNvSpPr/>
          <p:nvPr/>
        </p:nvSpPr>
        <p:spPr>
          <a:xfrm>
            <a:off x="8674030" y="1774798"/>
            <a:ext cx="1342602" cy="3187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000" b="1" dirty="0" err="1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胶液成型并脱水干燥，是质量与产出偏差的集中显现点</a:t>
            </a:r>
            <a:endParaRPr lang="en-US" sz="1000" b="1" dirty="0">
              <a:solidFill>
                <a:srgbClr val="5E6B7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6" name="矩形标注 5">
            <a:extLst>
              <a:ext uri="{FF2B5EF4-FFF2-40B4-BE49-F238E27FC236}">
                <a16:creationId xmlns:a16="http://schemas.microsoft.com/office/drawing/2014/main" id="{0F95BB97-6EDA-AF32-3728-6ED0CC06549A}"/>
              </a:ext>
            </a:extLst>
          </p:cNvPr>
          <p:cNvSpPr/>
          <p:nvPr/>
        </p:nvSpPr>
        <p:spPr>
          <a:xfrm rot="5400000">
            <a:off x="5380436" y="-332957"/>
            <a:ext cx="2628847" cy="8752912"/>
          </a:xfrm>
          <a:prstGeom prst="wedgeRectCallout">
            <a:avLst>
              <a:gd name="adj1" fmla="val -66107"/>
              <a:gd name="adj2" fmla="val -31448"/>
            </a:avLst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92898355-73B7-0BE5-0164-5E4B47CA568B}"/>
              </a:ext>
            </a:extLst>
          </p:cNvPr>
          <p:cNvGrpSpPr/>
          <p:nvPr/>
        </p:nvGrpSpPr>
        <p:grpSpPr>
          <a:xfrm>
            <a:off x="2594358" y="3048143"/>
            <a:ext cx="1973341" cy="2028400"/>
            <a:chOff x="2467291" y="3398326"/>
            <a:chExt cx="1825541" cy="1605629"/>
          </a:xfrm>
        </p:grpSpPr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6E50EBC4-8CD2-AC7B-2C00-203EB4591447}"/>
                </a:ext>
              </a:extLst>
            </p:cNvPr>
            <p:cNvSpPr/>
            <p:nvPr/>
          </p:nvSpPr>
          <p:spPr>
            <a:xfrm>
              <a:off x="2467291" y="3419395"/>
              <a:ext cx="1824673" cy="15845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410FCF2A-C36D-772F-A222-88EA66CB8106}"/>
                </a:ext>
              </a:extLst>
            </p:cNvPr>
            <p:cNvSpPr txBox="1"/>
            <p:nvPr/>
          </p:nvSpPr>
          <p:spPr>
            <a:xfrm>
              <a:off x="2573953" y="4033634"/>
              <a:ext cx="1622984" cy="5116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胶液重量、Mw、黏度、固含量等信息由</a:t>
              </a:r>
              <a:r>
                <a:rPr lang="zh-CN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人工判断</a:t>
              </a:r>
              <a:r>
                <a:rPr lang="zh-CN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，复配比例依赖经验</a:t>
              </a:r>
              <a:endParaRPr kumimoji="1"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B495CC77-BF4F-3191-EA7F-3765D79AF740}"/>
                </a:ext>
              </a:extLst>
            </p:cNvPr>
            <p:cNvSpPr/>
            <p:nvPr/>
          </p:nvSpPr>
          <p:spPr>
            <a:xfrm>
              <a:off x="2468159" y="3398326"/>
              <a:ext cx="1824673" cy="325808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现有做法（例）</a:t>
              </a:r>
              <a:endParaRPr 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E22AAA77-1516-8CC2-B3CD-35E83FEDC113}"/>
              </a:ext>
            </a:extLst>
          </p:cNvPr>
          <p:cNvGrpSpPr/>
          <p:nvPr/>
        </p:nvGrpSpPr>
        <p:grpSpPr>
          <a:xfrm>
            <a:off x="5345373" y="3039650"/>
            <a:ext cx="2216251" cy="2055100"/>
            <a:chOff x="4990389" y="3043398"/>
            <a:chExt cx="2216251" cy="2055100"/>
          </a:xfrm>
        </p:grpSpPr>
        <p:sp>
          <p:nvSpPr>
            <p:cNvPr id="170" name="Rectangle 169">
              <a:extLst>
                <a:ext uri="{FF2B5EF4-FFF2-40B4-BE49-F238E27FC236}">
                  <a16:creationId xmlns:a16="http://schemas.microsoft.com/office/drawing/2014/main" id="{31DAD681-92F5-18D7-5094-21592AB81876}"/>
                </a:ext>
              </a:extLst>
            </p:cNvPr>
            <p:cNvSpPr/>
            <p:nvPr/>
          </p:nvSpPr>
          <p:spPr>
            <a:xfrm>
              <a:off x="4990389" y="3125076"/>
              <a:ext cx="2127142" cy="19514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1" name="TextBox 170">
                  <a:extLst>
                    <a:ext uri="{FF2B5EF4-FFF2-40B4-BE49-F238E27FC236}">
                      <a16:creationId xmlns:a16="http://schemas.microsoft.com/office/drawing/2014/main" id="{81BDCAF2-6FDB-C5A2-7339-ACE74AFC4BCB}"/>
                    </a:ext>
                  </a:extLst>
                </p:cNvPr>
                <p:cNvSpPr txBox="1"/>
                <p:nvPr/>
              </p:nvSpPr>
              <p:spPr>
                <a:xfrm>
                  <a:off x="5128336" y="3478246"/>
                  <a:ext cx="2078304" cy="162025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zh-CN" sz="12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复配后分子量</a:t>
                  </a:r>
                  <a:r>
                    <a:rPr lang="zh-CN" altLang="en-US" sz="12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：</a:t>
                  </a:r>
                  <a:endParaRPr kumimoji="1" lang="en" altLang="zh-CN" sz="1200" i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" altLang="zh-CN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" altLang="zh-CN" sz="1200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kumimoji="1" lang="en" altLang="zh-CN" sz="12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  <m:r>
                              <a:rPr kumimoji="1" lang="en" altLang="zh-CN" sz="12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kumimoji="1" lang="en" altLang="zh-CN" sz="1200" i="1">
                                <a:latin typeface="Cambria Math" panose="02040503050406030204" pitchFamily="18" charset="0"/>
                              </a:rPr>
                              <m:t>𝑚𝑖𝑥</m:t>
                            </m:r>
                          </m:sub>
                        </m:sSub>
                        <m:r>
                          <a:rPr kumimoji="1" lang="en" altLang="zh-CN" sz="1200" i="1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kumimoji="1" lang="en" altLang="zh-CN" sz="1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nary>
                              <m:naryPr>
                                <m:chr m:val="∑"/>
                                <m:ctrlPr>
                                  <a:rPr kumimoji="1" lang="en" altLang="zh-CN" sz="12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kumimoji="1" lang="en" altLang="zh-CN" sz="12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kumimoji="1" lang="en" altLang="zh-CN" sz="1200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kumimoji="1" lang="en" altLang="zh-CN" sz="12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  <m:e>
                                <m:r>
                                  <a:rPr kumimoji="1" lang="en-US" altLang="zh-CN" sz="12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nary>
                            <m:sSub>
                              <m:sSubPr>
                                <m:ctrlPr>
                                  <a:rPr kumimoji="1" lang="en" altLang="zh-CN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" altLang="zh-CN" sz="1200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kumimoji="1" lang="en" altLang="zh-CN" sz="12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kumimoji="1" lang="en" altLang="zh-CN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" altLang="zh-CN" sz="1200" i="1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  <m:sub>
                                <m:r>
                                  <a:rPr kumimoji="1" lang="en" altLang="zh-CN" sz="1200" i="1">
                                    <a:latin typeface="Cambria Math" panose="02040503050406030204" pitchFamily="18" charset="0"/>
                                  </a:rPr>
                                  <m:t>𝑤𝑖</m:t>
                                </m:r>
                              </m:sub>
                            </m:sSub>
                          </m:num>
                          <m:den>
                            <m:nary>
                              <m:naryPr>
                                <m:chr m:val="∑"/>
                                <m:ctrlPr>
                                  <a:rPr kumimoji="1" lang="en" altLang="zh-CN" sz="12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kumimoji="1" lang="en" altLang="zh-CN" sz="12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kumimoji="1" lang="en" altLang="zh-CN" sz="1200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kumimoji="1" lang="en" altLang="zh-CN" sz="12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  <m:e>
                                <m:r>
                                  <a:rPr kumimoji="1" lang="en-US" altLang="zh-CN" sz="12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nary>
                            <m:sSub>
                              <m:sSubPr>
                                <m:ctrlPr>
                                  <a:rPr kumimoji="1" lang="en" altLang="zh-CN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" altLang="zh-CN" sz="1200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kumimoji="1" lang="en" altLang="zh-CN" sz="12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endParaRPr kumimoji="1" lang="en-US" altLang="zh-CN" sz="12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r>
                    <a:rPr lang="zh-CN" altLang="zh-CN" sz="12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黏度法估算 Mw 公式</a:t>
                  </a:r>
                  <a:r>
                    <a:rPr lang="en-US" altLang="zh-CN" sz="12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:</a:t>
                  </a:r>
                </a:p>
                <a:p>
                  <a:endParaRPr kumimoji="1" lang="en-US" altLang="zh-CN" sz="12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kumimoji="1" lang="el-GR" altLang="zh-CN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l-GR" altLang="zh-CN" sz="1200" i="1">
                                <a:latin typeface="Cambria Math" panose="02040503050406030204" pitchFamily="18" charset="0"/>
                              </a:rPr>
                              <m:t>𝜂</m:t>
                            </m:r>
                          </m:e>
                        </m:d>
                        <m:r>
                          <a:rPr kumimoji="1" lang="el-GR" altLang="zh-CN" sz="12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kumimoji="1" lang="en-US" altLang="zh-CN" sz="1200" i="1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kumimoji="1" lang="en-US" altLang="zh-CN" sz="1200" i="1">
                            <a:latin typeface="Cambria Math" panose="02040503050406030204" pitchFamily="18" charset="0"/>
                          </a:rPr>
                          <m:t>×</m:t>
                        </m:r>
                        <m:sSubSup>
                          <m:sSubSupPr>
                            <m:ctrlPr>
                              <a:rPr kumimoji="1" lang="en-US" altLang="zh-CN" sz="12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kumimoji="1" lang="en-US" altLang="zh-CN" sz="1200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kumimoji="1" lang="en-US" altLang="zh-CN" sz="12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  <m:sup>
                            <m:r>
                              <a:rPr kumimoji="1" lang="en-US" altLang="zh-CN" sz="12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p>
                        </m:sSubSup>
                      </m:oMath>
                    </m:oMathPara>
                  </a14:m>
                  <a:endParaRPr kumimoji="1" lang="en-US" altLang="zh-CN" sz="12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r>
                    <a:rPr lang="zh-CN" altLang="zh-CN" sz="12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有效干基重量公式</a:t>
                  </a:r>
                  <a:endParaRPr lang="en-US" altLang="zh-CN" sz="12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200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kumimoji="1" lang="en-US" altLang="zh-CN" sz="12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kumimoji="1" lang="en-US" altLang="zh-CN" sz="12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kumimoji="1" lang="en-US" altLang="zh-CN" sz="1200" i="1">
                                <a:latin typeface="Cambria Math" panose="02040503050406030204" pitchFamily="18" charset="0"/>
                              </a:rPr>
                              <m:t>𝑒𝑓𝑓</m:t>
                            </m:r>
                          </m:sub>
                        </m:sSub>
                        <m:r>
                          <a:rPr kumimoji="1" lang="en-US" altLang="zh-CN" sz="1200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kumimoji="1" lang="en-US" altLang="zh-CN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200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kumimoji="1" lang="en-US" altLang="zh-CN" sz="12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kumimoji="1" lang="en-US" altLang="zh-CN" sz="1200" i="1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kumimoji="1" lang="en-US" altLang="zh-CN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2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kumimoji="1" lang="en-US" altLang="zh-CN" sz="12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1200" dirty="0"/>
                </a:p>
              </p:txBody>
            </p:sp>
          </mc:Choice>
          <mc:Fallback xmlns="">
            <p:sp>
              <p:nvSpPr>
                <p:cNvPr id="171" name="TextBox 170">
                  <a:extLst>
                    <a:ext uri="{FF2B5EF4-FFF2-40B4-BE49-F238E27FC236}">
                      <a16:creationId xmlns:a16="http://schemas.microsoft.com/office/drawing/2014/main" id="{81BDCAF2-6FDB-C5A2-7339-ACE74AFC4B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28336" y="3478246"/>
                  <a:ext cx="2078304" cy="1620252"/>
                </a:xfrm>
                <a:prstGeom prst="rect">
                  <a:avLst/>
                </a:prstGeom>
                <a:blipFill>
                  <a:blip r:embed="rId6"/>
                  <a:stretch>
                    <a:fillRect t="-563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2" name="Rectangle 171">
              <a:extLst>
                <a:ext uri="{FF2B5EF4-FFF2-40B4-BE49-F238E27FC236}">
                  <a16:creationId xmlns:a16="http://schemas.microsoft.com/office/drawing/2014/main" id="{2674A2D3-993A-A4BF-792D-FAC3D33467C5}"/>
                </a:ext>
              </a:extLst>
            </p:cNvPr>
            <p:cNvSpPr/>
            <p:nvPr/>
          </p:nvSpPr>
          <p:spPr>
            <a:xfrm>
              <a:off x="4991257" y="3043398"/>
              <a:ext cx="2126340" cy="421804"/>
            </a:xfrm>
            <a:prstGeom prst="rect">
              <a:avLst/>
            </a:prstGeom>
            <a:solidFill>
              <a:srgbClr val="0B2F4E"/>
            </a:solidFill>
            <a:ln>
              <a:solidFill>
                <a:srgbClr val="0B2F4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模型底座</a:t>
              </a:r>
            </a:p>
          </p:txBody>
        </p:sp>
      </p:grpSp>
      <p:sp>
        <p:nvSpPr>
          <p:cNvPr id="174" name="Isosceles Triangle 173">
            <a:extLst>
              <a:ext uri="{FF2B5EF4-FFF2-40B4-BE49-F238E27FC236}">
                <a16:creationId xmlns:a16="http://schemas.microsoft.com/office/drawing/2014/main" id="{44FF37FA-0E78-B07D-4179-A986FC1F6910}"/>
              </a:ext>
            </a:extLst>
          </p:cNvPr>
          <p:cNvSpPr/>
          <p:nvPr/>
        </p:nvSpPr>
        <p:spPr>
          <a:xfrm rot="5400000">
            <a:off x="4556758" y="3957434"/>
            <a:ext cx="827817" cy="160794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BBFAAAFF-4C94-7FD2-ABD3-A2F070E1D1FD}"/>
              </a:ext>
            </a:extLst>
          </p:cNvPr>
          <p:cNvGrpSpPr/>
          <p:nvPr/>
        </p:nvGrpSpPr>
        <p:grpSpPr>
          <a:xfrm>
            <a:off x="8240195" y="3121328"/>
            <a:ext cx="2167322" cy="1951467"/>
            <a:chOff x="4990389" y="3125076"/>
            <a:chExt cx="2167322" cy="1951467"/>
          </a:xfrm>
        </p:grpSpPr>
        <p:sp>
          <p:nvSpPr>
            <p:cNvPr id="176" name="Rectangle 175">
              <a:extLst>
                <a:ext uri="{FF2B5EF4-FFF2-40B4-BE49-F238E27FC236}">
                  <a16:creationId xmlns:a16="http://schemas.microsoft.com/office/drawing/2014/main" id="{9F8728BC-7EF6-7010-9D3C-1B4BEDF721D1}"/>
                </a:ext>
              </a:extLst>
            </p:cNvPr>
            <p:cNvSpPr/>
            <p:nvPr/>
          </p:nvSpPr>
          <p:spPr>
            <a:xfrm>
              <a:off x="4990389" y="3125076"/>
              <a:ext cx="2127142" cy="1951467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7" name="TextBox 176">
              <a:extLst>
                <a:ext uri="{FF2B5EF4-FFF2-40B4-BE49-F238E27FC236}">
                  <a16:creationId xmlns:a16="http://schemas.microsoft.com/office/drawing/2014/main" id="{0E695ACF-E098-849F-9ED5-34FB8CF715FF}"/>
                </a:ext>
              </a:extLst>
            </p:cNvPr>
            <p:cNvSpPr txBox="1"/>
            <p:nvPr/>
          </p:nvSpPr>
          <p:spPr>
            <a:xfrm>
              <a:off x="5079407" y="3851686"/>
              <a:ext cx="207830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公式后台代码化，AI自动计算复配结果并校正偏差，输出推荐复配比例、预测Mw、理论产出和质量风险提示</a:t>
              </a:r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80" name="Multiplication Sign 179">
            <a:extLst>
              <a:ext uri="{FF2B5EF4-FFF2-40B4-BE49-F238E27FC236}">
                <a16:creationId xmlns:a16="http://schemas.microsoft.com/office/drawing/2014/main" id="{14AED580-8A2B-9B66-6090-957A99CDE2D9}"/>
              </a:ext>
            </a:extLst>
          </p:cNvPr>
          <p:cNvSpPr/>
          <p:nvPr/>
        </p:nvSpPr>
        <p:spPr>
          <a:xfrm>
            <a:off x="7622930" y="3762076"/>
            <a:ext cx="471206" cy="482538"/>
          </a:xfrm>
          <a:prstGeom prst="mathMultiply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82" name="Graphic 181" descr="Artificial Intelligence with solid fill">
            <a:extLst>
              <a:ext uri="{FF2B5EF4-FFF2-40B4-BE49-F238E27FC236}">
                <a16:creationId xmlns:a16="http://schemas.microsoft.com/office/drawing/2014/main" id="{A199C9C8-F857-133F-A89B-FEA9143215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834766" y="3250572"/>
            <a:ext cx="288266" cy="288266"/>
          </a:xfrm>
          <a:prstGeom prst="rect">
            <a:avLst/>
          </a:prstGeom>
        </p:spPr>
      </p:pic>
      <p:sp>
        <p:nvSpPr>
          <p:cNvPr id="183" name="TextBox 182">
            <a:extLst>
              <a:ext uri="{FF2B5EF4-FFF2-40B4-BE49-F238E27FC236}">
                <a16:creationId xmlns:a16="http://schemas.microsoft.com/office/drawing/2014/main" id="{EF1685FE-2DBE-93C4-B7F8-CF77341C4916}"/>
              </a:ext>
            </a:extLst>
          </p:cNvPr>
          <p:cNvSpPr txBox="1"/>
          <p:nvPr/>
        </p:nvSpPr>
        <p:spPr>
          <a:xfrm>
            <a:off x="9029953" y="3232439"/>
            <a:ext cx="8626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赋能</a:t>
            </a:r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4917638D-76E4-D015-FBFE-6FB6E230EB6F}"/>
              </a:ext>
            </a:extLst>
          </p:cNvPr>
          <p:cNvSpPr/>
          <p:nvPr/>
        </p:nvSpPr>
        <p:spPr>
          <a:xfrm rot="1749523">
            <a:off x="9562323" y="3146957"/>
            <a:ext cx="1248400" cy="1811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初步设想，待讨论</a:t>
            </a:r>
            <a:endParaRPr lang="en-US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891077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2B98ECE5-AF1C-4872-8FF0-1C6380D902A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548659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3" progId="TCLayout.ActiveDocument.1">
                  <p:embed/>
                </p:oleObj>
              </mc:Choice>
              <mc:Fallback>
                <p:oleObj name="think-cell Slide" r:id="rId4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B98ECE5-AF1C-4872-8FF0-1C6380D902A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0">
            <a:extLst>
              <a:ext uri="{FF2B5EF4-FFF2-40B4-BE49-F238E27FC236}">
                <a16:creationId xmlns:a16="http://schemas.microsoft.com/office/drawing/2014/main" id="{C9B80EE4-33F9-9271-62A7-794E8A484A81}"/>
              </a:ext>
            </a:extLst>
          </p:cNvPr>
          <p:cNvSpPr/>
          <p:nvPr/>
        </p:nvSpPr>
        <p:spPr>
          <a:xfrm>
            <a:off x="502920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22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 </a:t>
            </a:r>
            <a:r>
              <a:rPr lang="zh-CN" altLang="en-US" sz="22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应用开发</a:t>
            </a:r>
            <a:endParaRPr lang="en-US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C008F1-00FB-2B8A-66AA-0D577FC5B8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92617" y="2083439"/>
            <a:ext cx="8564170" cy="291505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319A541-468F-6859-A69A-B823E0D29C53}"/>
              </a:ext>
            </a:extLst>
          </p:cNvPr>
          <p:cNvSpPr/>
          <p:nvPr/>
        </p:nvSpPr>
        <p:spPr>
          <a:xfrm>
            <a:off x="8310622" y="830247"/>
            <a:ext cx="2627453" cy="7439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我觉得这一页沿这几个步骤是否就可以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273301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F47BFCFA-8E24-2969-762A-584B31DA704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0144048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3" progId="TCLayout.ActiveDocument.1">
                  <p:embed/>
                </p:oleObj>
              </mc:Choice>
              <mc:Fallback>
                <p:oleObj name="think-cell Slide" r:id="rId4" imgW="473" imgH="473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47BFCFA-8E24-2969-762A-584B31DA704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0"/>
          <p:cNvSpPr/>
          <p:nvPr/>
        </p:nvSpPr>
        <p:spPr>
          <a:xfrm>
            <a:off x="502920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2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方案详解：</a:t>
            </a:r>
            <a:r>
              <a:rPr lang="en-US" sz="2200" b="1" dirty="0" err="1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凝胶</a:t>
            </a:r>
            <a:r>
              <a:rPr lang="en-US" sz="22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/复配智能计算与产出预测</a:t>
            </a:r>
            <a:endParaRPr lang="en-US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AA2EC7C1-0DBB-B58B-1BA0-06CB2AF1901A}"/>
              </a:ext>
            </a:extLst>
          </p:cNvPr>
          <p:cNvGrpSpPr/>
          <p:nvPr/>
        </p:nvGrpSpPr>
        <p:grpSpPr>
          <a:xfrm>
            <a:off x="524872" y="1204159"/>
            <a:ext cx="4761103" cy="707886"/>
            <a:chOff x="402209" y="1378844"/>
            <a:chExt cx="4761103" cy="707886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B3289527-8427-5F48-1DEA-5E3643FE9457}"/>
                </a:ext>
              </a:extLst>
            </p:cNvPr>
            <p:cNvSpPr txBox="1"/>
            <p:nvPr/>
          </p:nvSpPr>
          <p:spPr>
            <a:xfrm>
              <a:off x="402209" y="1378844"/>
              <a:ext cx="474471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F10E033C-0439-00C9-91C2-B29721A178AF}"/>
                </a:ext>
              </a:extLst>
            </p:cNvPr>
            <p:cNvSpPr txBox="1"/>
            <p:nvPr/>
          </p:nvSpPr>
          <p:spPr>
            <a:xfrm>
              <a:off x="783969" y="1473923"/>
              <a:ext cx="367228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输入：</a:t>
              </a:r>
              <a:r>
                <a:rPr lang="en-US" sz="1600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建立凝胶</a:t>
              </a:r>
              <a:r>
                <a:rPr 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en-US" sz="1600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复配计算的数据基础</a:t>
              </a:r>
              <a:endParaRPr 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743A79FB-4A42-6708-7F20-148ED9B7E300}"/>
                </a:ext>
              </a:extLst>
            </p:cNvPr>
            <p:cNvCxnSpPr>
              <a:cxnSpLocks/>
            </p:cNvCxnSpPr>
            <p:nvPr/>
          </p:nvCxnSpPr>
          <p:spPr>
            <a:xfrm>
              <a:off x="876680" y="1796682"/>
              <a:ext cx="4286632" cy="0"/>
            </a:xfrm>
            <a:prstGeom prst="line">
              <a:avLst/>
            </a:prstGeom>
            <a:ln w="444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79DD1977-5096-9F06-CEBA-2B9840D5281D}"/>
              </a:ext>
            </a:extLst>
          </p:cNvPr>
          <p:cNvGrpSpPr/>
          <p:nvPr/>
        </p:nvGrpSpPr>
        <p:grpSpPr>
          <a:xfrm>
            <a:off x="739882" y="1846139"/>
            <a:ext cx="4546093" cy="813813"/>
            <a:chOff x="617219" y="2020825"/>
            <a:chExt cx="4546093" cy="603502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332D1DF-9833-CD57-AB1A-72D3DC028BDE}"/>
                </a:ext>
              </a:extLst>
            </p:cNvPr>
            <p:cNvSpPr/>
            <p:nvPr/>
          </p:nvSpPr>
          <p:spPr>
            <a:xfrm>
              <a:off x="617219" y="2020825"/>
              <a:ext cx="4546093" cy="603502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223715FC-7412-5215-CF55-DC87F537B296}"/>
                </a:ext>
              </a:extLst>
            </p:cNvPr>
            <p:cNvSpPr/>
            <p:nvPr/>
          </p:nvSpPr>
          <p:spPr>
            <a:xfrm>
              <a:off x="617220" y="2020825"/>
              <a:ext cx="624840" cy="603502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关键动作</a:t>
              </a:r>
              <a:endParaRPr 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CA2F5738-6A97-9EB8-BF6A-0BF8DC18DD7B}"/>
              </a:ext>
            </a:extLst>
          </p:cNvPr>
          <p:cNvSpPr txBox="1"/>
          <p:nvPr/>
        </p:nvSpPr>
        <p:spPr>
          <a:xfrm>
            <a:off x="1429803" y="1921288"/>
            <a:ext cx="385617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采集批次胶液重量、道次、固含量、黏度、pH、GPC</a:t>
            </a:r>
            <a:r>
              <a:rPr 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分子量、提胶</a:t>
            </a:r>
            <a:r>
              <a:rPr 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浓缩</a:t>
            </a:r>
            <a:r>
              <a:rPr 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干燥参数等数据，并统一批次口径</a:t>
            </a: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83F50AD4-0E1A-6F8D-1197-D4FC8F7953D4}"/>
              </a:ext>
            </a:extLst>
          </p:cNvPr>
          <p:cNvGrpSpPr/>
          <p:nvPr/>
        </p:nvGrpSpPr>
        <p:grpSpPr>
          <a:xfrm>
            <a:off x="739881" y="2832628"/>
            <a:ext cx="4546093" cy="649224"/>
            <a:chOff x="739884" y="3007427"/>
            <a:chExt cx="4546093" cy="649224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D84A750C-B5A6-6C9D-3A1A-F3C49C65EAC7}"/>
                </a:ext>
              </a:extLst>
            </p:cNvPr>
            <p:cNvGrpSpPr/>
            <p:nvPr/>
          </p:nvGrpSpPr>
          <p:grpSpPr>
            <a:xfrm>
              <a:off x="739884" y="3007427"/>
              <a:ext cx="4546093" cy="649224"/>
              <a:chOff x="617219" y="2020825"/>
              <a:chExt cx="4546093" cy="603502"/>
            </a:xfrm>
          </p:grpSpPr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1AF8E014-43FE-35DF-53D0-ABD5FB7C061B}"/>
                  </a:ext>
                </a:extLst>
              </p:cNvPr>
              <p:cNvSpPr/>
              <p:nvPr/>
            </p:nvSpPr>
            <p:spPr>
              <a:xfrm>
                <a:off x="617219" y="2020825"/>
                <a:ext cx="4546093" cy="603502"/>
              </a:xfrm>
              <a:prstGeom prst="rect">
                <a:avLst/>
              </a:prstGeom>
              <a:solidFill>
                <a:schemeClr val="bg1">
                  <a:alpha val="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86D5BDE0-B887-A967-7CB0-472852A30319}"/>
                  </a:ext>
                </a:extLst>
              </p:cNvPr>
              <p:cNvSpPr/>
              <p:nvPr/>
            </p:nvSpPr>
            <p:spPr>
              <a:xfrm>
                <a:off x="617220" y="2020825"/>
                <a:ext cx="624840" cy="603502"/>
              </a:xfrm>
              <a:prstGeom prst="rect">
                <a:avLst/>
              </a:prstGeom>
              <a:solidFill>
                <a:srgbClr val="00206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输出</a:t>
                </a:r>
                <a:endParaRPr 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EDC0FA98-8277-5F7C-A69A-D31A10581A93}"/>
                </a:ext>
              </a:extLst>
            </p:cNvPr>
            <p:cNvSpPr txBox="1"/>
            <p:nvPr/>
          </p:nvSpPr>
          <p:spPr>
            <a:xfrm>
              <a:off x="1429806" y="3070429"/>
              <a:ext cx="3856171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Courier New" panose="02070309020205020404" pitchFamily="49" charset="0"/>
                <a:buChar char="o"/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形成“</a:t>
              </a:r>
              <a:r>
                <a:rPr lang="en-US" sz="1400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批次胶液档案</a:t>
              </a: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”，</a:t>
              </a:r>
              <a:r>
                <a:rPr lang="en-US" sz="1400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明确每批胶液的质量属性、工艺状态和可复配能力</a:t>
              </a:r>
              <a:endParaRPr 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6DC0DFC6-0001-6BDC-19A9-011CC5383F6A}"/>
              </a:ext>
            </a:extLst>
          </p:cNvPr>
          <p:cNvGrpSpPr/>
          <p:nvPr/>
        </p:nvGrpSpPr>
        <p:grpSpPr>
          <a:xfrm>
            <a:off x="524871" y="3725563"/>
            <a:ext cx="4761103" cy="707886"/>
            <a:chOff x="402209" y="1378844"/>
            <a:chExt cx="4761103" cy="707886"/>
          </a:xfrm>
        </p:grpSpPr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8552A6FF-3969-03BD-2768-00ABD9C7013B}"/>
                </a:ext>
              </a:extLst>
            </p:cNvPr>
            <p:cNvSpPr txBox="1"/>
            <p:nvPr/>
          </p:nvSpPr>
          <p:spPr>
            <a:xfrm>
              <a:off x="402209" y="1378844"/>
              <a:ext cx="474471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A95D584D-479E-C444-A0ED-25BD2C9B21D5}"/>
                </a:ext>
              </a:extLst>
            </p:cNvPr>
            <p:cNvSpPr txBox="1"/>
            <p:nvPr/>
          </p:nvSpPr>
          <p:spPr>
            <a:xfrm>
              <a:off x="783969" y="1473923"/>
              <a:ext cx="367228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计算：</a:t>
              </a:r>
              <a:r>
                <a:rPr lang="en-US" sz="1600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将人工经验转化为标准算法计算</a:t>
              </a:r>
              <a:endParaRPr 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74AE86DF-6CCA-85E8-C69F-43427B5BC3CB}"/>
                </a:ext>
              </a:extLst>
            </p:cNvPr>
            <p:cNvCxnSpPr>
              <a:cxnSpLocks/>
            </p:cNvCxnSpPr>
            <p:nvPr/>
          </p:nvCxnSpPr>
          <p:spPr>
            <a:xfrm>
              <a:off x="876680" y="1796682"/>
              <a:ext cx="4286632" cy="0"/>
            </a:xfrm>
            <a:prstGeom prst="line">
              <a:avLst/>
            </a:prstGeom>
            <a:ln w="444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12316B08-3E2A-7295-F621-F0B45EE0184F}"/>
              </a:ext>
            </a:extLst>
          </p:cNvPr>
          <p:cNvGrpSpPr/>
          <p:nvPr/>
        </p:nvGrpSpPr>
        <p:grpSpPr>
          <a:xfrm>
            <a:off x="739881" y="4367543"/>
            <a:ext cx="4546093" cy="1036848"/>
            <a:chOff x="617219" y="2020825"/>
            <a:chExt cx="4546093" cy="603502"/>
          </a:xfrm>
        </p:grpSpPr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6C759400-52DE-9475-600E-4C3EB1EC1941}"/>
                </a:ext>
              </a:extLst>
            </p:cNvPr>
            <p:cNvSpPr/>
            <p:nvPr/>
          </p:nvSpPr>
          <p:spPr>
            <a:xfrm>
              <a:off x="617219" y="2020825"/>
              <a:ext cx="4546093" cy="603502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6E9BAE43-6680-B52A-5DFF-3D04A8063D7E}"/>
                </a:ext>
              </a:extLst>
            </p:cNvPr>
            <p:cNvSpPr/>
            <p:nvPr/>
          </p:nvSpPr>
          <p:spPr>
            <a:xfrm>
              <a:off x="617220" y="2020825"/>
              <a:ext cx="624840" cy="603502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关键动作</a:t>
              </a:r>
              <a:endParaRPr 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CFCF9881-AD1D-E059-F276-943514BD85F9}"/>
              </a:ext>
            </a:extLst>
          </p:cNvPr>
          <p:cNvSpPr txBox="1"/>
          <p:nvPr/>
        </p:nvSpPr>
        <p:spPr>
          <a:xfrm>
            <a:off x="1429802" y="4442692"/>
            <a:ext cx="385617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调用</a:t>
            </a:r>
            <a:r>
              <a:rPr 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GPC </a:t>
            </a:r>
            <a:r>
              <a:rPr lang="en-US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标准算法计算</a:t>
            </a:r>
            <a:r>
              <a:rPr 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Mn、Mw、Mz、PDI；调用黏度法估算</a:t>
            </a:r>
            <a:r>
              <a:rPr 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Mw；基于复配加权公式计算目标分子量；结合固含量、水分、损耗率预测理论产出</a:t>
            </a: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14447AB7-45DF-AA7F-F7B7-8973B631F3E4}"/>
              </a:ext>
            </a:extLst>
          </p:cNvPr>
          <p:cNvGrpSpPr/>
          <p:nvPr/>
        </p:nvGrpSpPr>
        <p:grpSpPr>
          <a:xfrm>
            <a:off x="739884" y="5589101"/>
            <a:ext cx="4546093" cy="649224"/>
            <a:chOff x="717932" y="5886839"/>
            <a:chExt cx="4546093" cy="649224"/>
          </a:xfrm>
        </p:grpSpPr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26AFB721-47D5-8630-3EB8-DF00C05DE606}"/>
                </a:ext>
              </a:extLst>
            </p:cNvPr>
            <p:cNvGrpSpPr/>
            <p:nvPr/>
          </p:nvGrpSpPr>
          <p:grpSpPr>
            <a:xfrm>
              <a:off x="717932" y="5886839"/>
              <a:ext cx="4546093" cy="649224"/>
              <a:chOff x="617219" y="2020825"/>
              <a:chExt cx="4546093" cy="603502"/>
            </a:xfrm>
          </p:grpSpPr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B00410B2-1A7C-89C3-F159-56A89E67758B}"/>
                  </a:ext>
                </a:extLst>
              </p:cNvPr>
              <p:cNvSpPr/>
              <p:nvPr/>
            </p:nvSpPr>
            <p:spPr>
              <a:xfrm>
                <a:off x="617219" y="2020825"/>
                <a:ext cx="4546093" cy="603502"/>
              </a:xfrm>
              <a:prstGeom prst="rect">
                <a:avLst/>
              </a:prstGeom>
              <a:solidFill>
                <a:schemeClr val="bg1">
                  <a:alpha val="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D2A8F687-4131-AD75-798F-D302566CAC51}"/>
                  </a:ext>
                </a:extLst>
              </p:cNvPr>
              <p:cNvSpPr/>
              <p:nvPr/>
            </p:nvSpPr>
            <p:spPr>
              <a:xfrm>
                <a:off x="617220" y="2020825"/>
                <a:ext cx="624840" cy="603502"/>
              </a:xfrm>
              <a:prstGeom prst="rect">
                <a:avLst/>
              </a:prstGeom>
              <a:solidFill>
                <a:srgbClr val="00206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输出</a:t>
                </a:r>
                <a:endParaRPr 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38A9E38C-8F38-73E7-50B6-9ECCCC86AADF}"/>
                </a:ext>
              </a:extLst>
            </p:cNvPr>
            <p:cNvSpPr txBox="1"/>
            <p:nvPr/>
          </p:nvSpPr>
          <p:spPr>
            <a:xfrm>
              <a:off x="1407854" y="5949841"/>
              <a:ext cx="3856171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Courier New" panose="02070309020205020404" pitchFamily="49" charset="0"/>
                <a:buChar char="o"/>
              </a:pPr>
              <a:r>
                <a:rPr lang="en-US" sz="1400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输出理论</a:t>
              </a: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sz="1400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Mw、PDI、复配后目标分子量、理论成品产出和初步复配方案</a:t>
              </a:r>
              <a:endParaRPr 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607953F4-E252-51B3-4982-106DABFED102}"/>
              </a:ext>
            </a:extLst>
          </p:cNvPr>
          <p:cNvGrpSpPr/>
          <p:nvPr/>
        </p:nvGrpSpPr>
        <p:grpSpPr>
          <a:xfrm>
            <a:off x="6524265" y="1214221"/>
            <a:ext cx="4927852" cy="707886"/>
            <a:chOff x="402209" y="1378844"/>
            <a:chExt cx="4927852" cy="707886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871D40F9-DE8B-0C63-7012-A235BD6753AD}"/>
                </a:ext>
              </a:extLst>
            </p:cNvPr>
            <p:cNvSpPr txBox="1"/>
            <p:nvPr/>
          </p:nvSpPr>
          <p:spPr>
            <a:xfrm>
              <a:off x="402209" y="1378844"/>
              <a:ext cx="474471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35675DA2-7E23-AED2-38CA-692933FC6E5C}"/>
                </a:ext>
              </a:extLst>
            </p:cNvPr>
            <p:cNvSpPr txBox="1"/>
            <p:nvPr/>
          </p:nvSpPr>
          <p:spPr>
            <a:xfrm>
              <a:off x="783969" y="1473923"/>
              <a:ext cx="454609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校正：</a:t>
              </a:r>
              <a:r>
                <a:rPr lang="en-US" sz="1600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修正理论计算与现场实际之间的偏差</a:t>
              </a:r>
              <a:endParaRPr 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11C1CA38-4FEF-F092-7D78-F63E8846B9DC}"/>
                </a:ext>
              </a:extLst>
            </p:cNvPr>
            <p:cNvCxnSpPr>
              <a:cxnSpLocks/>
            </p:cNvCxnSpPr>
            <p:nvPr/>
          </p:nvCxnSpPr>
          <p:spPr>
            <a:xfrm>
              <a:off x="876680" y="1796682"/>
              <a:ext cx="4286632" cy="0"/>
            </a:xfrm>
            <a:prstGeom prst="line">
              <a:avLst/>
            </a:prstGeom>
            <a:ln w="444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F5B8D612-4CA3-77EE-2263-11646A4F8BE1}"/>
              </a:ext>
            </a:extLst>
          </p:cNvPr>
          <p:cNvGrpSpPr/>
          <p:nvPr/>
        </p:nvGrpSpPr>
        <p:grpSpPr>
          <a:xfrm>
            <a:off x="6739275" y="1856201"/>
            <a:ext cx="4546093" cy="813813"/>
            <a:chOff x="617219" y="2020825"/>
            <a:chExt cx="4546093" cy="603502"/>
          </a:xfrm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A5679C65-B07C-E624-8427-D95250CAE272}"/>
                </a:ext>
              </a:extLst>
            </p:cNvPr>
            <p:cNvSpPr/>
            <p:nvPr/>
          </p:nvSpPr>
          <p:spPr>
            <a:xfrm>
              <a:off x="617219" y="2020825"/>
              <a:ext cx="4546093" cy="603502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FB53F04C-E43A-5AC6-ABF7-B33435C10532}"/>
                </a:ext>
              </a:extLst>
            </p:cNvPr>
            <p:cNvSpPr/>
            <p:nvPr/>
          </p:nvSpPr>
          <p:spPr>
            <a:xfrm>
              <a:off x="617220" y="2020825"/>
              <a:ext cx="624840" cy="603502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关键动作</a:t>
              </a:r>
              <a:endParaRPr 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2" name="TextBox 71">
            <a:extLst>
              <a:ext uri="{FF2B5EF4-FFF2-40B4-BE49-F238E27FC236}">
                <a16:creationId xmlns:a16="http://schemas.microsoft.com/office/drawing/2014/main" id="{00BCDE7A-201F-54C1-8DF4-077F40F21D39}"/>
              </a:ext>
            </a:extLst>
          </p:cNvPr>
          <p:cNvSpPr txBox="1"/>
          <p:nvPr/>
        </p:nvSpPr>
        <p:spPr>
          <a:xfrm>
            <a:off x="7364116" y="1923155"/>
            <a:ext cx="395508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对比理论</a:t>
            </a:r>
            <a:r>
              <a:rPr 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Mw </a:t>
            </a:r>
            <a:r>
              <a:rPr lang="en-US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与实际</a:t>
            </a:r>
            <a:r>
              <a:rPr 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GPC </a:t>
            </a:r>
            <a:r>
              <a:rPr lang="en-US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检测结果、理论产出与实际入库量，识别偏差来源</a:t>
            </a: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结合历史批次数据建立修正系数</a:t>
            </a:r>
            <a:r>
              <a:rPr 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/AI </a:t>
            </a:r>
            <a:r>
              <a:rPr lang="en-US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校正模型</a:t>
            </a: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719A6E47-8B54-87E3-6A64-C5641BC4B212}"/>
              </a:ext>
            </a:extLst>
          </p:cNvPr>
          <p:cNvGrpSpPr/>
          <p:nvPr/>
        </p:nvGrpSpPr>
        <p:grpSpPr>
          <a:xfrm>
            <a:off x="6739274" y="2842690"/>
            <a:ext cx="4546093" cy="649224"/>
            <a:chOff x="739884" y="3007427"/>
            <a:chExt cx="4546093" cy="649224"/>
          </a:xfrm>
        </p:grpSpPr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576FABD7-9E84-6379-ED8D-935E7FDF2947}"/>
                </a:ext>
              </a:extLst>
            </p:cNvPr>
            <p:cNvGrpSpPr/>
            <p:nvPr/>
          </p:nvGrpSpPr>
          <p:grpSpPr>
            <a:xfrm>
              <a:off x="739884" y="3007427"/>
              <a:ext cx="4546093" cy="649224"/>
              <a:chOff x="617219" y="2020825"/>
              <a:chExt cx="4546093" cy="603502"/>
            </a:xfrm>
          </p:grpSpPr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441FED19-6B40-314C-9EED-A394ACEA8055}"/>
                  </a:ext>
                </a:extLst>
              </p:cNvPr>
              <p:cNvSpPr/>
              <p:nvPr/>
            </p:nvSpPr>
            <p:spPr>
              <a:xfrm>
                <a:off x="617219" y="2020825"/>
                <a:ext cx="4546093" cy="603502"/>
              </a:xfrm>
              <a:prstGeom prst="rect">
                <a:avLst/>
              </a:prstGeom>
              <a:solidFill>
                <a:schemeClr val="bg1">
                  <a:alpha val="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91C8FBAF-7642-553A-C981-C866169D2EC8}"/>
                  </a:ext>
                </a:extLst>
              </p:cNvPr>
              <p:cNvSpPr/>
              <p:nvPr/>
            </p:nvSpPr>
            <p:spPr>
              <a:xfrm>
                <a:off x="617220" y="2020825"/>
                <a:ext cx="624840" cy="603502"/>
              </a:xfrm>
              <a:prstGeom prst="rect">
                <a:avLst/>
              </a:prstGeom>
              <a:solidFill>
                <a:srgbClr val="00206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输出</a:t>
                </a:r>
                <a:endParaRPr 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721DDB68-B7AC-C97C-3F02-AF91E88B9AA9}"/>
                </a:ext>
              </a:extLst>
            </p:cNvPr>
            <p:cNvSpPr txBox="1"/>
            <p:nvPr/>
          </p:nvSpPr>
          <p:spPr>
            <a:xfrm>
              <a:off x="1429806" y="3070429"/>
              <a:ext cx="3856171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Courier New" panose="02070309020205020404" pitchFamily="49" charset="0"/>
                <a:buChar char="o"/>
              </a:pPr>
              <a:r>
                <a:rPr lang="en-US" sz="1400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输出校正后的</a:t>
              </a: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Mw </a:t>
              </a:r>
              <a:r>
                <a:rPr lang="en-US" sz="1400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预测、产出预测、偏差原因判断和模型置信度</a:t>
              </a:r>
              <a:endParaRPr 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61D8FCF2-EC45-1F9C-B4EB-FE3476E48DC4}"/>
              </a:ext>
            </a:extLst>
          </p:cNvPr>
          <p:cNvGrpSpPr/>
          <p:nvPr/>
        </p:nvGrpSpPr>
        <p:grpSpPr>
          <a:xfrm>
            <a:off x="6558097" y="3716320"/>
            <a:ext cx="4761103" cy="707886"/>
            <a:chOff x="402209" y="1378844"/>
            <a:chExt cx="4761103" cy="707886"/>
          </a:xfrm>
        </p:grpSpPr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087AB86E-B38D-098F-2619-453C7D5E250F}"/>
                </a:ext>
              </a:extLst>
            </p:cNvPr>
            <p:cNvSpPr txBox="1"/>
            <p:nvPr/>
          </p:nvSpPr>
          <p:spPr>
            <a:xfrm>
              <a:off x="402209" y="1378844"/>
              <a:ext cx="474471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2CA8B63C-793C-0499-323A-AA0385F907E7}"/>
                </a:ext>
              </a:extLst>
            </p:cNvPr>
            <p:cNvSpPr txBox="1"/>
            <p:nvPr/>
          </p:nvSpPr>
          <p:spPr>
            <a:xfrm>
              <a:off x="783969" y="1473923"/>
              <a:ext cx="367228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输出：</a:t>
              </a:r>
              <a:r>
                <a:rPr lang="en-US" sz="1600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给现场可执行的复配与生产建议</a:t>
              </a:r>
              <a:endParaRPr 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86429DC0-AFAA-C8F3-3F5C-265E734F35DA}"/>
                </a:ext>
              </a:extLst>
            </p:cNvPr>
            <p:cNvCxnSpPr>
              <a:cxnSpLocks/>
            </p:cNvCxnSpPr>
            <p:nvPr/>
          </p:nvCxnSpPr>
          <p:spPr>
            <a:xfrm>
              <a:off x="876680" y="1796682"/>
              <a:ext cx="4286632" cy="0"/>
            </a:xfrm>
            <a:prstGeom prst="line">
              <a:avLst/>
            </a:prstGeom>
            <a:ln w="444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65CDB3AB-6557-E38C-2154-42F02EF6509B}"/>
              </a:ext>
            </a:extLst>
          </p:cNvPr>
          <p:cNvGrpSpPr/>
          <p:nvPr/>
        </p:nvGrpSpPr>
        <p:grpSpPr>
          <a:xfrm>
            <a:off x="6773107" y="4358300"/>
            <a:ext cx="4546093" cy="1036848"/>
            <a:chOff x="617219" y="2020825"/>
            <a:chExt cx="4546093" cy="603502"/>
          </a:xfrm>
        </p:grpSpPr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62BC3051-7EAC-987A-1D0A-D7F6AE069593}"/>
                </a:ext>
              </a:extLst>
            </p:cNvPr>
            <p:cNvSpPr/>
            <p:nvPr/>
          </p:nvSpPr>
          <p:spPr>
            <a:xfrm>
              <a:off x="617219" y="2020825"/>
              <a:ext cx="4546093" cy="603502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E58FAEA7-6AF7-E238-DB50-5BDDDEE3FE23}"/>
                </a:ext>
              </a:extLst>
            </p:cNvPr>
            <p:cNvSpPr/>
            <p:nvPr/>
          </p:nvSpPr>
          <p:spPr>
            <a:xfrm>
              <a:off x="617220" y="2020825"/>
              <a:ext cx="624840" cy="603502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关键动作</a:t>
              </a:r>
              <a:endParaRPr 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98" name="TextBox 97">
            <a:extLst>
              <a:ext uri="{FF2B5EF4-FFF2-40B4-BE49-F238E27FC236}">
                <a16:creationId xmlns:a16="http://schemas.microsoft.com/office/drawing/2014/main" id="{A380E1F2-A2D4-871C-8569-6D2267F86E7B}"/>
              </a:ext>
            </a:extLst>
          </p:cNvPr>
          <p:cNvSpPr txBox="1"/>
          <p:nvPr/>
        </p:nvSpPr>
        <p:spPr>
          <a:xfrm>
            <a:off x="7463028" y="4531919"/>
            <a:ext cx="385617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Agent </a:t>
            </a:r>
            <a:r>
              <a:rPr lang="en-US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根据目标产品要求、可用胶液批次、质量风险和产出目标，生成复配比例建议、参数调整建议和异常风险提示</a:t>
            </a: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9" name="Group 98">
            <a:extLst>
              <a:ext uri="{FF2B5EF4-FFF2-40B4-BE49-F238E27FC236}">
                <a16:creationId xmlns:a16="http://schemas.microsoft.com/office/drawing/2014/main" id="{ACB8D34B-D978-34B3-2386-F0E514796ECC}"/>
              </a:ext>
            </a:extLst>
          </p:cNvPr>
          <p:cNvGrpSpPr/>
          <p:nvPr/>
        </p:nvGrpSpPr>
        <p:grpSpPr>
          <a:xfrm>
            <a:off x="6773110" y="5579858"/>
            <a:ext cx="4546093" cy="649224"/>
            <a:chOff x="717932" y="5886839"/>
            <a:chExt cx="4546093" cy="649224"/>
          </a:xfrm>
        </p:grpSpPr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B3FAF1DF-09ED-FDDD-C12E-1B7D0D33B836}"/>
                </a:ext>
              </a:extLst>
            </p:cNvPr>
            <p:cNvGrpSpPr/>
            <p:nvPr/>
          </p:nvGrpSpPr>
          <p:grpSpPr>
            <a:xfrm>
              <a:off x="717932" y="5886839"/>
              <a:ext cx="4546093" cy="649224"/>
              <a:chOff x="617219" y="2020825"/>
              <a:chExt cx="4546093" cy="603502"/>
            </a:xfrm>
          </p:grpSpPr>
          <p:sp>
            <p:nvSpPr>
              <p:cNvPr id="102" name="Rectangle 101">
                <a:extLst>
                  <a:ext uri="{FF2B5EF4-FFF2-40B4-BE49-F238E27FC236}">
                    <a16:creationId xmlns:a16="http://schemas.microsoft.com/office/drawing/2014/main" id="{47DCEA3B-DE24-3BD0-2A50-3B78E07C5169}"/>
                  </a:ext>
                </a:extLst>
              </p:cNvPr>
              <p:cNvSpPr/>
              <p:nvPr/>
            </p:nvSpPr>
            <p:spPr>
              <a:xfrm>
                <a:off x="617219" y="2020825"/>
                <a:ext cx="4546093" cy="603502"/>
              </a:xfrm>
              <a:prstGeom prst="rect">
                <a:avLst/>
              </a:prstGeom>
              <a:solidFill>
                <a:schemeClr val="bg1">
                  <a:alpha val="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3" name="Rectangle 102">
                <a:extLst>
                  <a:ext uri="{FF2B5EF4-FFF2-40B4-BE49-F238E27FC236}">
                    <a16:creationId xmlns:a16="http://schemas.microsoft.com/office/drawing/2014/main" id="{C505281E-15ED-200C-B356-92D8750AA68D}"/>
                  </a:ext>
                </a:extLst>
              </p:cNvPr>
              <p:cNvSpPr/>
              <p:nvPr/>
            </p:nvSpPr>
            <p:spPr>
              <a:xfrm>
                <a:off x="617220" y="2020825"/>
                <a:ext cx="624840" cy="603502"/>
              </a:xfrm>
              <a:prstGeom prst="rect">
                <a:avLst/>
              </a:prstGeom>
              <a:solidFill>
                <a:srgbClr val="00206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输出</a:t>
                </a:r>
                <a:endParaRPr 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BC0B87F2-B9C3-F9A3-5565-A0F731415FBB}"/>
                </a:ext>
              </a:extLst>
            </p:cNvPr>
            <p:cNvSpPr txBox="1"/>
            <p:nvPr/>
          </p:nvSpPr>
          <p:spPr>
            <a:xfrm>
              <a:off x="1407854" y="5949841"/>
              <a:ext cx="3856171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Courier New" panose="02070309020205020404" pitchFamily="49" charset="0"/>
                <a:buChar char="o"/>
              </a:pPr>
              <a:r>
                <a:rPr lang="en-US" sz="1400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输出推荐复配方案、目标分子量预测、凝胶</a:t>
              </a: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en-US" sz="1400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干燥产出预测、质量风险提示和操作建议</a:t>
              </a:r>
              <a:endParaRPr 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41D4C524-D1D2-D30D-4CB0-03C901CCD130}"/>
              </a:ext>
            </a:extLst>
          </p:cNvPr>
          <p:cNvCxnSpPr/>
          <p:nvPr/>
        </p:nvCxnSpPr>
        <p:spPr>
          <a:xfrm>
            <a:off x="5980253" y="1672512"/>
            <a:ext cx="0" cy="4616328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3" name="think-cell data - do not delete" hidden="1">
            <a:extLst>
              <a:ext uri="{FF2B5EF4-FFF2-40B4-BE49-F238E27FC236}">
                <a16:creationId xmlns:a16="http://schemas.microsoft.com/office/drawing/2014/main" id="{EB664723-8100-B1D9-7683-16D4FA9EF54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44574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3" progId="TCLayout.ActiveDocument.1">
                  <p:embed/>
                </p:oleObj>
              </mc:Choice>
              <mc:Fallback>
                <p:oleObj name="think-cell Slide" r:id="rId4" imgW="473" imgH="473" progId="TCLayout.ActiveDocument.1">
                  <p:embed/>
                  <p:pic>
                    <p:nvPicPr>
                      <p:cNvPr id="8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B664723-8100-B1D9-7683-16D4FA9EF5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4">
            <a:extLst>
              <a:ext uri="{FF2B5EF4-FFF2-40B4-BE49-F238E27FC236}">
                <a16:creationId xmlns:a16="http://schemas.microsoft.com/office/drawing/2014/main" id="{976F82C7-E8AB-1E26-FC82-9359E1D17D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" y="1135334"/>
            <a:ext cx="11137455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端到端工艺流程自动化现状</a:t>
            </a:r>
            <a:endParaRPr lang="en-US" altLang="zh-CN" sz="24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C2BF917-49D8-77F1-E8D3-4F74A7704A18}"/>
              </a:ext>
            </a:extLst>
          </p:cNvPr>
          <p:cNvGrpSpPr/>
          <p:nvPr/>
        </p:nvGrpSpPr>
        <p:grpSpPr>
          <a:xfrm>
            <a:off x="502920" y="1575547"/>
            <a:ext cx="11137455" cy="4969286"/>
            <a:chOff x="39147" y="1360968"/>
            <a:chExt cx="11902770" cy="5422604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5491988D-19F5-2A4A-61AF-6D4DBE02F4F6}"/>
                </a:ext>
              </a:extLst>
            </p:cNvPr>
            <p:cNvSpPr/>
            <p:nvPr/>
          </p:nvSpPr>
          <p:spPr>
            <a:xfrm>
              <a:off x="39147" y="1360968"/>
              <a:ext cx="11902770" cy="542260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48EAB4A1-772B-8509-90B3-81BB4A07ECC7}"/>
                </a:ext>
              </a:extLst>
            </p:cNvPr>
            <p:cNvGrpSpPr/>
            <p:nvPr/>
          </p:nvGrpSpPr>
          <p:grpSpPr>
            <a:xfrm>
              <a:off x="191547" y="1513368"/>
              <a:ext cx="11666866" cy="5131981"/>
              <a:chOff x="275052" y="1513368"/>
              <a:chExt cx="6596891" cy="5131981"/>
            </a:xfrm>
          </p:grpSpPr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596426D4-FB46-9578-2D0B-A1C0EE33D571}"/>
                  </a:ext>
                </a:extLst>
              </p:cNvPr>
              <p:cNvSpPr/>
              <p:nvPr/>
            </p:nvSpPr>
            <p:spPr>
              <a:xfrm>
                <a:off x="275052" y="1513368"/>
                <a:ext cx="5105022" cy="2037906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6C75BFBE-AA3F-1297-2059-BDC7BB71F65C}"/>
                  </a:ext>
                </a:extLst>
              </p:cNvPr>
              <p:cNvSpPr txBox="1"/>
              <p:nvPr/>
            </p:nvSpPr>
            <p:spPr>
              <a:xfrm>
                <a:off x="1967023" y="3639676"/>
                <a:ext cx="1424763" cy="3022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2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复配决策层层</a:t>
                </a:r>
                <a:endPara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8" name="矩形 47">
                <a:extLst>
                  <a:ext uri="{FF2B5EF4-FFF2-40B4-BE49-F238E27FC236}">
                    <a16:creationId xmlns:a16="http://schemas.microsoft.com/office/drawing/2014/main" id="{363CBC2C-ECF1-1BAA-F8AA-57D2E5AB1DF1}"/>
                  </a:ext>
                </a:extLst>
              </p:cNvPr>
              <p:cNvSpPr/>
              <p:nvPr/>
            </p:nvSpPr>
            <p:spPr>
              <a:xfrm>
                <a:off x="275052" y="3615070"/>
                <a:ext cx="5105022" cy="1244009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3371DF94-EB2E-C1CD-A081-284AD10982E5}"/>
                  </a:ext>
                </a:extLst>
              </p:cNvPr>
              <p:cNvSpPr txBox="1"/>
              <p:nvPr/>
            </p:nvSpPr>
            <p:spPr>
              <a:xfrm>
                <a:off x="1334206" y="4947481"/>
                <a:ext cx="1424763" cy="3022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2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质检闭环层</a:t>
                </a:r>
                <a:endPara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9" name="矩形 58">
                <a:extLst>
                  <a:ext uri="{FF2B5EF4-FFF2-40B4-BE49-F238E27FC236}">
                    <a16:creationId xmlns:a16="http://schemas.microsoft.com/office/drawing/2014/main" id="{D50D87D6-4144-43D0-79DE-F7B78A187F4D}"/>
                  </a:ext>
                </a:extLst>
              </p:cNvPr>
              <p:cNvSpPr/>
              <p:nvPr/>
            </p:nvSpPr>
            <p:spPr>
              <a:xfrm>
                <a:off x="275052" y="4922875"/>
                <a:ext cx="3385575" cy="1722474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6F812BE0-5EEA-B653-753D-E2098DCE7F35}"/>
                  </a:ext>
                </a:extLst>
              </p:cNvPr>
              <p:cNvSpPr txBox="1"/>
              <p:nvPr/>
            </p:nvSpPr>
            <p:spPr>
              <a:xfrm>
                <a:off x="4636566" y="4947481"/>
                <a:ext cx="1333718" cy="3022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2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数据支撑层</a:t>
                </a:r>
                <a:endPara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9A5F7286-5005-782E-0A79-6973351269FD}"/>
                  </a:ext>
                </a:extLst>
              </p:cNvPr>
              <p:cNvSpPr/>
              <p:nvPr/>
            </p:nvSpPr>
            <p:spPr>
              <a:xfrm>
                <a:off x="3702711" y="4922875"/>
                <a:ext cx="3169232" cy="1722474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91336C95-D256-47CF-36F6-36949B0A9BDD}"/>
                </a:ext>
              </a:extLst>
            </p:cNvPr>
            <p:cNvGrpSpPr/>
            <p:nvPr/>
          </p:nvGrpSpPr>
          <p:grpSpPr>
            <a:xfrm>
              <a:off x="291752" y="1942767"/>
              <a:ext cx="2144660" cy="566517"/>
              <a:chOff x="739881" y="2832628"/>
              <a:chExt cx="4546093" cy="649224"/>
            </a:xfrm>
          </p:grpSpPr>
          <p:sp>
            <p:nvSpPr>
              <p:cNvPr id="9" name="Rectangle 43">
                <a:extLst>
                  <a:ext uri="{FF2B5EF4-FFF2-40B4-BE49-F238E27FC236}">
                    <a16:creationId xmlns:a16="http://schemas.microsoft.com/office/drawing/2014/main" id="{5A983752-5A46-4AD1-86E6-45343D00CB30}"/>
                  </a:ext>
                </a:extLst>
              </p:cNvPr>
              <p:cNvSpPr/>
              <p:nvPr/>
            </p:nvSpPr>
            <p:spPr>
              <a:xfrm>
                <a:off x="739881" y="2832628"/>
                <a:ext cx="4546093" cy="649224"/>
              </a:xfrm>
              <a:prstGeom prst="rect">
                <a:avLst/>
              </a:prstGeom>
              <a:solidFill>
                <a:schemeClr val="bg1">
                  <a:alpha val="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 err="1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原料批次管理</a:t>
                </a:r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" name="Rectangle 44">
                <a:extLst>
                  <a:ext uri="{FF2B5EF4-FFF2-40B4-BE49-F238E27FC236}">
                    <a16:creationId xmlns:a16="http://schemas.microsoft.com/office/drawing/2014/main" id="{D30E702B-700E-6F06-F7B7-C5B2B235EBCC}"/>
                  </a:ext>
                </a:extLst>
              </p:cNvPr>
              <p:cNvSpPr/>
              <p:nvPr/>
            </p:nvSpPr>
            <p:spPr>
              <a:xfrm>
                <a:off x="739882" y="2832628"/>
                <a:ext cx="217048" cy="649224"/>
              </a:xfrm>
              <a:prstGeom prst="rect">
                <a:avLst/>
              </a:prstGeom>
              <a:solidFill>
                <a:srgbClr val="00206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FC2FB44F-710E-C8C0-8050-7D7D40CD57FD}"/>
                </a:ext>
              </a:extLst>
            </p:cNvPr>
            <p:cNvGrpSpPr/>
            <p:nvPr/>
          </p:nvGrpSpPr>
          <p:grpSpPr>
            <a:xfrm>
              <a:off x="2536617" y="1942767"/>
              <a:ext cx="2144660" cy="566517"/>
              <a:chOff x="739881" y="2832628"/>
              <a:chExt cx="4546093" cy="649224"/>
            </a:xfrm>
          </p:grpSpPr>
          <p:sp>
            <p:nvSpPr>
              <p:cNvPr id="13" name="Rectangle 43">
                <a:extLst>
                  <a:ext uri="{FF2B5EF4-FFF2-40B4-BE49-F238E27FC236}">
                    <a16:creationId xmlns:a16="http://schemas.microsoft.com/office/drawing/2014/main" id="{F9305212-A833-79B9-E81F-8FD7F7F073CD}"/>
                  </a:ext>
                </a:extLst>
              </p:cNvPr>
              <p:cNvSpPr/>
              <p:nvPr/>
            </p:nvSpPr>
            <p:spPr>
              <a:xfrm>
                <a:off x="739881" y="2832628"/>
                <a:ext cx="4546093" cy="649224"/>
              </a:xfrm>
              <a:prstGeom prst="rect">
                <a:avLst/>
              </a:prstGeom>
              <a:solidFill>
                <a:schemeClr val="bg1">
                  <a:alpha val="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 err="1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浸灰终点判断</a:t>
                </a:r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" name="Rectangle 44">
                <a:extLst>
                  <a:ext uri="{FF2B5EF4-FFF2-40B4-BE49-F238E27FC236}">
                    <a16:creationId xmlns:a16="http://schemas.microsoft.com/office/drawing/2014/main" id="{112873E6-A47D-694B-D71F-DBF64C6E7DCC}"/>
                  </a:ext>
                </a:extLst>
              </p:cNvPr>
              <p:cNvSpPr/>
              <p:nvPr/>
            </p:nvSpPr>
            <p:spPr>
              <a:xfrm>
                <a:off x="739882" y="2832628"/>
                <a:ext cx="217048" cy="649224"/>
              </a:xfrm>
              <a:prstGeom prst="rect">
                <a:avLst/>
              </a:prstGeom>
              <a:solidFill>
                <a:srgbClr val="00206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87676F74-BA85-4C6B-2A5E-48491F31BC5F}"/>
                </a:ext>
              </a:extLst>
            </p:cNvPr>
            <p:cNvGrpSpPr/>
            <p:nvPr/>
          </p:nvGrpSpPr>
          <p:grpSpPr>
            <a:xfrm>
              <a:off x="4758822" y="1942767"/>
              <a:ext cx="2144660" cy="566517"/>
              <a:chOff x="739881" y="2832628"/>
              <a:chExt cx="4546093" cy="649224"/>
            </a:xfrm>
          </p:grpSpPr>
          <p:sp>
            <p:nvSpPr>
              <p:cNvPr id="16" name="Rectangle 43">
                <a:extLst>
                  <a:ext uri="{FF2B5EF4-FFF2-40B4-BE49-F238E27FC236}">
                    <a16:creationId xmlns:a16="http://schemas.microsoft.com/office/drawing/2014/main" id="{A3B255AD-11ED-7C46-4625-E8DD3842527D}"/>
                  </a:ext>
                </a:extLst>
              </p:cNvPr>
              <p:cNvSpPr/>
              <p:nvPr/>
            </p:nvSpPr>
            <p:spPr>
              <a:xfrm>
                <a:off x="739881" y="2832628"/>
                <a:ext cx="4546093" cy="649224"/>
              </a:xfrm>
              <a:prstGeom prst="rect">
                <a:avLst/>
              </a:prstGeom>
              <a:solidFill>
                <a:schemeClr val="bg1">
                  <a:alpha val="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 err="1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中和pH记录</a:t>
                </a:r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" name="Rectangle 44">
                <a:extLst>
                  <a:ext uri="{FF2B5EF4-FFF2-40B4-BE49-F238E27FC236}">
                    <a16:creationId xmlns:a16="http://schemas.microsoft.com/office/drawing/2014/main" id="{2AA45D30-4424-44F9-DE0D-A1D8390C80B6}"/>
                  </a:ext>
                </a:extLst>
              </p:cNvPr>
              <p:cNvSpPr/>
              <p:nvPr/>
            </p:nvSpPr>
            <p:spPr>
              <a:xfrm>
                <a:off x="739882" y="2832628"/>
                <a:ext cx="217048" cy="649224"/>
              </a:xfrm>
              <a:prstGeom prst="rect">
                <a:avLst/>
              </a:prstGeom>
              <a:solidFill>
                <a:srgbClr val="00206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C81F0359-3F15-8ED6-5B98-AC92CB4B0DE2}"/>
                </a:ext>
              </a:extLst>
            </p:cNvPr>
            <p:cNvGrpSpPr/>
            <p:nvPr/>
          </p:nvGrpSpPr>
          <p:grpSpPr>
            <a:xfrm>
              <a:off x="291752" y="2676414"/>
              <a:ext cx="2144660" cy="566517"/>
              <a:chOff x="739881" y="2832628"/>
              <a:chExt cx="4546093" cy="649224"/>
            </a:xfrm>
          </p:grpSpPr>
          <p:sp>
            <p:nvSpPr>
              <p:cNvPr id="20" name="Rectangle 43">
                <a:extLst>
                  <a:ext uri="{FF2B5EF4-FFF2-40B4-BE49-F238E27FC236}">
                    <a16:creationId xmlns:a16="http://schemas.microsoft.com/office/drawing/2014/main" id="{914C5A20-A99E-3763-5CBD-F39812585D04}"/>
                  </a:ext>
                </a:extLst>
              </p:cNvPr>
              <p:cNvSpPr/>
              <p:nvPr/>
            </p:nvSpPr>
            <p:spPr>
              <a:xfrm>
                <a:off x="739881" y="2832628"/>
                <a:ext cx="4546093" cy="649224"/>
              </a:xfrm>
              <a:prstGeom prst="rect">
                <a:avLst/>
              </a:prstGeom>
              <a:solidFill>
                <a:schemeClr val="bg1">
                  <a:alpha val="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 err="1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分段提胶道次记录</a:t>
                </a:r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" name="Rectangle 44">
                <a:extLst>
                  <a:ext uri="{FF2B5EF4-FFF2-40B4-BE49-F238E27FC236}">
                    <a16:creationId xmlns:a16="http://schemas.microsoft.com/office/drawing/2014/main" id="{BBA8C04B-D2C2-C59D-A655-3A53B861CB0E}"/>
                  </a:ext>
                </a:extLst>
              </p:cNvPr>
              <p:cNvSpPr/>
              <p:nvPr/>
            </p:nvSpPr>
            <p:spPr>
              <a:xfrm>
                <a:off x="739882" y="2832628"/>
                <a:ext cx="217048" cy="649224"/>
              </a:xfrm>
              <a:prstGeom prst="rect">
                <a:avLst/>
              </a:prstGeom>
              <a:solidFill>
                <a:srgbClr val="00206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DC325229-DF92-0511-9A89-6C579E7F6348}"/>
                </a:ext>
              </a:extLst>
            </p:cNvPr>
            <p:cNvGrpSpPr/>
            <p:nvPr/>
          </p:nvGrpSpPr>
          <p:grpSpPr>
            <a:xfrm>
              <a:off x="2536617" y="2676414"/>
              <a:ext cx="2144660" cy="566517"/>
              <a:chOff x="739881" y="2832628"/>
              <a:chExt cx="4546093" cy="649224"/>
            </a:xfrm>
          </p:grpSpPr>
          <p:sp>
            <p:nvSpPr>
              <p:cNvPr id="23" name="Rectangle 43">
                <a:extLst>
                  <a:ext uri="{FF2B5EF4-FFF2-40B4-BE49-F238E27FC236}">
                    <a16:creationId xmlns:a16="http://schemas.microsoft.com/office/drawing/2014/main" id="{B30100CB-C53F-E8BE-40B8-2382B20400C3}"/>
                  </a:ext>
                </a:extLst>
              </p:cNvPr>
              <p:cNvSpPr/>
              <p:nvPr/>
            </p:nvSpPr>
            <p:spPr>
              <a:xfrm>
                <a:off x="739881" y="2832628"/>
                <a:ext cx="4546093" cy="649224"/>
              </a:xfrm>
              <a:prstGeom prst="rect">
                <a:avLst/>
              </a:prstGeom>
              <a:solidFill>
                <a:schemeClr val="bg1">
                  <a:alpha val="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 err="1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浓缩复配判断</a:t>
                </a:r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4" name="Rectangle 44">
                <a:extLst>
                  <a:ext uri="{FF2B5EF4-FFF2-40B4-BE49-F238E27FC236}">
                    <a16:creationId xmlns:a16="http://schemas.microsoft.com/office/drawing/2014/main" id="{B92BB8D3-6518-4FD4-EA24-8007AF985771}"/>
                  </a:ext>
                </a:extLst>
              </p:cNvPr>
              <p:cNvSpPr/>
              <p:nvPr/>
            </p:nvSpPr>
            <p:spPr>
              <a:xfrm>
                <a:off x="739882" y="2832628"/>
                <a:ext cx="217048" cy="649224"/>
              </a:xfrm>
              <a:prstGeom prst="rect">
                <a:avLst/>
              </a:prstGeom>
              <a:solidFill>
                <a:srgbClr val="00206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96EBBBFB-1A41-8C8A-A09B-0B9C55CC2BEA}"/>
                </a:ext>
              </a:extLst>
            </p:cNvPr>
            <p:cNvGrpSpPr/>
            <p:nvPr/>
          </p:nvGrpSpPr>
          <p:grpSpPr>
            <a:xfrm>
              <a:off x="4758822" y="2676414"/>
              <a:ext cx="2144660" cy="566517"/>
              <a:chOff x="739881" y="2832628"/>
              <a:chExt cx="4546093" cy="649224"/>
            </a:xfrm>
          </p:grpSpPr>
          <p:sp>
            <p:nvSpPr>
              <p:cNvPr id="26" name="Rectangle 43">
                <a:extLst>
                  <a:ext uri="{FF2B5EF4-FFF2-40B4-BE49-F238E27FC236}">
                    <a16:creationId xmlns:a16="http://schemas.microsoft.com/office/drawing/2014/main" id="{B49D9895-202D-3155-B6D4-1133DBF59F52}"/>
                  </a:ext>
                </a:extLst>
              </p:cNvPr>
              <p:cNvSpPr/>
              <p:nvPr/>
            </p:nvSpPr>
            <p:spPr>
              <a:xfrm>
                <a:off x="739881" y="2832628"/>
                <a:ext cx="4546093" cy="649224"/>
              </a:xfrm>
              <a:prstGeom prst="rect">
                <a:avLst/>
              </a:prstGeom>
              <a:solidFill>
                <a:schemeClr val="bg1">
                  <a:alpha val="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 err="1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凝胶干燥状态判断</a:t>
                </a:r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" name="Rectangle 44">
                <a:extLst>
                  <a:ext uri="{FF2B5EF4-FFF2-40B4-BE49-F238E27FC236}">
                    <a16:creationId xmlns:a16="http://schemas.microsoft.com/office/drawing/2014/main" id="{9FF3DAC9-4D7B-200D-CF5C-31978D7F2B6D}"/>
                  </a:ext>
                </a:extLst>
              </p:cNvPr>
              <p:cNvSpPr/>
              <p:nvPr/>
            </p:nvSpPr>
            <p:spPr>
              <a:xfrm>
                <a:off x="739882" y="2832628"/>
                <a:ext cx="217048" cy="649224"/>
              </a:xfrm>
              <a:prstGeom prst="rect">
                <a:avLst/>
              </a:prstGeom>
              <a:solidFill>
                <a:srgbClr val="00206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8" name="组合 27">
              <a:extLst>
                <a:ext uri="{FF2B5EF4-FFF2-40B4-BE49-F238E27FC236}">
                  <a16:creationId xmlns:a16="http://schemas.microsoft.com/office/drawing/2014/main" id="{C8670FE1-FEA8-8D9E-8132-F53A4A021C08}"/>
                </a:ext>
              </a:extLst>
            </p:cNvPr>
            <p:cNvGrpSpPr/>
            <p:nvPr/>
          </p:nvGrpSpPr>
          <p:grpSpPr>
            <a:xfrm>
              <a:off x="6981027" y="2226025"/>
              <a:ext cx="2144660" cy="566517"/>
              <a:chOff x="739881" y="2832628"/>
              <a:chExt cx="4546093" cy="649224"/>
            </a:xfrm>
          </p:grpSpPr>
          <p:sp>
            <p:nvSpPr>
              <p:cNvPr id="29" name="Rectangle 43">
                <a:extLst>
                  <a:ext uri="{FF2B5EF4-FFF2-40B4-BE49-F238E27FC236}">
                    <a16:creationId xmlns:a16="http://schemas.microsoft.com/office/drawing/2014/main" id="{5B3EFF7E-144E-3992-8924-C53183359CA0}"/>
                  </a:ext>
                </a:extLst>
              </p:cNvPr>
              <p:cNvSpPr/>
              <p:nvPr/>
            </p:nvSpPr>
            <p:spPr>
              <a:xfrm>
                <a:off x="739881" y="2832628"/>
                <a:ext cx="4546093" cy="649224"/>
              </a:xfrm>
              <a:prstGeom prst="rect">
                <a:avLst/>
              </a:prstGeom>
              <a:solidFill>
                <a:schemeClr val="bg1">
                  <a:alpha val="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 err="1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粉碎入库记录</a:t>
                </a:r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0" name="Rectangle 44">
                <a:extLst>
                  <a:ext uri="{FF2B5EF4-FFF2-40B4-BE49-F238E27FC236}">
                    <a16:creationId xmlns:a16="http://schemas.microsoft.com/office/drawing/2014/main" id="{10173D31-7579-E561-236E-87C65CFB1F61}"/>
                  </a:ext>
                </a:extLst>
              </p:cNvPr>
              <p:cNvSpPr/>
              <p:nvPr/>
            </p:nvSpPr>
            <p:spPr>
              <a:xfrm>
                <a:off x="739882" y="2832628"/>
                <a:ext cx="217048" cy="649224"/>
              </a:xfrm>
              <a:prstGeom prst="rect">
                <a:avLst/>
              </a:prstGeom>
              <a:solidFill>
                <a:srgbClr val="00206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B4EDE6B3-6F84-D9E2-638D-59BE8FF262EB}"/>
                </a:ext>
              </a:extLst>
            </p:cNvPr>
            <p:cNvSpPr/>
            <p:nvPr/>
          </p:nvSpPr>
          <p:spPr>
            <a:xfrm>
              <a:off x="9259560" y="1513368"/>
              <a:ext cx="2560405" cy="3345711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E8F1BEF8-0DFB-78E7-48C3-E9D408F8C9D9}"/>
                </a:ext>
              </a:extLst>
            </p:cNvPr>
            <p:cNvSpPr txBox="1"/>
            <p:nvPr/>
          </p:nvSpPr>
          <p:spPr>
            <a:xfrm>
              <a:off x="9279887" y="1551135"/>
              <a:ext cx="2519750" cy="3022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算法计算层</a:t>
              </a:r>
              <a:endPara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33" name="组合 32">
              <a:extLst>
                <a:ext uri="{FF2B5EF4-FFF2-40B4-BE49-F238E27FC236}">
                  <a16:creationId xmlns:a16="http://schemas.microsoft.com/office/drawing/2014/main" id="{656F73D3-9629-5CD3-F9F4-2629E2804FB9}"/>
                </a:ext>
              </a:extLst>
            </p:cNvPr>
            <p:cNvGrpSpPr/>
            <p:nvPr/>
          </p:nvGrpSpPr>
          <p:grpSpPr>
            <a:xfrm>
              <a:off x="9506036" y="1767676"/>
              <a:ext cx="2144660" cy="566517"/>
              <a:chOff x="739881" y="2832628"/>
              <a:chExt cx="4546093" cy="649224"/>
            </a:xfrm>
          </p:grpSpPr>
          <p:sp>
            <p:nvSpPr>
              <p:cNvPr id="34" name="Rectangle 43">
                <a:extLst>
                  <a:ext uri="{FF2B5EF4-FFF2-40B4-BE49-F238E27FC236}">
                    <a16:creationId xmlns:a16="http://schemas.microsoft.com/office/drawing/2014/main" id="{713E3B53-1EDB-EF1F-8777-CD54B139F96D}"/>
                  </a:ext>
                </a:extLst>
              </p:cNvPr>
              <p:cNvSpPr/>
              <p:nvPr/>
            </p:nvSpPr>
            <p:spPr>
              <a:xfrm>
                <a:off x="739881" y="2832628"/>
                <a:ext cx="4546093" cy="649224"/>
              </a:xfrm>
              <a:prstGeom prst="rect">
                <a:avLst/>
              </a:prstGeom>
              <a:solidFill>
                <a:schemeClr val="bg1">
                  <a:alpha val="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 err="1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GPC计算</a:t>
                </a:r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5" name="Rectangle 44">
                <a:extLst>
                  <a:ext uri="{FF2B5EF4-FFF2-40B4-BE49-F238E27FC236}">
                    <a16:creationId xmlns:a16="http://schemas.microsoft.com/office/drawing/2014/main" id="{DC291749-09FD-54C2-F175-5DAA6FD3A4BF}"/>
                  </a:ext>
                </a:extLst>
              </p:cNvPr>
              <p:cNvSpPr/>
              <p:nvPr/>
            </p:nvSpPr>
            <p:spPr>
              <a:xfrm>
                <a:off x="739882" y="2832628"/>
                <a:ext cx="217048" cy="649224"/>
              </a:xfrm>
              <a:prstGeom prst="rect">
                <a:avLst/>
              </a:prstGeom>
              <a:solidFill>
                <a:srgbClr val="00206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36" name="组合 35">
              <a:extLst>
                <a:ext uri="{FF2B5EF4-FFF2-40B4-BE49-F238E27FC236}">
                  <a16:creationId xmlns:a16="http://schemas.microsoft.com/office/drawing/2014/main" id="{78867C14-4E37-5213-B64C-0E197C4C7F20}"/>
                </a:ext>
              </a:extLst>
            </p:cNvPr>
            <p:cNvGrpSpPr/>
            <p:nvPr/>
          </p:nvGrpSpPr>
          <p:grpSpPr>
            <a:xfrm>
              <a:off x="9506036" y="2360424"/>
              <a:ext cx="2144660" cy="566517"/>
              <a:chOff x="739881" y="2832628"/>
              <a:chExt cx="4546093" cy="649224"/>
            </a:xfrm>
          </p:grpSpPr>
          <p:sp>
            <p:nvSpPr>
              <p:cNvPr id="37" name="Rectangle 43">
                <a:extLst>
                  <a:ext uri="{FF2B5EF4-FFF2-40B4-BE49-F238E27FC236}">
                    <a16:creationId xmlns:a16="http://schemas.microsoft.com/office/drawing/2014/main" id="{3CCEE4FE-CB7E-A7BF-4E18-FA9C987C4F99}"/>
                  </a:ext>
                </a:extLst>
              </p:cNvPr>
              <p:cNvSpPr/>
              <p:nvPr/>
            </p:nvSpPr>
            <p:spPr>
              <a:xfrm>
                <a:off x="739881" y="2832628"/>
                <a:ext cx="4546093" cy="649224"/>
              </a:xfrm>
              <a:prstGeom prst="rect">
                <a:avLst/>
              </a:prstGeom>
              <a:solidFill>
                <a:schemeClr val="bg1">
                  <a:alpha val="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 err="1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粘度法估算Mw</a:t>
                </a:r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8" name="Rectangle 44">
                <a:extLst>
                  <a:ext uri="{FF2B5EF4-FFF2-40B4-BE49-F238E27FC236}">
                    <a16:creationId xmlns:a16="http://schemas.microsoft.com/office/drawing/2014/main" id="{7B8EE9A1-EB30-0DC1-17D2-81A5042DA333}"/>
                  </a:ext>
                </a:extLst>
              </p:cNvPr>
              <p:cNvSpPr/>
              <p:nvPr/>
            </p:nvSpPr>
            <p:spPr>
              <a:xfrm>
                <a:off x="739882" y="2832628"/>
                <a:ext cx="217048" cy="649224"/>
              </a:xfrm>
              <a:prstGeom prst="rect">
                <a:avLst/>
              </a:prstGeom>
              <a:solidFill>
                <a:srgbClr val="00206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148EB6D2-4183-9EDD-BC6E-76C804BE3C28}"/>
                </a:ext>
              </a:extLst>
            </p:cNvPr>
            <p:cNvGrpSpPr/>
            <p:nvPr/>
          </p:nvGrpSpPr>
          <p:grpSpPr>
            <a:xfrm>
              <a:off x="9506036" y="2970797"/>
              <a:ext cx="2144660" cy="566517"/>
              <a:chOff x="739881" y="2832628"/>
              <a:chExt cx="4546093" cy="649224"/>
            </a:xfrm>
          </p:grpSpPr>
          <p:sp>
            <p:nvSpPr>
              <p:cNvPr id="40" name="Rectangle 43">
                <a:extLst>
                  <a:ext uri="{FF2B5EF4-FFF2-40B4-BE49-F238E27FC236}">
                    <a16:creationId xmlns:a16="http://schemas.microsoft.com/office/drawing/2014/main" id="{BF478667-B687-68F3-E1E7-AE2CEAFB77CB}"/>
                  </a:ext>
                </a:extLst>
              </p:cNvPr>
              <p:cNvSpPr/>
              <p:nvPr/>
            </p:nvSpPr>
            <p:spPr>
              <a:xfrm>
                <a:off x="739881" y="2832628"/>
                <a:ext cx="4546093" cy="649224"/>
              </a:xfrm>
              <a:prstGeom prst="rect">
                <a:avLst/>
              </a:prstGeom>
              <a:solidFill>
                <a:schemeClr val="bg1">
                  <a:alpha val="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 err="1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复配Mw计算</a:t>
                </a:r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1" name="Rectangle 44">
                <a:extLst>
                  <a:ext uri="{FF2B5EF4-FFF2-40B4-BE49-F238E27FC236}">
                    <a16:creationId xmlns:a16="http://schemas.microsoft.com/office/drawing/2014/main" id="{479B8985-F812-D951-1223-0B9B7019E8ED}"/>
                  </a:ext>
                </a:extLst>
              </p:cNvPr>
              <p:cNvSpPr/>
              <p:nvPr/>
            </p:nvSpPr>
            <p:spPr>
              <a:xfrm>
                <a:off x="739882" y="2832628"/>
                <a:ext cx="217048" cy="649224"/>
              </a:xfrm>
              <a:prstGeom prst="rect">
                <a:avLst/>
              </a:prstGeom>
              <a:solidFill>
                <a:srgbClr val="00206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2" name="组合 41">
              <a:extLst>
                <a:ext uri="{FF2B5EF4-FFF2-40B4-BE49-F238E27FC236}">
                  <a16:creationId xmlns:a16="http://schemas.microsoft.com/office/drawing/2014/main" id="{729B3E48-8B00-601B-E297-159DB5F9F612}"/>
                </a:ext>
              </a:extLst>
            </p:cNvPr>
            <p:cNvGrpSpPr/>
            <p:nvPr/>
          </p:nvGrpSpPr>
          <p:grpSpPr>
            <a:xfrm>
              <a:off x="9506036" y="3577796"/>
              <a:ext cx="2144660" cy="566517"/>
              <a:chOff x="739881" y="2832628"/>
              <a:chExt cx="4546093" cy="649224"/>
            </a:xfrm>
          </p:grpSpPr>
          <p:sp>
            <p:nvSpPr>
              <p:cNvPr id="43" name="Rectangle 43">
                <a:extLst>
                  <a:ext uri="{FF2B5EF4-FFF2-40B4-BE49-F238E27FC236}">
                    <a16:creationId xmlns:a16="http://schemas.microsoft.com/office/drawing/2014/main" id="{39935A8A-6622-E732-13ED-BC273472E152}"/>
                  </a:ext>
                </a:extLst>
              </p:cNvPr>
              <p:cNvSpPr/>
              <p:nvPr/>
            </p:nvSpPr>
            <p:spPr>
              <a:xfrm>
                <a:off x="739881" y="2832628"/>
                <a:ext cx="4546093" cy="649224"/>
              </a:xfrm>
              <a:prstGeom prst="rect">
                <a:avLst/>
              </a:prstGeom>
              <a:solidFill>
                <a:schemeClr val="bg1">
                  <a:alpha val="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 err="1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有效干基重量修正</a:t>
                </a:r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4" name="Rectangle 44">
                <a:extLst>
                  <a:ext uri="{FF2B5EF4-FFF2-40B4-BE49-F238E27FC236}">
                    <a16:creationId xmlns:a16="http://schemas.microsoft.com/office/drawing/2014/main" id="{29143267-C291-5776-E9A1-5860FA288BC2}"/>
                  </a:ext>
                </a:extLst>
              </p:cNvPr>
              <p:cNvSpPr/>
              <p:nvPr/>
            </p:nvSpPr>
            <p:spPr>
              <a:xfrm>
                <a:off x="739882" y="2832628"/>
                <a:ext cx="217048" cy="649224"/>
              </a:xfrm>
              <a:prstGeom prst="rect">
                <a:avLst/>
              </a:prstGeom>
              <a:solidFill>
                <a:srgbClr val="00206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5" name="组合 44">
              <a:extLst>
                <a:ext uri="{FF2B5EF4-FFF2-40B4-BE49-F238E27FC236}">
                  <a16:creationId xmlns:a16="http://schemas.microsoft.com/office/drawing/2014/main" id="{759C117F-1D00-0054-8F8D-0341F0C3D586}"/>
                </a:ext>
              </a:extLst>
            </p:cNvPr>
            <p:cNvGrpSpPr/>
            <p:nvPr/>
          </p:nvGrpSpPr>
          <p:grpSpPr>
            <a:xfrm>
              <a:off x="9506036" y="4232417"/>
              <a:ext cx="2144660" cy="566517"/>
              <a:chOff x="739881" y="2832628"/>
              <a:chExt cx="4546093" cy="649224"/>
            </a:xfrm>
          </p:grpSpPr>
          <p:sp>
            <p:nvSpPr>
              <p:cNvPr id="46" name="Rectangle 43">
                <a:extLst>
                  <a:ext uri="{FF2B5EF4-FFF2-40B4-BE49-F238E27FC236}">
                    <a16:creationId xmlns:a16="http://schemas.microsoft.com/office/drawing/2014/main" id="{4682C8E1-64CF-2C54-B838-FC4E713538AA}"/>
                  </a:ext>
                </a:extLst>
              </p:cNvPr>
              <p:cNvSpPr/>
              <p:nvPr/>
            </p:nvSpPr>
            <p:spPr>
              <a:xfrm>
                <a:off x="739881" y="2832628"/>
                <a:ext cx="4546093" cy="649224"/>
              </a:xfrm>
              <a:prstGeom prst="rect">
                <a:avLst/>
              </a:prstGeom>
              <a:solidFill>
                <a:schemeClr val="bg1">
                  <a:alpha val="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 err="1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理论产出预测</a:t>
                </a:r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7" name="Rectangle 44">
                <a:extLst>
                  <a:ext uri="{FF2B5EF4-FFF2-40B4-BE49-F238E27FC236}">
                    <a16:creationId xmlns:a16="http://schemas.microsoft.com/office/drawing/2014/main" id="{746821C0-1F59-AB1C-4B77-B5E8399F0B90}"/>
                  </a:ext>
                </a:extLst>
              </p:cNvPr>
              <p:cNvSpPr/>
              <p:nvPr/>
            </p:nvSpPr>
            <p:spPr>
              <a:xfrm>
                <a:off x="739882" y="2832628"/>
                <a:ext cx="217048" cy="649224"/>
              </a:xfrm>
              <a:prstGeom prst="rect">
                <a:avLst/>
              </a:prstGeom>
              <a:solidFill>
                <a:srgbClr val="00206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9" name="组合 48">
              <a:extLst>
                <a:ext uri="{FF2B5EF4-FFF2-40B4-BE49-F238E27FC236}">
                  <a16:creationId xmlns:a16="http://schemas.microsoft.com/office/drawing/2014/main" id="{DD9D5977-E9DF-5AFF-397D-D70A7743D231}"/>
                </a:ext>
              </a:extLst>
            </p:cNvPr>
            <p:cNvGrpSpPr/>
            <p:nvPr/>
          </p:nvGrpSpPr>
          <p:grpSpPr>
            <a:xfrm>
              <a:off x="950971" y="4098017"/>
              <a:ext cx="2144660" cy="566517"/>
              <a:chOff x="739881" y="2832628"/>
              <a:chExt cx="4546093" cy="649224"/>
            </a:xfrm>
          </p:grpSpPr>
          <p:sp>
            <p:nvSpPr>
              <p:cNvPr id="50" name="Rectangle 43">
                <a:extLst>
                  <a:ext uri="{FF2B5EF4-FFF2-40B4-BE49-F238E27FC236}">
                    <a16:creationId xmlns:a16="http://schemas.microsoft.com/office/drawing/2014/main" id="{51BB7A71-3522-CD02-D723-D233C08E5CCB}"/>
                  </a:ext>
                </a:extLst>
              </p:cNvPr>
              <p:cNvSpPr/>
              <p:nvPr/>
            </p:nvSpPr>
            <p:spPr>
              <a:xfrm>
                <a:off x="739881" y="2832628"/>
                <a:ext cx="4546093" cy="649224"/>
              </a:xfrm>
              <a:prstGeom prst="rect">
                <a:avLst/>
              </a:prstGeom>
              <a:solidFill>
                <a:schemeClr val="bg1">
                  <a:alpha val="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 err="1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推荐复配比例</a:t>
                </a:r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1" name="Rectangle 44">
                <a:extLst>
                  <a:ext uri="{FF2B5EF4-FFF2-40B4-BE49-F238E27FC236}">
                    <a16:creationId xmlns:a16="http://schemas.microsoft.com/office/drawing/2014/main" id="{8FF4127A-09A3-5984-4C18-427A70B7FDD0}"/>
                  </a:ext>
                </a:extLst>
              </p:cNvPr>
              <p:cNvSpPr/>
              <p:nvPr/>
            </p:nvSpPr>
            <p:spPr>
              <a:xfrm>
                <a:off x="739882" y="2832628"/>
                <a:ext cx="217048" cy="649224"/>
              </a:xfrm>
              <a:prstGeom prst="rect">
                <a:avLst/>
              </a:prstGeom>
              <a:solidFill>
                <a:srgbClr val="00206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52" name="组合 51">
              <a:extLst>
                <a:ext uri="{FF2B5EF4-FFF2-40B4-BE49-F238E27FC236}">
                  <a16:creationId xmlns:a16="http://schemas.microsoft.com/office/drawing/2014/main" id="{26BD3049-5FFB-CCEF-3DB9-E03D3F0FAD53}"/>
                </a:ext>
              </a:extLst>
            </p:cNvPr>
            <p:cNvGrpSpPr/>
            <p:nvPr/>
          </p:nvGrpSpPr>
          <p:grpSpPr>
            <a:xfrm>
              <a:off x="3324578" y="4098017"/>
              <a:ext cx="2144660" cy="566517"/>
              <a:chOff x="739881" y="2832628"/>
              <a:chExt cx="4546093" cy="649224"/>
            </a:xfrm>
          </p:grpSpPr>
          <p:sp>
            <p:nvSpPr>
              <p:cNvPr id="53" name="Rectangle 43">
                <a:extLst>
                  <a:ext uri="{FF2B5EF4-FFF2-40B4-BE49-F238E27FC236}">
                    <a16:creationId xmlns:a16="http://schemas.microsoft.com/office/drawing/2014/main" id="{34090DD8-A643-F9DA-C900-E750118BBDCE}"/>
                  </a:ext>
                </a:extLst>
              </p:cNvPr>
              <p:cNvSpPr/>
              <p:nvPr/>
            </p:nvSpPr>
            <p:spPr>
              <a:xfrm>
                <a:off x="739881" y="2832628"/>
                <a:ext cx="4546093" cy="649224"/>
              </a:xfrm>
              <a:prstGeom prst="rect">
                <a:avLst/>
              </a:prstGeom>
              <a:solidFill>
                <a:schemeClr val="bg1">
                  <a:alpha val="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 err="1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目标Mw预测</a:t>
                </a:r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4" name="Rectangle 44">
                <a:extLst>
                  <a:ext uri="{FF2B5EF4-FFF2-40B4-BE49-F238E27FC236}">
                    <a16:creationId xmlns:a16="http://schemas.microsoft.com/office/drawing/2014/main" id="{F513D612-8AD3-D8DE-B202-0E9CA98C166A}"/>
                  </a:ext>
                </a:extLst>
              </p:cNvPr>
              <p:cNvSpPr/>
              <p:nvPr/>
            </p:nvSpPr>
            <p:spPr>
              <a:xfrm>
                <a:off x="739882" y="2832628"/>
                <a:ext cx="217048" cy="649224"/>
              </a:xfrm>
              <a:prstGeom prst="rect">
                <a:avLst/>
              </a:prstGeom>
              <a:solidFill>
                <a:srgbClr val="00206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55" name="组合 54">
              <a:extLst>
                <a:ext uri="{FF2B5EF4-FFF2-40B4-BE49-F238E27FC236}">
                  <a16:creationId xmlns:a16="http://schemas.microsoft.com/office/drawing/2014/main" id="{4ED37A5D-0CBE-43DC-85A3-37C73F97A538}"/>
                </a:ext>
              </a:extLst>
            </p:cNvPr>
            <p:cNvGrpSpPr/>
            <p:nvPr/>
          </p:nvGrpSpPr>
          <p:grpSpPr>
            <a:xfrm>
              <a:off x="5599384" y="4098017"/>
              <a:ext cx="2144660" cy="566517"/>
              <a:chOff x="739881" y="2832628"/>
              <a:chExt cx="4546093" cy="649224"/>
            </a:xfrm>
          </p:grpSpPr>
          <p:sp>
            <p:nvSpPr>
              <p:cNvPr id="56" name="Rectangle 43">
                <a:extLst>
                  <a:ext uri="{FF2B5EF4-FFF2-40B4-BE49-F238E27FC236}">
                    <a16:creationId xmlns:a16="http://schemas.microsoft.com/office/drawing/2014/main" id="{7E99E999-3D31-3B45-46D5-97B2AA9E4040}"/>
                  </a:ext>
                </a:extLst>
              </p:cNvPr>
              <p:cNvSpPr/>
              <p:nvPr/>
            </p:nvSpPr>
            <p:spPr>
              <a:xfrm>
                <a:off x="739881" y="2832628"/>
                <a:ext cx="4546093" cy="649224"/>
              </a:xfrm>
              <a:prstGeom prst="rect">
                <a:avLst/>
              </a:prstGeom>
              <a:solidFill>
                <a:schemeClr val="bg1">
                  <a:alpha val="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 err="1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质量风险提醒</a:t>
                </a:r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7" name="Rectangle 44">
                <a:extLst>
                  <a:ext uri="{FF2B5EF4-FFF2-40B4-BE49-F238E27FC236}">
                    <a16:creationId xmlns:a16="http://schemas.microsoft.com/office/drawing/2014/main" id="{5CBCC71D-C30A-5DC0-B6D0-AC61683571E0}"/>
                  </a:ext>
                </a:extLst>
              </p:cNvPr>
              <p:cNvSpPr/>
              <p:nvPr/>
            </p:nvSpPr>
            <p:spPr>
              <a:xfrm>
                <a:off x="739882" y="2832628"/>
                <a:ext cx="217048" cy="649224"/>
              </a:xfrm>
              <a:prstGeom prst="rect">
                <a:avLst/>
              </a:prstGeom>
              <a:solidFill>
                <a:srgbClr val="00206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62" name="组合 61">
              <a:extLst>
                <a:ext uri="{FF2B5EF4-FFF2-40B4-BE49-F238E27FC236}">
                  <a16:creationId xmlns:a16="http://schemas.microsoft.com/office/drawing/2014/main" id="{95374D14-B923-10B5-0B4A-22361D1F230A}"/>
                </a:ext>
              </a:extLst>
            </p:cNvPr>
            <p:cNvGrpSpPr/>
            <p:nvPr/>
          </p:nvGrpSpPr>
          <p:grpSpPr>
            <a:xfrm>
              <a:off x="291752" y="5224480"/>
              <a:ext cx="2144660" cy="566517"/>
              <a:chOff x="739881" y="2832628"/>
              <a:chExt cx="4546093" cy="649224"/>
            </a:xfrm>
          </p:grpSpPr>
          <p:sp>
            <p:nvSpPr>
              <p:cNvPr id="63" name="Rectangle 43">
                <a:extLst>
                  <a:ext uri="{FF2B5EF4-FFF2-40B4-BE49-F238E27FC236}">
                    <a16:creationId xmlns:a16="http://schemas.microsoft.com/office/drawing/2014/main" id="{A963D171-E3C7-E53A-44CE-FDB2F3D12CD1}"/>
                  </a:ext>
                </a:extLst>
              </p:cNvPr>
              <p:cNvSpPr/>
              <p:nvPr/>
            </p:nvSpPr>
            <p:spPr>
              <a:xfrm>
                <a:off x="739881" y="2832628"/>
                <a:ext cx="4546093" cy="649224"/>
              </a:xfrm>
              <a:prstGeom prst="rect">
                <a:avLst/>
              </a:prstGeom>
              <a:solidFill>
                <a:schemeClr val="bg1">
                  <a:alpha val="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 err="1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GPC结果回写</a:t>
                </a:r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4" name="Rectangle 44">
                <a:extLst>
                  <a:ext uri="{FF2B5EF4-FFF2-40B4-BE49-F238E27FC236}">
                    <a16:creationId xmlns:a16="http://schemas.microsoft.com/office/drawing/2014/main" id="{4B1F86EE-B1BA-03CE-CF6B-046898FB84B9}"/>
                  </a:ext>
                </a:extLst>
              </p:cNvPr>
              <p:cNvSpPr/>
              <p:nvPr/>
            </p:nvSpPr>
            <p:spPr>
              <a:xfrm>
                <a:off x="739882" y="2832628"/>
                <a:ext cx="217048" cy="649224"/>
              </a:xfrm>
              <a:prstGeom prst="rect">
                <a:avLst/>
              </a:prstGeom>
              <a:solidFill>
                <a:srgbClr val="00206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65" name="组合 64">
              <a:extLst>
                <a:ext uri="{FF2B5EF4-FFF2-40B4-BE49-F238E27FC236}">
                  <a16:creationId xmlns:a16="http://schemas.microsoft.com/office/drawing/2014/main" id="{ADAFBE73-48ED-9223-7BA5-B991B90FD62F}"/>
                </a:ext>
              </a:extLst>
            </p:cNvPr>
            <p:cNvGrpSpPr/>
            <p:nvPr/>
          </p:nvGrpSpPr>
          <p:grpSpPr>
            <a:xfrm>
              <a:off x="3426972" y="5213773"/>
              <a:ext cx="2144660" cy="566517"/>
              <a:chOff x="739881" y="2832628"/>
              <a:chExt cx="4546093" cy="649224"/>
            </a:xfrm>
          </p:grpSpPr>
          <p:sp>
            <p:nvSpPr>
              <p:cNvPr id="66" name="Rectangle 43">
                <a:extLst>
                  <a:ext uri="{FF2B5EF4-FFF2-40B4-BE49-F238E27FC236}">
                    <a16:creationId xmlns:a16="http://schemas.microsoft.com/office/drawing/2014/main" id="{8EE1FC52-097F-724E-B9E2-58666C26774D}"/>
                  </a:ext>
                </a:extLst>
              </p:cNvPr>
              <p:cNvSpPr/>
              <p:nvPr/>
            </p:nvSpPr>
            <p:spPr>
              <a:xfrm>
                <a:off x="739881" y="2832628"/>
                <a:ext cx="4546093" cy="649224"/>
              </a:xfrm>
              <a:prstGeom prst="rect">
                <a:avLst/>
              </a:prstGeom>
              <a:solidFill>
                <a:schemeClr val="bg1">
                  <a:alpha val="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 err="1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理论值vs实际值对比</a:t>
                </a:r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7" name="Rectangle 44">
                <a:extLst>
                  <a:ext uri="{FF2B5EF4-FFF2-40B4-BE49-F238E27FC236}">
                    <a16:creationId xmlns:a16="http://schemas.microsoft.com/office/drawing/2014/main" id="{BE4B6DA5-4F14-0EDF-A4E4-78DA5BE3F796}"/>
                  </a:ext>
                </a:extLst>
              </p:cNvPr>
              <p:cNvSpPr/>
              <p:nvPr/>
            </p:nvSpPr>
            <p:spPr>
              <a:xfrm>
                <a:off x="739882" y="2832628"/>
                <a:ext cx="217048" cy="649224"/>
              </a:xfrm>
              <a:prstGeom prst="rect">
                <a:avLst/>
              </a:prstGeom>
              <a:solidFill>
                <a:srgbClr val="00206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68" name="组合 67">
              <a:extLst>
                <a:ext uri="{FF2B5EF4-FFF2-40B4-BE49-F238E27FC236}">
                  <a16:creationId xmlns:a16="http://schemas.microsoft.com/office/drawing/2014/main" id="{76DD9F98-9E16-D504-8B40-9D5A5F962F0C}"/>
                </a:ext>
              </a:extLst>
            </p:cNvPr>
            <p:cNvGrpSpPr/>
            <p:nvPr/>
          </p:nvGrpSpPr>
          <p:grpSpPr>
            <a:xfrm>
              <a:off x="291752" y="5954766"/>
              <a:ext cx="2144660" cy="566517"/>
              <a:chOff x="739881" y="2832628"/>
              <a:chExt cx="4546093" cy="649224"/>
            </a:xfrm>
          </p:grpSpPr>
          <p:sp>
            <p:nvSpPr>
              <p:cNvPr id="69" name="Rectangle 43">
                <a:extLst>
                  <a:ext uri="{FF2B5EF4-FFF2-40B4-BE49-F238E27FC236}">
                    <a16:creationId xmlns:a16="http://schemas.microsoft.com/office/drawing/2014/main" id="{D2588385-5EF6-0B89-9FFC-E3A914C25B3E}"/>
                  </a:ext>
                </a:extLst>
              </p:cNvPr>
              <p:cNvSpPr/>
              <p:nvPr/>
            </p:nvSpPr>
            <p:spPr>
              <a:xfrm>
                <a:off x="739881" y="2832628"/>
                <a:ext cx="4546093" cy="649224"/>
              </a:xfrm>
              <a:prstGeom prst="rect">
                <a:avLst/>
              </a:prstGeom>
              <a:solidFill>
                <a:schemeClr val="bg1">
                  <a:alpha val="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 err="1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偏差原因分析</a:t>
                </a:r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0" name="Rectangle 44">
                <a:extLst>
                  <a:ext uri="{FF2B5EF4-FFF2-40B4-BE49-F238E27FC236}">
                    <a16:creationId xmlns:a16="http://schemas.microsoft.com/office/drawing/2014/main" id="{DEDA615A-9A42-DC37-44FA-77F3188601B4}"/>
                  </a:ext>
                </a:extLst>
              </p:cNvPr>
              <p:cNvSpPr/>
              <p:nvPr/>
            </p:nvSpPr>
            <p:spPr>
              <a:xfrm>
                <a:off x="739882" y="2832628"/>
                <a:ext cx="217048" cy="649224"/>
              </a:xfrm>
              <a:prstGeom prst="rect">
                <a:avLst/>
              </a:prstGeom>
              <a:solidFill>
                <a:srgbClr val="00206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71" name="组合 70">
              <a:extLst>
                <a:ext uri="{FF2B5EF4-FFF2-40B4-BE49-F238E27FC236}">
                  <a16:creationId xmlns:a16="http://schemas.microsoft.com/office/drawing/2014/main" id="{5BF02E3E-5055-E250-439A-E38922D6A7AE}"/>
                </a:ext>
              </a:extLst>
            </p:cNvPr>
            <p:cNvGrpSpPr/>
            <p:nvPr/>
          </p:nvGrpSpPr>
          <p:grpSpPr>
            <a:xfrm>
              <a:off x="3426972" y="5954766"/>
              <a:ext cx="2144660" cy="566517"/>
              <a:chOff x="739881" y="2832628"/>
              <a:chExt cx="4546093" cy="649224"/>
            </a:xfrm>
          </p:grpSpPr>
          <p:sp>
            <p:nvSpPr>
              <p:cNvPr id="72" name="Rectangle 43">
                <a:extLst>
                  <a:ext uri="{FF2B5EF4-FFF2-40B4-BE49-F238E27FC236}">
                    <a16:creationId xmlns:a16="http://schemas.microsoft.com/office/drawing/2014/main" id="{7C2B59C1-4C06-3122-5206-C7C0C233695E}"/>
                  </a:ext>
                </a:extLst>
              </p:cNvPr>
              <p:cNvSpPr/>
              <p:nvPr/>
            </p:nvSpPr>
            <p:spPr>
              <a:xfrm>
                <a:off x="739881" y="2832628"/>
                <a:ext cx="4546093" cy="649224"/>
              </a:xfrm>
              <a:prstGeom prst="rect">
                <a:avLst/>
              </a:prstGeom>
              <a:solidFill>
                <a:schemeClr val="bg1">
                  <a:alpha val="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 err="1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参数反响校对</a:t>
                </a:r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3" name="Rectangle 44">
                <a:extLst>
                  <a:ext uri="{FF2B5EF4-FFF2-40B4-BE49-F238E27FC236}">
                    <a16:creationId xmlns:a16="http://schemas.microsoft.com/office/drawing/2014/main" id="{D7D0AE4D-82CB-373A-7D3B-8E0794FF8444}"/>
                  </a:ext>
                </a:extLst>
              </p:cNvPr>
              <p:cNvSpPr/>
              <p:nvPr/>
            </p:nvSpPr>
            <p:spPr>
              <a:xfrm>
                <a:off x="739882" y="2832628"/>
                <a:ext cx="217048" cy="649224"/>
              </a:xfrm>
              <a:prstGeom prst="rect">
                <a:avLst/>
              </a:prstGeom>
              <a:solidFill>
                <a:srgbClr val="00206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74" name="组合 73">
              <a:extLst>
                <a:ext uri="{FF2B5EF4-FFF2-40B4-BE49-F238E27FC236}">
                  <a16:creationId xmlns:a16="http://schemas.microsoft.com/office/drawing/2014/main" id="{DED29B1F-0CFA-16C2-ACA4-B0DA709E5927}"/>
                </a:ext>
              </a:extLst>
            </p:cNvPr>
            <p:cNvGrpSpPr/>
            <p:nvPr/>
          </p:nvGrpSpPr>
          <p:grpSpPr>
            <a:xfrm>
              <a:off x="6595474" y="5213773"/>
              <a:ext cx="2144660" cy="566517"/>
              <a:chOff x="739881" y="2832628"/>
              <a:chExt cx="4546093" cy="649224"/>
            </a:xfrm>
          </p:grpSpPr>
          <p:sp>
            <p:nvSpPr>
              <p:cNvPr id="75" name="Rectangle 43">
                <a:extLst>
                  <a:ext uri="{FF2B5EF4-FFF2-40B4-BE49-F238E27FC236}">
                    <a16:creationId xmlns:a16="http://schemas.microsoft.com/office/drawing/2014/main" id="{3F3640F9-16B9-A461-5330-504578D339EC}"/>
                  </a:ext>
                </a:extLst>
              </p:cNvPr>
              <p:cNvSpPr/>
              <p:nvPr/>
            </p:nvSpPr>
            <p:spPr>
              <a:xfrm>
                <a:off x="739881" y="2832628"/>
                <a:ext cx="4546093" cy="649224"/>
              </a:xfrm>
              <a:prstGeom prst="rect">
                <a:avLst/>
              </a:prstGeom>
              <a:solidFill>
                <a:schemeClr val="bg1">
                  <a:alpha val="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 err="1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历史批次数据库</a:t>
                </a:r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6" name="Rectangle 44">
                <a:extLst>
                  <a:ext uri="{FF2B5EF4-FFF2-40B4-BE49-F238E27FC236}">
                    <a16:creationId xmlns:a16="http://schemas.microsoft.com/office/drawing/2014/main" id="{6EFDEF1A-26E7-EC9C-EDD2-B4F271E319BD}"/>
                  </a:ext>
                </a:extLst>
              </p:cNvPr>
              <p:cNvSpPr/>
              <p:nvPr/>
            </p:nvSpPr>
            <p:spPr>
              <a:xfrm>
                <a:off x="739882" y="2832628"/>
                <a:ext cx="217048" cy="649224"/>
              </a:xfrm>
              <a:prstGeom prst="rect">
                <a:avLst/>
              </a:prstGeom>
              <a:solidFill>
                <a:srgbClr val="00206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77" name="组合 76">
              <a:extLst>
                <a:ext uri="{FF2B5EF4-FFF2-40B4-BE49-F238E27FC236}">
                  <a16:creationId xmlns:a16="http://schemas.microsoft.com/office/drawing/2014/main" id="{C3939622-2DB0-309A-1E89-CB844535FB1C}"/>
                </a:ext>
              </a:extLst>
            </p:cNvPr>
            <p:cNvGrpSpPr/>
            <p:nvPr/>
          </p:nvGrpSpPr>
          <p:grpSpPr>
            <a:xfrm>
              <a:off x="9467432" y="5213773"/>
              <a:ext cx="2144660" cy="566517"/>
              <a:chOff x="739881" y="2832628"/>
              <a:chExt cx="4546093" cy="649224"/>
            </a:xfrm>
          </p:grpSpPr>
          <p:sp>
            <p:nvSpPr>
              <p:cNvPr id="78" name="Rectangle 43">
                <a:extLst>
                  <a:ext uri="{FF2B5EF4-FFF2-40B4-BE49-F238E27FC236}">
                    <a16:creationId xmlns:a16="http://schemas.microsoft.com/office/drawing/2014/main" id="{C9E1D130-B28D-C146-42D9-E268FFB84898}"/>
                  </a:ext>
                </a:extLst>
              </p:cNvPr>
              <p:cNvSpPr/>
              <p:nvPr/>
            </p:nvSpPr>
            <p:spPr>
              <a:xfrm>
                <a:off x="739881" y="2832628"/>
                <a:ext cx="4546093" cy="649224"/>
              </a:xfrm>
              <a:prstGeom prst="rect">
                <a:avLst/>
              </a:prstGeom>
              <a:solidFill>
                <a:schemeClr val="bg1">
                  <a:alpha val="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 err="1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把表看板</a:t>
                </a:r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9" name="Rectangle 44">
                <a:extLst>
                  <a:ext uri="{FF2B5EF4-FFF2-40B4-BE49-F238E27FC236}">
                    <a16:creationId xmlns:a16="http://schemas.microsoft.com/office/drawing/2014/main" id="{F6BDF216-DB68-F7BE-B58D-86EB8CD33AEB}"/>
                  </a:ext>
                </a:extLst>
              </p:cNvPr>
              <p:cNvSpPr/>
              <p:nvPr/>
            </p:nvSpPr>
            <p:spPr>
              <a:xfrm>
                <a:off x="739882" y="2832628"/>
                <a:ext cx="217048" cy="649224"/>
              </a:xfrm>
              <a:prstGeom prst="rect">
                <a:avLst/>
              </a:prstGeom>
              <a:solidFill>
                <a:srgbClr val="00206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80" name="组合 79">
              <a:extLst>
                <a:ext uri="{FF2B5EF4-FFF2-40B4-BE49-F238E27FC236}">
                  <a16:creationId xmlns:a16="http://schemas.microsoft.com/office/drawing/2014/main" id="{C44AE7A0-8248-0293-7937-B407A5BD5E5F}"/>
                </a:ext>
              </a:extLst>
            </p:cNvPr>
            <p:cNvGrpSpPr/>
            <p:nvPr/>
          </p:nvGrpSpPr>
          <p:grpSpPr>
            <a:xfrm>
              <a:off x="8053357" y="5954766"/>
              <a:ext cx="2144660" cy="566517"/>
              <a:chOff x="739881" y="2832628"/>
              <a:chExt cx="4546093" cy="649224"/>
            </a:xfrm>
          </p:grpSpPr>
          <p:sp>
            <p:nvSpPr>
              <p:cNvPr id="81" name="Rectangle 43">
                <a:extLst>
                  <a:ext uri="{FF2B5EF4-FFF2-40B4-BE49-F238E27FC236}">
                    <a16:creationId xmlns:a16="http://schemas.microsoft.com/office/drawing/2014/main" id="{A2932487-F003-5A4E-4229-B0D681975294}"/>
                  </a:ext>
                </a:extLst>
              </p:cNvPr>
              <p:cNvSpPr/>
              <p:nvPr/>
            </p:nvSpPr>
            <p:spPr>
              <a:xfrm>
                <a:off x="739881" y="2832628"/>
                <a:ext cx="4546093" cy="649224"/>
              </a:xfrm>
              <a:prstGeom prst="rect">
                <a:avLst/>
              </a:prstGeom>
              <a:solidFill>
                <a:schemeClr val="bg1">
                  <a:alpha val="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 err="1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系统接口</a:t>
                </a:r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Rectangle 44">
                <a:extLst>
                  <a:ext uri="{FF2B5EF4-FFF2-40B4-BE49-F238E27FC236}">
                    <a16:creationId xmlns:a16="http://schemas.microsoft.com/office/drawing/2014/main" id="{F5766F69-3590-A42D-76F1-7CA1090ED2B1}"/>
                  </a:ext>
                </a:extLst>
              </p:cNvPr>
              <p:cNvSpPr/>
              <p:nvPr/>
            </p:nvSpPr>
            <p:spPr>
              <a:xfrm>
                <a:off x="739882" y="2832628"/>
                <a:ext cx="217048" cy="649224"/>
              </a:xfrm>
              <a:prstGeom prst="rect">
                <a:avLst/>
              </a:prstGeom>
              <a:solidFill>
                <a:srgbClr val="00206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5" name="Text 0">
            <a:extLst>
              <a:ext uri="{FF2B5EF4-FFF2-40B4-BE49-F238E27FC236}">
                <a16:creationId xmlns:a16="http://schemas.microsoft.com/office/drawing/2014/main" id="{EBA02261-AED7-16EF-623B-B68332978790}"/>
              </a:ext>
            </a:extLst>
          </p:cNvPr>
          <p:cNvSpPr/>
          <p:nvPr/>
        </p:nvSpPr>
        <p:spPr>
          <a:xfrm>
            <a:off x="502920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CN" altLang="en-US" sz="22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端到端工艺流程自动化现状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68B60A7-3902-7994-6AB6-C5826F311F17}"/>
              </a:ext>
            </a:extLst>
          </p:cNvPr>
          <p:cNvSpPr/>
          <p:nvPr/>
        </p:nvSpPr>
        <p:spPr>
          <a:xfrm>
            <a:off x="9820691" y="489255"/>
            <a:ext cx="1819684" cy="45779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初步设想，待讨论</a:t>
            </a:r>
            <a:endParaRPr lang="en-US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515615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B960FD-3EEA-1350-0F8D-16408539B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AA73BBC9-C078-302D-7BBB-39066385287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415002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3" progId="TCLayout.ActiveDocument.1">
                  <p:embed/>
                </p:oleObj>
              </mc:Choice>
              <mc:Fallback>
                <p:oleObj name="think-cell Slide" r:id="rId4" imgW="473" imgH="473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A73BBC9-C078-302D-7BBB-39066385287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0">
            <a:extLst>
              <a:ext uri="{FF2B5EF4-FFF2-40B4-BE49-F238E27FC236}">
                <a16:creationId xmlns:a16="http://schemas.microsoft.com/office/drawing/2014/main" id="{8263E80B-C1F3-9394-9ACF-24E3A1DD7E72}"/>
              </a:ext>
            </a:extLst>
          </p:cNvPr>
          <p:cNvSpPr/>
          <p:nvPr/>
        </p:nvSpPr>
        <p:spPr>
          <a:xfrm>
            <a:off x="502920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2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目录</a:t>
            </a:r>
            <a:endParaRPr lang="en-US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591744-3956-35A3-F4BD-3E3BDCCA6679}"/>
              </a:ext>
            </a:extLst>
          </p:cNvPr>
          <p:cNvSpPr txBox="1"/>
          <p:nvPr/>
        </p:nvSpPr>
        <p:spPr>
          <a:xfrm>
            <a:off x="821802" y="1817225"/>
            <a:ext cx="5077428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1800"/>
              </a:spcAft>
              <a:buAutoNum type="arabicPeriod"/>
            </a:pP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项目背景与目标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AutoNum type="arabicPeriod"/>
            </a:pP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项目方法论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AutoNum type="arabicPeriod"/>
            </a:pPr>
            <a:r>
              <a:rPr lang="zh-CN" altLang="en-US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项目计划</a:t>
            </a:r>
            <a:endParaRPr lang="en-US" altLang="zh-CN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AutoNum type="arabicPeriod"/>
            </a:pP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过往项目分享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686780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价值带背景"/>
          <p:cNvSpPr/>
          <p:nvPr/>
        </p:nvSpPr>
        <p:spPr>
          <a:xfrm>
            <a:off x="0" y="5486400"/>
            <a:ext cx="12192000" cy="13716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txBody>
          <a:bodyPr wrap="square" lIns="27000" tIns="9000" rIns="27000" bIns="9000" anchor="ctr">
            <a:noAutofit/>
          </a:bodyPr>
          <a:lstStyle/>
          <a:p>
            <a:endParaRPr lang="zh-CN"/>
          </a:p>
        </p:txBody>
      </p:sp>
      <p:sp>
        <p:nvSpPr>
          <p:cNvPr id="101" name="标题强调条"/>
          <p:cNvSpPr/>
          <p:nvPr/>
        </p:nvSpPr>
        <p:spPr>
          <a:xfrm>
            <a:off x="381000" y="254000"/>
            <a:ext cx="76200" cy="43180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txBody>
          <a:bodyPr wrap="square" lIns="27000" tIns="9000" rIns="27000" bIns="9000" anchor="ctr">
            <a:noAutofit/>
          </a:bodyPr>
          <a:lstStyle/>
          <a:p>
            <a:endParaRPr lang="zh-CN"/>
          </a:p>
        </p:txBody>
      </p:sp>
      <p:sp>
        <p:nvSpPr>
          <p:cNvPr id="102" name="页面标题"/>
          <p:cNvSpPr/>
          <p:nvPr/>
        </p:nvSpPr>
        <p:spPr>
          <a:xfrm>
            <a:off x="558800" y="203200"/>
            <a:ext cx="76200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27000" bIns="9000" anchor="ctr">
            <a:noAutofit/>
          </a:bodyPr>
          <a:lstStyle/>
          <a:p>
            <a:pPr>
              <a:buNone/>
            </a:pPr>
            <a:r>
              <a:rPr lang="zh-CN" altLang="en-US" sz="2400" b="1" dirty="0">
                <a:solidFill>
                  <a:srgbClr val="16324F"/>
                </a:solidFill>
              </a:rPr>
              <a:t>AI驱动的明胶智能混配数字化闭环</a:t>
            </a:r>
          </a:p>
        </p:txBody>
      </p:sp>
      <p:sp>
        <p:nvSpPr>
          <p:cNvPr id="103" name="核心结论"/>
          <p:cNvSpPr/>
          <p:nvPr/>
        </p:nvSpPr>
        <p:spPr>
          <a:xfrm>
            <a:off x="558800" y="660400"/>
            <a:ext cx="80010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27000" bIns="900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CN" altLang="en-US" sz="1050" dirty="0">
                <a:solidFill>
                  <a:srgbClr val="44505E"/>
                </a:solidFill>
              </a:rPr>
              <a:t>以半成品库存数据为基础，通过自然语言交互、数据智能筛选与配方优化算法，将传统人工试配升级为</a:t>
            </a:r>
            <a:r>
              <a:rPr lang="zh-CN" altLang="en-US" sz="1050" b="1" dirty="0">
                <a:solidFill>
                  <a:srgbClr val="00796B"/>
                </a:solidFill>
              </a:rPr>
              <a:t>“可计算、可比较、可执行、可追溯、可持续优化”</a:t>
            </a:r>
            <a:r>
              <a:rPr lang="zh-CN" altLang="en-US" sz="1050" dirty="0">
                <a:solidFill>
                  <a:srgbClr val="44505E"/>
                </a:solidFill>
              </a:rPr>
              <a:t>的智能混配闭环。</a:t>
            </a:r>
          </a:p>
        </p:txBody>
      </p:sp>
      <p:sp>
        <p:nvSpPr>
          <p:cNvPr id="104" name="价值标签1"/>
          <p:cNvSpPr/>
          <p:nvPr/>
        </p:nvSpPr>
        <p:spPr>
          <a:xfrm>
            <a:off x="8737600" y="228600"/>
            <a:ext cx="1016000" cy="22860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txBody>
          <a:bodyPr wrap="square" lIns="9000" tIns="0" rIns="9000" bIns="0" anchor="ctr">
            <a:noAutofit/>
          </a:bodyPr>
          <a:lstStyle/>
          <a:p>
            <a:pPr algn="ctr">
              <a:buNone/>
            </a:pPr>
            <a:r>
              <a:rPr lang="zh-CN" altLang="en-US" sz="800" b="1" dirty="0">
                <a:solidFill>
                  <a:srgbClr val="FFFFFF"/>
                </a:solidFill>
              </a:rPr>
              <a:t>分钟级配方计算</a:t>
            </a:r>
          </a:p>
        </p:txBody>
      </p:sp>
      <p:sp>
        <p:nvSpPr>
          <p:cNvPr id="105" name="价值标签2"/>
          <p:cNvSpPr/>
          <p:nvPr/>
        </p:nvSpPr>
        <p:spPr>
          <a:xfrm>
            <a:off x="9804400" y="228600"/>
            <a:ext cx="1016000" cy="22860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txBody>
          <a:bodyPr wrap="square" lIns="9000" tIns="0" rIns="9000" bIns="0" anchor="ctr">
            <a:noAutofit/>
          </a:bodyPr>
          <a:lstStyle/>
          <a:p>
            <a:pPr algn="ctr">
              <a:buNone/>
            </a:pPr>
            <a:r>
              <a:rPr lang="zh-CN" altLang="en-US" sz="800" b="1" dirty="0">
                <a:solidFill>
                  <a:srgbClr val="FFFFFF"/>
                </a:solidFill>
              </a:rPr>
              <a:t>3—5套方案比较</a:t>
            </a:r>
          </a:p>
        </p:txBody>
      </p:sp>
      <p:sp>
        <p:nvSpPr>
          <p:cNvPr id="106" name="价值标签3"/>
          <p:cNvSpPr/>
          <p:nvPr/>
        </p:nvSpPr>
        <p:spPr>
          <a:xfrm>
            <a:off x="10871200" y="228600"/>
            <a:ext cx="1016000" cy="22860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txBody>
          <a:bodyPr wrap="square" lIns="9000" tIns="0" rIns="9000" bIns="0" anchor="ctr">
            <a:noAutofit/>
          </a:bodyPr>
          <a:lstStyle/>
          <a:p>
            <a:pPr algn="ctr">
              <a:buNone/>
            </a:pPr>
            <a:r>
              <a:rPr lang="zh-CN" altLang="en-US" sz="800" b="1" dirty="0">
                <a:solidFill>
                  <a:srgbClr val="FFFFFF"/>
                </a:solidFill>
              </a:rPr>
              <a:t>冻力保下限</a:t>
            </a:r>
          </a:p>
        </p:txBody>
      </p:sp>
      <p:sp>
        <p:nvSpPr>
          <p:cNvPr id="107" name="价值标签4"/>
          <p:cNvSpPr/>
          <p:nvPr/>
        </p:nvSpPr>
        <p:spPr>
          <a:xfrm>
            <a:off x="8737600" y="508000"/>
            <a:ext cx="1016000" cy="22860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txBody>
          <a:bodyPr wrap="square" lIns="9000" tIns="0" rIns="9000" bIns="0" anchor="ctr">
            <a:noAutofit/>
          </a:bodyPr>
          <a:lstStyle/>
          <a:p>
            <a:pPr algn="ctr">
              <a:buNone/>
            </a:pPr>
            <a:r>
              <a:rPr lang="zh-CN" altLang="en-US" sz="800" b="1" dirty="0">
                <a:solidFill>
                  <a:srgbClr val="FFFFFF"/>
                </a:solidFill>
              </a:rPr>
              <a:t>库存实时联动</a:t>
            </a:r>
          </a:p>
        </p:txBody>
      </p:sp>
      <p:sp>
        <p:nvSpPr>
          <p:cNvPr id="108" name="价值标签5"/>
          <p:cNvSpPr/>
          <p:nvPr/>
        </p:nvSpPr>
        <p:spPr>
          <a:xfrm>
            <a:off x="9804400" y="508000"/>
            <a:ext cx="1016000" cy="22860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txBody>
          <a:bodyPr wrap="square" lIns="9000" tIns="0" rIns="9000" bIns="0" anchor="ctr">
            <a:noAutofit/>
          </a:bodyPr>
          <a:lstStyle/>
          <a:p>
            <a:pPr algn="ctr">
              <a:buNone/>
            </a:pPr>
            <a:r>
              <a:rPr lang="zh-CN" altLang="en-US" sz="800" b="1" dirty="0">
                <a:solidFill>
                  <a:srgbClr val="FFFFFF"/>
                </a:solidFill>
              </a:rPr>
              <a:t>全过程可追溯</a:t>
            </a:r>
          </a:p>
        </p:txBody>
      </p:sp>
      <p:sp>
        <p:nvSpPr>
          <p:cNvPr id="109" name="价值标签6"/>
          <p:cNvSpPr/>
          <p:nvPr/>
        </p:nvSpPr>
        <p:spPr>
          <a:xfrm>
            <a:off x="10871200" y="508000"/>
            <a:ext cx="1016000" cy="22860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txBody>
          <a:bodyPr wrap="square" lIns="9000" tIns="0" rIns="9000" bIns="0" anchor="ctr">
            <a:noAutofit/>
          </a:bodyPr>
          <a:lstStyle/>
          <a:p>
            <a:pPr algn="ctr">
              <a:buNone/>
            </a:pPr>
            <a:r>
              <a:rPr lang="zh-CN" altLang="en-US" sz="800" b="1" dirty="0">
                <a:solidFill>
                  <a:srgbClr val="FFFFFF"/>
                </a:solidFill>
              </a:rPr>
              <a:t>结果持续学习</a:t>
            </a:r>
          </a:p>
        </p:txBody>
      </p:sp>
      <p:sp>
        <p:nvSpPr>
          <p:cNvPr id="130" name="左模块容器"/>
          <p:cNvSpPr/>
          <p:nvPr/>
        </p:nvSpPr>
        <p:spPr>
          <a:xfrm>
            <a:off x="304800" y="1143000"/>
            <a:ext cx="2540000" cy="299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B3A5C"/>
            </a:solidFill>
          </a:ln>
        </p:spPr>
        <p:txBody>
          <a:bodyPr wrap="square" lIns="27000" tIns="9000" rIns="27000" bIns="9000" anchor="ctr">
            <a:noAutofit/>
          </a:bodyPr>
          <a:lstStyle/>
          <a:p>
            <a:endParaRPr lang="zh-CN"/>
          </a:p>
        </p:txBody>
      </p:sp>
      <p:sp>
        <p:nvSpPr>
          <p:cNvPr id="131" name="左模块标题条"/>
          <p:cNvSpPr/>
          <p:nvPr/>
        </p:nvSpPr>
        <p:spPr>
          <a:xfrm>
            <a:off x="304800" y="1143000"/>
            <a:ext cx="2540000" cy="3302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txBody>
          <a:bodyPr wrap="square" lIns="27000" tIns="9000" rIns="27000" bIns="9000" anchor="ctr">
            <a:noAutofit/>
          </a:bodyPr>
          <a:lstStyle/>
          <a:p>
            <a:pPr algn="ctr">
              <a:buNone/>
            </a:pPr>
            <a:r>
              <a:rPr lang="zh-CN" altLang="en-US" sz="1200" b="1" dirty="0">
                <a:solidFill>
                  <a:srgbClr val="FFFFFF"/>
                </a:solidFill>
              </a:rPr>
              <a:t>半成品库存数字化</a:t>
            </a:r>
          </a:p>
        </p:txBody>
      </p:sp>
      <p:sp>
        <p:nvSpPr>
          <p:cNvPr id="132" name="数据库图标"/>
          <p:cNvSpPr/>
          <p:nvPr/>
        </p:nvSpPr>
        <p:spPr>
          <a:xfrm>
            <a:off x="419100" y="1193800"/>
            <a:ext cx="203200" cy="228600"/>
          </a:xfrm>
          <a:prstGeom prst="can">
            <a:avLst/>
          </a:prstGeom>
          <a:solidFill>
            <a:srgbClr val="FFFFFF"/>
          </a:solidFill>
          <a:ln>
            <a:noFill/>
          </a:ln>
        </p:spPr>
        <p:txBody>
          <a:bodyPr wrap="square" lIns="27000" tIns="9000" rIns="27000" bIns="9000" anchor="ctr">
            <a:noAutofit/>
          </a:bodyPr>
          <a:lstStyle/>
          <a:p>
            <a:endParaRPr lang="zh-CN"/>
          </a:p>
        </p:txBody>
      </p:sp>
      <p:sp>
        <p:nvSpPr>
          <p:cNvPr id="133" name="库存步骤1"/>
          <p:cNvSpPr/>
          <p:nvPr/>
        </p:nvSpPr>
        <p:spPr>
          <a:xfrm>
            <a:off x="508000" y="1549400"/>
            <a:ext cx="2133600" cy="254000"/>
          </a:xfrm>
          <a:prstGeom prst="rect">
            <a:avLst/>
          </a:prstGeom>
          <a:solidFill>
            <a:srgbClr val="E9ECEF"/>
          </a:solidFill>
          <a:ln w="9525">
            <a:solidFill>
              <a:srgbClr val="1B3A5C"/>
            </a:solidFill>
          </a:ln>
        </p:spPr>
        <p:txBody>
          <a:bodyPr wrap="square" lIns="27000" tIns="0" rIns="27000" bIns="0" anchor="ctr">
            <a:noAutofit/>
          </a:bodyPr>
          <a:lstStyle/>
          <a:p>
            <a:pPr algn="ctr">
              <a:buNone/>
            </a:pPr>
            <a:r>
              <a:rPr lang="zh-CN" altLang="en-US" sz="900" dirty="0">
                <a:solidFill>
                  <a:srgbClr val="5A6472"/>
                </a:solidFill>
              </a:rPr>
              <a:t>Excel数据上传</a:t>
            </a:r>
          </a:p>
        </p:txBody>
      </p:sp>
      <p:sp>
        <p:nvSpPr>
          <p:cNvPr id="134" name="库存箭头1"/>
          <p:cNvSpPr/>
          <p:nvPr/>
        </p:nvSpPr>
        <p:spPr>
          <a:xfrm>
            <a:off x="1498600" y="1816100"/>
            <a:ext cx="152400" cy="101600"/>
          </a:xfrm>
          <a:prstGeom prst="downArrow">
            <a:avLst/>
          </a:prstGeom>
          <a:solidFill>
            <a:srgbClr val="1B3A5C"/>
          </a:solidFill>
          <a:ln>
            <a:noFill/>
          </a:ln>
        </p:spPr>
        <p:txBody>
          <a:bodyPr wrap="square" lIns="27000" tIns="9000" rIns="27000" bIns="9000" anchor="ctr">
            <a:noAutofit/>
          </a:bodyPr>
          <a:lstStyle/>
          <a:p>
            <a:endParaRPr lang="zh-CN"/>
          </a:p>
        </p:txBody>
      </p:sp>
      <p:sp>
        <p:nvSpPr>
          <p:cNvPr id="135" name="库存步骤2"/>
          <p:cNvSpPr/>
          <p:nvPr/>
        </p:nvSpPr>
        <p:spPr>
          <a:xfrm>
            <a:off x="508000" y="1930400"/>
            <a:ext cx="2133600" cy="254000"/>
          </a:xfrm>
          <a:prstGeom prst="rect">
            <a:avLst/>
          </a:prstGeom>
          <a:solidFill>
            <a:srgbClr val="EAF0F6"/>
          </a:solidFill>
          <a:ln w="9525">
            <a:solidFill>
              <a:srgbClr val="1B3A5C"/>
            </a:solidFill>
          </a:ln>
        </p:spPr>
        <p:txBody>
          <a:bodyPr wrap="square" lIns="27000" tIns="0" rIns="27000" bIns="0" anchor="ctr">
            <a:noAutofit/>
          </a:bodyPr>
          <a:lstStyle/>
          <a:p>
            <a:pPr algn="ctr">
              <a:buNone/>
            </a:pPr>
            <a:r>
              <a:rPr lang="zh-CN" altLang="en-US" sz="900" dirty="0">
                <a:solidFill>
                  <a:srgbClr val="16324F"/>
                </a:solidFill>
              </a:rPr>
              <a:t>Polars清洗校验</a:t>
            </a:r>
          </a:p>
        </p:txBody>
      </p:sp>
      <p:sp>
        <p:nvSpPr>
          <p:cNvPr id="136" name="库存箭头2"/>
          <p:cNvSpPr/>
          <p:nvPr/>
        </p:nvSpPr>
        <p:spPr>
          <a:xfrm>
            <a:off x="1498600" y="2197100"/>
            <a:ext cx="152400" cy="101600"/>
          </a:xfrm>
          <a:prstGeom prst="downArrow">
            <a:avLst/>
          </a:prstGeom>
          <a:solidFill>
            <a:srgbClr val="1B3A5C"/>
          </a:solidFill>
          <a:ln>
            <a:noFill/>
          </a:ln>
        </p:spPr>
        <p:txBody>
          <a:bodyPr wrap="square" lIns="27000" tIns="9000" rIns="27000" bIns="9000" anchor="ctr">
            <a:noAutofit/>
          </a:bodyPr>
          <a:lstStyle/>
          <a:p>
            <a:endParaRPr lang="zh-CN"/>
          </a:p>
        </p:txBody>
      </p:sp>
      <p:sp>
        <p:nvSpPr>
          <p:cNvPr id="137" name="库存步骤3"/>
          <p:cNvSpPr/>
          <p:nvPr/>
        </p:nvSpPr>
        <p:spPr>
          <a:xfrm>
            <a:off x="508000" y="2311400"/>
            <a:ext cx="2133600" cy="254000"/>
          </a:xfrm>
          <a:prstGeom prst="rect">
            <a:avLst/>
          </a:prstGeom>
          <a:solidFill>
            <a:srgbClr val="EAF0F6"/>
          </a:solidFill>
          <a:ln w="9525">
            <a:solidFill>
              <a:srgbClr val="1B3A5C"/>
            </a:solidFill>
          </a:ln>
        </p:spPr>
        <p:txBody>
          <a:bodyPr wrap="square" lIns="27000" tIns="0" rIns="27000" bIns="0" anchor="ctr">
            <a:noAutofit/>
          </a:bodyPr>
          <a:lstStyle/>
          <a:p>
            <a:pPr algn="ctr">
              <a:buNone/>
            </a:pPr>
            <a:r>
              <a:rPr lang="zh-CN" altLang="en-US" sz="900" dirty="0">
                <a:solidFill>
                  <a:srgbClr val="16324F"/>
                </a:solidFill>
              </a:rPr>
              <a:t>异常及重复检查</a:t>
            </a:r>
          </a:p>
        </p:txBody>
      </p:sp>
      <p:sp>
        <p:nvSpPr>
          <p:cNvPr id="138" name="库存箭头3"/>
          <p:cNvSpPr/>
          <p:nvPr/>
        </p:nvSpPr>
        <p:spPr>
          <a:xfrm>
            <a:off x="1498600" y="2578100"/>
            <a:ext cx="152400" cy="101600"/>
          </a:xfrm>
          <a:prstGeom prst="downArrow">
            <a:avLst/>
          </a:prstGeom>
          <a:solidFill>
            <a:srgbClr val="1B3A5C"/>
          </a:solidFill>
          <a:ln>
            <a:noFill/>
          </a:ln>
        </p:spPr>
        <p:txBody>
          <a:bodyPr wrap="square" lIns="27000" tIns="9000" rIns="27000" bIns="9000" anchor="ctr">
            <a:noAutofit/>
          </a:bodyPr>
          <a:lstStyle/>
          <a:p>
            <a:endParaRPr lang="zh-CN"/>
          </a:p>
        </p:txBody>
      </p:sp>
      <p:sp>
        <p:nvSpPr>
          <p:cNvPr id="139" name="库存步骤4"/>
          <p:cNvSpPr/>
          <p:nvPr/>
        </p:nvSpPr>
        <p:spPr>
          <a:xfrm>
            <a:off x="508000" y="2692400"/>
            <a:ext cx="2133600" cy="254000"/>
          </a:xfrm>
          <a:prstGeom prst="rect">
            <a:avLst/>
          </a:prstGeom>
          <a:solidFill>
            <a:srgbClr val="EAF0F6"/>
          </a:solidFill>
          <a:ln w="9525">
            <a:solidFill>
              <a:srgbClr val="1B3A5C"/>
            </a:solidFill>
          </a:ln>
        </p:spPr>
        <p:txBody>
          <a:bodyPr wrap="square" lIns="27000" tIns="0" rIns="27000" bIns="0" anchor="ctr">
            <a:noAutofit/>
          </a:bodyPr>
          <a:lstStyle/>
          <a:p>
            <a:pPr algn="ctr">
              <a:buNone/>
            </a:pPr>
            <a:r>
              <a:rPr lang="zh-CN" altLang="en-US" sz="900" dirty="0">
                <a:solidFill>
                  <a:srgbClr val="16324F"/>
                </a:solidFill>
              </a:rPr>
              <a:t>写入阿里云RDS</a:t>
            </a:r>
          </a:p>
        </p:txBody>
      </p:sp>
      <p:sp>
        <p:nvSpPr>
          <p:cNvPr id="140" name="库存箭头4"/>
          <p:cNvSpPr/>
          <p:nvPr/>
        </p:nvSpPr>
        <p:spPr>
          <a:xfrm>
            <a:off x="1498600" y="2959100"/>
            <a:ext cx="152400" cy="101600"/>
          </a:xfrm>
          <a:prstGeom prst="downArrow">
            <a:avLst/>
          </a:prstGeom>
          <a:solidFill>
            <a:srgbClr val="1B3A5C"/>
          </a:solidFill>
          <a:ln>
            <a:noFill/>
          </a:ln>
        </p:spPr>
        <p:txBody>
          <a:bodyPr wrap="square" lIns="27000" tIns="9000" rIns="27000" bIns="9000" anchor="ctr">
            <a:noAutofit/>
          </a:bodyPr>
          <a:lstStyle/>
          <a:p>
            <a:endParaRPr lang="zh-CN"/>
          </a:p>
        </p:txBody>
      </p:sp>
      <p:sp>
        <p:nvSpPr>
          <p:cNvPr id="141" name="库存步骤5"/>
          <p:cNvSpPr/>
          <p:nvPr/>
        </p:nvSpPr>
        <p:spPr>
          <a:xfrm>
            <a:off x="508000" y="3073400"/>
            <a:ext cx="2133600" cy="254000"/>
          </a:xfrm>
          <a:prstGeom prst="rect">
            <a:avLst/>
          </a:prstGeom>
          <a:solidFill>
            <a:srgbClr val="1B3A5C"/>
          </a:solidFill>
          <a:ln w="9525">
            <a:solidFill>
              <a:srgbClr val="1B3A5C"/>
            </a:solidFill>
          </a:ln>
        </p:spPr>
        <p:txBody>
          <a:bodyPr wrap="square" lIns="27000" tIns="0" rIns="27000" bIns="0" anchor="ctr">
            <a:noAutofit/>
          </a:bodyPr>
          <a:lstStyle/>
          <a:p>
            <a:pPr algn="ctr">
              <a:buNone/>
            </a:pPr>
            <a:r>
              <a:rPr lang="zh-CN" altLang="en-US" sz="900" b="1" dirty="0">
                <a:solidFill>
                  <a:srgbClr val="FFFFFF"/>
                </a:solidFill>
              </a:rPr>
              <a:t>实时库存台账</a:t>
            </a:r>
          </a:p>
        </p:txBody>
      </p:sp>
      <p:sp>
        <p:nvSpPr>
          <p:cNvPr id="142" name="关键字段"/>
          <p:cNvSpPr/>
          <p:nvPr/>
        </p:nvSpPr>
        <p:spPr>
          <a:xfrm>
            <a:off x="431800" y="3403600"/>
            <a:ext cx="22860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9000" anchor="t">
            <a:noAutofit/>
          </a:bodyPr>
          <a:lstStyle/>
          <a:p>
            <a:pPr>
              <a:lnSpc>
                <a:spcPct val="110000"/>
              </a:lnSpc>
              <a:buNone/>
            </a:pPr>
            <a:r>
              <a:rPr lang="zh-CN" altLang="en-US" sz="800" b="1" dirty="0">
                <a:solidFill>
                  <a:srgbClr val="1B3A5C"/>
                </a:solidFill>
              </a:rPr>
              <a:t>关键字段：</a:t>
            </a:r>
            <a:r>
              <a:rPr lang="zh-CN" altLang="en-US" sz="800" dirty="0">
                <a:solidFill>
                  <a:srgbClr val="5A6472"/>
                </a:solidFill>
              </a:rPr>
              <a:t>批次编号｜库存重量｜冻力｜黏度｜生产日期｜库龄｜质量状态｜仓库位置｜锁定状态</a:t>
            </a:r>
          </a:p>
        </p:txBody>
      </p:sp>
      <p:sp>
        <p:nvSpPr>
          <p:cNvPr id="143" name="左变化说明"/>
          <p:cNvSpPr/>
          <p:nvPr/>
        </p:nvSpPr>
        <p:spPr>
          <a:xfrm>
            <a:off x="304800" y="4216400"/>
            <a:ext cx="254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9000" anchor="t">
            <a:noAutofit/>
          </a:bodyPr>
          <a:lstStyle/>
          <a:p>
            <a:pPr>
              <a:lnSpc>
                <a:spcPct val="110000"/>
              </a:lnSpc>
              <a:buNone/>
            </a:pPr>
            <a:r>
              <a:rPr lang="zh-CN" altLang="en-US" sz="850" dirty="0">
                <a:solidFill>
                  <a:srgbClr val="8A94A0"/>
                </a:solidFill>
              </a:rPr>
              <a:t>分散Excel、人工查找 → </a:t>
            </a:r>
            <a:r>
              <a:rPr lang="zh-CN" altLang="en-US" sz="850" b="1" dirty="0">
                <a:solidFill>
                  <a:srgbClr val="00796B"/>
                </a:solidFill>
              </a:rPr>
              <a:t>统一数据底座·实时查询·完整追溯</a:t>
            </a:r>
          </a:p>
        </p:txBody>
      </p:sp>
      <p:sp>
        <p:nvSpPr>
          <p:cNvPr id="144" name="主流程箭头1"/>
          <p:cNvSpPr/>
          <p:nvPr/>
        </p:nvSpPr>
        <p:spPr>
          <a:xfrm>
            <a:off x="2882900" y="2489200"/>
            <a:ext cx="279400" cy="228600"/>
          </a:xfrm>
          <a:prstGeom prst="rightArrow">
            <a:avLst/>
          </a:prstGeom>
          <a:solidFill>
            <a:srgbClr val="1B3A5C"/>
          </a:solidFill>
          <a:ln>
            <a:noFill/>
          </a:ln>
        </p:spPr>
        <p:txBody>
          <a:bodyPr wrap="square" lIns="27000" tIns="9000" rIns="27000" bIns="9000" anchor="ctr">
            <a:noAutofit/>
          </a:bodyPr>
          <a:lstStyle/>
          <a:p>
            <a:endParaRPr lang="zh-CN"/>
          </a:p>
        </p:txBody>
      </p:sp>
      <p:sp>
        <p:nvSpPr>
          <p:cNvPr id="200" name="AI引擎容器"/>
          <p:cNvSpPr/>
          <p:nvPr/>
        </p:nvSpPr>
        <p:spPr>
          <a:xfrm>
            <a:off x="3175000" y="1143000"/>
            <a:ext cx="5740400" cy="3454400"/>
          </a:xfrm>
          <a:prstGeom prst="rect">
            <a:avLst/>
          </a:prstGeom>
          <a:solidFill>
            <a:srgbClr val="F0FAF9"/>
          </a:solidFill>
          <a:ln w="28575">
            <a:solidFill>
              <a:srgbClr val="00796B"/>
            </a:solidFill>
          </a:ln>
        </p:spPr>
        <p:txBody>
          <a:bodyPr wrap="square" lIns="27000" tIns="9000" rIns="27000" bIns="9000" anchor="ctr">
            <a:noAutofit/>
          </a:bodyPr>
          <a:lstStyle/>
          <a:p>
            <a:endParaRPr lang="zh-CN"/>
          </a:p>
        </p:txBody>
      </p:sp>
      <p:sp>
        <p:nvSpPr>
          <p:cNvPr id="201" name="AI引擎标题条"/>
          <p:cNvSpPr/>
          <p:nvPr/>
        </p:nvSpPr>
        <p:spPr>
          <a:xfrm>
            <a:off x="3175000" y="1143000"/>
            <a:ext cx="5740400" cy="35560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txBody>
          <a:bodyPr wrap="square" lIns="27000" tIns="9000" rIns="27000" bIns="9000" anchor="ctr">
            <a:noAutofit/>
          </a:bodyPr>
          <a:lstStyle/>
          <a:p>
            <a:pPr algn="ctr">
              <a:buNone/>
            </a:pPr>
            <a:r>
              <a:rPr lang="zh-CN" altLang="en-US" sz="1400" b="1" dirty="0">
                <a:solidFill>
                  <a:srgbClr val="FFFFFF"/>
                </a:solidFill>
              </a:rPr>
              <a:t>AI 智能配方决策引擎</a:t>
            </a:r>
          </a:p>
        </p:txBody>
      </p:sp>
      <p:sp>
        <p:nvSpPr>
          <p:cNvPr id="202" name="步骤1框"/>
          <p:cNvSpPr/>
          <p:nvPr/>
        </p:nvSpPr>
        <p:spPr>
          <a:xfrm>
            <a:off x="3276600" y="1549400"/>
            <a:ext cx="2717800" cy="939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96B"/>
            </a:solidFill>
          </a:ln>
        </p:spPr>
        <p:txBody>
          <a:bodyPr wrap="square" lIns="18000" tIns="7000" rIns="18000" bIns="9000" anchor="t">
            <a:noAutofit/>
          </a:bodyPr>
          <a:lstStyle/>
          <a:p>
            <a:pPr>
              <a:buNone/>
            </a:pPr>
            <a:r>
              <a:rPr lang="zh-CN" altLang="en-US" sz="950" b="1" dirty="0">
                <a:solidFill>
                  <a:srgbClr val="00695C"/>
                </a:solidFill>
              </a:rPr>
              <a:t>步骤1｜自然语言需求理解</a:t>
            </a:r>
          </a:p>
          <a:p>
            <a:pPr>
              <a:lnSpc>
                <a:spcPct val="105000"/>
              </a:lnSpc>
              <a:buNone/>
            </a:pPr>
            <a:r>
              <a:rPr lang="zh-CN" altLang="en-US" sz="800" i="1" dirty="0">
                <a:solidFill>
                  <a:srgbClr val="5A6472"/>
                </a:solidFill>
              </a:rPr>
              <a:t>“生产10吨胶囊用明胶，冻力不得低于200，优先消化老库存，最多使用5个批次。”</a:t>
            </a:r>
          </a:p>
          <a:p>
            <a:pPr>
              <a:lnSpc>
                <a:spcPct val="105000"/>
              </a:lnSpc>
              <a:buNone/>
            </a:pPr>
            <a:r>
              <a:rPr lang="zh-CN" altLang="en-US" sz="800" dirty="0">
                <a:solidFill>
                  <a:srgbClr val="16324F"/>
                </a:solidFill>
              </a:rPr>
              <a:t>识别订单要求·自动追问缺失参数·转为标准化计算条件</a:t>
            </a:r>
          </a:p>
          <a:p>
            <a:pPr>
              <a:buNone/>
            </a:pPr>
            <a:r>
              <a:rPr lang="zh-CN" altLang="en-US" sz="800" b="1" dirty="0">
                <a:solidFill>
                  <a:srgbClr val="1E7A46"/>
                </a:solidFill>
              </a:rPr>
              <a:t>自然语言理解与智能追问</a:t>
            </a:r>
          </a:p>
        </p:txBody>
      </p:sp>
      <p:sp>
        <p:nvSpPr>
          <p:cNvPr id="203" name="AI①"/>
          <p:cNvSpPr/>
          <p:nvPr/>
        </p:nvSpPr>
        <p:spPr>
          <a:xfrm>
            <a:off x="5461000" y="1447800"/>
            <a:ext cx="457200" cy="203200"/>
          </a:xfrm>
          <a:prstGeom prst="ellipse">
            <a:avLst/>
          </a:prstGeom>
          <a:solidFill>
            <a:srgbClr val="1E7A46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zh-CN" altLang="en-US" sz="800" b="1" dirty="0">
                <a:solidFill>
                  <a:srgbClr val="FFFFFF"/>
                </a:solidFill>
              </a:rPr>
              <a:t>AI①</a:t>
            </a:r>
          </a:p>
        </p:txBody>
      </p:sp>
      <p:sp>
        <p:nvSpPr>
          <p:cNvPr id="204" name="步骤2框"/>
          <p:cNvSpPr/>
          <p:nvPr/>
        </p:nvSpPr>
        <p:spPr>
          <a:xfrm>
            <a:off x="6096000" y="1549400"/>
            <a:ext cx="2717800" cy="939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96B"/>
            </a:solidFill>
          </a:ln>
        </p:spPr>
        <p:txBody>
          <a:bodyPr wrap="square" lIns="18000" tIns="7000" rIns="18000" bIns="9000" anchor="t">
            <a:noAutofit/>
          </a:bodyPr>
          <a:lstStyle/>
          <a:p>
            <a:pPr>
              <a:buNone/>
            </a:pPr>
            <a:r>
              <a:rPr lang="zh-CN" altLang="en-US" sz="950" b="1" dirty="0">
                <a:solidFill>
                  <a:srgbClr val="00695C"/>
                </a:solidFill>
              </a:rPr>
              <a:t>步骤2｜候选库存智能筛选</a:t>
            </a:r>
          </a:p>
          <a:p>
            <a:pPr>
              <a:lnSpc>
                <a:spcPct val="105000"/>
              </a:lnSpc>
              <a:buNone/>
            </a:pPr>
            <a:r>
              <a:rPr lang="zh-CN" altLang="en-US" sz="800" dirty="0">
                <a:solidFill>
                  <a:srgbClr val="16324F"/>
                </a:solidFill>
              </a:rPr>
              <a:t>RDS读取库存 → SQL条件初筛 → Polars高速处理</a:t>
            </a:r>
          </a:p>
          <a:p>
            <a:pPr>
              <a:lnSpc>
                <a:spcPct val="105000"/>
              </a:lnSpc>
              <a:buNone/>
            </a:pPr>
            <a:r>
              <a:rPr lang="zh-CN" altLang="en-US" sz="800" dirty="0">
                <a:solidFill>
                  <a:srgbClr val="16324F"/>
                </a:solidFill>
              </a:rPr>
              <a:t>排除：不合格｜无库存｜已锁定｜不兼容批次</a:t>
            </a:r>
          </a:p>
          <a:p>
            <a:pPr>
              <a:buNone/>
            </a:pPr>
            <a:r>
              <a:rPr lang="zh-CN" altLang="en-US" sz="800" b="1" dirty="0">
                <a:solidFill>
                  <a:srgbClr val="1E7A46"/>
                </a:solidFill>
              </a:rPr>
              <a:t>异常识别与规则匹配</a:t>
            </a:r>
          </a:p>
        </p:txBody>
      </p:sp>
      <p:sp>
        <p:nvSpPr>
          <p:cNvPr id="205" name="AI②"/>
          <p:cNvSpPr/>
          <p:nvPr/>
        </p:nvSpPr>
        <p:spPr>
          <a:xfrm>
            <a:off x="8280400" y="1447800"/>
            <a:ext cx="457200" cy="203200"/>
          </a:xfrm>
          <a:prstGeom prst="ellipse">
            <a:avLst/>
          </a:prstGeom>
          <a:solidFill>
            <a:srgbClr val="1E7A46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zh-CN" altLang="en-US" sz="800" b="1" dirty="0">
                <a:solidFill>
                  <a:srgbClr val="FFFFFF"/>
                </a:solidFill>
              </a:rPr>
              <a:t>AI②</a:t>
            </a:r>
          </a:p>
        </p:txBody>
      </p:sp>
      <p:sp>
        <p:nvSpPr>
          <p:cNvPr id="206" name="步骤3框"/>
          <p:cNvSpPr/>
          <p:nvPr/>
        </p:nvSpPr>
        <p:spPr>
          <a:xfrm>
            <a:off x="3276600" y="2565400"/>
            <a:ext cx="5537200" cy="81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96B"/>
            </a:solidFill>
          </a:ln>
        </p:spPr>
        <p:txBody>
          <a:bodyPr wrap="square" lIns="18000" tIns="6000" rIns="18000" bIns="9000" anchor="t">
            <a:noAutofit/>
          </a:bodyPr>
          <a:lstStyle/>
          <a:p>
            <a:pPr>
              <a:buNone/>
            </a:pPr>
            <a:r>
              <a:rPr lang="zh-CN" altLang="en-US" sz="950" b="1" dirty="0">
                <a:solidFill>
                  <a:srgbClr val="00695C"/>
                </a:solidFill>
              </a:rPr>
              <a:t>步骤3｜配方优化计算</a:t>
            </a:r>
            <a:r>
              <a:rPr lang="zh-CN" altLang="en-US" sz="800" b="1" dirty="0">
                <a:solidFill>
                  <a:srgbClr val="00796B"/>
                </a:solidFill>
              </a:rPr>
              <a:t>　MILP／CP-SAT 多目标优化算法</a:t>
            </a:r>
          </a:p>
        </p:txBody>
      </p:sp>
      <p:sp>
        <p:nvSpPr>
          <p:cNvPr id="207" name="公式框"/>
          <p:cNvSpPr/>
          <p:nvPr/>
        </p:nvSpPr>
        <p:spPr>
          <a:xfrm>
            <a:off x="3378200" y="2819400"/>
            <a:ext cx="2514600" cy="482600"/>
          </a:xfrm>
          <a:prstGeom prst="rect">
            <a:avLst/>
          </a:prstGeom>
          <a:solidFill>
            <a:srgbClr val="F0FAF9"/>
          </a:solidFill>
          <a:ln w="9525">
            <a:solidFill>
              <a:srgbClr val="00796B"/>
            </a:solidFill>
          </a:ln>
        </p:spPr>
        <p:txBody>
          <a:bodyPr wrap="square" lIns="9000" tIns="2000" rIns="9000" bIns="2000" anchor="ctr">
            <a:noAutofit/>
          </a:bodyPr>
          <a:lstStyle/>
          <a:p>
            <a:pPr algn="ctr">
              <a:lnSpc>
                <a:spcPct val="108000"/>
              </a:lnSpc>
              <a:buNone/>
            </a:pPr>
            <a:r>
              <a:rPr lang="zh-CN" altLang="en-US" sz="900" b="1" dirty="0">
                <a:solidFill>
                  <a:srgbClr val="16324F"/>
                </a:solidFill>
              </a:rPr>
              <a:t>Bmix ＝ Σ(xᵢ×Bᵢ) ／ Σxᵢ</a:t>
            </a:r>
          </a:p>
          <a:p>
            <a:pPr algn="ctr">
              <a:lnSpc>
                <a:spcPct val="108000"/>
              </a:lnSpc>
              <a:buNone/>
            </a:pPr>
            <a:r>
              <a:rPr lang="zh-CN" altLang="en-US" sz="900" b="1" dirty="0">
                <a:solidFill>
                  <a:srgbClr val="16324F"/>
                </a:solidFill>
              </a:rPr>
              <a:t>Bmix ≥ Btarget ＋ 安全余量 M</a:t>
            </a:r>
          </a:p>
        </p:txBody>
      </p:sp>
      <p:sp>
        <p:nvSpPr>
          <p:cNvPr id="208" name="约束说明"/>
          <p:cNvSpPr/>
          <p:nvPr/>
        </p:nvSpPr>
        <p:spPr>
          <a:xfrm>
            <a:off x="5969000" y="2794000"/>
            <a:ext cx="27686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9000" anchor="t">
            <a:noAutofit/>
          </a:bodyPr>
          <a:lstStyle/>
          <a:p>
            <a:pPr>
              <a:lnSpc>
                <a:spcPct val="106000"/>
              </a:lnSpc>
              <a:buNone/>
            </a:pPr>
            <a:r>
              <a:rPr lang="zh-CN" altLang="en-US" sz="850" b="1" dirty="0">
                <a:solidFill>
                  <a:srgbClr val="1B3A5C"/>
                </a:solidFill>
              </a:rPr>
              <a:t>冻力只能高不能低｜保下限、控超配</a:t>
            </a:r>
          </a:p>
          <a:p>
            <a:pPr>
              <a:lnSpc>
                <a:spcPct val="106000"/>
              </a:lnSpc>
              <a:buNone/>
            </a:pPr>
            <a:r>
              <a:rPr lang="zh-CN" altLang="en-US" sz="800" dirty="0">
                <a:solidFill>
                  <a:srgbClr val="5A6472"/>
                </a:solidFill>
              </a:rPr>
              <a:t>低于控制线直接淘汰；高于控制线尽量减少高冻力原料浪费</a:t>
            </a:r>
          </a:p>
          <a:p>
            <a:pPr>
              <a:buNone/>
            </a:pPr>
            <a:r>
              <a:rPr lang="zh-CN" altLang="en-US" sz="800" b="1" dirty="0">
                <a:solidFill>
                  <a:srgbClr val="1E7A46"/>
                </a:solidFill>
              </a:rPr>
              <a:t>质量·库存·成本·操作复杂度多目标优化</a:t>
            </a:r>
          </a:p>
        </p:txBody>
      </p:sp>
      <p:sp>
        <p:nvSpPr>
          <p:cNvPr id="209" name="AI③"/>
          <p:cNvSpPr/>
          <p:nvPr/>
        </p:nvSpPr>
        <p:spPr>
          <a:xfrm>
            <a:off x="8280400" y="2463800"/>
            <a:ext cx="457200" cy="203200"/>
          </a:xfrm>
          <a:prstGeom prst="ellipse">
            <a:avLst/>
          </a:prstGeom>
          <a:solidFill>
            <a:srgbClr val="1E7A46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zh-CN" altLang="en-US" sz="800" b="1" dirty="0">
                <a:solidFill>
                  <a:srgbClr val="FFFFFF"/>
                </a:solidFill>
              </a:rPr>
              <a:t>AI③</a:t>
            </a:r>
          </a:p>
        </p:txBody>
      </p:sp>
      <p:sp>
        <p:nvSpPr>
          <p:cNvPr id="210" name="步骤4标题"/>
          <p:cNvSpPr/>
          <p:nvPr/>
        </p:nvSpPr>
        <p:spPr>
          <a:xfrm>
            <a:off x="3276600" y="3429000"/>
            <a:ext cx="5537200" cy="203200"/>
          </a:xfrm>
          <a:prstGeom prst="rect">
            <a:avLst/>
          </a:prstGeom>
          <a:noFill/>
          <a:ln>
            <a:noFill/>
          </a:ln>
        </p:spPr>
        <p:txBody>
          <a:bodyPr wrap="square" lIns="18000" tIns="0" rIns="27000" bIns="0" anchor="ctr">
            <a:noAutofit/>
          </a:bodyPr>
          <a:lstStyle/>
          <a:p>
            <a:pPr>
              <a:buNone/>
            </a:pPr>
            <a:r>
              <a:rPr lang="zh-CN" altLang="en-US" sz="950" b="1" dirty="0">
                <a:solidFill>
                  <a:srgbClr val="00695C"/>
                </a:solidFill>
              </a:rPr>
              <a:t>步骤4｜生成并解释多套方案</a:t>
            </a:r>
            <a:r>
              <a:rPr lang="zh-CN" altLang="en-US" sz="800" b="1" dirty="0">
                <a:solidFill>
                  <a:srgbClr val="1E7A46"/>
                </a:solidFill>
              </a:rPr>
              <a:t>　方案解释·风险提示与推荐理由</a:t>
            </a:r>
          </a:p>
        </p:txBody>
      </p:sp>
      <p:sp>
        <p:nvSpPr>
          <p:cNvPr id="211" name="AI④"/>
          <p:cNvSpPr/>
          <p:nvPr/>
        </p:nvSpPr>
        <p:spPr>
          <a:xfrm>
            <a:off x="8280400" y="3327400"/>
            <a:ext cx="457200" cy="203200"/>
          </a:xfrm>
          <a:prstGeom prst="ellipse">
            <a:avLst/>
          </a:prstGeom>
          <a:solidFill>
            <a:srgbClr val="1E7A46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zh-CN" altLang="en-US" sz="800" b="1" dirty="0">
                <a:solidFill>
                  <a:srgbClr val="FFFFFF"/>
                </a:solidFill>
              </a:rPr>
              <a:t>AI④</a:t>
            </a:r>
          </a:p>
        </p:txBody>
      </p:sp>
      <p:sp>
        <p:nvSpPr>
          <p:cNvPr id="212" name="方案卡1"/>
          <p:cNvSpPr/>
          <p:nvPr/>
        </p:nvSpPr>
        <p:spPr>
          <a:xfrm>
            <a:off x="3327400" y="3683000"/>
            <a:ext cx="1295400" cy="584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96B"/>
            </a:solidFill>
          </a:ln>
        </p:spPr>
        <p:txBody>
          <a:bodyPr wrap="square" lIns="7000" tIns="3000" rIns="7000" bIns="3000" anchor="ctr">
            <a:noAutofit/>
          </a:bodyPr>
          <a:lstStyle/>
          <a:p>
            <a:pPr algn="ctr">
              <a:lnSpc>
                <a:spcPct val="108000"/>
              </a:lnSpc>
              <a:buNone/>
            </a:pPr>
            <a:r>
              <a:rPr lang="zh-CN" altLang="en-US" sz="850" b="1" dirty="0">
                <a:solidFill>
                  <a:srgbClr val="00695C"/>
                </a:solidFill>
              </a:rPr>
              <a:t>方案A｜质量最优</a:t>
            </a:r>
          </a:p>
          <a:p>
            <a:pPr algn="ctr">
              <a:lnSpc>
                <a:spcPct val="108000"/>
              </a:lnSpc>
              <a:buNone/>
            </a:pPr>
            <a:r>
              <a:rPr lang="zh-CN" altLang="en-US" sz="800" dirty="0">
                <a:solidFill>
                  <a:srgbClr val="16324F"/>
                </a:solidFill>
              </a:rPr>
              <a:t>冻力黏度表现最优</a:t>
            </a:r>
          </a:p>
        </p:txBody>
      </p:sp>
      <p:sp>
        <p:nvSpPr>
          <p:cNvPr id="213" name="方案卡2"/>
          <p:cNvSpPr/>
          <p:nvPr/>
        </p:nvSpPr>
        <p:spPr>
          <a:xfrm>
            <a:off x="4699000" y="3683000"/>
            <a:ext cx="1295400" cy="584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96B"/>
            </a:solidFill>
          </a:ln>
        </p:spPr>
        <p:txBody>
          <a:bodyPr wrap="square" lIns="7000" tIns="3000" rIns="7000" bIns="3000" anchor="ctr">
            <a:noAutofit/>
          </a:bodyPr>
          <a:lstStyle/>
          <a:p>
            <a:pPr algn="ctr">
              <a:lnSpc>
                <a:spcPct val="108000"/>
              </a:lnSpc>
              <a:buNone/>
            </a:pPr>
            <a:r>
              <a:rPr lang="zh-CN" altLang="en-US" sz="850" b="1" dirty="0">
                <a:solidFill>
                  <a:srgbClr val="00695C"/>
                </a:solidFill>
              </a:rPr>
              <a:t>方案B｜老库存优先</a:t>
            </a:r>
          </a:p>
          <a:p>
            <a:pPr algn="ctr">
              <a:lnSpc>
                <a:spcPct val="108000"/>
              </a:lnSpc>
              <a:buNone/>
            </a:pPr>
            <a:r>
              <a:rPr lang="zh-CN" altLang="en-US" sz="800" dirty="0">
                <a:solidFill>
                  <a:srgbClr val="16324F"/>
                </a:solidFill>
              </a:rPr>
              <a:t>优先消化长库龄批次</a:t>
            </a:r>
          </a:p>
        </p:txBody>
      </p:sp>
      <p:sp>
        <p:nvSpPr>
          <p:cNvPr id="214" name="方案卡3"/>
          <p:cNvSpPr/>
          <p:nvPr/>
        </p:nvSpPr>
        <p:spPr>
          <a:xfrm>
            <a:off x="6070600" y="3683000"/>
            <a:ext cx="1295400" cy="584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96B"/>
            </a:solidFill>
          </a:ln>
        </p:spPr>
        <p:txBody>
          <a:bodyPr wrap="square" lIns="7000" tIns="3000" rIns="7000" bIns="3000" anchor="ctr">
            <a:noAutofit/>
          </a:bodyPr>
          <a:lstStyle/>
          <a:p>
            <a:pPr algn="ctr">
              <a:lnSpc>
                <a:spcPct val="108000"/>
              </a:lnSpc>
              <a:buNone/>
            </a:pPr>
            <a:r>
              <a:rPr lang="zh-CN" altLang="en-US" sz="850" b="1" dirty="0">
                <a:solidFill>
                  <a:srgbClr val="00695C"/>
                </a:solidFill>
              </a:rPr>
              <a:t>方案C｜批次数最少</a:t>
            </a:r>
          </a:p>
          <a:p>
            <a:pPr algn="ctr">
              <a:lnSpc>
                <a:spcPct val="108000"/>
              </a:lnSpc>
              <a:buNone/>
            </a:pPr>
            <a:r>
              <a:rPr lang="zh-CN" altLang="en-US" sz="800" dirty="0">
                <a:solidFill>
                  <a:srgbClr val="16324F"/>
                </a:solidFill>
              </a:rPr>
              <a:t>操作最简·换批最少</a:t>
            </a:r>
          </a:p>
        </p:txBody>
      </p:sp>
      <p:sp>
        <p:nvSpPr>
          <p:cNvPr id="215" name="方案卡4"/>
          <p:cNvSpPr/>
          <p:nvPr/>
        </p:nvSpPr>
        <p:spPr>
          <a:xfrm>
            <a:off x="7442200" y="3683000"/>
            <a:ext cx="1295400" cy="584200"/>
          </a:xfrm>
          <a:prstGeom prst="roundRect">
            <a:avLst/>
          </a:prstGeom>
          <a:solidFill>
            <a:srgbClr val="00796B"/>
          </a:solidFill>
          <a:ln w="12700">
            <a:solidFill>
              <a:srgbClr val="00796B"/>
            </a:solidFill>
          </a:ln>
        </p:spPr>
        <p:txBody>
          <a:bodyPr wrap="square" lIns="7000" tIns="3000" rIns="7000" bIns="3000" anchor="ctr">
            <a:noAutofit/>
          </a:bodyPr>
          <a:lstStyle/>
          <a:p>
            <a:pPr algn="ctr">
              <a:lnSpc>
                <a:spcPct val="108000"/>
              </a:lnSpc>
              <a:buNone/>
            </a:pPr>
            <a:r>
              <a:rPr lang="zh-CN" altLang="en-US" sz="850" b="1" dirty="0">
                <a:solidFill>
                  <a:srgbClr val="FFFFFF"/>
                </a:solidFill>
              </a:rPr>
              <a:t>方案D｜综合推荐</a:t>
            </a:r>
          </a:p>
          <a:p>
            <a:pPr algn="ctr">
              <a:lnSpc>
                <a:spcPct val="108000"/>
              </a:lnSpc>
              <a:buNone/>
            </a:pPr>
            <a:r>
              <a:rPr lang="zh-CN" altLang="en-US" sz="800" dirty="0">
                <a:solidFill>
                  <a:srgbClr val="FFFFFF"/>
                </a:solidFill>
              </a:rPr>
              <a:t>质量·成本·库存平衡</a:t>
            </a:r>
          </a:p>
        </p:txBody>
      </p:sp>
      <p:sp>
        <p:nvSpPr>
          <p:cNvPr id="216" name="方案指标说明"/>
          <p:cNvSpPr/>
          <p:nvPr/>
        </p:nvSpPr>
        <p:spPr>
          <a:xfrm>
            <a:off x="3276600" y="4318000"/>
            <a:ext cx="55372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27000" bIns="0" anchor="ctr">
            <a:noAutofit/>
          </a:bodyPr>
          <a:lstStyle/>
          <a:p>
            <a:pPr algn="ctr">
              <a:buNone/>
            </a:pPr>
            <a:r>
              <a:rPr lang="zh-CN" altLang="en-US" sz="800" dirty="0">
                <a:solidFill>
                  <a:srgbClr val="5A6472"/>
                </a:solidFill>
              </a:rPr>
              <a:t>每套方案展示：理论冻力｜理论黏度｜使用批次数｜老库存消化率｜风险等级</a:t>
            </a:r>
          </a:p>
        </p:txBody>
      </p:sp>
      <p:sp>
        <p:nvSpPr>
          <p:cNvPr id="230" name="主流程箭头2"/>
          <p:cNvSpPr/>
          <p:nvPr/>
        </p:nvSpPr>
        <p:spPr>
          <a:xfrm>
            <a:off x="8953500" y="2489200"/>
            <a:ext cx="279400" cy="228600"/>
          </a:xfrm>
          <a:prstGeom prst="rightArrow">
            <a:avLst/>
          </a:prstGeom>
          <a:solidFill>
            <a:srgbClr val="1B3A5C"/>
          </a:solidFill>
          <a:ln>
            <a:noFill/>
          </a:ln>
        </p:spPr>
        <p:txBody>
          <a:bodyPr wrap="square" lIns="27000" tIns="9000" rIns="27000" bIns="9000" anchor="ctr">
            <a:noAutofit/>
          </a:bodyPr>
          <a:lstStyle/>
          <a:p>
            <a:endParaRPr lang="zh-CN"/>
          </a:p>
        </p:txBody>
      </p:sp>
      <p:sp>
        <p:nvSpPr>
          <p:cNvPr id="231" name="右模块容器"/>
          <p:cNvSpPr/>
          <p:nvPr/>
        </p:nvSpPr>
        <p:spPr>
          <a:xfrm>
            <a:off x="9271000" y="1143000"/>
            <a:ext cx="2616200" cy="299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B3A5C"/>
            </a:solidFill>
          </a:ln>
        </p:spPr>
        <p:txBody>
          <a:bodyPr wrap="square" lIns="27000" tIns="9000" rIns="27000" bIns="9000" anchor="ctr">
            <a:noAutofit/>
          </a:bodyPr>
          <a:lstStyle/>
          <a:p>
            <a:endParaRPr lang="zh-CN"/>
          </a:p>
        </p:txBody>
      </p:sp>
      <p:sp>
        <p:nvSpPr>
          <p:cNvPr id="232" name="右模块标题条"/>
          <p:cNvSpPr/>
          <p:nvPr/>
        </p:nvSpPr>
        <p:spPr>
          <a:xfrm>
            <a:off x="9271000" y="1143000"/>
            <a:ext cx="2616200" cy="3302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txBody>
          <a:bodyPr wrap="square" lIns="27000" tIns="9000" rIns="27000" bIns="9000" anchor="ctr">
            <a:noAutofit/>
          </a:bodyPr>
          <a:lstStyle/>
          <a:p>
            <a:pPr algn="ctr">
              <a:buNone/>
            </a:pPr>
            <a:r>
              <a:rPr lang="zh-CN" altLang="en-US" sz="1200" b="1" dirty="0">
                <a:solidFill>
                  <a:srgbClr val="FFFFFF"/>
                </a:solidFill>
              </a:rPr>
              <a:t>成品混配与执行</a:t>
            </a:r>
          </a:p>
        </p:txBody>
      </p:sp>
      <p:sp>
        <p:nvSpPr>
          <p:cNvPr id="233" name="执行步骤1"/>
          <p:cNvSpPr/>
          <p:nvPr/>
        </p:nvSpPr>
        <p:spPr>
          <a:xfrm>
            <a:off x="9474200" y="1549400"/>
            <a:ext cx="2209800" cy="203200"/>
          </a:xfrm>
          <a:prstGeom prst="rect">
            <a:avLst/>
          </a:prstGeom>
          <a:solidFill>
            <a:srgbClr val="E9ECEF"/>
          </a:solidFill>
          <a:ln w="9525">
            <a:solidFill>
              <a:srgbClr val="1B3A5C"/>
            </a:solidFill>
          </a:ln>
        </p:spPr>
        <p:txBody>
          <a:bodyPr wrap="square" lIns="27000" tIns="0" rIns="27000" bIns="0" anchor="ctr">
            <a:noAutofit/>
          </a:bodyPr>
          <a:lstStyle/>
          <a:p>
            <a:pPr algn="ctr">
              <a:buNone/>
            </a:pPr>
            <a:r>
              <a:rPr lang="zh-CN" altLang="en-US" sz="850" b="1" dirty="0">
                <a:solidFill>
                  <a:srgbClr val="5A6472"/>
                </a:solidFill>
              </a:rPr>
              <a:t>人工选择方案</a:t>
            </a:r>
          </a:p>
        </p:txBody>
      </p:sp>
      <p:sp>
        <p:nvSpPr>
          <p:cNvPr id="234" name="执行箭头1"/>
          <p:cNvSpPr/>
          <p:nvPr/>
        </p:nvSpPr>
        <p:spPr>
          <a:xfrm>
            <a:off x="10515600" y="1758950"/>
            <a:ext cx="127000" cy="63500"/>
          </a:xfrm>
          <a:prstGeom prst="downArrow">
            <a:avLst/>
          </a:prstGeom>
          <a:solidFill>
            <a:srgbClr val="1B3A5C"/>
          </a:solidFill>
          <a:ln>
            <a:noFill/>
          </a:ln>
        </p:spPr>
        <p:txBody>
          <a:bodyPr wrap="square" lIns="27000" tIns="9000" rIns="27000" bIns="9000" anchor="ctr">
            <a:noAutofit/>
          </a:bodyPr>
          <a:lstStyle/>
          <a:p>
            <a:endParaRPr lang="zh-CN"/>
          </a:p>
        </p:txBody>
      </p:sp>
      <p:sp>
        <p:nvSpPr>
          <p:cNvPr id="235" name="执行步骤2"/>
          <p:cNvSpPr/>
          <p:nvPr/>
        </p:nvSpPr>
        <p:spPr>
          <a:xfrm>
            <a:off x="9474200" y="1828800"/>
            <a:ext cx="2209800" cy="203200"/>
          </a:xfrm>
          <a:prstGeom prst="rect">
            <a:avLst/>
          </a:prstGeom>
          <a:solidFill>
            <a:srgbClr val="EAF0F6"/>
          </a:solidFill>
          <a:ln w="9525">
            <a:solidFill>
              <a:srgbClr val="1B3A5C"/>
            </a:solidFill>
          </a:ln>
        </p:spPr>
        <p:txBody>
          <a:bodyPr wrap="square" lIns="27000" tIns="0" rIns="27000" bIns="0" anchor="ctr">
            <a:noAutofit/>
          </a:bodyPr>
          <a:lstStyle/>
          <a:p>
            <a:pPr algn="ctr">
              <a:buNone/>
            </a:pPr>
            <a:r>
              <a:rPr lang="zh-CN" altLang="en-US" sz="850" dirty="0">
                <a:solidFill>
                  <a:srgbClr val="16324F"/>
                </a:solidFill>
              </a:rPr>
              <a:t>库存临时锁定</a:t>
            </a:r>
          </a:p>
        </p:txBody>
      </p:sp>
      <p:sp>
        <p:nvSpPr>
          <p:cNvPr id="236" name="执行箭头2"/>
          <p:cNvSpPr/>
          <p:nvPr/>
        </p:nvSpPr>
        <p:spPr>
          <a:xfrm>
            <a:off x="10515600" y="2038350"/>
            <a:ext cx="127000" cy="63500"/>
          </a:xfrm>
          <a:prstGeom prst="downArrow">
            <a:avLst/>
          </a:prstGeom>
          <a:solidFill>
            <a:srgbClr val="1B3A5C"/>
          </a:solidFill>
          <a:ln>
            <a:noFill/>
          </a:ln>
        </p:spPr>
        <p:txBody>
          <a:bodyPr wrap="square" lIns="27000" tIns="9000" rIns="27000" bIns="9000" anchor="ctr">
            <a:noAutofit/>
          </a:bodyPr>
          <a:lstStyle/>
          <a:p>
            <a:endParaRPr lang="zh-CN"/>
          </a:p>
        </p:txBody>
      </p:sp>
      <p:sp>
        <p:nvSpPr>
          <p:cNvPr id="237" name="执行步骤3"/>
          <p:cNvSpPr/>
          <p:nvPr/>
        </p:nvSpPr>
        <p:spPr>
          <a:xfrm>
            <a:off x="9474200" y="2108200"/>
            <a:ext cx="2209800" cy="203200"/>
          </a:xfrm>
          <a:prstGeom prst="rect">
            <a:avLst/>
          </a:prstGeom>
          <a:solidFill>
            <a:srgbClr val="EAF0F6"/>
          </a:solidFill>
          <a:ln w="9525">
            <a:solidFill>
              <a:srgbClr val="1B3A5C"/>
            </a:solidFill>
          </a:ln>
        </p:spPr>
        <p:txBody>
          <a:bodyPr wrap="square" lIns="27000" tIns="0" rIns="27000" bIns="0" anchor="ctr">
            <a:noAutofit/>
          </a:bodyPr>
          <a:lstStyle/>
          <a:p>
            <a:pPr algn="ctr">
              <a:buNone/>
            </a:pPr>
            <a:r>
              <a:rPr lang="zh-CN" altLang="en-US" sz="850" dirty="0">
                <a:solidFill>
                  <a:srgbClr val="16324F"/>
                </a:solidFill>
              </a:rPr>
              <a:t>再次校验库存</a:t>
            </a:r>
          </a:p>
        </p:txBody>
      </p:sp>
      <p:sp>
        <p:nvSpPr>
          <p:cNvPr id="238" name="执行箭头3"/>
          <p:cNvSpPr/>
          <p:nvPr/>
        </p:nvSpPr>
        <p:spPr>
          <a:xfrm>
            <a:off x="10515600" y="2317750"/>
            <a:ext cx="127000" cy="63500"/>
          </a:xfrm>
          <a:prstGeom prst="downArrow">
            <a:avLst/>
          </a:prstGeom>
          <a:solidFill>
            <a:srgbClr val="1B3A5C"/>
          </a:solidFill>
          <a:ln>
            <a:noFill/>
          </a:ln>
        </p:spPr>
        <p:txBody>
          <a:bodyPr wrap="square" lIns="27000" tIns="9000" rIns="27000" bIns="9000" anchor="ctr">
            <a:noAutofit/>
          </a:bodyPr>
          <a:lstStyle/>
          <a:p>
            <a:endParaRPr lang="zh-CN"/>
          </a:p>
        </p:txBody>
      </p:sp>
      <p:sp>
        <p:nvSpPr>
          <p:cNvPr id="239" name="执行步骤4"/>
          <p:cNvSpPr/>
          <p:nvPr/>
        </p:nvSpPr>
        <p:spPr>
          <a:xfrm>
            <a:off x="9474200" y="2387600"/>
            <a:ext cx="2209800" cy="203200"/>
          </a:xfrm>
          <a:prstGeom prst="rect">
            <a:avLst/>
          </a:prstGeom>
          <a:solidFill>
            <a:srgbClr val="EAF0F6"/>
          </a:solidFill>
          <a:ln w="9525">
            <a:solidFill>
              <a:srgbClr val="1B3A5C"/>
            </a:solidFill>
          </a:ln>
        </p:spPr>
        <p:txBody>
          <a:bodyPr wrap="square" lIns="27000" tIns="0" rIns="27000" bIns="0" anchor="ctr">
            <a:noAutofit/>
          </a:bodyPr>
          <a:lstStyle/>
          <a:p>
            <a:pPr algn="ctr">
              <a:buNone/>
            </a:pPr>
            <a:r>
              <a:rPr lang="zh-CN" altLang="en-US" sz="850" dirty="0">
                <a:solidFill>
                  <a:srgbClr val="16324F"/>
                </a:solidFill>
              </a:rPr>
              <a:t>生成配方单·领料单</a:t>
            </a:r>
          </a:p>
        </p:txBody>
      </p:sp>
      <p:sp>
        <p:nvSpPr>
          <p:cNvPr id="240" name="执行箭头4"/>
          <p:cNvSpPr/>
          <p:nvPr/>
        </p:nvSpPr>
        <p:spPr>
          <a:xfrm>
            <a:off x="10515600" y="2597150"/>
            <a:ext cx="127000" cy="63500"/>
          </a:xfrm>
          <a:prstGeom prst="downArrow">
            <a:avLst/>
          </a:prstGeom>
          <a:solidFill>
            <a:srgbClr val="1B3A5C"/>
          </a:solidFill>
          <a:ln>
            <a:noFill/>
          </a:ln>
        </p:spPr>
        <p:txBody>
          <a:bodyPr wrap="square" lIns="27000" tIns="9000" rIns="27000" bIns="9000" anchor="ctr">
            <a:noAutofit/>
          </a:bodyPr>
          <a:lstStyle/>
          <a:p>
            <a:endParaRPr lang="zh-CN"/>
          </a:p>
        </p:txBody>
      </p:sp>
      <p:sp>
        <p:nvSpPr>
          <p:cNvPr id="241" name="执行步骤5"/>
          <p:cNvSpPr/>
          <p:nvPr/>
        </p:nvSpPr>
        <p:spPr>
          <a:xfrm>
            <a:off x="9474200" y="2667000"/>
            <a:ext cx="2209800" cy="203200"/>
          </a:xfrm>
          <a:prstGeom prst="rect">
            <a:avLst/>
          </a:prstGeom>
          <a:solidFill>
            <a:srgbClr val="EAF0F6"/>
          </a:solidFill>
          <a:ln w="9525">
            <a:solidFill>
              <a:srgbClr val="1B3A5C"/>
            </a:solidFill>
          </a:ln>
        </p:spPr>
        <p:txBody>
          <a:bodyPr wrap="square" lIns="27000" tIns="0" rIns="27000" bIns="0" anchor="ctr">
            <a:noAutofit/>
          </a:bodyPr>
          <a:lstStyle/>
          <a:p>
            <a:pPr algn="ctr">
              <a:buNone/>
            </a:pPr>
            <a:r>
              <a:rPr lang="zh-CN" altLang="en-US" sz="850" dirty="0">
                <a:solidFill>
                  <a:srgbClr val="16324F"/>
                </a:solidFill>
              </a:rPr>
              <a:t>下发混配任务</a:t>
            </a:r>
          </a:p>
        </p:txBody>
      </p:sp>
      <p:sp>
        <p:nvSpPr>
          <p:cNvPr id="242" name="执行箭头5"/>
          <p:cNvSpPr/>
          <p:nvPr/>
        </p:nvSpPr>
        <p:spPr>
          <a:xfrm>
            <a:off x="10515600" y="2876550"/>
            <a:ext cx="127000" cy="63500"/>
          </a:xfrm>
          <a:prstGeom prst="downArrow">
            <a:avLst/>
          </a:prstGeom>
          <a:solidFill>
            <a:srgbClr val="1B3A5C"/>
          </a:solidFill>
          <a:ln>
            <a:noFill/>
          </a:ln>
        </p:spPr>
        <p:txBody>
          <a:bodyPr wrap="square" lIns="27000" tIns="9000" rIns="27000" bIns="9000" anchor="ctr">
            <a:noAutofit/>
          </a:bodyPr>
          <a:lstStyle/>
          <a:p>
            <a:endParaRPr lang="zh-CN"/>
          </a:p>
        </p:txBody>
      </p:sp>
      <p:sp>
        <p:nvSpPr>
          <p:cNvPr id="243" name="执行步骤6"/>
          <p:cNvSpPr/>
          <p:nvPr/>
        </p:nvSpPr>
        <p:spPr>
          <a:xfrm>
            <a:off x="9474200" y="2946400"/>
            <a:ext cx="2209800" cy="203200"/>
          </a:xfrm>
          <a:prstGeom prst="rect">
            <a:avLst/>
          </a:prstGeom>
          <a:solidFill>
            <a:srgbClr val="EAF0F6"/>
          </a:solidFill>
          <a:ln w="9525">
            <a:solidFill>
              <a:srgbClr val="1B3A5C"/>
            </a:solidFill>
          </a:ln>
        </p:spPr>
        <p:txBody>
          <a:bodyPr wrap="square" lIns="27000" tIns="0" rIns="27000" bIns="0" anchor="ctr">
            <a:noAutofit/>
          </a:bodyPr>
          <a:lstStyle/>
          <a:p>
            <a:pPr algn="ctr">
              <a:buNone/>
            </a:pPr>
            <a:r>
              <a:rPr lang="zh-CN" altLang="en-US" sz="850" dirty="0">
                <a:solidFill>
                  <a:srgbClr val="16324F"/>
                </a:solidFill>
              </a:rPr>
              <a:t>投料与成品混配</a:t>
            </a:r>
          </a:p>
        </p:txBody>
      </p:sp>
      <p:sp>
        <p:nvSpPr>
          <p:cNvPr id="244" name="执行箭头6"/>
          <p:cNvSpPr/>
          <p:nvPr/>
        </p:nvSpPr>
        <p:spPr>
          <a:xfrm>
            <a:off x="10515600" y="3155950"/>
            <a:ext cx="127000" cy="63500"/>
          </a:xfrm>
          <a:prstGeom prst="downArrow">
            <a:avLst/>
          </a:prstGeom>
          <a:solidFill>
            <a:srgbClr val="1B3A5C"/>
          </a:solidFill>
          <a:ln>
            <a:noFill/>
          </a:ln>
        </p:spPr>
        <p:txBody>
          <a:bodyPr wrap="square" lIns="27000" tIns="9000" rIns="27000" bIns="9000" anchor="ctr">
            <a:noAutofit/>
          </a:bodyPr>
          <a:lstStyle/>
          <a:p>
            <a:endParaRPr lang="zh-CN"/>
          </a:p>
        </p:txBody>
      </p:sp>
      <p:sp>
        <p:nvSpPr>
          <p:cNvPr id="245" name="执行步骤7"/>
          <p:cNvSpPr/>
          <p:nvPr/>
        </p:nvSpPr>
        <p:spPr>
          <a:xfrm>
            <a:off x="9474200" y="3225800"/>
            <a:ext cx="2209800" cy="203200"/>
          </a:xfrm>
          <a:prstGeom prst="rect">
            <a:avLst/>
          </a:prstGeom>
          <a:solidFill>
            <a:srgbClr val="EAF0F6"/>
          </a:solidFill>
          <a:ln w="9525">
            <a:solidFill>
              <a:srgbClr val="1B3A5C"/>
            </a:solidFill>
          </a:ln>
        </p:spPr>
        <p:txBody>
          <a:bodyPr wrap="square" lIns="27000" tIns="0" rIns="27000" bIns="0" anchor="ctr">
            <a:noAutofit/>
          </a:bodyPr>
          <a:lstStyle/>
          <a:p>
            <a:pPr algn="ctr">
              <a:buNone/>
            </a:pPr>
            <a:r>
              <a:rPr lang="zh-CN" altLang="en-US" sz="850" dirty="0">
                <a:solidFill>
                  <a:srgbClr val="16324F"/>
                </a:solidFill>
              </a:rPr>
              <a:t>扣减库存·记录流水</a:t>
            </a:r>
          </a:p>
        </p:txBody>
      </p:sp>
      <p:sp>
        <p:nvSpPr>
          <p:cNvPr id="246" name="库存机制说明"/>
          <p:cNvSpPr/>
          <p:nvPr/>
        </p:nvSpPr>
        <p:spPr>
          <a:xfrm>
            <a:off x="9398000" y="3530600"/>
            <a:ext cx="2362200" cy="533400"/>
          </a:xfrm>
          <a:prstGeom prst="rect">
            <a:avLst/>
          </a:prstGeom>
          <a:solidFill>
            <a:srgbClr val="E8F5EC"/>
          </a:solidFill>
          <a:ln w="12700">
            <a:solidFill>
              <a:srgbClr val="1E7A46"/>
            </a:solidFill>
          </a:ln>
        </p:spPr>
        <p:txBody>
          <a:bodyPr wrap="square" lIns="9000" tIns="3000" rIns="9000" bIns="3000" anchor="ctr">
            <a:noAutofit/>
          </a:bodyPr>
          <a:lstStyle/>
          <a:p>
            <a:pPr algn="ctr">
              <a:lnSpc>
                <a:spcPct val="110000"/>
              </a:lnSpc>
              <a:buNone/>
            </a:pPr>
            <a:r>
              <a:rPr lang="zh-CN" altLang="en-US" sz="850" b="1" dirty="0">
                <a:solidFill>
                  <a:srgbClr val="1E7A46"/>
                </a:solidFill>
              </a:rPr>
              <a:t>库存数据不直接删除</a:t>
            </a:r>
          </a:p>
          <a:p>
            <a:pPr algn="ctr">
              <a:lnSpc>
                <a:spcPct val="110000"/>
              </a:lnSpc>
              <a:buNone/>
            </a:pPr>
            <a:r>
              <a:rPr lang="zh-CN" altLang="en-US" sz="800" dirty="0">
                <a:solidFill>
                  <a:srgbClr val="1E7A46"/>
                </a:solidFill>
              </a:rPr>
              <a:t>锁定·扣减·状态更新·全流程追溯</a:t>
            </a:r>
          </a:p>
        </p:txBody>
      </p:sp>
      <p:sp>
        <p:nvSpPr>
          <p:cNvPr id="247" name="人机协同"/>
          <p:cNvSpPr/>
          <p:nvPr/>
        </p:nvSpPr>
        <p:spPr>
          <a:xfrm>
            <a:off x="9271000" y="4216400"/>
            <a:ext cx="2616200" cy="228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96B"/>
            </a:solidFill>
          </a:ln>
        </p:spPr>
        <p:txBody>
          <a:bodyPr wrap="square" lIns="27000" tIns="0" rIns="27000" bIns="0" anchor="ctr">
            <a:noAutofit/>
          </a:bodyPr>
          <a:lstStyle/>
          <a:p>
            <a:pPr algn="ctr">
              <a:buNone/>
            </a:pPr>
            <a:r>
              <a:rPr lang="zh-CN" altLang="en-US" sz="850" b="1" dirty="0">
                <a:solidFill>
                  <a:srgbClr val="00796B"/>
                </a:solidFill>
              </a:rPr>
              <a:t>AI辅助决策 · 人工最终确认</a:t>
            </a:r>
          </a:p>
        </p:txBody>
      </p:sp>
      <p:sp>
        <p:nvSpPr>
          <p:cNvPr id="260" name="质检下行箭头"/>
          <p:cNvSpPr/>
          <p:nvPr/>
        </p:nvSpPr>
        <p:spPr>
          <a:xfrm>
            <a:off x="10490200" y="4470400"/>
            <a:ext cx="177800" cy="228600"/>
          </a:xfrm>
          <a:prstGeom prst="downArrow">
            <a:avLst/>
          </a:prstGeom>
          <a:solidFill>
            <a:srgbClr val="1E7A46"/>
          </a:solidFill>
          <a:ln>
            <a:noFill/>
          </a:ln>
        </p:spPr>
        <p:txBody>
          <a:bodyPr wrap="square" lIns="27000" tIns="9000" rIns="27000" bIns="9000" anchor="ctr">
            <a:noAutofit/>
          </a:bodyPr>
          <a:lstStyle/>
          <a:p>
            <a:endParaRPr lang="zh-CN"/>
          </a:p>
        </p:txBody>
      </p:sp>
      <p:sp>
        <p:nvSpPr>
          <p:cNvPr id="261" name="成品质检框"/>
          <p:cNvSpPr/>
          <p:nvPr/>
        </p:nvSpPr>
        <p:spPr>
          <a:xfrm>
            <a:off x="9271000" y="4724400"/>
            <a:ext cx="2616200" cy="66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1E7A46"/>
            </a:solidFill>
          </a:ln>
        </p:spPr>
        <p:txBody>
          <a:bodyPr wrap="square" lIns="9000" tIns="3000" rIns="9000" bIns="3000" anchor="ctr">
            <a:noAutofit/>
          </a:bodyPr>
          <a:lstStyle/>
          <a:p>
            <a:pPr algn="ctr">
              <a:buNone/>
            </a:pPr>
            <a:r>
              <a:rPr lang="zh-CN" altLang="en-US" sz="1000" b="1" dirty="0">
                <a:solidFill>
                  <a:srgbClr val="1E7A46"/>
                </a:solidFill>
              </a:rPr>
              <a:t>成品质检</a:t>
            </a:r>
          </a:p>
          <a:p>
            <a:pPr algn="ctr">
              <a:lnSpc>
                <a:spcPct val="108000"/>
              </a:lnSpc>
              <a:buNone/>
            </a:pPr>
            <a:r>
              <a:rPr lang="zh-CN" altLang="en-US" sz="800" dirty="0">
                <a:solidFill>
                  <a:srgbClr val="44505E"/>
                </a:solidFill>
              </a:rPr>
              <a:t>实际冻力｜实际黏度｜实际投料量｜人工调整记录｜最终合格状态</a:t>
            </a:r>
          </a:p>
        </p:txBody>
      </p:sp>
      <p:sp>
        <p:nvSpPr>
          <p:cNvPr id="262" name="回流箭头"/>
          <p:cNvSpPr/>
          <p:nvPr/>
        </p:nvSpPr>
        <p:spPr>
          <a:xfrm>
            <a:off x="8940800" y="4927600"/>
            <a:ext cx="304800" cy="203200"/>
          </a:xfrm>
          <a:prstGeom prst="leftArrow">
            <a:avLst/>
          </a:prstGeom>
          <a:solidFill>
            <a:srgbClr val="1E7A46"/>
          </a:solidFill>
          <a:ln>
            <a:noFill/>
          </a:ln>
        </p:spPr>
        <p:txBody>
          <a:bodyPr wrap="square" lIns="27000" tIns="9000" rIns="27000" bIns="9000" anchor="ctr">
            <a:noAutofit/>
          </a:bodyPr>
          <a:lstStyle/>
          <a:p>
            <a:endParaRPr lang="zh-CN"/>
          </a:p>
        </p:txBody>
      </p:sp>
      <p:sp>
        <p:nvSpPr>
          <p:cNvPr id="263" name="反馈优化框"/>
          <p:cNvSpPr/>
          <p:nvPr/>
        </p:nvSpPr>
        <p:spPr>
          <a:xfrm>
            <a:off x="3175000" y="4724400"/>
            <a:ext cx="5740400" cy="660400"/>
          </a:xfrm>
          <a:prstGeom prst="rect">
            <a:avLst/>
          </a:prstGeom>
          <a:solidFill>
            <a:srgbClr val="E8F5EC"/>
          </a:solidFill>
          <a:ln w="15875">
            <a:solidFill>
              <a:srgbClr val="1E7A46"/>
            </a:solidFill>
          </a:ln>
        </p:spPr>
        <p:txBody>
          <a:bodyPr wrap="square" lIns="12000" tIns="3000" rIns="12000" bIns="3000" anchor="t">
            <a:noAutofit/>
          </a:bodyPr>
          <a:lstStyle/>
          <a:p>
            <a:pPr>
              <a:buNone/>
            </a:pPr>
            <a:r>
              <a:rPr lang="zh-CN" altLang="en-US" sz="950" b="1" dirty="0">
                <a:solidFill>
                  <a:srgbClr val="1E7A46"/>
                </a:solidFill>
              </a:rPr>
              <a:t>反馈优化</a:t>
            </a:r>
            <a:r>
              <a:rPr lang="zh-CN" altLang="en-US" sz="800" b="1" dirty="0">
                <a:solidFill>
                  <a:srgbClr val="1E7A46"/>
                </a:solidFill>
              </a:rPr>
              <a:t>　质量结果反馈与经验学习</a:t>
            </a:r>
          </a:p>
          <a:p>
            <a:pPr>
              <a:lnSpc>
                <a:spcPct val="108000"/>
              </a:lnSpc>
              <a:buNone/>
            </a:pPr>
            <a:r>
              <a:rPr lang="zh-CN" altLang="en-US" sz="800" dirty="0">
                <a:solidFill>
                  <a:srgbClr val="16324F"/>
                </a:solidFill>
              </a:rPr>
              <a:t>理论值与实际值偏差分析 → 修正安全余量 → 调整规则与优化权重 → 沉淀历史优质配方 → 提升下一次推荐准确性</a:t>
            </a:r>
          </a:p>
          <a:p>
            <a:pPr>
              <a:buNone/>
            </a:pPr>
            <a:r>
              <a:rPr lang="zh-CN" altLang="en-US" sz="800" b="1" i="1" dirty="0">
                <a:solidFill>
                  <a:srgbClr val="1E7A46"/>
                </a:solidFill>
              </a:rPr>
              <a:t>实际结果持续反馈，形成越用越准的智能配方体系</a:t>
            </a:r>
          </a:p>
        </p:txBody>
      </p:sp>
      <p:sp>
        <p:nvSpPr>
          <p:cNvPr id="264" name="AI⑤"/>
          <p:cNvSpPr/>
          <p:nvPr/>
        </p:nvSpPr>
        <p:spPr>
          <a:xfrm>
            <a:off x="8331200" y="4622800"/>
            <a:ext cx="457200" cy="203200"/>
          </a:xfrm>
          <a:prstGeom prst="ellipse">
            <a:avLst/>
          </a:prstGeom>
          <a:solidFill>
            <a:srgbClr val="1E7A46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zh-CN" altLang="en-US" sz="800" b="1" dirty="0">
                <a:solidFill>
                  <a:srgbClr val="FFFFFF"/>
                </a:solidFill>
              </a:rPr>
              <a:t>AI⑤</a:t>
            </a:r>
          </a:p>
        </p:txBody>
      </p:sp>
      <p:sp>
        <p:nvSpPr>
          <p:cNvPr id="265" name="回流上行箭头"/>
          <p:cNvSpPr/>
          <p:nvPr/>
        </p:nvSpPr>
        <p:spPr>
          <a:xfrm>
            <a:off x="3759200" y="4483100"/>
            <a:ext cx="203200" cy="241300"/>
          </a:xfrm>
          <a:prstGeom prst="upArrow">
            <a:avLst/>
          </a:prstGeom>
          <a:solidFill>
            <a:srgbClr val="1E7A46"/>
          </a:solidFill>
          <a:ln>
            <a:noFill/>
          </a:ln>
        </p:spPr>
        <p:txBody>
          <a:bodyPr wrap="square" lIns="27000" tIns="9000" rIns="27000" bIns="9000" anchor="ctr">
            <a:noAutofit/>
          </a:bodyPr>
          <a:lstStyle/>
          <a:p>
            <a:endParaRPr lang="zh-CN"/>
          </a:p>
        </p:txBody>
      </p:sp>
      <p:sp>
        <p:nvSpPr>
          <p:cNvPr id="266" name="对比带标题"/>
          <p:cNvSpPr/>
          <p:nvPr/>
        </p:nvSpPr>
        <p:spPr>
          <a:xfrm>
            <a:off x="330200" y="5562600"/>
            <a:ext cx="5334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27000" bIns="0" anchor="ctr">
            <a:noAutofit/>
          </a:bodyPr>
          <a:lstStyle/>
          <a:p>
            <a:pPr>
              <a:buNone/>
            </a:pPr>
            <a:r>
              <a:rPr lang="zh-CN" altLang="en-US" sz="1000" b="1" dirty="0">
                <a:solidFill>
                  <a:srgbClr val="16324F"/>
                </a:solidFill>
              </a:rPr>
              <a:t>导入前后价值对比（As-Is → To-Be）</a:t>
            </a:r>
          </a:p>
        </p:txBody>
      </p:sp>
      <p:sp>
        <p:nvSpPr>
          <p:cNvPr id="267" name="对比带图例"/>
          <p:cNvSpPr/>
          <p:nvPr/>
        </p:nvSpPr>
        <p:spPr>
          <a:xfrm>
            <a:off x="8128000" y="5562600"/>
            <a:ext cx="37592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buNone/>
            </a:pPr>
            <a:r>
              <a:rPr lang="zh-CN" altLang="en-US" sz="800" b="1" dirty="0">
                <a:solidFill>
                  <a:srgbClr val="8A94A0"/>
                </a:solidFill>
              </a:rPr>
              <a:t>■ 导入前 As-Is　</a:t>
            </a:r>
            <a:r>
              <a:rPr lang="zh-CN" altLang="en-US" sz="800" b="1" dirty="0">
                <a:solidFill>
                  <a:srgbClr val="1E7A46"/>
                </a:solidFill>
              </a:rPr>
              <a:t>■ 导入后 To-Be</a:t>
            </a:r>
          </a:p>
        </p:txBody>
      </p:sp>
      <p:sp>
        <p:nvSpPr>
          <p:cNvPr id="268" name="AsIs1"/>
          <p:cNvSpPr/>
          <p:nvPr/>
        </p:nvSpPr>
        <p:spPr>
          <a:xfrm>
            <a:off x="330200" y="5816600"/>
            <a:ext cx="1879600" cy="35560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txBody>
          <a:bodyPr wrap="square" lIns="5000" tIns="0" rIns="5000" bIns="0" anchor="ctr">
            <a:noAutofit/>
          </a:bodyPr>
          <a:lstStyle/>
          <a:p>
            <a:pPr algn="ctr">
              <a:buNone/>
            </a:pPr>
            <a:r>
              <a:rPr lang="zh-CN" altLang="en-US" sz="850" dirty="0">
                <a:solidFill>
                  <a:srgbClr val="5A6472"/>
                </a:solidFill>
              </a:rPr>
              <a:t>人工查看Excel</a:t>
            </a:r>
          </a:p>
        </p:txBody>
      </p:sp>
      <p:sp>
        <p:nvSpPr>
          <p:cNvPr id="269" name="对比箭头1"/>
          <p:cNvSpPr/>
          <p:nvPr/>
        </p:nvSpPr>
        <p:spPr>
          <a:xfrm>
            <a:off x="1206500" y="6184900"/>
            <a:ext cx="127000" cy="88900"/>
          </a:xfrm>
          <a:prstGeom prst="downArrow">
            <a:avLst/>
          </a:prstGeom>
          <a:solidFill>
            <a:srgbClr val="1E7A46"/>
          </a:solidFill>
          <a:ln>
            <a:noFill/>
          </a:ln>
        </p:spPr>
        <p:txBody>
          <a:bodyPr wrap="square" lIns="27000" tIns="9000" rIns="27000" bIns="9000" anchor="ctr">
            <a:noAutofit/>
          </a:bodyPr>
          <a:lstStyle/>
          <a:p>
            <a:endParaRPr lang="zh-CN"/>
          </a:p>
        </p:txBody>
      </p:sp>
      <p:sp>
        <p:nvSpPr>
          <p:cNvPr id="270" name="ToBe1"/>
          <p:cNvSpPr/>
          <p:nvPr/>
        </p:nvSpPr>
        <p:spPr>
          <a:xfrm>
            <a:off x="330200" y="6299200"/>
            <a:ext cx="1879600" cy="355600"/>
          </a:xfrm>
          <a:prstGeom prst="rect">
            <a:avLst/>
          </a:prstGeom>
          <a:solidFill>
            <a:srgbClr val="1E7A46"/>
          </a:solidFill>
          <a:ln>
            <a:noFill/>
          </a:ln>
        </p:spPr>
        <p:txBody>
          <a:bodyPr wrap="square" lIns="5000" tIns="0" rIns="5000" bIns="0" anchor="ctr">
            <a:noAutofit/>
          </a:bodyPr>
          <a:lstStyle/>
          <a:p>
            <a:pPr algn="ctr">
              <a:buNone/>
            </a:pPr>
            <a:r>
              <a:rPr lang="zh-CN" altLang="en-US" sz="850" b="1" dirty="0">
                <a:solidFill>
                  <a:srgbClr val="FFFFFF"/>
                </a:solidFill>
              </a:rPr>
              <a:t>RDS统一库存台账</a:t>
            </a:r>
          </a:p>
        </p:txBody>
      </p:sp>
      <p:sp>
        <p:nvSpPr>
          <p:cNvPr id="271" name="AsIs2"/>
          <p:cNvSpPr/>
          <p:nvPr/>
        </p:nvSpPr>
        <p:spPr>
          <a:xfrm>
            <a:off x="2260600" y="5816600"/>
            <a:ext cx="1879600" cy="35560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txBody>
          <a:bodyPr wrap="square" lIns="5000" tIns="0" rIns="5000" bIns="0" anchor="ctr">
            <a:noAutofit/>
          </a:bodyPr>
          <a:lstStyle/>
          <a:p>
            <a:pPr algn="ctr">
              <a:buNone/>
            </a:pPr>
            <a:r>
              <a:rPr lang="zh-CN" altLang="en-US" sz="850" dirty="0">
                <a:solidFill>
                  <a:srgbClr val="5A6472"/>
                </a:solidFill>
              </a:rPr>
              <a:t>老师傅反复试配</a:t>
            </a:r>
          </a:p>
        </p:txBody>
      </p:sp>
      <p:sp>
        <p:nvSpPr>
          <p:cNvPr id="272" name="对比箭头2"/>
          <p:cNvSpPr/>
          <p:nvPr/>
        </p:nvSpPr>
        <p:spPr>
          <a:xfrm>
            <a:off x="3136900" y="6184900"/>
            <a:ext cx="127000" cy="88900"/>
          </a:xfrm>
          <a:prstGeom prst="downArrow">
            <a:avLst/>
          </a:prstGeom>
          <a:solidFill>
            <a:srgbClr val="1E7A46"/>
          </a:solidFill>
          <a:ln>
            <a:noFill/>
          </a:ln>
        </p:spPr>
        <p:txBody>
          <a:bodyPr wrap="square" lIns="27000" tIns="9000" rIns="27000" bIns="9000" anchor="ctr">
            <a:noAutofit/>
          </a:bodyPr>
          <a:lstStyle/>
          <a:p>
            <a:endParaRPr lang="zh-CN"/>
          </a:p>
        </p:txBody>
      </p:sp>
      <p:sp>
        <p:nvSpPr>
          <p:cNvPr id="273" name="ToBe2"/>
          <p:cNvSpPr/>
          <p:nvPr/>
        </p:nvSpPr>
        <p:spPr>
          <a:xfrm>
            <a:off x="2260600" y="6299200"/>
            <a:ext cx="1879600" cy="355600"/>
          </a:xfrm>
          <a:prstGeom prst="rect">
            <a:avLst/>
          </a:prstGeom>
          <a:solidFill>
            <a:srgbClr val="1E7A46"/>
          </a:solidFill>
          <a:ln>
            <a:noFill/>
          </a:ln>
        </p:spPr>
        <p:txBody>
          <a:bodyPr wrap="square" lIns="5000" tIns="0" rIns="5000" bIns="0" anchor="ctr">
            <a:noAutofit/>
          </a:bodyPr>
          <a:lstStyle/>
          <a:p>
            <a:pPr algn="ctr">
              <a:buNone/>
            </a:pPr>
            <a:r>
              <a:rPr lang="zh-CN" altLang="en-US" sz="850" b="1" dirty="0">
                <a:solidFill>
                  <a:srgbClr val="FFFFFF"/>
                </a:solidFill>
              </a:rPr>
              <a:t>优化算法自动计算</a:t>
            </a:r>
          </a:p>
        </p:txBody>
      </p:sp>
      <p:sp>
        <p:nvSpPr>
          <p:cNvPr id="274" name="AsIs3"/>
          <p:cNvSpPr/>
          <p:nvPr/>
        </p:nvSpPr>
        <p:spPr>
          <a:xfrm>
            <a:off x="4191000" y="5816600"/>
            <a:ext cx="1879600" cy="35560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txBody>
          <a:bodyPr wrap="square" lIns="5000" tIns="0" rIns="5000" bIns="0" anchor="ctr">
            <a:noAutofit/>
          </a:bodyPr>
          <a:lstStyle/>
          <a:p>
            <a:pPr algn="ctr">
              <a:buNone/>
            </a:pPr>
            <a:r>
              <a:rPr lang="zh-CN" altLang="en-US" sz="850" dirty="0">
                <a:solidFill>
                  <a:srgbClr val="5A6472"/>
                </a:solidFill>
              </a:rPr>
              <a:t>单一人工方案</a:t>
            </a:r>
          </a:p>
        </p:txBody>
      </p:sp>
      <p:sp>
        <p:nvSpPr>
          <p:cNvPr id="275" name="对比箭头3"/>
          <p:cNvSpPr/>
          <p:nvPr/>
        </p:nvSpPr>
        <p:spPr>
          <a:xfrm>
            <a:off x="5067300" y="6184900"/>
            <a:ext cx="127000" cy="88900"/>
          </a:xfrm>
          <a:prstGeom prst="downArrow">
            <a:avLst/>
          </a:prstGeom>
          <a:solidFill>
            <a:srgbClr val="1E7A46"/>
          </a:solidFill>
          <a:ln>
            <a:noFill/>
          </a:ln>
        </p:spPr>
        <p:txBody>
          <a:bodyPr wrap="square" lIns="27000" tIns="9000" rIns="27000" bIns="9000" anchor="ctr">
            <a:noAutofit/>
          </a:bodyPr>
          <a:lstStyle/>
          <a:p>
            <a:endParaRPr lang="zh-CN"/>
          </a:p>
        </p:txBody>
      </p:sp>
      <p:sp>
        <p:nvSpPr>
          <p:cNvPr id="276" name="ToBe3"/>
          <p:cNvSpPr/>
          <p:nvPr/>
        </p:nvSpPr>
        <p:spPr>
          <a:xfrm>
            <a:off x="4191000" y="6299200"/>
            <a:ext cx="1879600" cy="355600"/>
          </a:xfrm>
          <a:prstGeom prst="rect">
            <a:avLst/>
          </a:prstGeom>
          <a:solidFill>
            <a:srgbClr val="1E7A46"/>
          </a:solidFill>
          <a:ln>
            <a:noFill/>
          </a:ln>
        </p:spPr>
        <p:txBody>
          <a:bodyPr wrap="square" lIns="5000" tIns="0" rIns="5000" bIns="0" anchor="ctr">
            <a:noAutofit/>
          </a:bodyPr>
          <a:lstStyle/>
          <a:p>
            <a:pPr algn="ctr">
              <a:buNone/>
            </a:pPr>
            <a:r>
              <a:rPr lang="zh-CN" altLang="en-US" sz="850" b="1" dirty="0">
                <a:solidFill>
                  <a:srgbClr val="FFFFFF"/>
                </a:solidFill>
              </a:rPr>
              <a:t>自动生成3—5套方案</a:t>
            </a:r>
          </a:p>
        </p:txBody>
      </p:sp>
      <p:sp>
        <p:nvSpPr>
          <p:cNvPr id="277" name="AsIs4"/>
          <p:cNvSpPr/>
          <p:nvPr/>
        </p:nvSpPr>
        <p:spPr>
          <a:xfrm>
            <a:off x="6121400" y="5816600"/>
            <a:ext cx="1879600" cy="35560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txBody>
          <a:bodyPr wrap="square" lIns="5000" tIns="0" rIns="5000" bIns="0" anchor="ctr">
            <a:noAutofit/>
          </a:bodyPr>
          <a:lstStyle/>
          <a:p>
            <a:pPr algn="ctr">
              <a:buNone/>
            </a:pPr>
            <a:r>
              <a:rPr lang="zh-CN" altLang="en-US" sz="850" dirty="0">
                <a:solidFill>
                  <a:srgbClr val="5A6472"/>
                </a:solidFill>
              </a:rPr>
              <a:t>数小时计算</a:t>
            </a:r>
          </a:p>
        </p:txBody>
      </p:sp>
      <p:sp>
        <p:nvSpPr>
          <p:cNvPr id="278" name="对比箭头4"/>
          <p:cNvSpPr/>
          <p:nvPr/>
        </p:nvSpPr>
        <p:spPr>
          <a:xfrm>
            <a:off x="6997700" y="6184900"/>
            <a:ext cx="127000" cy="88900"/>
          </a:xfrm>
          <a:prstGeom prst="downArrow">
            <a:avLst/>
          </a:prstGeom>
          <a:solidFill>
            <a:srgbClr val="1E7A46"/>
          </a:solidFill>
          <a:ln>
            <a:noFill/>
          </a:ln>
        </p:spPr>
        <p:txBody>
          <a:bodyPr wrap="square" lIns="27000" tIns="9000" rIns="27000" bIns="9000" anchor="ctr">
            <a:noAutofit/>
          </a:bodyPr>
          <a:lstStyle/>
          <a:p>
            <a:endParaRPr lang="zh-CN"/>
          </a:p>
        </p:txBody>
      </p:sp>
      <p:sp>
        <p:nvSpPr>
          <p:cNvPr id="279" name="ToBe4"/>
          <p:cNvSpPr/>
          <p:nvPr/>
        </p:nvSpPr>
        <p:spPr>
          <a:xfrm>
            <a:off x="6121400" y="6299200"/>
            <a:ext cx="1879600" cy="355600"/>
          </a:xfrm>
          <a:prstGeom prst="rect">
            <a:avLst/>
          </a:prstGeom>
          <a:solidFill>
            <a:srgbClr val="1E7A46"/>
          </a:solidFill>
          <a:ln>
            <a:noFill/>
          </a:ln>
        </p:spPr>
        <p:txBody>
          <a:bodyPr wrap="square" lIns="5000" tIns="0" rIns="5000" bIns="0" anchor="ctr">
            <a:noAutofit/>
          </a:bodyPr>
          <a:lstStyle/>
          <a:p>
            <a:pPr algn="ctr">
              <a:buNone/>
            </a:pPr>
            <a:r>
              <a:rPr lang="zh-CN" altLang="en-US" sz="850" b="1" dirty="0">
                <a:solidFill>
                  <a:srgbClr val="FFFFFF"/>
                </a:solidFill>
              </a:rPr>
              <a:t>目标缩短至分钟级</a:t>
            </a:r>
          </a:p>
        </p:txBody>
      </p:sp>
      <p:sp>
        <p:nvSpPr>
          <p:cNvPr id="280" name="AsIs5"/>
          <p:cNvSpPr/>
          <p:nvPr/>
        </p:nvSpPr>
        <p:spPr>
          <a:xfrm>
            <a:off x="8051800" y="5816600"/>
            <a:ext cx="1879600" cy="35560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txBody>
          <a:bodyPr wrap="square" lIns="5000" tIns="0" rIns="5000" bIns="0" anchor="ctr">
            <a:noAutofit/>
          </a:bodyPr>
          <a:lstStyle/>
          <a:p>
            <a:pPr algn="ctr">
              <a:buNone/>
            </a:pPr>
            <a:r>
              <a:rPr lang="zh-CN" altLang="en-US" sz="850" dirty="0">
                <a:solidFill>
                  <a:srgbClr val="5A6472"/>
                </a:solidFill>
              </a:rPr>
              <a:t>事后发现质量风险</a:t>
            </a:r>
          </a:p>
        </p:txBody>
      </p:sp>
      <p:sp>
        <p:nvSpPr>
          <p:cNvPr id="281" name="对比箭头5"/>
          <p:cNvSpPr/>
          <p:nvPr/>
        </p:nvSpPr>
        <p:spPr>
          <a:xfrm>
            <a:off x="8928100" y="6184900"/>
            <a:ext cx="127000" cy="88900"/>
          </a:xfrm>
          <a:prstGeom prst="downArrow">
            <a:avLst/>
          </a:prstGeom>
          <a:solidFill>
            <a:srgbClr val="1E7A46"/>
          </a:solidFill>
          <a:ln>
            <a:noFill/>
          </a:ln>
        </p:spPr>
        <p:txBody>
          <a:bodyPr wrap="square" lIns="27000" tIns="9000" rIns="27000" bIns="9000" anchor="ctr">
            <a:noAutofit/>
          </a:bodyPr>
          <a:lstStyle/>
          <a:p>
            <a:endParaRPr lang="zh-CN"/>
          </a:p>
        </p:txBody>
      </p:sp>
      <p:sp>
        <p:nvSpPr>
          <p:cNvPr id="282" name="ToBe5"/>
          <p:cNvSpPr/>
          <p:nvPr/>
        </p:nvSpPr>
        <p:spPr>
          <a:xfrm>
            <a:off x="8051800" y="6299200"/>
            <a:ext cx="1879600" cy="355600"/>
          </a:xfrm>
          <a:prstGeom prst="rect">
            <a:avLst/>
          </a:prstGeom>
          <a:solidFill>
            <a:srgbClr val="1E7A46"/>
          </a:solidFill>
          <a:ln>
            <a:noFill/>
          </a:ln>
        </p:spPr>
        <p:txBody>
          <a:bodyPr wrap="square" lIns="5000" tIns="0" rIns="5000" bIns="0" anchor="ctr">
            <a:noAutofit/>
          </a:bodyPr>
          <a:lstStyle/>
          <a:p>
            <a:pPr algn="ctr">
              <a:buNone/>
            </a:pPr>
            <a:r>
              <a:rPr lang="zh-CN" altLang="en-US" sz="850" b="1" dirty="0">
                <a:solidFill>
                  <a:srgbClr val="FFFFFF"/>
                </a:solidFill>
              </a:rPr>
              <a:t>安全余量＋风险预警</a:t>
            </a:r>
          </a:p>
        </p:txBody>
      </p:sp>
      <p:sp>
        <p:nvSpPr>
          <p:cNvPr id="283" name="AsIs6"/>
          <p:cNvSpPr/>
          <p:nvPr/>
        </p:nvSpPr>
        <p:spPr>
          <a:xfrm>
            <a:off x="9982200" y="5816600"/>
            <a:ext cx="1879600" cy="35560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txBody>
          <a:bodyPr wrap="square" lIns="5000" tIns="0" rIns="5000" bIns="0" anchor="ctr">
            <a:noAutofit/>
          </a:bodyPr>
          <a:lstStyle/>
          <a:p>
            <a:pPr algn="ctr">
              <a:buNone/>
            </a:pPr>
            <a:r>
              <a:rPr lang="zh-CN" altLang="en-US" sz="850" dirty="0">
                <a:solidFill>
                  <a:srgbClr val="5A6472"/>
                </a:solidFill>
              </a:rPr>
              <a:t>人工登记库存</a:t>
            </a:r>
          </a:p>
        </p:txBody>
      </p:sp>
      <p:sp>
        <p:nvSpPr>
          <p:cNvPr id="284" name="对比箭头6"/>
          <p:cNvSpPr/>
          <p:nvPr/>
        </p:nvSpPr>
        <p:spPr>
          <a:xfrm>
            <a:off x="10858500" y="6184900"/>
            <a:ext cx="127000" cy="88900"/>
          </a:xfrm>
          <a:prstGeom prst="downArrow">
            <a:avLst/>
          </a:prstGeom>
          <a:solidFill>
            <a:srgbClr val="1E7A46"/>
          </a:solidFill>
          <a:ln>
            <a:noFill/>
          </a:ln>
        </p:spPr>
        <p:txBody>
          <a:bodyPr wrap="square" lIns="27000" tIns="9000" rIns="27000" bIns="9000" anchor="ctr">
            <a:noAutofit/>
          </a:bodyPr>
          <a:lstStyle/>
          <a:p>
            <a:endParaRPr lang="zh-CN"/>
          </a:p>
        </p:txBody>
      </p:sp>
      <p:sp>
        <p:nvSpPr>
          <p:cNvPr id="285" name="ToBe6"/>
          <p:cNvSpPr/>
          <p:nvPr/>
        </p:nvSpPr>
        <p:spPr>
          <a:xfrm>
            <a:off x="9982200" y="6299200"/>
            <a:ext cx="1879600" cy="355600"/>
          </a:xfrm>
          <a:prstGeom prst="rect">
            <a:avLst/>
          </a:prstGeom>
          <a:solidFill>
            <a:srgbClr val="1E7A46"/>
          </a:solidFill>
          <a:ln>
            <a:noFill/>
          </a:ln>
        </p:spPr>
        <p:txBody>
          <a:bodyPr wrap="square" lIns="5000" tIns="0" rIns="5000" bIns="0" anchor="ctr">
            <a:noAutofit/>
          </a:bodyPr>
          <a:lstStyle/>
          <a:p>
            <a:pPr algn="ctr">
              <a:buNone/>
            </a:pPr>
            <a:r>
              <a:rPr lang="zh-CN" altLang="en-US" sz="850" b="1" dirty="0">
                <a:solidFill>
                  <a:srgbClr val="FFFFFF"/>
                </a:solidFill>
              </a:rPr>
              <a:t>自动锁定·扣减·全程追溯</a:t>
            </a:r>
          </a:p>
        </p:txBody>
      </p:sp>
    </p:spTree>
    <p:extLst>
      <p:ext uri="{BB962C8B-B14F-4D97-AF65-F5344CB8AC3E}">
        <p14:creationId xmlns:p14="http://schemas.microsoft.com/office/powerpoint/2010/main" val="29072958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价值带背景"/>
          <p:cNvSpPr/>
          <p:nvPr/>
        </p:nvSpPr>
        <p:spPr>
          <a:xfrm>
            <a:off x="0" y="5486400"/>
            <a:ext cx="12192000" cy="13716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txBody>
          <a:bodyPr wrap="square" lIns="27000" tIns="9000" rIns="27000" bIns="9000" anchor="ctr">
            <a:noAutofit/>
          </a:bodyPr>
          <a:lstStyle/>
          <a:p>
            <a:endParaRPr lang="zh-CN"/>
          </a:p>
        </p:txBody>
      </p:sp>
      <p:sp>
        <p:nvSpPr>
          <p:cNvPr id="101" name="标题强调条"/>
          <p:cNvSpPr/>
          <p:nvPr/>
        </p:nvSpPr>
        <p:spPr>
          <a:xfrm>
            <a:off x="381000" y="228600"/>
            <a:ext cx="76200" cy="38100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txBody>
          <a:bodyPr wrap="square" lIns="27000" tIns="9000" rIns="27000" bIns="9000" anchor="ctr">
            <a:noAutofit/>
          </a:bodyPr>
          <a:lstStyle/>
          <a:p>
            <a:endParaRPr lang="zh-CN"/>
          </a:p>
        </p:txBody>
      </p:sp>
      <p:sp>
        <p:nvSpPr>
          <p:cNvPr id="102" name="页面标题"/>
          <p:cNvSpPr/>
          <p:nvPr/>
        </p:nvSpPr>
        <p:spPr>
          <a:xfrm>
            <a:off x="558800" y="177800"/>
            <a:ext cx="7874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27000" bIns="9000" anchor="ctr">
            <a:noAutofit/>
          </a:bodyPr>
          <a:lstStyle/>
          <a:p>
            <a:pPr>
              <a:buNone/>
            </a:pPr>
            <a:r>
              <a:rPr lang="zh-CN" altLang="en-US" sz="2400" b="1" dirty="0">
                <a:solidFill>
                  <a:srgbClr val="16324F"/>
                </a:solidFill>
              </a:rPr>
              <a:t>AI驱动的明胶智能混配业务闭环</a:t>
            </a:r>
          </a:p>
        </p:txBody>
      </p:sp>
      <p:sp>
        <p:nvSpPr>
          <p:cNvPr id="103" name="副标题"/>
          <p:cNvSpPr/>
          <p:nvPr/>
        </p:nvSpPr>
        <p:spPr>
          <a:xfrm>
            <a:off x="558800" y="584200"/>
            <a:ext cx="8001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27000" bIns="0" anchor="t">
            <a:noAutofit/>
          </a:bodyPr>
          <a:lstStyle/>
          <a:p>
            <a:pPr>
              <a:buNone/>
            </a:pPr>
            <a:r>
              <a:rPr lang="zh-CN" altLang="en-US" sz="950" i="1" dirty="0">
                <a:solidFill>
                  <a:srgbClr val="6B7684"/>
                </a:solidFill>
              </a:rPr>
              <a:t>从半成品库存、配方决策到混配执行和质量反馈，构建可计算、可执行、可追溯、可持续优化的智能混配体系</a:t>
            </a:r>
          </a:p>
        </p:txBody>
      </p:sp>
      <p:sp>
        <p:nvSpPr>
          <p:cNvPr id="104" name="核心结论"/>
          <p:cNvSpPr/>
          <p:nvPr/>
        </p:nvSpPr>
        <p:spPr>
          <a:xfrm>
            <a:off x="558800" y="787400"/>
            <a:ext cx="8001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27000" bIns="900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CN" altLang="en-US" sz="950" dirty="0">
                <a:solidFill>
                  <a:srgbClr val="44505E"/>
                </a:solidFill>
              </a:rPr>
              <a:t>通过</a:t>
            </a:r>
            <a:r>
              <a:rPr lang="zh-CN" altLang="en-US" sz="950" b="1" dirty="0">
                <a:solidFill>
                  <a:srgbClr val="00796B"/>
                </a:solidFill>
              </a:rPr>
              <a:t>“库存数据统一管理＋AI理解生产需求＋优化算法自动配方＋成品质检反馈”</a:t>
            </a:r>
            <a:r>
              <a:rPr lang="zh-CN" altLang="en-US" sz="950" dirty="0">
                <a:solidFill>
                  <a:srgbClr val="44505E"/>
                </a:solidFill>
              </a:rPr>
              <a:t>，将传统依赖Excel和老师傅经验的混配过程，升级为人机协同的数字化决策闭环。</a:t>
            </a:r>
          </a:p>
        </p:txBody>
      </p:sp>
      <p:sp>
        <p:nvSpPr>
          <p:cNvPr id="105" name="价值标签1"/>
          <p:cNvSpPr/>
          <p:nvPr/>
        </p:nvSpPr>
        <p:spPr>
          <a:xfrm>
            <a:off x="8737600" y="228600"/>
            <a:ext cx="1016000" cy="22860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txBody>
          <a:bodyPr wrap="square" lIns="9000" tIns="0" rIns="9000" bIns="0" anchor="ctr">
            <a:noAutofit/>
          </a:bodyPr>
          <a:lstStyle/>
          <a:p>
            <a:pPr algn="ctr">
              <a:buNone/>
            </a:pPr>
            <a:r>
              <a:rPr lang="zh-CN" altLang="en-US" sz="800" b="1" dirty="0">
                <a:solidFill>
                  <a:srgbClr val="FFFFFF"/>
                </a:solidFill>
              </a:rPr>
              <a:t>分钟级配方计算</a:t>
            </a:r>
          </a:p>
        </p:txBody>
      </p:sp>
      <p:sp>
        <p:nvSpPr>
          <p:cNvPr id="106" name="价值标签2"/>
          <p:cNvSpPr/>
          <p:nvPr/>
        </p:nvSpPr>
        <p:spPr>
          <a:xfrm>
            <a:off x="9804400" y="228600"/>
            <a:ext cx="1016000" cy="22860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txBody>
          <a:bodyPr wrap="square" lIns="9000" tIns="0" rIns="9000" bIns="0" anchor="ctr">
            <a:noAutofit/>
          </a:bodyPr>
          <a:lstStyle/>
          <a:p>
            <a:pPr algn="ctr">
              <a:buNone/>
            </a:pPr>
            <a:r>
              <a:rPr lang="zh-CN" altLang="en-US" sz="800" b="1" dirty="0">
                <a:solidFill>
                  <a:srgbClr val="FFFFFF"/>
                </a:solidFill>
              </a:rPr>
              <a:t>3—5套方案比较</a:t>
            </a:r>
          </a:p>
        </p:txBody>
      </p:sp>
      <p:sp>
        <p:nvSpPr>
          <p:cNvPr id="107" name="价值标签3"/>
          <p:cNvSpPr/>
          <p:nvPr/>
        </p:nvSpPr>
        <p:spPr>
          <a:xfrm>
            <a:off x="10871200" y="228600"/>
            <a:ext cx="1016000" cy="22860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txBody>
          <a:bodyPr wrap="square" lIns="9000" tIns="0" rIns="9000" bIns="0" anchor="ctr">
            <a:noAutofit/>
          </a:bodyPr>
          <a:lstStyle/>
          <a:p>
            <a:pPr algn="ctr">
              <a:buNone/>
            </a:pPr>
            <a:r>
              <a:rPr lang="zh-CN" altLang="en-US" sz="800" b="1" dirty="0">
                <a:solidFill>
                  <a:srgbClr val="FFFFFF"/>
                </a:solidFill>
              </a:rPr>
              <a:t>冻力保下限</a:t>
            </a:r>
          </a:p>
        </p:txBody>
      </p:sp>
      <p:sp>
        <p:nvSpPr>
          <p:cNvPr id="108" name="价值标签4"/>
          <p:cNvSpPr/>
          <p:nvPr/>
        </p:nvSpPr>
        <p:spPr>
          <a:xfrm>
            <a:off x="8737600" y="508000"/>
            <a:ext cx="1016000" cy="22860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txBody>
          <a:bodyPr wrap="square" lIns="9000" tIns="0" rIns="9000" bIns="0" anchor="ctr">
            <a:noAutofit/>
          </a:bodyPr>
          <a:lstStyle/>
          <a:p>
            <a:pPr algn="ctr">
              <a:buNone/>
            </a:pPr>
            <a:r>
              <a:rPr lang="zh-CN" altLang="en-US" sz="800" b="1" dirty="0">
                <a:solidFill>
                  <a:srgbClr val="FFFFFF"/>
                </a:solidFill>
              </a:rPr>
              <a:t>库存实时联动</a:t>
            </a:r>
          </a:p>
        </p:txBody>
      </p:sp>
      <p:sp>
        <p:nvSpPr>
          <p:cNvPr id="109" name="价值标签5"/>
          <p:cNvSpPr/>
          <p:nvPr/>
        </p:nvSpPr>
        <p:spPr>
          <a:xfrm>
            <a:off x="9804400" y="508000"/>
            <a:ext cx="1016000" cy="22860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txBody>
          <a:bodyPr wrap="square" lIns="9000" tIns="0" rIns="9000" bIns="0" anchor="ctr">
            <a:noAutofit/>
          </a:bodyPr>
          <a:lstStyle/>
          <a:p>
            <a:pPr algn="ctr">
              <a:buNone/>
            </a:pPr>
            <a:r>
              <a:rPr lang="zh-CN" altLang="en-US" sz="800" b="1" dirty="0">
                <a:solidFill>
                  <a:srgbClr val="FFFFFF"/>
                </a:solidFill>
              </a:rPr>
              <a:t>全过程可追溯</a:t>
            </a:r>
          </a:p>
        </p:txBody>
      </p:sp>
      <p:sp>
        <p:nvSpPr>
          <p:cNvPr id="110" name="价值标签6"/>
          <p:cNvSpPr/>
          <p:nvPr/>
        </p:nvSpPr>
        <p:spPr>
          <a:xfrm>
            <a:off x="10871200" y="508000"/>
            <a:ext cx="1016000" cy="22860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txBody>
          <a:bodyPr wrap="square" lIns="9000" tIns="0" rIns="9000" bIns="0" anchor="ctr">
            <a:noAutofit/>
          </a:bodyPr>
          <a:lstStyle/>
          <a:p>
            <a:pPr algn="ctr">
              <a:buNone/>
            </a:pPr>
            <a:r>
              <a:rPr lang="zh-CN" altLang="en-US" sz="800" b="1" dirty="0">
                <a:solidFill>
                  <a:srgbClr val="FFFFFF"/>
                </a:solidFill>
              </a:rPr>
              <a:t>质量持续反馈</a:t>
            </a:r>
          </a:p>
        </p:txBody>
      </p:sp>
      <p:sp>
        <p:nvSpPr>
          <p:cNvPr id="130" name="卡01容器"/>
          <p:cNvSpPr/>
          <p:nvPr/>
        </p:nvSpPr>
        <p:spPr>
          <a:xfrm>
            <a:off x="304800" y="1219200"/>
            <a:ext cx="1778000" cy="3352800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5C"/>
            </a:solidFill>
          </a:ln>
        </p:spPr>
        <p:txBody>
          <a:bodyPr wrap="square" lIns="27000" tIns="9000" rIns="27000" bIns="9000" anchor="ctr">
            <a:noAutofit/>
          </a:bodyPr>
          <a:lstStyle/>
          <a:p>
            <a:endParaRPr lang="zh-CN"/>
          </a:p>
        </p:txBody>
      </p:sp>
      <p:sp>
        <p:nvSpPr>
          <p:cNvPr id="131" name="卡01标题"/>
          <p:cNvSpPr/>
          <p:nvPr/>
        </p:nvSpPr>
        <p:spPr>
          <a:xfrm>
            <a:off x="304800" y="1219200"/>
            <a:ext cx="1778000" cy="3302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txBody>
          <a:bodyPr wrap="square" lIns="5000" tIns="0" rIns="5000" bIns="0" anchor="ctr">
            <a:noAutofit/>
          </a:bodyPr>
          <a:lstStyle/>
          <a:p>
            <a:pPr algn="ctr">
              <a:buNone/>
            </a:pPr>
            <a:r>
              <a:rPr lang="zh-CN" altLang="en-US" sz="950" b="1" dirty="0">
                <a:solidFill>
                  <a:srgbClr val="FFFFFF"/>
                </a:solidFill>
              </a:rPr>
              <a:t>01｜半成品库存数字化</a:t>
            </a:r>
          </a:p>
        </p:txBody>
      </p:sp>
      <p:sp>
        <p:nvSpPr>
          <p:cNvPr id="132" name="卡01输入"/>
          <p:cNvSpPr/>
          <p:nvPr/>
        </p:nvSpPr>
        <p:spPr>
          <a:xfrm>
            <a:off x="381000" y="1600200"/>
            <a:ext cx="16256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9000" anchor="t">
            <a:noAutofit/>
          </a:bodyPr>
          <a:lstStyle/>
          <a:p>
            <a:pPr>
              <a:lnSpc>
                <a:spcPct val="106000"/>
              </a:lnSpc>
              <a:buNone/>
            </a:pPr>
            <a:r>
              <a:rPr lang="zh-CN" altLang="en-US" sz="800" b="1" dirty="0">
                <a:solidFill>
                  <a:srgbClr val="1B3A5C"/>
                </a:solidFill>
              </a:rPr>
              <a:t>输入：</a:t>
            </a:r>
            <a:r>
              <a:rPr lang="zh-CN" altLang="en-US" sz="800" dirty="0">
                <a:solidFill>
                  <a:srgbClr val="44505E"/>
                </a:solidFill>
              </a:rPr>
              <a:t>Excel库存表·质检数据·库存流水</a:t>
            </a:r>
          </a:p>
        </p:txBody>
      </p:sp>
      <p:sp>
        <p:nvSpPr>
          <p:cNvPr id="133" name="卡01步1"/>
          <p:cNvSpPr/>
          <p:nvPr/>
        </p:nvSpPr>
        <p:spPr>
          <a:xfrm>
            <a:off x="457200" y="1981200"/>
            <a:ext cx="1473200" cy="203200"/>
          </a:xfrm>
          <a:prstGeom prst="rect">
            <a:avLst/>
          </a:prstGeom>
          <a:solidFill>
            <a:srgbClr val="EAF0F6"/>
          </a:solidFill>
          <a:ln w="9525">
            <a:solidFill>
              <a:srgbClr val="1B3A5C"/>
            </a:solidFill>
          </a:ln>
        </p:spPr>
        <p:txBody>
          <a:bodyPr wrap="square" lIns="3000" tIns="0" rIns="3000" bIns="0" anchor="ctr">
            <a:noAutofit/>
          </a:bodyPr>
          <a:lstStyle/>
          <a:p>
            <a:pPr algn="ctr">
              <a:buNone/>
            </a:pPr>
            <a:r>
              <a:rPr lang="zh-CN" altLang="en-US" sz="800" dirty="0">
                <a:solidFill>
                  <a:srgbClr val="16324F"/>
                </a:solidFill>
              </a:rPr>
              <a:t>Excel数据上传</a:t>
            </a:r>
          </a:p>
        </p:txBody>
      </p:sp>
      <p:sp>
        <p:nvSpPr>
          <p:cNvPr id="134" name="卡01箭1"/>
          <p:cNvSpPr/>
          <p:nvPr/>
        </p:nvSpPr>
        <p:spPr>
          <a:xfrm>
            <a:off x="1130300" y="2190750"/>
            <a:ext cx="127000" cy="63500"/>
          </a:xfrm>
          <a:prstGeom prst="downArrow">
            <a:avLst/>
          </a:prstGeom>
          <a:solidFill>
            <a:srgbClr val="1B3A5C"/>
          </a:solidFill>
          <a:ln>
            <a:noFill/>
          </a:ln>
        </p:spPr>
        <p:txBody>
          <a:bodyPr wrap="square" lIns="27000" tIns="9000" rIns="27000" bIns="9000" anchor="ctr">
            <a:noAutofit/>
          </a:bodyPr>
          <a:lstStyle/>
          <a:p>
            <a:endParaRPr lang="zh-CN"/>
          </a:p>
        </p:txBody>
      </p:sp>
      <p:sp>
        <p:nvSpPr>
          <p:cNvPr id="135" name="卡01步2"/>
          <p:cNvSpPr/>
          <p:nvPr/>
        </p:nvSpPr>
        <p:spPr>
          <a:xfrm>
            <a:off x="457200" y="2260600"/>
            <a:ext cx="1473200" cy="203200"/>
          </a:xfrm>
          <a:prstGeom prst="rect">
            <a:avLst/>
          </a:prstGeom>
          <a:solidFill>
            <a:srgbClr val="EAF0F6"/>
          </a:solidFill>
          <a:ln w="9525">
            <a:solidFill>
              <a:srgbClr val="1B3A5C"/>
            </a:solidFill>
          </a:ln>
        </p:spPr>
        <p:txBody>
          <a:bodyPr wrap="square" lIns="3000" tIns="0" rIns="3000" bIns="0" anchor="ctr">
            <a:noAutofit/>
          </a:bodyPr>
          <a:lstStyle/>
          <a:p>
            <a:pPr algn="ctr">
              <a:buNone/>
            </a:pPr>
            <a:r>
              <a:rPr lang="zh-CN" altLang="en-US" sz="800" dirty="0">
                <a:solidFill>
                  <a:srgbClr val="16324F"/>
                </a:solidFill>
              </a:rPr>
              <a:t>清洗与格式校验</a:t>
            </a:r>
          </a:p>
        </p:txBody>
      </p:sp>
      <p:sp>
        <p:nvSpPr>
          <p:cNvPr id="136" name="卡01箭2"/>
          <p:cNvSpPr/>
          <p:nvPr/>
        </p:nvSpPr>
        <p:spPr>
          <a:xfrm>
            <a:off x="1130300" y="2470150"/>
            <a:ext cx="127000" cy="63500"/>
          </a:xfrm>
          <a:prstGeom prst="downArrow">
            <a:avLst/>
          </a:prstGeom>
          <a:solidFill>
            <a:srgbClr val="1B3A5C"/>
          </a:solidFill>
          <a:ln>
            <a:noFill/>
          </a:ln>
        </p:spPr>
        <p:txBody>
          <a:bodyPr wrap="square" lIns="27000" tIns="9000" rIns="27000" bIns="9000" anchor="ctr">
            <a:noAutofit/>
          </a:bodyPr>
          <a:lstStyle/>
          <a:p>
            <a:endParaRPr lang="zh-CN"/>
          </a:p>
        </p:txBody>
      </p:sp>
      <p:sp>
        <p:nvSpPr>
          <p:cNvPr id="137" name="卡01步3"/>
          <p:cNvSpPr/>
          <p:nvPr/>
        </p:nvSpPr>
        <p:spPr>
          <a:xfrm>
            <a:off x="457200" y="2540000"/>
            <a:ext cx="1473200" cy="203200"/>
          </a:xfrm>
          <a:prstGeom prst="rect">
            <a:avLst/>
          </a:prstGeom>
          <a:solidFill>
            <a:srgbClr val="EAF0F6"/>
          </a:solidFill>
          <a:ln w="9525">
            <a:solidFill>
              <a:srgbClr val="1B3A5C"/>
            </a:solidFill>
          </a:ln>
        </p:spPr>
        <p:txBody>
          <a:bodyPr wrap="square" lIns="3000" tIns="0" rIns="3000" bIns="0" anchor="ctr">
            <a:noAutofit/>
          </a:bodyPr>
          <a:lstStyle/>
          <a:p>
            <a:pPr algn="ctr">
              <a:buNone/>
            </a:pPr>
            <a:r>
              <a:rPr lang="zh-CN" altLang="en-US" sz="800" dirty="0">
                <a:solidFill>
                  <a:srgbClr val="16324F"/>
                </a:solidFill>
              </a:rPr>
              <a:t>异常·重复提示</a:t>
            </a:r>
          </a:p>
        </p:txBody>
      </p:sp>
      <p:sp>
        <p:nvSpPr>
          <p:cNvPr id="138" name="卡01箭3"/>
          <p:cNvSpPr/>
          <p:nvPr/>
        </p:nvSpPr>
        <p:spPr>
          <a:xfrm>
            <a:off x="1130300" y="2749550"/>
            <a:ext cx="127000" cy="63500"/>
          </a:xfrm>
          <a:prstGeom prst="downArrow">
            <a:avLst/>
          </a:prstGeom>
          <a:solidFill>
            <a:srgbClr val="1B3A5C"/>
          </a:solidFill>
          <a:ln>
            <a:noFill/>
          </a:ln>
        </p:spPr>
        <p:txBody>
          <a:bodyPr wrap="square" lIns="27000" tIns="9000" rIns="27000" bIns="9000" anchor="ctr">
            <a:noAutofit/>
          </a:bodyPr>
          <a:lstStyle/>
          <a:p>
            <a:endParaRPr lang="zh-CN"/>
          </a:p>
        </p:txBody>
      </p:sp>
      <p:sp>
        <p:nvSpPr>
          <p:cNvPr id="139" name="卡01步4"/>
          <p:cNvSpPr/>
          <p:nvPr/>
        </p:nvSpPr>
        <p:spPr>
          <a:xfrm>
            <a:off x="457200" y="2819400"/>
            <a:ext cx="1473200" cy="203200"/>
          </a:xfrm>
          <a:prstGeom prst="rect">
            <a:avLst/>
          </a:prstGeom>
          <a:solidFill>
            <a:srgbClr val="EAF0F6"/>
          </a:solidFill>
          <a:ln w="9525">
            <a:solidFill>
              <a:srgbClr val="1B3A5C"/>
            </a:solidFill>
          </a:ln>
        </p:spPr>
        <p:txBody>
          <a:bodyPr wrap="square" lIns="3000" tIns="0" rIns="3000" bIns="0" anchor="ctr">
            <a:noAutofit/>
          </a:bodyPr>
          <a:lstStyle/>
          <a:p>
            <a:pPr algn="ctr">
              <a:buNone/>
            </a:pPr>
            <a:r>
              <a:rPr lang="zh-CN" altLang="en-US" sz="800" dirty="0">
                <a:solidFill>
                  <a:srgbClr val="16324F"/>
                </a:solidFill>
              </a:rPr>
              <a:t>写入阿里云RDS</a:t>
            </a:r>
          </a:p>
        </p:txBody>
      </p:sp>
      <p:sp>
        <p:nvSpPr>
          <p:cNvPr id="140" name="卡01箭4"/>
          <p:cNvSpPr/>
          <p:nvPr/>
        </p:nvSpPr>
        <p:spPr>
          <a:xfrm>
            <a:off x="1130300" y="3028950"/>
            <a:ext cx="127000" cy="63500"/>
          </a:xfrm>
          <a:prstGeom prst="downArrow">
            <a:avLst/>
          </a:prstGeom>
          <a:solidFill>
            <a:srgbClr val="1B3A5C"/>
          </a:solidFill>
          <a:ln>
            <a:noFill/>
          </a:ln>
        </p:spPr>
        <p:txBody>
          <a:bodyPr wrap="square" lIns="27000" tIns="9000" rIns="27000" bIns="9000" anchor="ctr">
            <a:noAutofit/>
          </a:bodyPr>
          <a:lstStyle/>
          <a:p>
            <a:endParaRPr lang="zh-CN"/>
          </a:p>
        </p:txBody>
      </p:sp>
      <p:sp>
        <p:nvSpPr>
          <p:cNvPr id="141" name="卡01步5"/>
          <p:cNvSpPr/>
          <p:nvPr/>
        </p:nvSpPr>
        <p:spPr>
          <a:xfrm>
            <a:off x="457200" y="3098800"/>
            <a:ext cx="1473200" cy="203200"/>
          </a:xfrm>
          <a:prstGeom prst="rect">
            <a:avLst/>
          </a:prstGeom>
          <a:solidFill>
            <a:srgbClr val="1B3A5C"/>
          </a:solidFill>
          <a:ln w="9525">
            <a:solidFill>
              <a:srgbClr val="1B3A5C"/>
            </a:solidFill>
          </a:ln>
        </p:spPr>
        <p:txBody>
          <a:bodyPr wrap="square" lIns="3000" tIns="0" rIns="3000" bIns="0" anchor="ctr">
            <a:noAutofit/>
          </a:bodyPr>
          <a:lstStyle/>
          <a:p>
            <a:pPr algn="ctr">
              <a:buNone/>
            </a:pPr>
            <a:r>
              <a:rPr lang="zh-CN" altLang="en-US" sz="800" b="1" dirty="0">
                <a:solidFill>
                  <a:srgbClr val="FFFFFF"/>
                </a:solidFill>
              </a:rPr>
              <a:t>统一库存台账</a:t>
            </a:r>
          </a:p>
        </p:txBody>
      </p:sp>
      <p:sp>
        <p:nvSpPr>
          <p:cNvPr id="142" name="卡01字段"/>
          <p:cNvSpPr/>
          <p:nvPr/>
        </p:nvSpPr>
        <p:spPr>
          <a:xfrm>
            <a:off x="381000" y="3403600"/>
            <a:ext cx="16256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9000" anchor="t">
            <a:noAutofit/>
          </a:bodyPr>
          <a:lstStyle/>
          <a:p>
            <a:pPr>
              <a:lnSpc>
                <a:spcPct val="106000"/>
              </a:lnSpc>
              <a:buNone/>
            </a:pPr>
            <a:r>
              <a:rPr lang="zh-CN" altLang="en-US" sz="800" b="1" dirty="0">
                <a:solidFill>
                  <a:srgbClr val="1B3A5C"/>
                </a:solidFill>
              </a:rPr>
              <a:t>关键字段：</a:t>
            </a:r>
            <a:r>
              <a:rPr lang="zh-CN" altLang="en-US" sz="800" dirty="0">
                <a:solidFill>
                  <a:srgbClr val="5A6472"/>
                </a:solidFill>
              </a:rPr>
              <a:t>批次编号·可用重量·冻力·黏度·生产日期·库龄·质量状态·仓库位置·锁定状态</a:t>
            </a:r>
          </a:p>
        </p:txBody>
      </p:sp>
      <p:sp>
        <p:nvSpPr>
          <p:cNvPr id="143" name="卡01变化"/>
          <p:cNvSpPr/>
          <p:nvPr/>
        </p:nvSpPr>
        <p:spPr>
          <a:xfrm>
            <a:off x="381000" y="3962400"/>
            <a:ext cx="16256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9000" anchor="t">
            <a:noAutofit/>
          </a:bodyPr>
          <a:lstStyle/>
          <a:p>
            <a:pPr>
              <a:lnSpc>
                <a:spcPct val="106000"/>
              </a:lnSpc>
              <a:buNone/>
            </a:pPr>
            <a:r>
              <a:rPr lang="zh-CN" altLang="en-US" sz="800" dirty="0">
                <a:solidFill>
                  <a:srgbClr val="8A94A0"/>
                </a:solidFill>
              </a:rPr>
              <a:t>分散Excel、人工查找 → </a:t>
            </a:r>
            <a:r>
              <a:rPr lang="zh-CN" altLang="en-US" sz="800" b="1" dirty="0">
                <a:solidFill>
                  <a:srgbClr val="00796B"/>
                </a:solidFill>
              </a:rPr>
              <a:t>统一数据库·实时查询·批次可追溯</a:t>
            </a:r>
          </a:p>
        </p:txBody>
      </p:sp>
      <p:sp>
        <p:nvSpPr>
          <p:cNvPr id="144" name="卡02容器"/>
          <p:cNvSpPr/>
          <p:nvPr/>
        </p:nvSpPr>
        <p:spPr>
          <a:xfrm>
            <a:off x="2209800" y="1219200"/>
            <a:ext cx="1701800" cy="3352800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5C"/>
            </a:solidFill>
          </a:ln>
        </p:spPr>
        <p:txBody>
          <a:bodyPr wrap="square" lIns="27000" tIns="9000" rIns="27000" bIns="9000" anchor="ctr">
            <a:noAutofit/>
          </a:bodyPr>
          <a:lstStyle/>
          <a:p>
            <a:endParaRPr lang="zh-CN"/>
          </a:p>
        </p:txBody>
      </p:sp>
      <p:sp>
        <p:nvSpPr>
          <p:cNvPr id="145" name="卡02标题"/>
          <p:cNvSpPr/>
          <p:nvPr/>
        </p:nvSpPr>
        <p:spPr>
          <a:xfrm>
            <a:off x="2209800" y="1219200"/>
            <a:ext cx="1701800" cy="3302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txBody>
          <a:bodyPr wrap="square" lIns="5000" tIns="0" rIns="5000" bIns="0" anchor="ctr">
            <a:noAutofit/>
          </a:bodyPr>
          <a:lstStyle/>
          <a:p>
            <a:pPr algn="ctr">
              <a:buNone/>
            </a:pPr>
            <a:r>
              <a:rPr lang="zh-CN" altLang="en-US" sz="950" b="1" dirty="0">
                <a:solidFill>
                  <a:srgbClr val="FFFFFF"/>
                </a:solidFill>
              </a:rPr>
              <a:t>02｜生产需求输入</a:t>
            </a:r>
          </a:p>
        </p:txBody>
      </p:sp>
      <p:sp>
        <p:nvSpPr>
          <p:cNvPr id="146" name="卡02对话框"/>
          <p:cNvSpPr/>
          <p:nvPr/>
        </p:nvSpPr>
        <p:spPr>
          <a:xfrm>
            <a:off x="2286000" y="1600200"/>
            <a:ext cx="1549400" cy="1016000"/>
          </a:xfrm>
          <a:prstGeom prst="roundRect">
            <a:avLst/>
          </a:prstGeom>
          <a:solidFill>
            <a:srgbClr val="EAF0F6"/>
          </a:solidFill>
          <a:ln w="9525">
            <a:solidFill>
              <a:srgbClr val="1B3A5C"/>
            </a:solidFill>
          </a:ln>
        </p:spPr>
        <p:txBody>
          <a:bodyPr wrap="square" lIns="8000" tIns="5000" rIns="8000" bIns="5000" anchor="t">
            <a:noAutofit/>
          </a:bodyPr>
          <a:lstStyle/>
          <a:p>
            <a:pPr>
              <a:lnSpc>
                <a:spcPct val="108000"/>
              </a:lnSpc>
              <a:buNone/>
            </a:pPr>
            <a:r>
              <a:rPr lang="zh-CN" altLang="en-US" sz="800" i="1" dirty="0">
                <a:solidFill>
                  <a:srgbClr val="16324F"/>
                </a:solidFill>
              </a:rPr>
              <a:t>“需要生产10吨胶囊用明胶，成品冻力不得低于200，优先消化库龄超过一年的库存，最多使用5个批次。”</a:t>
            </a:r>
          </a:p>
        </p:txBody>
      </p:sp>
      <p:sp>
        <p:nvSpPr>
          <p:cNvPr id="147" name="卡02处理"/>
          <p:cNvSpPr/>
          <p:nvPr/>
        </p:nvSpPr>
        <p:spPr>
          <a:xfrm>
            <a:off x="2286000" y="2692400"/>
            <a:ext cx="1549400" cy="142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9000" anchor="t">
            <a:noAutofit/>
          </a:bodyPr>
          <a:lstStyle/>
          <a:p>
            <a:pPr>
              <a:lnSpc>
                <a:spcPct val="106000"/>
              </a:lnSpc>
              <a:buNone/>
            </a:pPr>
            <a:r>
              <a:rPr lang="zh-CN" altLang="en-US" sz="800" b="1" dirty="0">
                <a:solidFill>
                  <a:srgbClr val="1B3A5C"/>
                </a:solidFill>
              </a:rPr>
              <a:t>系统处理：</a:t>
            </a:r>
          </a:p>
          <a:p>
            <a:pPr>
              <a:lnSpc>
                <a:spcPct val="106000"/>
              </a:lnSpc>
              <a:buNone/>
            </a:pPr>
            <a:r>
              <a:rPr lang="zh-CN" altLang="en-US" sz="800" dirty="0">
                <a:solidFill>
                  <a:srgbClr val="44505E"/>
                </a:solidFill>
              </a:rPr>
              <a:t>· 识别重量·用途·冻力·黏度·库存偏好·批次上限</a:t>
            </a:r>
          </a:p>
          <a:p>
            <a:pPr>
              <a:lnSpc>
                <a:spcPct val="106000"/>
              </a:lnSpc>
              <a:buNone/>
            </a:pPr>
            <a:r>
              <a:rPr lang="zh-CN" altLang="en-US" sz="800" dirty="0">
                <a:solidFill>
                  <a:srgbClr val="44505E"/>
                </a:solidFill>
              </a:rPr>
              <a:t>· 参数缺失时自动追问</a:t>
            </a:r>
          </a:p>
          <a:p>
            <a:pPr>
              <a:lnSpc>
                <a:spcPct val="106000"/>
              </a:lnSpc>
              <a:buNone/>
            </a:pPr>
            <a:r>
              <a:rPr lang="zh-CN" altLang="en-US" sz="800" dirty="0">
                <a:solidFill>
                  <a:srgbClr val="44505E"/>
                </a:solidFill>
              </a:rPr>
              <a:t>· 转为标准化计算参数</a:t>
            </a:r>
          </a:p>
        </p:txBody>
      </p:sp>
      <p:sp>
        <p:nvSpPr>
          <p:cNvPr id="148" name="卡02AI标签"/>
          <p:cNvSpPr/>
          <p:nvPr/>
        </p:nvSpPr>
        <p:spPr>
          <a:xfrm>
            <a:off x="2286000" y="4216400"/>
            <a:ext cx="1549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4000"/>
              </a:lnSpc>
              <a:buNone/>
            </a:pPr>
            <a:r>
              <a:rPr lang="zh-CN" altLang="en-US" sz="800" b="1" dirty="0">
                <a:solidFill>
                  <a:srgbClr val="1E7A46"/>
                </a:solidFill>
              </a:rPr>
              <a:t>自然语言理解与智能追问</a:t>
            </a:r>
          </a:p>
        </p:txBody>
      </p:sp>
      <p:sp>
        <p:nvSpPr>
          <p:cNvPr id="149" name="AI①"/>
          <p:cNvSpPr/>
          <p:nvPr/>
        </p:nvSpPr>
        <p:spPr>
          <a:xfrm>
            <a:off x="3225800" y="1117600"/>
            <a:ext cx="457200" cy="203200"/>
          </a:xfrm>
          <a:prstGeom prst="ellipse">
            <a:avLst/>
          </a:prstGeom>
          <a:solidFill>
            <a:srgbClr val="1E7A46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zh-CN" altLang="en-US" sz="800" b="1" dirty="0">
                <a:solidFill>
                  <a:srgbClr val="FFFFFF"/>
                </a:solidFill>
              </a:rPr>
              <a:t>AI①</a:t>
            </a:r>
          </a:p>
        </p:txBody>
      </p:sp>
      <p:sp>
        <p:nvSpPr>
          <p:cNvPr id="150" name="卡03容器"/>
          <p:cNvSpPr/>
          <p:nvPr/>
        </p:nvSpPr>
        <p:spPr>
          <a:xfrm>
            <a:off x="4038600" y="1219200"/>
            <a:ext cx="1701800" cy="3352800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5C"/>
            </a:solidFill>
          </a:ln>
        </p:spPr>
        <p:txBody>
          <a:bodyPr wrap="square" lIns="27000" tIns="9000" rIns="27000" bIns="9000" anchor="ctr">
            <a:noAutofit/>
          </a:bodyPr>
          <a:lstStyle/>
          <a:p>
            <a:endParaRPr lang="zh-CN"/>
          </a:p>
        </p:txBody>
      </p:sp>
      <p:sp>
        <p:nvSpPr>
          <p:cNvPr id="151" name="卡03标题"/>
          <p:cNvSpPr/>
          <p:nvPr/>
        </p:nvSpPr>
        <p:spPr>
          <a:xfrm>
            <a:off x="4038600" y="1219200"/>
            <a:ext cx="1701800" cy="3302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txBody>
          <a:bodyPr wrap="square" lIns="5000" tIns="0" rIns="5000" bIns="0" anchor="ctr">
            <a:noAutofit/>
          </a:bodyPr>
          <a:lstStyle/>
          <a:p>
            <a:pPr algn="ctr">
              <a:buNone/>
            </a:pPr>
            <a:r>
              <a:rPr lang="zh-CN" altLang="en-US" sz="950" b="1" dirty="0">
                <a:solidFill>
                  <a:srgbClr val="FFFFFF"/>
                </a:solidFill>
              </a:rPr>
              <a:t>03｜候选批次筛选</a:t>
            </a:r>
          </a:p>
        </p:txBody>
      </p:sp>
      <p:sp>
        <p:nvSpPr>
          <p:cNvPr id="152" name="漏斗1"/>
          <p:cNvSpPr/>
          <p:nvPr/>
        </p:nvSpPr>
        <p:spPr>
          <a:xfrm>
            <a:off x="4152900" y="1625600"/>
            <a:ext cx="1473200" cy="215900"/>
          </a:xfrm>
          <a:prstGeom prst="rect">
            <a:avLst/>
          </a:prstGeom>
          <a:solidFill>
            <a:srgbClr val="EAF0F6"/>
          </a:solidFill>
          <a:ln w="9525">
            <a:solidFill>
              <a:srgbClr val="1B3A5C"/>
            </a:solidFill>
          </a:ln>
        </p:spPr>
        <p:txBody>
          <a:bodyPr wrap="square" lIns="2000" tIns="0" rIns="2000" bIns="0" anchor="ctr">
            <a:noAutofit/>
          </a:bodyPr>
          <a:lstStyle/>
          <a:p>
            <a:pPr algn="ctr">
              <a:buNone/>
            </a:pPr>
            <a:r>
              <a:rPr lang="zh-CN" altLang="en-US" sz="800" dirty="0">
                <a:solidFill>
                  <a:srgbClr val="16324F"/>
                </a:solidFill>
              </a:rPr>
              <a:t>读取RDS库存</a:t>
            </a:r>
          </a:p>
        </p:txBody>
      </p:sp>
      <p:sp>
        <p:nvSpPr>
          <p:cNvPr id="153" name="漏斗2"/>
          <p:cNvSpPr/>
          <p:nvPr/>
        </p:nvSpPr>
        <p:spPr>
          <a:xfrm>
            <a:off x="4267200" y="1917700"/>
            <a:ext cx="1244600" cy="215900"/>
          </a:xfrm>
          <a:prstGeom prst="rect">
            <a:avLst/>
          </a:prstGeom>
          <a:solidFill>
            <a:srgbClr val="D8E4EE"/>
          </a:solidFill>
          <a:ln w="9525">
            <a:solidFill>
              <a:srgbClr val="1B3A5C"/>
            </a:solidFill>
          </a:ln>
        </p:spPr>
        <p:txBody>
          <a:bodyPr wrap="square" lIns="2000" tIns="0" rIns="2000" bIns="0" anchor="ctr">
            <a:noAutofit/>
          </a:bodyPr>
          <a:lstStyle/>
          <a:p>
            <a:pPr algn="ctr">
              <a:buNone/>
            </a:pPr>
            <a:r>
              <a:rPr lang="zh-CN" altLang="en-US" sz="800" dirty="0">
                <a:solidFill>
                  <a:srgbClr val="16324F"/>
                </a:solidFill>
              </a:rPr>
              <a:t>SQL条件初筛</a:t>
            </a:r>
          </a:p>
        </p:txBody>
      </p:sp>
      <p:sp>
        <p:nvSpPr>
          <p:cNvPr id="154" name="漏斗3"/>
          <p:cNvSpPr/>
          <p:nvPr/>
        </p:nvSpPr>
        <p:spPr>
          <a:xfrm>
            <a:off x="4368800" y="2209800"/>
            <a:ext cx="1041400" cy="215900"/>
          </a:xfrm>
          <a:prstGeom prst="rect">
            <a:avLst/>
          </a:prstGeom>
          <a:solidFill>
            <a:srgbClr val="C3D5E4"/>
          </a:solidFill>
          <a:ln w="9525">
            <a:solidFill>
              <a:srgbClr val="1B3A5C"/>
            </a:solidFill>
          </a:ln>
        </p:spPr>
        <p:txBody>
          <a:bodyPr wrap="square" lIns="2000" tIns="0" rIns="2000" bIns="0" anchor="ctr">
            <a:noAutofit/>
          </a:bodyPr>
          <a:lstStyle/>
          <a:p>
            <a:pPr algn="ctr">
              <a:buNone/>
            </a:pPr>
            <a:r>
              <a:rPr lang="zh-CN" altLang="en-US" sz="800" dirty="0">
                <a:solidFill>
                  <a:srgbClr val="16324F"/>
                </a:solidFill>
              </a:rPr>
              <a:t>Polars清洗计算</a:t>
            </a:r>
          </a:p>
        </p:txBody>
      </p:sp>
      <p:sp>
        <p:nvSpPr>
          <p:cNvPr id="155" name="漏斗4"/>
          <p:cNvSpPr/>
          <p:nvPr/>
        </p:nvSpPr>
        <p:spPr>
          <a:xfrm>
            <a:off x="4445000" y="2501900"/>
            <a:ext cx="889000" cy="215900"/>
          </a:xfrm>
          <a:prstGeom prst="rect">
            <a:avLst/>
          </a:prstGeom>
          <a:solidFill>
            <a:srgbClr val="1B3A5C"/>
          </a:solidFill>
          <a:ln w="9525">
            <a:solidFill>
              <a:srgbClr val="1B3A5C"/>
            </a:solidFill>
          </a:ln>
        </p:spPr>
        <p:txBody>
          <a:bodyPr wrap="square" lIns="2000" tIns="0" rIns="2000" bIns="0" anchor="ctr">
            <a:noAutofit/>
          </a:bodyPr>
          <a:lstStyle/>
          <a:p>
            <a:pPr algn="ctr">
              <a:buNone/>
            </a:pPr>
            <a:r>
              <a:rPr lang="zh-CN" altLang="en-US" sz="800" b="1" dirty="0">
                <a:solidFill>
                  <a:srgbClr val="FFFFFF"/>
                </a:solidFill>
              </a:rPr>
              <a:t>候选库存池</a:t>
            </a:r>
          </a:p>
        </p:txBody>
      </p:sp>
      <p:sp>
        <p:nvSpPr>
          <p:cNvPr id="156" name="卡03排除"/>
          <p:cNvSpPr/>
          <p:nvPr/>
        </p:nvSpPr>
        <p:spPr>
          <a:xfrm>
            <a:off x="4114800" y="2895600"/>
            <a:ext cx="1549400" cy="121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9000" anchor="t">
            <a:noAutofit/>
          </a:bodyPr>
          <a:lstStyle/>
          <a:p>
            <a:pPr>
              <a:lnSpc>
                <a:spcPct val="106000"/>
              </a:lnSpc>
              <a:buNone/>
            </a:pPr>
            <a:r>
              <a:rPr lang="zh-CN" altLang="en-US" sz="800" b="1" dirty="0">
                <a:solidFill>
                  <a:srgbClr val="1B3A5C"/>
                </a:solidFill>
              </a:rPr>
              <a:t>自动排除：</a:t>
            </a:r>
          </a:p>
          <a:p>
            <a:pPr>
              <a:lnSpc>
                <a:spcPct val="106000"/>
              </a:lnSpc>
              <a:buNone/>
            </a:pPr>
            <a:r>
              <a:rPr lang="zh-CN" altLang="en-US" sz="800" dirty="0">
                <a:solidFill>
                  <a:srgbClr val="44505E"/>
                </a:solidFill>
              </a:rPr>
              <a:t>质量不合格｜可用库存为零｜已被其他订单锁定｜用途不兼容｜数据缺失或异常</a:t>
            </a:r>
          </a:p>
        </p:txBody>
      </p:sp>
      <p:sp>
        <p:nvSpPr>
          <p:cNvPr id="157" name="卡03AI标签"/>
          <p:cNvSpPr/>
          <p:nvPr/>
        </p:nvSpPr>
        <p:spPr>
          <a:xfrm>
            <a:off x="4114800" y="4216400"/>
            <a:ext cx="1549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4000"/>
              </a:lnSpc>
              <a:buNone/>
            </a:pPr>
            <a:r>
              <a:rPr lang="zh-CN" altLang="en-US" sz="800" b="1" dirty="0">
                <a:solidFill>
                  <a:srgbClr val="1E7A46"/>
                </a:solidFill>
              </a:rPr>
              <a:t>异常识别与业务规则匹配</a:t>
            </a:r>
          </a:p>
        </p:txBody>
      </p:sp>
      <p:sp>
        <p:nvSpPr>
          <p:cNvPr id="158" name="AI②"/>
          <p:cNvSpPr/>
          <p:nvPr/>
        </p:nvSpPr>
        <p:spPr>
          <a:xfrm>
            <a:off x="5054600" y="1117600"/>
            <a:ext cx="457200" cy="203200"/>
          </a:xfrm>
          <a:prstGeom prst="ellipse">
            <a:avLst/>
          </a:prstGeom>
          <a:solidFill>
            <a:srgbClr val="1E7A46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zh-CN" altLang="en-US" sz="800" b="1" dirty="0">
                <a:solidFill>
                  <a:srgbClr val="FFFFFF"/>
                </a:solidFill>
              </a:rPr>
              <a:t>AI②</a:t>
            </a:r>
          </a:p>
        </p:txBody>
      </p:sp>
      <p:sp>
        <p:nvSpPr>
          <p:cNvPr id="159" name="主箭头1"/>
          <p:cNvSpPr/>
          <p:nvPr/>
        </p:nvSpPr>
        <p:spPr>
          <a:xfrm>
            <a:off x="2006600" y="1295400"/>
            <a:ext cx="203200" cy="177800"/>
          </a:xfrm>
          <a:prstGeom prst="rightArrow">
            <a:avLst/>
          </a:prstGeom>
          <a:solidFill>
            <a:srgbClr val="1B3A5C"/>
          </a:solidFill>
          <a:ln>
            <a:noFill/>
          </a:ln>
        </p:spPr>
        <p:txBody>
          <a:bodyPr wrap="square" lIns="27000" tIns="9000" rIns="27000" bIns="9000" anchor="ctr">
            <a:noAutofit/>
          </a:bodyPr>
          <a:lstStyle/>
          <a:p>
            <a:endParaRPr lang="zh-CN"/>
          </a:p>
        </p:txBody>
      </p:sp>
      <p:sp>
        <p:nvSpPr>
          <p:cNvPr id="160" name="主箭头2"/>
          <p:cNvSpPr/>
          <p:nvPr/>
        </p:nvSpPr>
        <p:spPr>
          <a:xfrm>
            <a:off x="3835400" y="1295400"/>
            <a:ext cx="203200" cy="177800"/>
          </a:xfrm>
          <a:prstGeom prst="rightArrow">
            <a:avLst/>
          </a:prstGeom>
          <a:solidFill>
            <a:srgbClr val="1B3A5C"/>
          </a:solidFill>
          <a:ln>
            <a:noFill/>
          </a:ln>
        </p:spPr>
        <p:txBody>
          <a:bodyPr wrap="square" lIns="27000" tIns="9000" rIns="27000" bIns="9000" anchor="ctr">
            <a:noAutofit/>
          </a:bodyPr>
          <a:lstStyle/>
          <a:p>
            <a:endParaRPr lang="zh-CN"/>
          </a:p>
        </p:txBody>
      </p:sp>
      <p:sp>
        <p:nvSpPr>
          <p:cNvPr id="161" name="主箭头3"/>
          <p:cNvSpPr/>
          <p:nvPr/>
        </p:nvSpPr>
        <p:spPr>
          <a:xfrm>
            <a:off x="5664200" y="1295400"/>
            <a:ext cx="203200" cy="177800"/>
          </a:xfrm>
          <a:prstGeom prst="rightArrow">
            <a:avLst/>
          </a:prstGeom>
          <a:solidFill>
            <a:srgbClr val="1B3A5C"/>
          </a:solidFill>
          <a:ln>
            <a:noFill/>
          </a:ln>
        </p:spPr>
        <p:txBody>
          <a:bodyPr wrap="square" lIns="27000" tIns="9000" rIns="27000" bIns="9000" anchor="ctr">
            <a:noAutofit/>
          </a:bodyPr>
          <a:lstStyle/>
          <a:p>
            <a:endParaRPr lang="zh-CN"/>
          </a:p>
        </p:txBody>
      </p:sp>
      <p:sp>
        <p:nvSpPr>
          <p:cNvPr id="200" name="卡04容器"/>
          <p:cNvSpPr/>
          <p:nvPr/>
        </p:nvSpPr>
        <p:spPr>
          <a:xfrm>
            <a:off x="5867400" y="1117600"/>
            <a:ext cx="2413000" cy="3556000"/>
          </a:xfrm>
          <a:prstGeom prst="rect">
            <a:avLst/>
          </a:prstGeom>
          <a:solidFill>
            <a:srgbClr val="F0FAF9"/>
          </a:solidFill>
          <a:ln w="31750">
            <a:solidFill>
              <a:srgbClr val="00796B"/>
            </a:solidFill>
          </a:ln>
        </p:spPr>
        <p:txBody>
          <a:bodyPr wrap="square" lIns="27000" tIns="9000" rIns="27000" bIns="9000" anchor="ctr">
            <a:noAutofit/>
          </a:bodyPr>
          <a:lstStyle/>
          <a:p>
            <a:endParaRPr lang="zh-CN"/>
          </a:p>
        </p:txBody>
      </p:sp>
      <p:sp>
        <p:nvSpPr>
          <p:cNvPr id="201" name="卡04标题"/>
          <p:cNvSpPr/>
          <p:nvPr/>
        </p:nvSpPr>
        <p:spPr>
          <a:xfrm>
            <a:off x="5867400" y="1117600"/>
            <a:ext cx="2413000" cy="38100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txBody>
          <a:bodyPr wrap="square" lIns="5000" tIns="0" rIns="5000" bIns="0" anchor="ctr">
            <a:noAutofit/>
          </a:bodyPr>
          <a:lstStyle/>
          <a:p>
            <a:pPr algn="ctr">
              <a:buNone/>
            </a:pPr>
            <a:r>
              <a:rPr lang="zh-CN" altLang="en-US" sz="1100" b="1" dirty="0">
                <a:solidFill>
                  <a:srgbClr val="FFFFFF"/>
                </a:solidFill>
              </a:rPr>
              <a:t>04｜AI智能配方决策引擎</a:t>
            </a:r>
          </a:p>
        </p:txBody>
      </p:sp>
      <p:sp>
        <p:nvSpPr>
          <p:cNvPr id="202" name="卡04能力"/>
          <p:cNvSpPr/>
          <p:nvPr/>
        </p:nvSpPr>
        <p:spPr>
          <a:xfrm>
            <a:off x="5969000" y="1549400"/>
            <a:ext cx="22098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9000" anchor="t">
            <a:noAutofit/>
          </a:bodyPr>
          <a:lstStyle/>
          <a:p>
            <a:pPr algn="ctr">
              <a:lnSpc>
                <a:spcPct val="106000"/>
              </a:lnSpc>
              <a:buNone/>
            </a:pPr>
            <a:r>
              <a:rPr lang="zh-CN" altLang="en-US" sz="850" b="1" dirty="0">
                <a:solidFill>
                  <a:srgbClr val="16324F"/>
                </a:solidFill>
              </a:rPr>
              <a:t>在质量与库存约束下，自动计算每个批次的投料重量</a:t>
            </a:r>
          </a:p>
        </p:txBody>
      </p:sp>
      <p:sp>
        <p:nvSpPr>
          <p:cNvPr id="203" name="卡04目标"/>
          <p:cNvSpPr/>
          <p:nvPr/>
        </p:nvSpPr>
        <p:spPr>
          <a:xfrm>
            <a:off x="5969000" y="1930400"/>
            <a:ext cx="22098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9000" anchor="t">
            <a:noAutofit/>
          </a:bodyPr>
          <a:lstStyle/>
          <a:p>
            <a:pPr>
              <a:lnSpc>
                <a:spcPct val="104000"/>
              </a:lnSpc>
              <a:buNone/>
            </a:pPr>
            <a:r>
              <a:rPr lang="zh-CN" altLang="en-US" sz="800" b="1" dirty="0">
                <a:solidFill>
                  <a:srgbClr val="00695C"/>
                </a:solidFill>
              </a:rPr>
              <a:t>优化目标：</a:t>
            </a:r>
            <a:r>
              <a:rPr lang="zh-CN" altLang="en-US" sz="800" dirty="0">
                <a:solidFill>
                  <a:srgbClr val="44505E"/>
                </a:solidFill>
              </a:rPr>
              <a:t>冻力保下限｜控制高冻力超配｜优先消化老库存｜减少使用批次数｜兼顾成本与操作便利</a:t>
            </a:r>
          </a:p>
        </p:txBody>
      </p:sp>
      <p:sp>
        <p:nvSpPr>
          <p:cNvPr id="204" name="卡04强调"/>
          <p:cNvSpPr/>
          <p:nvPr/>
        </p:nvSpPr>
        <p:spPr>
          <a:xfrm>
            <a:off x="5969000" y="2794000"/>
            <a:ext cx="2209800" cy="4572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txBody>
          <a:bodyPr wrap="square" lIns="6000" tIns="2000" rIns="6000" bIns="2000" anchor="ctr">
            <a:noAutofit/>
          </a:bodyPr>
          <a:lstStyle/>
          <a:p>
            <a:pPr algn="ctr">
              <a:lnSpc>
                <a:spcPct val="110000"/>
              </a:lnSpc>
              <a:buNone/>
            </a:pPr>
            <a:r>
              <a:rPr lang="zh-CN" altLang="en-US" sz="850" b="1" dirty="0">
                <a:solidFill>
                  <a:srgbClr val="FFFFFF"/>
                </a:solidFill>
              </a:rPr>
              <a:t>保下限、控超配｜冻力只能高不能低</a:t>
            </a:r>
          </a:p>
          <a:p>
            <a:pPr algn="ctr">
              <a:lnSpc>
                <a:spcPct val="110000"/>
              </a:lnSpc>
              <a:buNone/>
            </a:pPr>
            <a:r>
              <a:rPr lang="zh-CN" altLang="en-US" sz="800" dirty="0">
                <a:solidFill>
                  <a:srgbClr val="D8E4EE"/>
                </a:solidFill>
              </a:rPr>
              <a:t>低于安全控制线的方案直接淘汰</a:t>
            </a:r>
          </a:p>
        </p:txBody>
      </p:sp>
      <p:sp>
        <p:nvSpPr>
          <p:cNvPr id="205" name="方案1"/>
          <p:cNvSpPr/>
          <p:nvPr/>
        </p:nvSpPr>
        <p:spPr>
          <a:xfrm>
            <a:off x="5969000" y="3327400"/>
            <a:ext cx="1066800" cy="279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96B"/>
            </a:solidFill>
          </a:ln>
        </p:spPr>
        <p:txBody>
          <a:bodyPr wrap="square" lIns="3000" tIns="0" rIns="3000" bIns="0" anchor="ctr">
            <a:noAutofit/>
          </a:bodyPr>
          <a:lstStyle/>
          <a:p>
            <a:pPr algn="ctr">
              <a:buNone/>
            </a:pPr>
            <a:r>
              <a:rPr lang="zh-CN" altLang="en-US" sz="850" b="1" dirty="0">
                <a:solidFill>
                  <a:srgbClr val="00695C"/>
                </a:solidFill>
              </a:rPr>
              <a:t>质量最优</a:t>
            </a:r>
          </a:p>
        </p:txBody>
      </p:sp>
      <p:sp>
        <p:nvSpPr>
          <p:cNvPr id="206" name="方案2"/>
          <p:cNvSpPr/>
          <p:nvPr/>
        </p:nvSpPr>
        <p:spPr>
          <a:xfrm>
            <a:off x="7112000" y="3327400"/>
            <a:ext cx="1066800" cy="279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96B"/>
            </a:solidFill>
          </a:ln>
        </p:spPr>
        <p:txBody>
          <a:bodyPr wrap="square" lIns="3000" tIns="0" rIns="3000" bIns="0" anchor="ctr">
            <a:noAutofit/>
          </a:bodyPr>
          <a:lstStyle/>
          <a:p>
            <a:pPr algn="ctr">
              <a:buNone/>
            </a:pPr>
            <a:r>
              <a:rPr lang="zh-CN" altLang="en-US" sz="850" b="1" dirty="0">
                <a:solidFill>
                  <a:srgbClr val="00695C"/>
                </a:solidFill>
              </a:rPr>
              <a:t>老库存优先</a:t>
            </a:r>
          </a:p>
        </p:txBody>
      </p:sp>
      <p:sp>
        <p:nvSpPr>
          <p:cNvPr id="207" name="方案3"/>
          <p:cNvSpPr/>
          <p:nvPr/>
        </p:nvSpPr>
        <p:spPr>
          <a:xfrm>
            <a:off x="5969000" y="3670300"/>
            <a:ext cx="1066800" cy="279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96B"/>
            </a:solidFill>
          </a:ln>
        </p:spPr>
        <p:txBody>
          <a:bodyPr wrap="square" lIns="3000" tIns="0" rIns="3000" bIns="0" anchor="ctr">
            <a:noAutofit/>
          </a:bodyPr>
          <a:lstStyle/>
          <a:p>
            <a:pPr algn="ctr">
              <a:buNone/>
            </a:pPr>
            <a:r>
              <a:rPr lang="zh-CN" altLang="en-US" sz="850" b="1" dirty="0">
                <a:solidFill>
                  <a:srgbClr val="00695C"/>
                </a:solidFill>
              </a:rPr>
              <a:t>批次数最少</a:t>
            </a:r>
          </a:p>
        </p:txBody>
      </p:sp>
      <p:sp>
        <p:nvSpPr>
          <p:cNvPr id="208" name="方案4"/>
          <p:cNvSpPr/>
          <p:nvPr/>
        </p:nvSpPr>
        <p:spPr>
          <a:xfrm>
            <a:off x="7112000" y="3670300"/>
            <a:ext cx="1066800" cy="279400"/>
          </a:xfrm>
          <a:prstGeom prst="roundRect">
            <a:avLst/>
          </a:prstGeom>
          <a:solidFill>
            <a:srgbClr val="00796B"/>
          </a:solidFill>
          <a:ln w="12700">
            <a:solidFill>
              <a:srgbClr val="00796B"/>
            </a:solidFill>
          </a:ln>
        </p:spPr>
        <p:txBody>
          <a:bodyPr wrap="square" lIns="3000" tIns="0" rIns="3000" bIns="0" anchor="ctr">
            <a:noAutofit/>
          </a:bodyPr>
          <a:lstStyle/>
          <a:p>
            <a:pPr algn="ctr">
              <a:buNone/>
            </a:pPr>
            <a:r>
              <a:rPr lang="zh-CN" altLang="en-US" sz="850" b="1" dirty="0">
                <a:solidFill>
                  <a:srgbClr val="FFFFFF"/>
                </a:solidFill>
              </a:rPr>
              <a:t>综合推荐</a:t>
            </a:r>
          </a:p>
        </p:txBody>
      </p:sp>
      <p:sp>
        <p:nvSpPr>
          <p:cNvPr id="209" name="AI③"/>
          <p:cNvSpPr/>
          <p:nvPr/>
        </p:nvSpPr>
        <p:spPr>
          <a:xfrm>
            <a:off x="5969000" y="4064000"/>
            <a:ext cx="457200" cy="203200"/>
          </a:xfrm>
          <a:prstGeom prst="ellipse">
            <a:avLst/>
          </a:prstGeom>
          <a:solidFill>
            <a:srgbClr val="1E7A46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zh-CN" altLang="en-US" sz="800" b="1" dirty="0">
                <a:solidFill>
                  <a:srgbClr val="FFFFFF"/>
                </a:solidFill>
              </a:rPr>
              <a:t>AI③</a:t>
            </a:r>
          </a:p>
        </p:txBody>
      </p:sp>
      <p:sp>
        <p:nvSpPr>
          <p:cNvPr id="210" name="AI③标签"/>
          <p:cNvSpPr/>
          <p:nvPr/>
        </p:nvSpPr>
        <p:spPr>
          <a:xfrm>
            <a:off x="6502400" y="4013200"/>
            <a:ext cx="1676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2000"/>
              </a:lnSpc>
              <a:buNone/>
            </a:pPr>
            <a:r>
              <a:rPr lang="zh-CN" altLang="en-US" sz="800" b="1" dirty="0">
                <a:solidFill>
                  <a:srgbClr val="1E7A46"/>
                </a:solidFill>
              </a:rPr>
              <a:t>质量·库存·成本·操作复杂度多目标优化</a:t>
            </a:r>
          </a:p>
        </p:txBody>
      </p:sp>
      <p:sp>
        <p:nvSpPr>
          <p:cNvPr id="211" name="AI④"/>
          <p:cNvSpPr/>
          <p:nvPr/>
        </p:nvSpPr>
        <p:spPr>
          <a:xfrm>
            <a:off x="5969000" y="4394200"/>
            <a:ext cx="457200" cy="203200"/>
          </a:xfrm>
          <a:prstGeom prst="ellipse">
            <a:avLst/>
          </a:prstGeom>
          <a:solidFill>
            <a:srgbClr val="1E7A46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zh-CN" altLang="en-US" sz="800" b="1" dirty="0">
                <a:solidFill>
                  <a:srgbClr val="FFFFFF"/>
                </a:solidFill>
              </a:rPr>
              <a:t>AI④</a:t>
            </a:r>
          </a:p>
        </p:txBody>
      </p:sp>
      <p:sp>
        <p:nvSpPr>
          <p:cNvPr id="212" name="AI④标签"/>
          <p:cNvSpPr/>
          <p:nvPr/>
        </p:nvSpPr>
        <p:spPr>
          <a:xfrm>
            <a:off x="6502400" y="4343400"/>
            <a:ext cx="1676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2000"/>
              </a:lnSpc>
              <a:buNone/>
            </a:pPr>
            <a:r>
              <a:rPr lang="zh-CN" altLang="en-US" sz="800" b="1" dirty="0">
                <a:solidFill>
                  <a:srgbClr val="1E7A46"/>
                </a:solidFill>
              </a:rPr>
              <a:t>方案解释、风险提示和推荐理由</a:t>
            </a:r>
          </a:p>
        </p:txBody>
      </p:sp>
      <p:sp>
        <p:nvSpPr>
          <p:cNvPr id="230" name="卡05容器"/>
          <p:cNvSpPr/>
          <p:nvPr/>
        </p:nvSpPr>
        <p:spPr>
          <a:xfrm>
            <a:off x="8407400" y="1219200"/>
            <a:ext cx="1625600" cy="3352800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5C"/>
            </a:solidFill>
          </a:ln>
        </p:spPr>
        <p:txBody>
          <a:bodyPr wrap="square" lIns="27000" tIns="9000" rIns="27000" bIns="9000" anchor="ctr">
            <a:noAutofit/>
          </a:bodyPr>
          <a:lstStyle/>
          <a:p>
            <a:endParaRPr lang="zh-CN"/>
          </a:p>
        </p:txBody>
      </p:sp>
      <p:sp>
        <p:nvSpPr>
          <p:cNvPr id="231" name="卡05标题"/>
          <p:cNvSpPr/>
          <p:nvPr/>
        </p:nvSpPr>
        <p:spPr>
          <a:xfrm>
            <a:off x="8407400" y="1219200"/>
            <a:ext cx="1625600" cy="3302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txBody>
          <a:bodyPr wrap="square" lIns="3000" tIns="0" rIns="3000" bIns="0" anchor="ctr">
            <a:noAutofit/>
          </a:bodyPr>
          <a:lstStyle/>
          <a:p>
            <a:pPr algn="ctr">
              <a:buNone/>
            </a:pPr>
            <a:r>
              <a:rPr lang="zh-CN" altLang="en-US" sz="900" b="1" dirty="0">
                <a:solidFill>
                  <a:srgbClr val="FFFFFF"/>
                </a:solidFill>
              </a:rPr>
              <a:t>05｜人工确认与混配执行</a:t>
            </a:r>
          </a:p>
        </p:txBody>
      </p:sp>
      <p:sp>
        <p:nvSpPr>
          <p:cNvPr id="232" name="卡05协同"/>
          <p:cNvSpPr/>
          <p:nvPr/>
        </p:nvSpPr>
        <p:spPr>
          <a:xfrm>
            <a:off x="8483600" y="1600200"/>
            <a:ext cx="14732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zh-CN" altLang="en-US" sz="800" b="1" dirty="0">
                <a:solidFill>
                  <a:srgbClr val="00796B"/>
                </a:solidFill>
              </a:rPr>
              <a:t>AI辅助决策·人工最终确认</a:t>
            </a:r>
          </a:p>
        </p:txBody>
      </p:sp>
      <p:sp>
        <p:nvSpPr>
          <p:cNvPr id="233" name="卡05步1"/>
          <p:cNvSpPr/>
          <p:nvPr/>
        </p:nvSpPr>
        <p:spPr>
          <a:xfrm>
            <a:off x="8509000" y="1879600"/>
            <a:ext cx="1422400" cy="203200"/>
          </a:xfrm>
          <a:prstGeom prst="rect">
            <a:avLst/>
          </a:prstGeom>
          <a:solidFill>
            <a:srgbClr val="E9ECEF"/>
          </a:solidFill>
          <a:ln w="9525">
            <a:solidFill>
              <a:srgbClr val="1B3A5C"/>
            </a:solidFill>
          </a:ln>
        </p:spPr>
        <p:txBody>
          <a:bodyPr wrap="square" lIns="3000" tIns="0" rIns="3000" bIns="0" anchor="ctr">
            <a:noAutofit/>
          </a:bodyPr>
          <a:lstStyle/>
          <a:p>
            <a:pPr algn="ctr">
              <a:buNone/>
            </a:pPr>
            <a:r>
              <a:rPr lang="zh-CN" altLang="en-US" sz="800" b="1" dirty="0">
                <a:solidFill>
                  <a:srgbClr val="5A6472"/>
                </a:solidFill>
              </a:rPr>
              <a:t>方案对比·人工确认</a:t>
            </a:r>
          </a:p>
        </p:txBody>
      </p:sp>
      <p:sp>
        <p:nvSpPr>
          <p:cNvPr id="234" name="卡05箭1"/>
          <p:cNvSpPr/>
          <p:nvPr/>
        </p:nvSpPr>
        <p:spPr>
          <a:xfrm>
            <a:off x="9156700" y="2089150"/>
            <a:ext cx="127000" cy="63500"/>
          </a:xfrm>
          <a:prstGeom prst="downArrow">
            <a:avLst/>
          </a:prstGeom>
          <a:solidFill>
            <a:srgbClr val="1B3A5C"/>
          </a:solidFill>
          <a:ln>
            <a:noFill/>
          </a:ln>
        </p:spPr>
        <p:txBody>
          <a:bodyPr wrap="square" lIns="27000" tIns="9000" rIns="27000" bIns="9000" anchor="ctr">
            <a:noAutofit/>
          </a:bodyPr>
          <a:lstStyle/>
          <a:p>
            <a:endParaRPr lang="zh-CN"/>
          </a:p>
        </p:txBody>
      </p:sp>
      <p:sp>
        <p:nvSpPr>
          <p:cNvPr id="235" name="卡05步2"/>
          <p:cNvSpPr/>
          <p:nvPr/>
        </p:nvSpPr>
        <p:spPr>
          <a:xfrm>
            <a:off x="8509000" y="2159000"/>
            <a:ext cx="1422400" cy="203200"/>
          </a:xfrm>
          <a:prstGeom prst="rect">
            <a:avLst/>
          </a:prstGeom>
          <a:solidFill>
            <a:srgbClr val="EAF0F6"/>
          </a:solidFill>
          <a:ln w="9525">
            <a:solidFill>
              <a:srgbClr val="1B3A5C"/>
            </a:solidFill>
          </a:ln>
        </p:spPr>
        <p:txBody>
          <a:bodyPr wrap="square" lIns="3000" tIns="0" rIns="3000" bIns="0" anchor="ctr">
            <a:noAutofit/>
          </a:bodyPr>
          <a:lstStyle/>
          <a:p>
            <a:pPr algn="ctr">
              <a:buNone/>
            </a:pPr>
            <a:r>
              <a:rPr lang="zh-CN" altLang="en-US" sz="800" dirty="0">
                <a:solidFill>
                  <a:srgbClr val="16324F"/>
                </a:solidFill>
              </a:rPr>
              <a:t>库存锁定·再次校验</a:t>
            </a:r>
          </a:p>
        </p:txBody>
      </p:sp>
      <p:sp>
        <p:nvSpPr>
          <p:cNvPr id="236" name="卡05箭2"/>
          <p:cNvSpPr/>
          <p:nvPr/>
        </p:nvSpPr>
        <p:spPr>
          <a:xfrm>
            <a:off x="9156700" y="2368550"/>
            <a:ext cx="127000" cy="63500"/>
          </a:xfrm>
          <a:prstGeom prst="downArrow">
            <a:avLst/>
          </a:prstGeom>
          <a:solidFill>
            <a:srgbClr val="1B3A5C"/>
          </a:solidFill>
          <a:ln>
            <a:noFill/>
          </a:ln>
        </p:spPr>
        <p:txBody>
          <a:bodyPr wrap="square" lIns="27000" tIns="9000" rIns="27000" bIns="9000" anchor="ctr">
            <a:noAutofit/>
          </a:bodyPr>
          <a:lstStyle/>
          <a:p>
            <a:endParaRPr lang="zh-CN"/>
          </a:p>
        </p:txBody>
      </p:sp>
      <p:sp>
        <p:nvSpPr>
          <p:cNvPr id="237" name="卡05步3"/>
          <p:cNvSpPr/>
          <p:nvPr/>
        </p:nvSpPr>
        <p:spPr>
          <a:xfrm>
            <a:off x="8509000" y="2438400"/>
            <a:ext cx="1422400" cy="203200"/>
          </a:xfrm>
          <a:prstGeom prst="rect">
            <a:avLst/>
          </a:prstGeom>
          <a:solidFill>
            <a:srgbClr val="EAF0F6"/>
          </a:solidFill>
          <a:ln w="9525">
            <a:solidFill>
              <a:srgbClr val="1B3A5C"/>
            </a:solidFill>
          </a:ln>
        </p:spPr>
        <p:txBody>
          <a:bodyPr wrap="square" lIns="3000" tIns="0" rIns="3000" bIns="0" anchor="ctr">
            <a:noAutofit/>
          </a:bodyPr>
          <a:lstStyle/>
          <a:p>
            <a:pPr algn="ctr">
              <a:buNone/>
            </a:pPr>
            <a:r>
              <a:rPr lang="zh-CN" altLang="en-US" sz="800" dirty="0">
                <a:solidFill>
                  <a:srgbClr val="16324F"/>
                </a:solidFill>
              </a:rPr>
              <a:t>生成配方单·领料单</a:t>
            </a:r>
          </a:p>
        </p:txBody>
      </p:sp>
      <p:sp>
        <p:nvSpPr>
          <p:cNvPr id="238" name="卡05箭3"/>
          <p:cNvSpPr/>
          <p:nvPr/>
        </p:nvSpPr>
        <p:spPr>
          <a:xfrm>
            <a:off x="9156700" y="2647950"/>
            <a:ext cx="127000" cy="63500"/>
          </a:xfrm>
          <a:prstGeom prst="downArrow">
            <a:avLst/>
          </a:prstGeom>
          <a:solidFill>
            <a:srgbClr val="1B3A5C"/>
          </a:solidFill>
          <a:ln>
            <a:noFill/>
          </a:ln>
        </p:spPr>
        <p:txBody>
          <a:bodyPr wrap="square" lIns="27000" tIns="9000" rIns="27000" bIns="9000" anchor="ctr">
            <a:noAutofit/>
          </a:bodyPr>
          <a:lstStyle/>
          <a:p>
            <a:endParaRPr lang="zh-CN"/>
          </a:p>
        </p:txBody>
      </p:sp>
      <p:sp>
        <p:nvSpPr>
          <p:cNvPr id="239" name="卡05步4"/>
          <p:cNvSpPr/>
          <p:nvPr/>
        </p:nvSpPr>
        <p:spPr>
          <a:xfrm>
            <a:off x="8509000" y="2717800"/>
            <a:ext cx="1422400" cy="203200"/>
          </a:xfrm>
          <a:prstGeom prst="rect">
            <a:avLst/>
          </a:prstGeom>
          <a:solidFill>
            <a:srgbClr val="EAF0F6"/>
          </a:solidFill>
          <a:ln w="9525">
            <a:solidFill>
              <a:srgbClr val="1B3A5C"/>
            </a:solidFill>
          </a:ln>
        </p:spPr>
        <p:txBody>
          <a:bodyPr wrap="square" lIns="3000" tIns="0" rIns="3000" bIns="0" anchor="ctr">
            <a:noAutofit/>
          </a:bodyPr>
          <a:lstStyle/>
          <a:p>
            <a:pPr algn="ctr">
              <a:buNone/>
            </a:pPr>
            <a:r>
              <a:rPr lang="zh-CN" altLang="en-US" sz="800" dirty="0">
                <a:solidFill>
                  <a:srgbClr val="16324F"/>
                </a:solidFill>
              </a:rPr>
              <a:t>下发任务·投料混配</a:t>
            </a:r>
          </a:p>
        </p:txBody>
      </p:sp>
      <p:sp>
        <p:nvSpPr>
          <p:cNvPr id="240" name="卡05箭4"/>
          <p:cNvSpPr/>
          <p:nvPr/>
        </p:nvSpPr>
        <p:spPr>
          <a:xfrm>
            <a:off x="9156700" y="2927350"/>
            <a:ext cx="127000" cy="63500"/>
          </a:xfrm>
          <a:prstGeom prst="downArrow">
            <a:avLst/>
          </a:prstGeom>
          <a:solidFill>
            <a:srgbClr val="1B3A5C"/>
          </a:solidFill>
          <a:ln>
            <a:noFill/>
          </a:ln>
        </p:spPr>
        <p:txBody>
          <a:bodyPr wrap="square" lIns="27000" tIns="9000" rIns="27000" bIns="9000" anchor="ctr">
            <a:noAutofit/>
          </a:bodyPr>
          <a:lstStyle/>
          <a:p>
            <a:endParaRPr lang="zh-CN"/>
          </a:p>
        </p:txBody>
      </p:sp>
      <p:sp>
        <p:nvSpPr>
          <p:cNvPr id="241" name="卡05步5"/>
          <p:cNvSpPr/>
          <p:nvPr/>
        </p:nvSpPr>
        <p:spPr>
          <a:xfrm>
            <a:off x="8509000" y="2997200"/>
            <a:ext cx="1422400" cy="203200"/>
          </a:xfrm>
          <a:prstGeom prst="rect">
            <a:avLst/>
          </a:prstGeom>
          <a:solidFill>
            <a:srgbClr val="EAF0F6"/>
          </a:solidFill>
          <a:ln w="9525">
            <a:solidFill>
              <a:srgbClr val="1B3A5C"/>
            </a:solidFill>
          </a:ln>
        </p:spPr>
        <p:txBody>
          <a:bodyPr wrap="square" lIns="3000" tIns="0" rIns="3000" bIns="0" anchor="ctr">
            <a:noAutofit/>
          </a:bodyPr>
          <a:lstStyle/>
          <a:p>
            <a:pPr algn="ctr">
              <a:buNone/>
            </a:pPr>
            <a:r>
              <a:rPr lang="zh-CN" altLang="en-US" sz="800" dirty="0">
                <a:solidFill>
                  <a:srgbClr val="16324F"/>
                </a:solidFill>
              </a:rPr>
              <a:t>扣减实际库存</a:t>
            </a:r>
          </a:p>
        </p:txBody>
      </p:sp>
      <p:sp>
        <p:nvSpPr>
          <p:cNvPr id="242" name="卡05机制"/>
          <p:cNvSpPr/>
          <p:nvPr/>
        </p:nvSpPr>
        <p:spPr>
          <a:xfrm>
            <a:off x="8483600" y="3352800"/>
            <a:ext cx="1473200" cy="762000"/>
          </a:xfrm>
          <a:prstGeom prst="rect">
            <a:avLst/>
          </a:prstGeom>
          <a:solidFill>
            <a:srgbClr val="E8F5EC"/>
          </a:solidFill>
          <a:ln w="12700">
            <a:solidFill>
              <a:srgbClr val="1E7A46"/>
            </a:solidFill>
          </a:ln>
        </p:spPr>
        <p:txBody>
          <a:bodyPr wrap="square" lIns="6000" tIns="3000" rIns="6000" bIns="3000" anchor="ctr">
            <a:noAutofit/>
          </a:bodyPr>
          <a:lstStyle/>
          <a:p>
            <a:pPr algn="ctr">
              <a:lnSpc>
                <a:spcPct val="108000"/>
              </a:lnSpc>
              <a:buNone/>
            </a:pPr>
            <a:r>
              <a:rPr lang="zh-CN" altLang="en-US" sz="800" b="1" dirty="0">
                <a:solidFill>
                  <a:srgbClr val="1E7A46"/>
                </a:solidFill>
              </a:rPr>
              <a:t>库存数据不直接删除</a:t>
            </a:r>
          </a:p>
          <a:p>
            <a:pPr algn="ctr">
              <a:lnSpc>
                <a:spcPct val="108000"/>
              </a:lnSpc>
              <a:buNone/>
            </a:pPr>
            <a:r>
              <a:rPr lang="zh-CN" altLang="en-US" sz="800" dirty="0">
                <a:solidFill>
                  <a:srgbClr val="1E7A46"/>
                </a:solidFill>
              </a:rPr>
              <a:t>锁定—扣减—状态更新—流水留痕</a:t>
            </a:r>
          </a:p>
        </p:txBody>
      </p:sp>
      <p:sp>
        <p:nvSpPr>
          <p:cNvPr id="243" name="卡06容器"/>
          <p:cNvSpPr/>
          <p:nvPr/>
        </p:nvSpPr>
        <p:spPr>
          <a:xfrm>
            <a:off x="10160000" y="1219200"/>
            <a:ext cx="1727200" cy="3352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E7A46"/>
            </a:solidFill>
          </a:ln>
        </p:spPr>
        <p:txBody>
          <a:bodyPr wrap="square" lIns="27000" tIns="9000" rIns="27000" bIns="9000" anchor="ctr">
            <a:noAutofit/>
          </a:bodyPr>
          <a:lstStyle/>
          <a:p>
            <a:endParaRPr lang="zh-CN"/>
          </a:p>
        </p:txBody>
      </p:sp>
      <p:sp>
        <p:nvSpPr>
          <p:cNvPr id="244" name="卡06标题"/>
          <p:cNvSpPr/>
          <p:nvPr/>
        </p:nvSpPr>
        <p:spPr>
          <a:xfrm>
            <a:off x="10160000" y="1219200"/>
            <a:ext cx="1727200" cy="330200"/>
          </a:xfrm>
          <a:prstGeom prst="rect">
            <a:avLst/>
          </a:prstGeom>
          <a:solidFill>
            <a:srgbClr val="1E7A46"/>
          </a:solidFill>
          <a:ln>
            <a:noFill/>
          </a:ln>
        </p:spPr>
        <p:txBody>
          <a:bodyPr wrap="square" lIns="3000" tIns="0" rIns="3000" bIns="0" anchor="ctr">
            <a:noAutofit/>
          </a:bodyPr>
          <a:lstStyle/>
          <a:p>
            <a:pPr algn="ctr">
              <a:buNone/>
            </a:pPr>
            <a:r>
              <a:rPr lang="zh-CN" altLang="en-US" sz="900" b="1" dirty="0">
                <a:solidFill>
                  <a:srgbClr val="FFFFFF"/>
                </a:solidFill>
              </a:rPr>
              <a:t>06｜成品质检与结果反馈</a:t>
            </a:r>
          </a:p>
        </p:txBody>
      </p:sp>
      <p:sp>
        <p:nvSpPr>
          <p:cNvPr id="245" name="卡06采集"/>
          <p:cNvSpPr/>
          <p:nvPr/>
        </p:nvSpPr>
        <p:spPr>
          <a:xfrm>
            <a:off x="10236200" y="1600200"/>
            <a:ext cx="15748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9000" anchor="t">
            <a:noAutofit/>
          </a:bodyPr>
          <a:lstStyle/>
          <a:p>
            <a:pPr>
              <a:lnSpc>
                <a:spcPct val="106000"/>
              </a:lnSpc>
              <a:buNone/>
            </a:pPr>
            <a:r>
              <a:rPr lang="zh-CN" altLang="en-US" sz="800" b="1" dirty="0">
                <a:solidFill>
                  <a:srgbClr val="1E7A46"/>
                </a:solidFill>
              </a:rPr>
              <a:t>采集：</a:t>
            </a:r>
            <a:r>
              <a:rPr lang="zh-CN" altLang="en-US" sz="800" dirty="0">
                <a:solidFill>
                  <a:srgbClr val="44505E"/>
                </a:solidFill>
              </a:rPr>
              <a:t>实际冻力·实际黏度·实际投料量·人工调整记录·最终合格状态</a:t>
            </a:r>
          </a:p>
        </p:txBody>
      </p:sp>
      <p:sp>
        <p:nvSpPr>
          <p:cNvPr id="246" name="卡06对比"/>
          <p:cNvSpPr/>
          <p:nvPr/>
        </p:nvSpPr>
        <p:spPr>
          <a:xfrm>
            <a:off x="10236200" y="2184400"/>
            <a:ext cx="1574800" cy="355600"/>
          </a:xfrm>
          <a:prstGeom prst="rect">
            <a:avLst/>
          </a:prstGeom>
          <a:solidFill>
            <a:srgbClr val="E8F5EC"/>
          </a:solidFill>
          <a:ln w="9525">
            <a:solidFill>
              <a:srgbClr val="1E7A46"/>
            </a:solidFill>
          </a:ln>
        </p:spPr>
        <p:txBody>
          <a:bodyPr wrap="square" lIns="3000" tIns="0" rIns="3000" bIns="0" anchor="ctr">
            <a:noAutofit/>
          </a:bodyPr>
          <a:lstStyle/>
          <a:p>
            <a:pPr algn="ctr">
              <a:buNone/>
            </a:pPr>
            <a:r>
              <a:rPr lang="zh-CN" altLang="en-US" sz="850" b="1" dirty="0">
                <a:solidFill>
                  <a:srgbClr val="16324F"/>
                </a:solidFill>
              </a:rPr>
              <a:t>理论计算值 vs 实际检测值</a:t>
            </a:r>
          </a:p>
        </p:txBody>
      </p:sp>
      <p:sp>
        <p:nvSpPr>
          <p:cNvPr id="247" name="卡06用途"/>
          <p:cNvSpPr/>
          <p:nvPr/>
        </p:nvSpPr>
        <p:spPr>
          <a:xfrm>
            <a:off x="10236200" y="2616200"/>
            <a:ext cx="1574800" cy="147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9000" anchor="t">
            <a:noAutofit/>
          </a:bodyPr>
          <a:lstStyle/>
          <a:p>
            <a:pPr>
              <a:lnSpc>
                <a:spcPct val="106000"/>
              </a:lnSpc>
              <a:buNone/>
            </a:pPr>
            <a:r>
              <a:rPr lang="zh-CN" altLang="en-US" sz="800" b="1" dirty="0">
                <a:solidFill>
                  <a:srgbClr val="1E7A46"/>
                </a:solidFill>
              </a:rPr>
              <a:t>反馈用途：</a:t>
            </a:r>
          </a:p>
          <a:p>
            <a:pPr>
              <a:lnSpc>
                <a:spcPct val="106000"/>
              </a:lnSpc>
              <a:buNone/>
            </a:pPr>
            <a:r>
              <a:rPr lang="zh-CN" altLang="en-US" sz="800" dirty="0">
                <a:solidFill>
                  <a:srgbClr val="44505E"/>
                </a:solidFill>
              </a:rPr>
              <a:t>· 修正冻力安全余量</a:t>
            </a:r>
          </a:p>
          <a:p>
            <a:pPr>
              <a:lnSpc>
                <a:spcPct val="106000"/>
              </a:lnSpc>
              <a:buNone/>
            </a:pPr>
            <a:r>
              <a:rPr lang="zh-CN" altLang="en-US" sz="800" dirty="0">
                <a:solidFill>
                  <a:srgbClr val="44505E"/>
                </a:solidFill>
              </a:rPr>
              <a:t>· 调整规则与优化权重</a:t>
            </a:r>
          </a:p>
          <a:p>
            <a:pPr>
              <a:lnSpc>
                <a:spcPct val="106000"/>
              </a:lnSpc>
              <a:buNone/>
            </a:pPr>
            <a:r>
              <a:rPr lang="zh-CN" altLang="en-US" sz="800" dirty="0">
                <a:solidFill>
                  <a:srgbClr val="44505E"/>
                </a:solidFill>
              </a:rPr>
              <a:t>· 沉淀历史优质配方</a:t>
            </a:r>
          </a:p>
          <a:p>
            <a:pPr>
              <a:lnSpc>
                <a:spcPct val="106000"/>
              </a:lnSpc>
              <a:buNone/>
            </a:pPr>
            <a:r>
              <a:rPr lang="zh-CN" altLang="en-US" sz="800" dirty="0">
                <a:solidFill>
                  <a:srgbClr val="44505E"/>
                </a:solidFill>
              </a:rPr>
              <a:t>· 提高下次推荐准确性</a:t>
            </a:r>
          </a:p>
        </p:txBody>
      </p:sp>
      <p:sp>
        <p:nvSpPr>
          <p:cNvPr id="248" name="卡06AI标签"/>
          <p:cNvSpPr/>
          <p:nvPr/>
        </p:nvSpPr>
        <p:spPr>
          <a:xfrm>
            <a:off x="10236200" y="4191000"/>
            <a:ext cx="15748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4000"/>
              </a:lnSpc>
              <a:buNone/>
            </a:pPr>
            <a:r>
              <a:rPr lang="zh-CN" altLang="en-US" sz="800" b="1" dirty="0">
                <a:solidFill>
                  <a:srgbClr val="1E7A46"/>
                </a:solidFill>
              </a:rPr>
              <a:t>质量反馈·偏差分析与经验学习</a:t>
            </a:r>
          </a:p>
        </p:txBody>
      </p:sp>
      <p:sp>
        <p:nvSpPr>
          <p:cNvPr id="249" name="AI⑤"/>
          <p:cNvSpPr/>
          <p:nvPr/>
        </p:nvSpPr>
        <p:spPr>
          <a:xfrm>
            <a:off x="11201400" y="1117600"/>
            <a:ext cx="457200" cy="203200"/>
          </a:xfrm>
          <a:prstGeom prst="ellipse">
            <a:avLst/>
          </a:prstGeom>
          <a:solidFill>
            <a:srgbClr val="1E7A46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zh-CN" altLang="en-US" sz="800" b="1" dirty="0">
                <a:solidFill>
                  <a:srgbClr val="FFFFFF"/>
                </a:solidFill>
              </a:rPr>
              <a:t>AI⑤</a:t>
            </a:r>
          </a:p>
        </p:txBody>
      </p:sp>
      <p:sp>
        <p:nvSpPr>
          <p:cNvPr id="250" name="主箭头4"/>
          <p:cNvSpPr/>
          <p:nvPr/>
        </p:nvSpPr>
        <p:spPr>
          <a:xfrm>
            <a:off x="8204200" y="1295400"/>
            <a:ext cx="203200" cy="177800"/>
          </a:xfrm>
          <a:prstGeom prst="rightArrow">
            <a:avLst/>
          </a:prstGeom>
          <a:solidFill>
            <a:srgbClr val="1B3A5C"/>
          </a:solidFill>
          <a:ln>
            <a:noFill/>
          </a:ln>
        </p:spPr>
        <p:txBody>
          <a:bodyPr wrap="square" lIns="27000" tIns="9000" rIns="27000" bIns="9000" anchor="ctr">
            <a:noAutofit/>
          </a:bodyPr>
          <a:lstStyle/>
          <a:p>
            <a:endParaRPr lang="zh-CN"/>
          </a:p>
        </p:txBody>
      </p:sp>
      <p:sp>
        <p:nvSpPr>
          <p:cNvPr id="251" name="主箭头5"/>
          <p:cNvSpPr/>
          <p:nvPr/>
        </p:nvSpPr>
        <p:spPr>
          <a:xfrm>
            <a:off x="9956800" y="1295400"/>
            <a:ext cx="203200" cy="177800"/>
          </a:xfrm>
          <a:prstGeom prst="rightArrow">
            <a:avLst/>
          </a:prstGeom>
          <a:solidFill>
            <a:srgbClr val="1B3A5C"/>
          </a:solidFill>
          <a:ln>
            <a:noFill/>
          </a:ln>
        </p:spPr>
        <p:txBody>
          <a:bodyPr wrap="square" lIns="27000" tIns="9000" rIns="27000" bIns="9000" anchor="ctr">
            <a:noAutofit/>
          </a:bodyPr>
          <a:lstStyle/>
          <a:p>
            <a:endParaRPr lang="zh-CN"/>
          </a:p>
        </p:txBody>
      </p:sp>
      <p:sp>
        <p:nvSpPr>
          <p:cNvPr id="252" name="回流下行"/>
          <p:cNvSpPr/>
          <p:nvPr/>
        </p:nvSpPr>
        <p:spPr>
          <a:xfrm>
            <a:off x="10922000" y="4597400"/>
            <a:ext cx="177800" cy="279400"/>
          </a:xfrm>
          <a:prstGeom prst="downArrow">
            <a:avLst/>
          </a:prstGeom>
          <a:solidFill>
            <a:srgbClr val="1E7A46"/>
          </a:solidFill>
          <a:ln>
            <a:noFill/>
          </a:ln>
        </p:spPr>
        <p:txBody>
          <a:bodyPr wrap="square" lIns="27000" tIns="9000" rIns="27000" bIns="9000" anchor="ctr">
            <a:noAutofit/>
          </a:bodyPr>
          <a:lstStyle/>
          <a:p>
            <a:endParaRPr lang="zh-CN"/>
          </a:p>
        </p:txBody>
      </p:sp>
      <p:sp>
        <p:nvSpPr>
          <p:cNvPr id="253" name="回流横向"/>
          <p:cNvSpPr/>
          <p:nvPr/>
        </p:nvSpPr>
        <p:spPr>
          <a:xfrm>
            <a:off x="7188200" y="4800600"/>
            <a:ext cx="3759200" cy="254000"/>
          </a:xfrm>
          <a:prstGeom prst="leftArrow">
            <a:avLst/>
          </a:prstGeom>
          <a:solidFill>
            <a:srgbClr val="1E7A46"/>
          </a:solidFill>
          <a:ln>
            <a:noFill/>
          </a:ln>
        </p:spPr>
        <p:txBody>
          <a:bodyPr wrap="square" lIns="30000" tIns="0" rIns="6000" bIns="0" anchor="ctr">
            <a:noAutofit/>
          </a:bodyPr>
          <a:lstStyle/>
          <a:p>
            <a:pPr algn="ctr">
              <a:buNone/>
            </a:pPr>
            <a:r>
              <a:rPr lang="zh-CN" altLang="en-US" sz="850" b="1" dirty="0">
                <a:solidFill>
                  <a:srgbClr val="FFFFFF"/>
                </a:solidFill>
              </a:rPr>
              <a:t>实际生产结果持续反馈，形成越用越准的智能配方体系</a:t>
            </a:r>
          </a:p>
        </p:txBody>
      </p:sp>
      <p:sp>
        <p:nvSpPr>
          <p:cNvPr id="254" name="回流上行"/>
          <p:cNvSpPr/>
          <p:nvPr/>
        </p:nvSpPr>
        <p:spPr>
          <a:xfrm>
            <a:off x="6985000" y="4648200"/>
            <a:ext cx="177800" cy="304800"/>
          </a:xfrm>
          <a:prstGeom prst="upArrow">
            <a:avLst/>
          </a:prstGeom>
          <a:solidFill>
            <a:srgbClr val="1E7A46"/>
          </a:solidFill>
          <a:ln>
            <a:noFill/>
          </a:ln>
        </p:spPr>
        <p:txBody>
          <a:bodyPr wrap="square" lIns="27000" tIns="9000" rIns="27000" bIns="9000" anchor="ctr">
            <a:noAutofit/>
          </a:bodyPr>
          <a:lstStyle/>
          <a:p>
            <a:endParaRPr lang="zh-CN"/>
          </a:p>
        </p:txBody>
      </p:sp>
      <p:sp>
        <p:nvSpPr>
          <p:cNvPr id="270" name="对比带标题"/>
          <p:cNvSpPr/>
          <p:nvPr/>
        </p:nvSpPr>
        <p:spPr>
          <a:xfrm>
            <a:off x="330200" y="5562600"/>
            <a:ext cx="5334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27000" bIns="0" anchor="ctr">
            <a:noAutofit/>
          </a:bodyPr>
          <a:lstStyle/>
          <a:p>
            <a:pPr>
              <a:buNone/>
            </a:pPr>
            <a:r>
              <a:rPr lang="zh-CN" altLang="en-US" sz="1000" b="1" dirty="0">
                <a:solidFill>
                  <a:srgbClr val="16324F"/>
                </a:solidFill>
              </a:rPr>
              <a:t>导入前后价值对比（As-Is → To-Be）</a:t>
            </a:r>
          </a:p>
        </p:txBody>
      </p:sp>
      <p:sp>
        <p:nvSpPr>
          <p:cNvPr id="271" name="对比带图例"/>
          <p:cNvSpPr/>
          <p:nvPr/>
        </p:nvSpPr>
        <p:spPr>
          <a:xfrm>
            <a:off x="8128000" y="5562600"/>
            <a:ext cx="37592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buNone/>
            </a:pPr>
            <a:r>
              <a:rPr lang="zh-CN" altLang="en-US" sz="800" b="1" dirty="0">
                <a:solidFill>
                  <a:srgbClr val="8A94A0"/>
                </a:solidFill>
              </a:rPr>
              <a:t>■ 导入前 As-Is　</a:t>
            </a:r>
            <a:r>
              <a:rPr lang="zh-CN" altLang="en-US" sz="800" b="1" dirty="0">
                <a:solidFill>
                  <a:srgbClr val="1E7A46"/>
                </a:solidFill>
              </a:rPr>
              <a:t>■ 导入后 To-Be</a:t>
            </a:r>
          </a:p>
        </p:txBody>
      </p:sp>
      <p:sp>
        <p:nvSpPr>
          <p:cNvPr id="272" name="AsIs1"/>
          <p:cNvSpPr/>
          <p:nvPr/>
        </p:nvSpPr>
        <p:spPr>
          <a:xfrm>
            <a:off x="330200" y="5816600"/>
            <a:ext cx="1879600" cy="35560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txBody>
          <a:bodyPr wrap="square" lIns="4000" tIns="0" rIns="4000" bIns="0" anchor="ctr">
            <a:noAutofit/>
          </a:bodyPr>
          <a:lstStyle/>
          <a:p>
            <a:pPr algn="ctr">
              <a:buNone/>
            </a:pPr>
            <a:r>
              <a:rPr lang="zh-CN" altLang="en-US" sz="850" dirty="0">
                <a:solidFill>
                  <a:srgbClr val="5A6472"/>
                </a:solidFill>
              </a:rPr>
              <a:t>人工逐行查看Excel</a:t>
            </a:r>
          </a:p>
        </p:txBody>
      </p:sp>
      <p:sp>
        <p:nvSpPr>
          <p:cNvPr id="273" name="对比箭头1"/>
          <p:cNvSpPr/>
          <p:nvPr/>
        </p:nvSpPr>
        <p:spPr>
          <a:xfrm>
            <a:off x="1206500" y="6184900"/>
            <a:ext cx="127000" cy="88900"/>
          </a:xfrm>
          <a:prstGeom prst="downArrow">
            <a:avLst/>
          </a:prstGeom>
          <a:solidFill>
            <a:srgbClr val="1E7A46"/>
          </a:solidFill>
          <a:ln>
            <a:noFill/>
          </a:ln>
        </p:spPr>
        <p:txBody>
          <a:bodyPr wrap="square" lIns="27000" tIns="9000" rIns="27000" bIns="9000" anchor="ctr">
            <a:noAutofit/>
          </a:bodyPr>
          <a:lstStyle/>
          <a:p>
            <a:endParaRPr lang="zh-CN"/>
          </a:p>
        </p:txBody>
      </p:sp>
      <p:sp>
        <p:nvSpPr>
          <p:cNvPr id="274" name="ToBe1"/>
          <p:cNvSpPr/>
          <p:nvPr/>
        </p:nvSpPr>
        <p:spPr>
          <a:xfrm>
            <a:off x="330200" y="6299200"/>
            <a:ext cx="1879600" cy="355600"/>
          </a:xfrm>
          <a:prstGeom prst="rect">
            <a:avLst/>
          </a:prstGeom>
          <a:solidFill>
            <a:srgbClr val="1E7A46"/>
          </a:solidFill>
          <a:ln>
            <a:noFill/>
          </a:ln>
        </p:spPr>
        <p:txBody>
          <a:bodyPr wrap="square" lIns="4000" tIns="0" rIns="4000" bIns="0" anchor="ctr">
            <a:noAutofit/>
          </a:bodyPr>
          <a:lstStyle/>
          <a:p>
            <a:pPr algn="ctr">
              <a:buNone/>
            </a:pPr>
            <a:r>
              <a:rPr lang="zh-CN" altLang="en-US" sz="850" b="1" dirty="0">
                <a:solidFill>
                  <a:srgbClr val="FFFFFF"/>
                </a:solidFill>
              </a:rPr>
              <a:t>统一库存数据库自动检索</a:t>
            </a:r>
          </a:p>
        </p:txBody>
      </p:sp>
      <p:sp>
        <p:nvSpPr>
          <p:cNvPr id="275" name="AsIs2"/>
          <p:cNvSpPr/>
          <p:nvPr/>
        </p:nvSpPr>
        <p:spPr>
          <a:xfrm>
            <a:off x="2260600" y="5816600"/>
            <a:ext cx="1879600" cy="35560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txBody>
          <a:bodyPr wrap="square" lIns="4000" tIns="0" rIns="4000" bIns="0" anchor="ctr">
            <a:noAutofit/>
          </a:bodyPr>
          <a:lstStyle/>
          <a:p>
            <a:pPr algn="ctr">
              <a:buNone/>
            </a:pPr>
            <a:r>
              <a:rPr lang="zh-CN" altLang="en-US" sz="850" dirty="0">
                <a:solidFill>
                  <a:srgbClr val="5A6472"/>
                </a:solidFill>
              </a:rPr>
              <a:t>依赖老师傅经验试配</a:t>
            </a:r>
          </a:p>
        </p:txBody>
      </p:sp>
      <p:sp>
        <p:nvSpPr>
          <p:cNvPr id="276" name="对比箭头2"/>
          <p:cNvSpPr/>
          <p:nvPr/>
        </p:nvSpPr>
        <p:spPr>
          <a:xfrm>
            <a:off x="3136900" y="6184900"/>
            <a:ext cx="127000" cy="88900"/>
          </a:xfrm>
          <a:prstGeom prst="downArrow">
            <a:avLst/>
          </a:prstGeom>
          <a:solidFill>
            <a:srgbClr val="1E7A46"/>
          </a:solidFill>
          <a:ln>
            <a:noFill/>
          </a:ln>
        </p:spPr>
        <p:txBody>
          <a:bodyPr wrap="square" lIns="27000" tIns="9000" rIns="27000" bIns="9000" anchor="ctr">
            <a:noAutofit/>
          </a:bodyPr>
          <a:lstStyle/>
          <a:p>
            <a:endParaRPr lang="zh-CN"/>
          </a:p>
        </p:txBody>
      </p:sp>
      <p:sp>
        <p:nvSpPr>
          <p:cNvPr id="277" name="ToBe2"/>
          <p:cNvSpPr/>
          <p:nvPr/>
        </p:nvSpPr>
        <p:spPr>
          <a:xfrm>
            <a:off x="2260600" y="6299200"/>
            <a:ext cx="1879600" cy="355600"/>
          </a:xfrm>
          <a:prstGeom prst="rect">
            <a:avLst/>
          </a:prstGeom>
          <a:solidFill>
            <a:srgbClr val="1E7A46"/>
          </a:solidFill>
          <a:ln>
            <a:noFill/>
          </a:ln>
        </p:spPr>
        <p:txBody>
          <a:bodyPr wrap="square" lIns="4000" tIns="0" rIns="4000" bIns="0" anchor="ctr">
            <a:noAutofit/>
          </a:bodyPr>
          <a:lstStyle/>
          <a:p>
            <a:pPr algn="ctr">
              <a:buNone/>
            </a:pPr>
            <a:r>
              <a:rPr lang="zh-CN" altLang="en-US" sz="850" b="1" dirty="0">
                <a:solidFill>
                  <a:srgbClr val="FFFFFF"/>
                </a:solidFill>
              </a:rPr>
              <a:t>规则与优化算法自动计算</a:t>
            </a:r>
          </a:p>
        </p:txBody>
      </p:sp>
      <p:sp>
        <p:nvSpPr>
          <p:cNvPr id="278" name="AsIs3"/>
          <p:cNvSpPr/>
          <p:nvPr/>
        </p:nvSpPr>
        <p:spPr>
          <a:xfrm>
            <a:off x="4191000" y="5816600"/>
            <a:ext cx="1879600" cy="35560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txBody>
          <a:bodyPr wrap="square" lIns="4000" tIns="0" rIns="4000" bIns="0" anchor="ctr">
            <a:noAutofit/>
          </a:bodyPr>
          <a:lstStyle/>
          <a:p>
            <a:pPr algn="ctr">
              <a:buNone/>
            </a:pPr>
            <a:r>
              <a:rPr lang="zh-CN" altLang="en-US" sz="850" dirty="0">
                <a:solidFill>
                  <a:srgbClr val="5A6472"/>
                </a:solidFill>
              </a:rPr>
              <a:t>一次主要形成一套方案</a:t>
            </a:r>
          </a:p>
        </p:txBody>
      </p:sp>
      <p:sp>
        <p:nvSpPr>
          <p:cNvPr id="279" name="对比箭头3"/>
          <p:cNvSpPr/>
          <p:nvPr/>
        </p:nvSpPr>
        <p:spPr>
          <a:xfrm>
            <a:off x="5067300" y="6184900"/>
            <a:ext cx="127000" cy="88900"/>
          </a:xfrm>
          <a:prstGeom prst="downArrow">
            <a:avLst/>
          </a:prstGeom>
          <a:solidFill>
            <a:srgbClr val="1E7A46"/>
          </a:solidFill>
          <a:ln>
            <a:noFill/>
          </a:ln>
        </p:spPr>
        <p:txBody>
          <a:bodyPr wrap="square" lIns="27000" tIns="9000" rIns="27000" bIns="9000" anchor="ctr">
            <a:noAutofit/>
          </a:bodyPr>
          <a:lstStyle/>
          <a:p>
            <a:endParaRPr lang="zh-CN"/>
          </a:p>
        </p:txBody>
      </p:sp>
      <p:sp>
        <p:nvSpPr>
          <p:cNvPr id="280" name="ToBe3"/>
          <p:cNvSpPr/>
          <p:nvPr/>
        </p:nvSpPr>
        <p:spPr>
          <a:xfrm>
            <a:off x="4191000" y="6299200"/>
            <a:ext cx="1879600" cy="355600"/>
          </a:xfrm>
          <a:prstGeom prst="rect">
            <a:avLst/>
          </a:prstGeom>
          <a:solidFill>
            <a:srgbClr val="1E7A46"/>
          </a:solidFill>
          <a:ln>
            <a:noFill/>
          </a:ln>
        </p:spPr>
        <p:txBody>
          <a:bodyPr wrap="square" lIns="4000" tIns="0" rIns="4000" bIns="0" anchor="ctr">
            <a:noAutofit/>
          </a:bodyPr>
          <a:lstStyle/>
          <a:p>
            <a:pPr algn="ctr">
              <a:buNone/>
            </a:pPr>
            <a:r>
              <a:rPr lang="zh-CN" altLang="en-US" sz="850" b="1" dirty="0">
                <a:solidFill>
                  <a:srgbClr val="FFFFFF"/>
                </a:solidFill>
              </a:rPr>
              <a:t>自动生成3—5套可比较方案</a:t>
            </a:r>
          </a:p>
        </p:txBody>
      </p:sp>
      <p:sp>
        <p:nvSpPr>
          <p:cNvPr id="281" name="AsIs4"/>
          <p:cNvSpPr/>
          <p:nvPr/>
        </p:nvSpPr>
        <p:spPr>
          <a:xfrm>
            <a:off x="6121400" y="5816600"/>
            <a:ext cx="1879600" cy="35560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txBody>
          <a:bodyPr wrap="square" lIns="4000" tIns="0" rIns="4000" bIns="0" anchor="ctr">
            <a:noAutofit/>
          </a:bodyPr>
          <a:lstStyle/>
          <a:p>
            <a:pPr algn="ctr">
              <a:buNone/>
            </a:pPr>
            <a:r>
              <a:rPr lang="zh-CN" altLang="en-US" sz="850" dirty="0">
                <a:solidFill>
                  <a:srgbClr val="5A6472"/>
                </a:solidFill>
              </a:rPr>
              <a:t>配方计算耗时较长</a:t>
            </a:r>
          </a:p>
        </p:txBody>
      </p:sp>
      <p:sp>
        <p:nvSpPr>
          <p:cNvPr id="282" name="对比箭头4"/>
          <p:cNvSpPr/>
          <p:nvPr/>
        </p:nvSpPr>
        <p:spPr>
          <a:xfrm>
            <a:off x="6997700" y="6184900"/>
            <a:ext cx="127000" cy="88900"/>
          </a:xfrm>
          <a:prstGeom prst="downArrow">
            <a:avLst/>
          </a:prstGeom>
          <a:solidFill>
            <a:srgbClr val="1E7A46"/>
          </a:solidFill>
          <a:ln>
            <a:noFill/>
          </a:ln>
        </p:spPr>
        <p:txBody>
          <a:bodyPr wrap="square" lIns="27000" tIns="9000" rIns="27000" bIns="9000" anchor="ctr">
            <a:noAutofit/>
          </a:bodyPr>
          <a:lstStyle/>
          <a:p>
            <a:endParaRPr lang="zh-CN"/>
          </a:p>
        </p:txBody>
      </p:sp>
      <p:sp>
        <p:nvSpPr>
          <p:cNvPr id="283" name="ToBe4"/>
          <p:cNvSpPr/>
          <p:nvPr/>
        </p:nvSpPr>
        <p:spPr>
          <a:xfrm>
            <a:off x="6121400" y="6299200"/>
            <a:ext cx="1879600" cy="355600"/>
          </a:xfrm>
          <a:prstGeom prst="rect">
            <a:avLst/>
          </a:prstGeom>
          <a:solidFill>
            <a:srgbClr val="1E7A46"/>
          </a:solidFill>
          <a:ln>
            <a:noFill/>
          </a:ln>
        </p:spPr>
        <p:txBody>
          <a:bodyPr wrap="square" lIns="4000" tIns="0" rIns="4000" bIns="0" anchor="ctr">
            <a:noAutofit/>
          </a:bodyPr>
          <a:lstStyle/>
          <a:p>
            <a:pPr algn="ctr">
              <a:buNone/>
            </a:pPr>
            <a:r>
              <a:rPr lang="zh-CN" altLang="en-US" sz="850" b="1" dirty="0">
                <a:solidFill>
                  <a:srgbClr val="FFFFFF"/>
                </a:solidFill>
              </a:rPr>
              <a:t>项目目标缩短至分钟级</a:t>
            </a:r>
          </a:p>
        </p:txBody>
      </p:sp>
      <p:sp>
        <p:nvSpPr>
          <p:cNvPr id="284" name="AsIs5"/>
          <p:cNvSpPr/>
          <p:nvPr/>
        </p:nvSpPr>
        <p:spPr>
          <a:xfrm>
            <a:off x="8051800" y="5816600"/>
            <a:ext cx="1879600" cy="35560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txBody>
          <a:bodyPr wrap="square" lIns="4000" tIns="0" rIns="4000" bIns="0" anchor="ctr">
            <a:noAutofit/>
          </a:bodyPr>
          <a:lstStyle/>
          <a:p>
            <a:pPr algn="ctr">
              <a:buNone/>
            </a:pPr>
            <a:r>
              <a:rPr lang="zh-CN" altLang="en-US" sz="850" dirty="0">
                <a:solidFill>
                  <a:srgbClr val="5A6472"/>
                </a:solidFill>
              </a:rPr>
              <a:t>质量风险依靠经验判断</a:t>
            </a:r>
          </a:p>
        </p:txBody>
      </p:sp>
      <p:sp>
        <p:nvSpPr>
          <p:cNvPr id="285" name="对比箭头5"/>
          <p:cNvSpPr/>
          <p:nvPr/>
        </p:nvSpPr>
        <p:spPr>
          <a:xfrm>
            <a:off x="8928100" y="6184900"/>
            <a:ext cx="127000" cy="88900"/>
          </a:xfrm>
          <a:prstGeom prst="downArrow">
            <a:avLst/>
          </a:prstGeom>
          <a:solidFill>
            <a:srgbClr val="1E7A46"/>
          </a:solidFill>
          <a:ln>
            <a:noFill/>
          </a:ln>
        </p:spPr>
        <p:txBody>
          <a:bodyPr wrap="square" lIns="27000" tIns="9000" rIns="27000" bIns="9000" anchor="ctr">
            <a:noAutofit/>
          </a:bodyPr>
          <a:lstStyle/>
          <a:p>
            <a:endParaRPr lang="zh-CN"/>
          </a:p>
        </p:txBody>
      </p:sp>
      <p:sp>
        <p:nvSpPr>
          <p:cNvPr id="286" name="ToBe5"/>
          <p:cNvSpPr/>
          <p:nvPr/>
        </p:nvSpPr>
        <p:spPr>
          <a:xfrm>
            <a:off x="8051800" y="6299200"/>
            <a:ext cx="1879600" cy="355600"/>
          </a:xfrm>
          <a:prstGeom prst="rect">
            <a:avLst/>
          </a:prstGeom>
          <a:solidFill>
            <a:srgbClr val="1E7A46"/>
          </a:solidFill>
          <a:ln>
            <a:noFill/>
          </a:ln>
        </p:spPr>
        <p:txBody>
          <a:bodyPr wrap="square" lIns="4000" tIns="0" rIns="4000" bIns="0" anchor="ctr">
            <a:noAutofit/>
          </a:bodyPr>
          <a:lstStyle/>
          <a:p>
            <a:pPr algn="ctr">
              <a:buNone/>
            </a:pPr>
            <a:r>
              <a:rPr lang="zh-CN" altLang="en-US" sz="850" b="1" dirty="0">
                <a:solidFill>
                  <a:srgbClr val="FFFFFF"/>
                </a:solidFill>
              </a:rPr>
              <a:t>安全余量控制与风险预警</a:t>
            </a:r>
          </a:p>
        </p:txBody>
      </p:sp>
      <p:sp>
        <p:nvSpPr>
          <p:cNvPr id="287" name="AsIs6"/>
          <p:cNvSpPr/>
          <p:nvPr/>
        </p:nvSpPr>
        <p:spPr>
          <a:xfrm>
            <a:off x="9982200" y="5816600"/>
            <a:ext cx="1879600" cy="35560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txBody>
          <a:bodyPr wrap="square" lIns="4000" tIns="0" rIns="4000" bIns="0" anchor="ctr">
            <a:noAutofit/>
          </a:bodyPr>
          <a:lstStyle/>
          <a:p>
            <a:pPr algn="ctr">
              <a:buNone/>
            </a:pPr>
            <a:r>
              <a:rPr lang="zh-CN" altLang="en-US" sz="850" dirty="0">
                <a:solidFill>
                  <a:srgbClr val="5A6472"/>
                </a:solidFill>
              </a:rPr>
              <a:t>人工登记库存变化</a:t>
            </a:r>
          </a:p>
        </p:txBody>
      </p:sp>
      <p:sp>
        <p:nvSpPr>
          <p:cNvPr id="288" name="对比箭头6"/>
          <p:cNvSpPr/>
          <p:nvPr/>
        </p:nvSpPr>
        <p:spPr>
          <a:xfrm>
            <a:off x="10858500" y="6184900"/>
            <a:ext cx="127000" cy="88900"/>
          </a:xfrm>
          <a:prstGeom prst="downArrow">
            <a:avLst/>
          </a:prstGeom>
          <a:solidFill>
            <a:srgbClr val="1E7A46"/>
          </a:solidFill>
          <a:ln>
            <a:noFill/>
          </a:ln>
        </p:spPr>
        <p:txBody>
          <a:bodyPr wrap="square" lIns="27000" tIns="9000" rIns="27000" bIns="9000" anchor="ctr">
            <a:noAutofit/>
          </a:bodyPr>
          <a:lstStyle/>
          <a:p>
            <a:endParaRPr lang="zh-CN"/>
          </a:p>
        </p:txBody>
      </p:sp>
      <p:sp>
        <p:nvSpPr>
          <p:cNvPr id="289" name="ToBe6"/>
          <p:cNvSpPr/>
          <p:nvPr/>
        </p:nvSpPr>
        <p:spPr>
          <a:xfrm>
            <a:off x="9982200" y="6299200"/>
            <a:ext cx="1879600" cy="355600"/>
          </a:xfrm>
          <a:prstGeom prst="rect">
            <a:avLst/>
          </a:prstGeom>
          <a:solidFill>
            <a:srgbClr val="1E7A46"/>
          </a:solidFill>
          <a:ln>
            <a:noFill/>
          </a:ln>
        </p:spPr>
        <p:txBody>
          <a:bodyPr wrap="square" lIns="4000" tIns="0" rIns="4000" bIns="0" anchor="ctr">
            <a:noAutofit/>
          </a:bodyPr>
          <a:lstStyle/>
          <a:p>
            <a:pPr algn="ctr">
              <a:buNone/>
            </a:pPr>
            <a:r>
              <a:rPr lang="zh-CN" altLang="en-US" sz="850" b="1" dirty="0">
                <a:solidFill>
                  <a:srgbClr val="FFFFFF"/>
                </a:solidFill>
              </a:rPr>
              <a:t>自动锁定、扣减和全流程追溯</a:t>
            </a:r>
          </a:p>
        </p:txBody>
      </p:sp>
    </p:spTree>
    <p:extLst>
      <p:ext uri="{BB962C8B-B14F-4D97-AF65-F5344CB8AC3E}">
        <p14:creationId xmlns:p14="http://schemas.microsoft.com/office/powerpoint/2010/main" val="34949377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标题强调条"/>
          <p:cNvSpPr/>
          <p:nvPr/>
        </p:nvSpPr>
        <p:spPr>
          <a:xfrm>
            <a:off x="355600" y="203200"/>
            <a:ext cx="76200" cy="38100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txBody>
          <a:bodyPr wrap="square" lIns="27000" tIns="9000" rIns="27000" bIns="9000" anchor="ctr">
            <a:noAutofit/>
          </a:bodyPr>
          <a:lstStyle/>
          <a:p>
            <a:endParaRPr lang="zh-CN"/>
          </a:p>
        </p:txBody>
      </p:sp>
      <p:sp>
        <p:nvSpPr>
          <p:cNvPr id="101" name="页面标题"/>
          <p:cNvSpPr/>
          <p:nvPr/>
        </p:nvSpPr>
        <p:spPr>
          <a:xfrm>
            <a:off x="508000" y="152400"/>
            <a:ext cx="7620000" cy="406400"/>
          </a:xfrm>
          <a:prstGeom prst="rect">
            <a:avLst/>
          </a:prstGeom>
          <a:noFill/>
          <a:ln>
            <a:noFill/>
          </a:ln>
        </p:spPr>
        <p:txBody>
          <a:bodyPr wrap="square" lIns="9000" tIns="9000" rIns="27000" bIns="9000" anchor="ctr">
            <a:noAutofit/>
          </a:bodyPr>
          <a:lstStyle/>
          <a:p>
            <a:pPr>
              <a:buNone/>
            </a:pPr>
            <a:r>
              <a:rPr lang="zh-CN" altLang="en-US" sz="2200" b="1" dirty="0">
                <a:solidFill>
                  <a:srgbClr val="16324F"/>
                </a:solidFill>
              </a:rPr>
              <a:t>AI智能配方决策引擎：从库存筛选到最优方案生成</a:t>
            </a:r>
          </a:p>
        </p:txBody>
      </p:sp>
      <p:sp>
        <p:nvSpPr>
          <p:cNvPr id="102" name="副标题"/>
          <p:cNvSpPr/>
          <p:nvPr/>
        </p:nvSpPr>
        <p:spPr>
          <a:xfrm>
            <a:off x="508000" y="558800"/>
            <a:ext cx="8001000" cy="190500"/>
          </a:xfrm>
          <a:prstGeom prst="rect">
            <a:avLst/>
          </a:prstGeom>
          <a:noFill/>
          <a:ln>
            <a:noFill/>
          </a:ln>
        </p:spPr>
        <p:txBody>
          <a:bodyPr wrap="square" lIns="9000" tIns="0" rIns="27000" bIns="0" anchor="t">
            <a:noAutofit/>
          </a:bodyPr>
          <a:lstStyle/>
          <a:p>
            <a:pPr>
              <a:buNone/>
            </a:pPr>
            <a:r>
              <a:rPr lang="zh-CN" altLang="en-US" sz="900" i="1" dirty="0">
                <a:solidFill>
                  <a:srgbClr val="5A6472"/>
                </a:solidFill>
              </a:rPr>
              <a:t>以质量约束为前提，通过数据筛选、数学优化和AI解释，实现“冻力保下限、库存可消化、方案可执行”</a:t>
            </a:r>
          </a:p>
        </p:txBody>
      </p:sp>
      <p:sp>
        <p:nvSpPr>
          <p:cNvPr id="103" name="核心结论"/>
          <p:cNvSpPr/>
          <p:nvPr/>
        </p:nvSpPr>
        <p:spPr>
          <a:xfrm>
            <a:off x="508000" y="774700"/>
            <a:ext cx="8026400" cy="330200"/>
          </a:xfrm>
          <a:prstGeom prst="rect">
            <a:avLst/>
          </a:prstGeom>
          <a:noFill/>
          <a:ln>
            <a:noFill/>
          </a:ln>
        </p:spPr>
        <p:txBody>
          <a:bodyPr wrap="square" lIns="9000" tIns="0" rIns="2700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CN" altLang="en-US" sz="950" b="1" dirty="0">
                <a:solidFill>
                  <a:srgbClr val="00796B"/>
                </a:solidFill>
              </a:rPr>
              <a:t>AI</a:t>
            </a:r>
            <a:r>
              <a:rPr lang="zh-CN" altLang="en-US" sz="950" dirty="0">
                <a:solidFill>
                  <a:srgbClr val="44505E"/>
                </a:solidFill>
              </a:rPr>
              <a:t>负责理解生产要求、补全参数和解释方案；</a:t>
            </a:r>
            <a:r>
              <a:rPr lang="zh-CN" altLang="en-US" sz="950" b="1" dirty="0">
                <a:solidFill>
                  <a:srgbClr val="1B3A5C"/>
                </a:solidFill>
              </a:rPr>
              <a:t>SQL＋Polars</a:t>
            </a:r>
            <a:r>
              <a:rPr lang="zh-CN" altLang="en-US" sz="950" dirty="0">
                <a:solidFill>
                  <a:srgbClr val="44505E"/>
                </a:solidFill>
              </a:rPr>
              <a:t>负责处理库存数据；</a:t>
            </a:r>
            <a:r>
              <a:rPr lang="zh-CN" altLang="en-US" sz="950" b="1" dirty="0">
                <a:solidFill>
                  <a:srgbClr val="1B3A5C"/>
                </a:solidFill>
              </a:rPr>
              <a:t>MILP／CP-SAT</a:t>
            </a:r>
            <a:r>
              <a:rPr lang="zh-CN" altLang="en-US" sz="950" dirty="0">
                <a:solidFill>
                  <a:srgbClr val="44505E"/>
                </a:solidFill>
              </a:rPr>
              <a:t>负责在质量、库存和操作约束下计算可执行配方。</a:t>
            </a:r>
          </a:p>
        </p:txBody>
      </p:sp>
      <p:sp>
        <p:nvSpPr>
          <p:cNvPr id="104" name="技术标签1"/>
          <p:cNvSpPr/>
          <p:nvPr/>
        </p:nvSpPr>
        <p:spPr>
          <a:xfrm>
            <a:off x="8661400" y="228600"/>
            <a:ext cx="1054100" cy="22860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txBody>
          <a:bodyPr wrap="square" lIns="2000" tIns="0" rIns="2000" bIns="0" anchor="ctr">
            <a:noAutofit/>
          </a:bodyPr>
          <a:lstStyle/>
          <a:p>
            <a:pPr algn="ctr">
              <a:buNone/>
            </a:pPr>
            <a:r>
              <a:rPr lang="zh-CN" altLang="en-US" sz="800" b="1" dirty="0">
                <a:solidFill>
                  <a:srgbClr val="FFFFFF"/>
                </a:solidFill>
              </a:rPr>
              <a:t>RDS数据底座</a:t>
            </a:r>
          </a:p>
        </p:txBody>
      </p:sp>
      <p:sp>
        <p:nvSpPr>
          <p:cNvPr id="105" name="技术标签2"/>
          <p:cNvSpPr/>
          <p:nvPr/>
        </p:nvSpPr>
        <p:spPr>
          <a:xfrm>
            <a:off x="9766300" y="228600"/>
            <a:ext cx="1054100" cy="22860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txBody>
          <a:bodyPr wrap="square" lIns="2000" tIns="0" rIns="2000" bIns="0" anchor="ctr">
            <a:noAutofit/>
          </a:bodyPr>
          <a:lstStyle/>
          <a:p>
            <a:pPr algn="ctr">
              <a:buNone/>
            </a:pPr>
            <a:r>
              <a:rPr lang="zh-CN" altLang="en-US" sz="800" b="1" dirty="0">
                <a:solidFill>
                  <a:srgbClr val="FFFFFF"/>
                </a:solidFill>
              </a:rPr>
              <a:t>SQL条件初筛</a:t>
            </a:r>
          </a:p>
        </p:txBody>
      </p:sp>
      <p:sp>
        <p:nvSpPr>
          <p:cNvPr id="106" name="技术标签3"/>
          <p:cNvSpPr/>
          <p:nvPr/>
        </p:nvSpPr>
        <p:spPr>
          <a:xfrm>
            <a:off x="10871200" y="228600"/>
            <a:ext cx="1054100" cy="22860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txBody>
          <a:bodyPr wrap="square" lIns="2000" tIns="0" rIns="2000" bIns="0" anchor="ctr">
            <a:noAutofit/>
          </a:bodyPr>
          <a:lstStyle/>
          <a:p>
            <a:pPr algn="ctr">
              <a:buNone/>
            </a:pPr>
            <a:r>
              <a:rPr lang="zh-CN" altLang="en-US" sz="700" b="1" dirty="0">
                <a:solidFill>
                  <a:srgbClr val="FFFFFF"/>
                </a:solidFill>
              </a:rPr>
              <a:t>Polars高速处理</a:t>
            </a:r>
          </a:p>
        </p:txBody>
      </p:sp>
      <p:sp>
        <p:nvSpPr>
          <p:cNvPr id="107" name="技术标签4"/>
          <p:cNvSpPr/>
          <p:nvPr/>
        </p:nvSpPr>
        <p:spPr>
          <a:xfrm>
            <a:off x="8661400" y="508000"/>
            <a:ext cx="1054100" cy="22860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txBody>
          <a:bodyPr wrap="square" lIns="2000" tIns="0" rIns="2000" bIns="0" anchor="ctr">
            <a:noAutofit/>
          </a:bodyPr>
          <a:lstStyle/>
          <a:p>
            <a:pPr algn="ctr">
              <a:buNone/>
            </a:pPr>
            <a:r>
              <a:rPr lang="zh-CN" altLang="en-US" sz="700" b="1" dirty="0">
                <a:solidFill>
                  <a:srgbClr val="FFFFFF"/>
                </a:solidFill>
              </a:rPr>
              <a:t>OR-Tools优化求解</a:t>
            </a:r>
          </a:p>
        </p:txBody>
      </p:sp>
      <p:sp>
        <p:nvSpPr>
          <p:cNvPr id="108" name="技术标签5"/>
          <p:cNvSpPr/>
          <p:nvPr/>
        </p:nvSpPr>
        <p:spPr>
          <a:xfrm>
            <a:off x="9766300" y="508000"/>
            <a:ext cx="1054100" cy="22860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txBody>
          <a:bodyPr wrap="square" lIns="2000" tIns="0" rIns="2000" bIns="0" anchor="ctr">
            <a:noAutofit/>
          </a:bodyPr>
          <a:lstStyle/>
          <a:p>
            <a:pPr algn="ctr">
              <a:buNone/>
            </a:pPr>
            <a:r>
              <a:rPr lang="zh-CN" altLang="en-US" sz="800" b="1" dirty="0">
                <a:solidFill>
                  <a:srgbClr val="FFFFFF"/>
                </a:solidFill>
              </a:rPr>
              <a:t>AI交互与解释</a:t>
            </a:r>
          </a:p>
        </p:txBody>
      </p:sp>
      <p:sp>
        <p:nvSpPr>
          <p:cNvPr id="109" name="技术标签6"/>
          <p:cNvSpPr/>
          <p:nvPr/>
        </p:nvSpPr>
        <p:spPr>
          <a:xfrm>
            <a:off x="10871200" y="508000"/>
            <a:ext cx="1054100" cy="22860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txBody>
          <a:bodyPr wrap="square" lIns="2000" tIns="0" rIns="2000" bIns="0" anchor="ctr">
            <a:noAutofit/>
          </a:bodyPr>
          <a:lstStyle/>
          <a:p>
            <a:pPr algn="ctr">
              <a:buNone/>
            </a:pPr>
            <a:r>
              <a:rPr lang="zh-CN" altLang="en-US" sz="800" b="1" dirty="0">
                <a:solidFill>
                  <a:srgbClr val="FFFFFF"/>
                </a:solidFill>
              </a:rPr>
              <a:t>质量反馈学习</a:t>
            </a:r>
          </a:p>
        </p:txBody>
      </p:sp>
      <p:sp>
        <p:nvSpPr>
          <p:cNvPr id="130" name="输入A容器"/>
          <p:cNvSpPr/>
          <p:nvPr/>
        </p:nvSpPr>
        <p:spPr>
          <a:xfrm>
            <a:off x="304800" y="1168400"/>
            <a:ext cx="2159000" cy="2311400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5C"/>
            </a:solidFill>
          </a:ln>
        </p:spPr>
        <p:txBody>
          <a:bodyPr wrap="square" lIns="27000" tIns="9000" rIns="27000" bIns="9000" anchor="ctr">
            <a:noAutofit/>
          </a:bodyPr>
          <a:lstStyle/>
          <a:p>
            <a:endParaRPr lang="zh-CN"/>
          </a:p>
        </p:txBody>
      </p:sp>
      <p:sp>
        <p:nvSpPr>
          <p:cNvPr id="131" name="输入A标头"/>
          <p:cNvSpPr/>
          <p:nvPr/>
        </p:nvSpPr>
        <p:spPr>
          <a:xfrm>
            <a:off x="304800" y="1168400"/>
            <a:ext cx="2159000" cy="279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txBody>
          <a:bodyPr wrap="square" lIns="5000" tIns="0" rIns="5000" bIns="0" anchor="ctr">
            <a:noAutofit/>
          </a:bodyPr>
          <a:lstStyle/>
          <a:p>
            <a:pPr algn="ctr">
              <a:buNone/>
            </a:pPr>
            <a:r>
              <a:rPr lang="zh-CN" altLang="en-US" sz="950" b="1" dirty="0">
                <a:solidFill>
                  <a:srgbClr val="FFFFFF"/>
                </a:solidFill>
              </a:rPr>
              <a:t>输入A｜订单与生产要求</a:t>
            </a:r>
          </a:p>
        </p:txBody>
      </p:sp>
      <p:sp>
        <p:nvSpPr>
          <p:cNvPr id="132" name="输入A字段"/>
          <p:cNvSpPr/>
          <p:nvPr/>
        </p:nvSpPr>
        <p:spPr>
          <a:xfrm>
            <a:off x="381000" y="1485900"/>
            <a:ext cx="2006600" cy="660400"/>
          </a:xfrm>
          <a:prstGeom prst="rect">
            <a:avLst/>
          </a:prstGeom>
          <a:noFill/>
          <a:ln>
            <a:noFill/>
          </a:ln>
        </p:spPr>
        <p:txBody>
          <a:bodyPr wrap="square" lIns="3000" tIns="0" rIns="3000" bIns="0" anchor="t">
            <a:noAutofit/>
          </a:bodyPr>
          <a:lstStyle/>
          <a:p>
            <a:pPr>
              <a:lnSpc>
                <a:spcPct val="118000"/>
              </a:lnSpc>
              <a:buNone/>
            </a:pPr>
            <a:r>
              <a:rPr lang="zh-CN" altLang="en-US" sz="750" dirty="0">
                <a:solidFill>
                  <a:srgbClr val="16324F"/>
                </a:solidFill>
              </a:rPr>
              <a:t>目标成品重量W｜产品用途</a:t>
            </a:r>
          </a:p>
          <a:p>
            <a:pPr>
              <a:lnSpc>
                <a:spcPct val="118000"/>
              </a:lnSpc>
              <a:buNone/>
            </a:pPr>
            <a:r>
              <a:rPr lang="zh-CN" altLang="en-US" sz="750" dirty="0">
                <a:solidFill>
                  <a:srgbClr val="16324F"/>
                </a:solidFill>
              </a:rPr>
              <a:t>最低冻力Btarget｜黏度要求</a:t>
            </a:r>
          </a:p>
          <a:p>
            <a:pPr>
              <a:lnSpc>
                <a:spcPct val="118000"/>
              </a:lnSpc>
              <a:buNone/>
            </a:pPr>
            <a:r>
              <a:rPr lang="zh-CN" altLang="en-US" sz="750" dirty="0">
                <a:solidFill>
                  <a:srgbClr val="16324F"/>
                </a:solidFill>
              </a:rPr>
              <a:t>最多批次数K｜投料最小单位</a:t>
            </a:r>
          </a:p>
          <a:p>
            <a:pPr>
              <a:lnSpc>
                <a:spcPct val="118000"/>
              </a:lnSpc>
              <a:buNone/>
            </a:pPr>
            <a:r>
              <a:rPr lang="zh-CN" altLang="en-US" sz="750" dirty="0">
                <a:solidFill>
                  <a:srgbClr val="16324F"/>
                </a:solidFill>
              </a:rPr>
              <a:t>优先消化老库存｜交期·插单</a:t>
            </a:r>
          </a:p>
        </p:txBody>
      </p:sp>
      <p:sp>
        <p:nvSpPr>
          <p:cNvPr id="133" name="需求示例框"/>
          <p:cNvSpPr/>
          <p:nvPr/>
        </p:nvSpPr>
        <p:spPr>
          <a:xfrm>
            <a:off x="381000" y="2171700"/>
            <a:ext cx="2006600" cy="609600"/>
          </a:xfrm>
          <a:prstGeom prst="roundRect">
            <a:avLst/>
          </a:prstGeom>
          <a:solidFill>
            <a:srgbClr val="EAF0F6"/>
          </a:solidFill>
          <a:ln w="9525">
            <a:solidFill>
              <a:srgbClr val="1B3A5C"/>
            </a:solidFill>
          </a:ln>
        </p:spPr>
        <p:txBody>
          <a:bodyPr wrap="square" lIns="5000" tIns="2000" rIns="5000" bIns="2000" anchor="ctr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CN" altLang="en-US" sz="750" i="1" dirty="0">
                <a:solidFill>
                  <a:srgbClr val="5A6472"/>
                </a:solidFill>
              </a:rPr>
              <a:t>“生产10吨胶囊用明胶，冻力不得低于200，优先消化老库存，最多使用5个批次。”</a:t>
            </a:r>
          </a:p>
        </p:txBody>
      </p:sp>
      <p:sp>
        <p:nvSpPr>
          <p:cNvPr id="134" name="AI解析标注"/>
          <p:cNvSpPr/>
          <p:nvPr/>
        </p:nvSpPr>
        <p:spPr>
          <a:xfrm>
            <a:off x="381000" y="2832100"/>
            <a:ext cx="2006600" cy="584200"/>
          </a:xfrm>
          <a:prstGeom prst="rect">
            <a:avLst/>
          </a:prstGeom>
          <a:noFill/>
          <a:ln>
            <a:noFill/>
          </a:ln>
        </p:spPr>
        <p:txBody>
          <a:bodyPr wrap="square" lIns="3000" tIns="0" rIns="27000" bIns="0" anchor="t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zh-CN" altLang="en-US" sz="700" dirty="0">
                <a:solidFill>
                  <a:srgbClr val="1E7A46"/>
                </a:solidFill>
              </a:rPr>
              <a:t>● </a:t>
            </a:r>
            <a:r>
              <a:rPr lang="zh-CN" altLang="en-US" sz="800" b="1" dirty="0">
                <a:solidFill>
                  <a:srgbClr val="1E7A46"/>
                </a:solidFill>
              </a:rPr>
              <a:t>AI自然语言解析</a:t>
            </a:r>
          </a:p>
          <a:p>
            <a:pPr>
              <a:lnSpc>
                <a:spcPct val="120000"/>
              </a:lnSpc>
              <a:buNone/>
            </a:pPr>
            <a:r>
              <a:rPr lang="zh-CN" altLang="en-US" sz="700" dirty="0">
                <a:solidFill>
                  <a:srgbClr val="1E7A46"/>
                </a:solidFill>
              </a:rPr>
              <a:t>● </a:t>
            </a:r>
            <a:r>
              <a:rPr lang="zh-CN" altLang="en-US" sz="800" b="1" dirty="0">
                <a:solidFill>
                  <a:srgbClr val="1E7A46"/>
                </a:solidFill>
              </a:rPr>
              <a:t>自动追问缺失条件</a:t>
            </a:r>
          </a:p>
          <a:p>
            <a:pPr>
              <a:lnSpc>
                <a:spcPct val="120000"/>
              </a:lnSpc>
              <a:buNone/>
            </a:pPr>
            <a:r>
              <a:rPr lang="zh-CN" altLang="en-US" sz="700" dirty="0">
                <a:solidFill>
                  <a:srgbClr val="1E7A46"/>
                </a:solidFill>
              </a:rPr>
              <a:t>● </a:t>
            </a:r>
            <a:r>
              <a:rPr lang="zh-CN" altLang="en-US" sz="800" b="1" dirty="0">
                <a:solidFill>
                  <a:srgbClr val="1E7A46"/>
                </a:solidFill>
              </a:rPr>
              <a:t>标准化参数转换</a:t>
            </a:r>
          </a:p>
        </p:txBody>
      </p:sp>
      <p:sp>
        <p:nvSpPr>
          <p:cNvPr id="135" name="输入B容器"/>
          <p:cNvSpPr/>
          <p:nvPr/>
        </p:nvSpPr>
        <p:spPr>
          <a:xfrm>
            <a:off x="304800" y="3556000"/>
            <a:ext cx="2159000" cy="1549400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5C"/>
            </a:solidFill>
          </a:ln>
        </p:spPr>
        <p:txBody>
          <a:bodyPr wrap="square" lIns="27000" tIns="9000" rIns="27000" bIns="9000" anchor="ctr">
            <a:noAutofit/>
          </a:bodyPr>
          <a:lstStyle/>
          <a:p>
            <a:endParaRPr lang="zh-CN"/>
          </a:p>
        </p:txBody>
      </p:sp>
      <p:sp>
        <p:nvSpPr>
          <p:cNvPr id="136" name="输入B标头"/>
          <p:cNvSpPr/>
          <p:nvPr/>
        </p:nvSpPr>
        <p:spPr>
          <a:xfrm>
            <a:off x="304800" y="3556000"/>
            <a:ext cx="2159000" cy="279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txBody>
          <a:bodyPr wrap="square" lIns="5000" tIns="0" rIns="5000" bIns="0" anchor="ctr">
            <a:noAutofit/>
          </a:bodyPr>
          <a:lstStyle/>
          <a:p>
            <a:pPr algn="ctr">
              <a:buNone/>
            </a:pPr>
            <a:r>
              <a:rPr lang="zh-CN" altLang="en-US" sz="900" b="1" dirty="0">
                <a:solidFill>
                  <a:srgbClr val="FFFFFF"/>
                </a:solidFill>
              </a:rPr>
              <a:t>输入B｜半成品库存与质检数据</a:t>
            </a:r>
          </a:p>
        </p:txBody>
      </p:sp>
      <p:sp>
        <p:nvSpPr>
          <p:cNvPr id="137" name="输入B字段"/>
          <p:cNvSpPr/>
          <p:nvPr/>
        </p:nvSpPr>
        <p:spPr>
          <a:xfrm>
            <a:off x="381000" y="3886200"/>
            <a:ext cx="2006600" cy="1143000"/>
          </a:xfrm>
          <a:prstGeom prst="rect">
            <a:avLst/>
          </a:prstGeom>
          <a:noFill/>
          <a:ln>
            <a:noFill/>
          </a:ln>
        </p:spPr>
        <p:txBody>
          <a:bodyPr wrap="square" lIns="3000" tIns="0" rIns="3000" bIns="0" anchor="t">
            <a:noAutofit/>
          </a:bodyPr>
          <a:lstStyle/>
          <a:p>
            <a:pPr>
              <a:lnSpc>
                <a:spcPct val="122000"/>
              </a:lnSpc>
              <a:buNone/>
            </a:pPr>
            <a:r>
              <a:rPr lang="zh-CN" altLang="en-US" sz="750" dirty="0">
                <a:solidFill>
                  <a:srgbClr val="16324F"/>
                </a:solidFill>
              </a:rPr>
              <a:t>批次编号｜可用库存Si</a:t>
            </a:r>
          </a:p>
          <a:p>
            <a:pPr>
              <a:lnSpc>
                <a:spcPct val="122000"/>
              </a:lnSpc>
              <a:buNone/>
            </a:pPr>
            <a:r>
              <a:rPr lang="zh-CN" altLang="en-US" sz="750" dirty="0">
                <a:solidFill>
                  <a:srgbClr val="16324F"/>
                </a:solidFill>
              </a:rPr>
              <a:t>批次冻力Bi｜批次黏度</a:t>
            </a:r>
          </a:p>
          <a:p>
            <a:pPr>
              <a:lnSpc>
                <a:spcPct val="122000"/>
              </a:lnSpc>
              <a:buNone/>
            </a:pPr>
            <a:r>
              <a:rPr lang="zh-CN" altLang="en-US" sz="750" dirty="0">
                <a:solidFill>
                  <a:srgbClr val="16324F"/>
                </a:solidFill>
              </a:rPr>
              <a:t>生产日期·库龄｜质量状态</a:t>
            </a:r>
          </a:p>
          <a:p>
            <a:pPr>
              <a:lnSpc>
                <a:spcPct val="122000"/>
              </a:lnSpc>
              <a:buNone/>
            </a:pPr>
            <a:r>
              <a:rPr lang="zh-CN" altLang="en-US" sz="750" dirty="0">
                <a:solidFill>
                  <a:srgbClr val="16324F"/>
                </a:solidFill>
              </a:rPr>
              <a:t>产品兼容性｜仓库位置</a:t>
            </a:r>
          </a:p>
          <a:p>
            <a:pPr>
              <a:lnSpc>
                <a:spcPct val="122000"/>
              </a:lnSpc>
              <a:buNone/>
            </a:pPr>
            <a:r>
              <a:rPr lang="zh-CN" altLang="en-US" sz="750" dirty="0">
                <a:solidFill>
                  <a:srgbClr val="16324F"/>
                </a:solidFill>
              </a:rPr>
              <a:t>锁定状态｜单位成本</a:t>
            </a:r>
          </a:p>
        </p:txBody>
      </p:sp>
      <p:sp>
        <p:nvSpPr>
          <p:cNvPr id="138" name="输入箭头1"/>
          <p:cNvSpPr/>
          <p:nvPr/>
        </p:nvSpPr>
        <p:spPr>
          <a:xfrm>
            <a:off x="2476500" y="2184400"/>
            <a:ext cx="203200" cy="177800"/>
          </a:xfrm>
          <a:prstGeom prst="rightArrow">
            <a:avLst/>
          </a:prstGeom>
          <a:solidFill>
            <a:srgbClr val="1B3A5C"/>
          </a:solidFill>
          <a:ln>
            <a:noFill/>
          </a:ln>
        </p:spPr>
        <p:txBody>
          <a:bodyPr wrap="square" lIns="27000" tIns="9000" rIns="27000" bIns="9000" anchor="ctr">
            <a:noAutofit/>
          </a:bodyPr>
          <a:lstStyle/>
          <a:p>
            <a:endParaRPr lang="zh-CN"/>
          </a:p>
        </p:txBody>
      </p:sp>
      <p:sp>
        <p:nvSpPr>
          <p:cNvPr id="139" name="输入箭头2"/>
          <p:cNvSpPr/>
          <p:nvPr/>
        </p:nvSpPr>
        <p:spPr>
          <a:xfrm>
            <a:off x="2476500" y="4216400"/>
            <a:ext cx="203200" cy="177800"/>
          </a:xfrm>
          <a:prstGeom prst="rightArrow">
            <a:avLst/>
          </a:prstGeom>
          <a:solidFill>
            <a:srgbClr val="1B3A5C"/>
          </a:solidFill>
          <a:ln>
            <a:noFill/>
          </a:ln>
        </p:spPr>
        <p:txBody>
          <a:bodyPr wrap="square" lIns="27000" tIns="9000" rIns="27000" bIns="9000" anchor="ctr">
            <a:noAutofit/>
          </a:bodyPr>
          <a:lstStyle/>
          <a:p>
            <a:endParaRPr lang="zh-CN"/>
          </a:p>
        </p:txBody>
      </p:sp>
      <p:sp>
        <p:nvSpPr>
          <p:cNvPr id="180" name="引擎容器"/>
          <p:cNvSpPr/>
          <p:nvPr/>
        </p:nvSpPr>
        <p:spPr>
          <a:xfrm>
            <a:off x="2692400" y="1168400"/>
            <a:ext cx="5791200" cy="3937000"/>
          </a:xfrm>
          <a:prstGeom prst="rect">
            <a:avLst/>
          </a:prstGeom>
          <a:solidFill>
            <a:srgbClr val="F0FAF9"/>
          </a:solidFill>
          <a:ln w="28575">
            <a:solidFill>
              <a:srgbClr val="00796B"/>
            </a:solidFill>
          </a:ln>
        </p:spPr>
        <p:txBody>
          <a:bodyPr wrap="square" lIns="27000" tIns="9000" rIns="27000" bIns="9000" anchor="ctr">
            <a:noAutofit/>
          </a:bodyPr>
          <a:lstStyle/>
          <a:p>
            <a:endParaRPr lang="zh-CN"/>
          </a:p>
        </p:txBody>
      </p:sp>
      <p:sp>
        <p:nvSpPr>
          <p:cNvPr id="181" name="引擎标头"/>
          <p:cNvSpPr/>
          <p:nvPr/>
        </p:nvSpPr>
        <p:spPr>
          <a:xfrm>
            <a:off x="2692400" y="1168400"/>
            <a:ext cx="5791200" cy="33020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txBody>
          <a:bodyPr wrap="square" lIns="27000" tIns="0" rIns="27000" bIns="0" anchor="ctr">
            <a:noAutofit/>
          </a:bodyPr>
          <a:lstStyle/>
          <a:p>
            <a:pPr algn="ctr">
              <a:buNone/>
            </a:pPr>
            <a:r>
              <a:rPr lang="zh-CN" altLang="en-US" sz="1200" b="1" dirty="0">
                <a:solidFill>
                  <a:srgbClr val="FFFFFF"/>
                </a:solidFill>
              </a:rPr>
              <a:t>AI智能配方决策引擎</a:t>
            </a:r>
          </a:p>
        </p:txBody>
      </p:sp>
      <p:sp>
        <p:nvSpPr>
          <p:cNvPr id="182" name="第1层"/>
          <p:cNvSpPr/>
          <p:nvPr/>
        </p:nvSpPr>
        <p:spPr>
          <a:xfrm>
            <a:off x="2794000" y="1549400"/>
            <a:ext cx="5588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96B"/>
            </a:solidFill>
          </a:ln>
        </p:spPr>
        <p:txBody>
          <a:bodyPr wrap="square" lIns="7000" tIns="3000" rIns="7000" bIns="200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CN" altLang="en-US" sz="900" b="1" dirty="0">
                <a:solidFill>
                  <a:srgbClr val="1B3A5C"/>
                </a:solidFill>
              </a:rPr>
              <a:t>第1层｜数据预处理与候选筛选</a:t>
            </a:r>
            <a:r>
              <a:rPr lang="zh-CN" altLang="en-US" sz="800" b="1" dirty="0">
                <a:solidFill>
                  <a:srgbClr val="00796B"/>
                </a:solidFill>
              </a:rPr>
              <a:t>　RDS＋SQL＋Polars</a:t>
            </a:r>
          </a:p>
          <a:p>
            <a:pPr>
              <a:lnSpc>
                <a:spcPct val="112000"/>
              </a:lnSpc>
              <a:buNone/>
            </a:pPr>
            <a:r>
              <a:rPr lang="zh-CN" altLang="en-US" sz="750" dirty="0">
                <a:solidFill>
                  <a:srgbClr val="16324F"/>
                </a:solidFill>
              </a:rPr>
              <a:t>RDS读取 → SQL基础条件过滤 → Polars清洗·关联·异常检查·排序 → 数千条库存记录收敛为候选批次池（约50—300个）</a:t>
            </a:r>
          </a:p>
          <a:p>
            <a:pPr>
              <a:lnSpc>
                <a:spcPct val="112000"/>
              </a:lnSpc>
              <a:buNone/>
            </a:pPr>
            <a:r>
              <a:rPr lang="zh-CN" altLang="en-US" sz="700" dirty="0">
                <a:solidFill>
                  <a:srgbClr val="5A6472"/>
                </a:solidFill>
              </a:rPr>
              <a:t>规则：质量合格｜库存＞0｜未锁定｜用途兼容｜冻力黏度入围｜缺失异常→人工确认队列</a:t>
            </a:r>
          </a:p>
          <a:p>
            <a:pPr>
              <a:lnSpc>
                <a:spcPct val="112000"/>
              </a:lnSpc>
              <a:buNone/>
            </a:pPr>
            <a:r>
              <a:rPr lang="zh-CN" altLang="en-US" sz="700" b="1" i="1" dirty="0">
                <a:solidFill>
                  <a:srgbClr val="00796B"/>
                </a:solidFill>
              </a:rPr>
              <a:t>Polars仅负责高速数据处理，不负责最终配方求解</a:t>
            </a:r>
          </a:p>
        </p:txBody>
      </p:sp>
      <p:sp>
        <p:nvSpPr>
          <p:cNvPr id="183" name="第2层"/>
          <p:cNvSpPr/>
          <p:nvPr/>
        </p:nvSpPr>
        <p:spPr>
          <a:xfrm>
            <a:off x="2794000" y="2336800"/>
            <a:ext cx="5588000" cy="1219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B3A5C"/>
            </a:solidFill>
          </a:ln>
        </p:spPr>
        <p:txBody>
          <a:bodyPr wrap="square" lIns="7000" tIns="3000" rIns="7000" bIns="2000" anchor="t">
            <a:noAutofit/>
          </a:bodyPr>
          <a:lstStyle/>
          <a:p>
            <a:pPr>
              <a:lnSpc>
                <a:spcPct val="110000"/>
              </a:lnSpc>
              <a:buNone/>
            </a:pPr>
            <a:r>
              <a:rPr lang="zh-CN" altLang="en-US" sz="900" b="1" dirty="0">
                <a:solidFill>
                  <a:srgbClr val="1B3A5C"/>
                </a:solidFill>
              </a:rPr>
              <a:t>第2层｜质量与生产硬约束</a:t>
            </a:r>
            <a:r>
              <a:rPr lang="zh-CN" altLang="en-US" sz="800" b="1" dirty="0">
                <a:solidFill>
                  <a:srgbClr val="5A6472"/>
                </a:solidFill>
              </a:rPr>
              <a:t>（必须满足）</a:t>
            </a:r>
          </a:p>
        </p:txBody>
      </p:sp>
      <p:sp>
        <p:nvSpPr>
          <p:cNvPr id="184" name="约束公式"/>
          <p:cNvSpPr/>
          <p:nvPr/>
        </p:nvSpPr>
        <p:spPr>
          <a:xfrm>
            <a:off x="2895600" y="2552700"/>
            <a:ext cx="2514600" cy="711200"/>
          </a:xfrm>
          <a:prstGeom prst="rect">
            <a:avLst/>
          </a:prstGeom>
          <a:noFill/>
          <a:ln>
            <a:noFill/>
          </a:ln>
        </p:spPr>
        <p:txBody>
          <a:bodyPr wrap="square" lIns="3000" tIns="0" rIns="0" bIns="0" anchor="t">
            <a:noAutofit/>
          </a:bodyPr>
          <a:lstStyle/>
          <a:p>
            <a:pPr>
              <a:lnSpc>
                <a:spcPct val="108000"/>
              </a:lnSpc>
              <a:buNone/>
            </a:pPr>
            <a:r>
              <a:rPr lang="zh-CN" altLang="en-US" sz="800" b="1" dirty="0">
                <a:solidFill>
                  <a:srgbClr val="1B3A5C"/>
                </a:solidFill>
              </a:rPr>
              <a:t>Σxi＝W</a:t>
            </a:r>
            <a:r>
              <a:rPr lang="zh-CN" altLang="en-US" sz="700" dirty="0">
                <a:solidFill>
                  <a:srgbClr val="5A6472"/>
                </a:solidFill>
              </a:rPr>
              <a:t>　总重量约束</a:t>
            </a:r>
          </a:p>
          <a:p>
            <a:pPr>
              <a:lnSpc>
                <a:spcPct val="108000"/>
              </a:lnSpc>
              <a:buNone/>
            </a:pPr>
            <a:r>
              <a:rPr lang="zh-CN" altLang="en-US" sz="800" b="1" dirty="0">
                <a:solidFill>
                  <a:srgbClr val="1B3A5C"/>
                </a:solidFill>
              </a:rPr>
              <a:t>0≤xi≤Si×yi</a:t>
            </a:r>
            <a:r>
              <a:rPr lang="zh-CN" altLang="en-US" sz="700" dirty="0">
                <a:solidFill>
                  <a:srgbClr val="5A6472"/>
                </a:solidFill>
              </a:rPr>
              <a:t>　库存约束</a:t>
            </a:r>
          </a:p>
          <a:p>
            <a:pPr>
              <a:lnSpc>
                <a:spcPct val="108000"/>
              </a:lnSpc>
              <a:buNone/>
            </a:pPr>
            <a:r>
              <a:rPr lang="zh-CN" altLang="en-US" sz="800" b="1" dirty="0">
                <a:solidFill>
                  <a:srgbClr val="1B3A5C"/>
                </a:solidFill>
              </a:rPr>
              <a:t>Σyi≤K</a:t>
            </a:r>
            <a:r>
              <a:rPr lang="zh-CN" altLang="en-US" sz="700" dirty="0">
                <a:solidFill>
                  <a:srgbClr val="5A6472"/>
                </a:solidFill>
              </a:rPr>
              <a:t>　批次数约束</a:t>
            </a:r>
          </a:p>
          <a:p>
            <a:pPr>
              <a:lnSpc>
                <a:spcPct val="108000"/>
              </a:lnSpc>
              <a:buNone/>
            </a:pPr>
            <a:r>
              <a:rPr lang="zh-CN" altLang="en-US" sz="800" b="1" dirty="0">
                <a:solidFill>
                  <a:srgbClr val="1B3A5C"/>
                </a:solidFill>
              </a:rPr>
              <a:t>Bmix＝Σ(xi×Bi)／Σxi</a:t>
            </a:r>
            <a:r>
              <a:rPr lang="zh-CN" altLang="en-US" sz="700" dirty="0">
                <a:solidFill>
                  <a:srgbClr val="5A6472"/>
                </a:solidFill>
              </a:rPr>
              <a:t>　混配冻力</a:t>
            </a:r>
          </a:p>
          <a:p>
            <a:pPr>
              <a:lnSpc>
                <a:spcPct val="108000"/>
              </a:lnSpc>
              <a:buNone/>
            </a:pPr>
            <a:r>
              <a:rPr lang="zh-CN" altLang="en-US" sz="800" b="1" dirty="0">
                <a:solidFill>
                  <a:srgbClr val="00796B"/>
                </a:solidFill>
              </a:rPr>
              <a:t>Bmix≥Btarget＋M</a:t>
            </a:r>
            <a:r>
              <a:rPr lang="zh-CN" altLang="en-US" sz="700" dirty="0">
                <a:solidFill>
                  <a:srgbClr val="5A6472"/>
                </a:solidFill>
              </a:rPr>
              <a:t>　安全控制</a:t>
            </a:r>
          </a:p>
        </p:txBody>
      </p:sp>
      <p:sp>
        <p:nvSpPr>
          <p:cNvPr id="185" name="变量释义"/>
          <p:cNvSpPr/>
          <p:nvPr/>
        </p:nvSpPr>
        <p:spPr>
          <a:xfrm>
            <a:off x="5461000" y="2552700"/>
            <a:ext cx="1270000" cy="711200"/>
          </a:xfrm>
          <a:prstGeom prst="rect">
            <a:avLst/>
          </a:prstGeom>
          <a:noFill/>
          <a:ln>
            <a:noFill/>
          </a:ln>
        </p:spPr>
        <p:txBody>
          <a:bodyPr wrap="square" lIns="2000" tIns="0" rIns="0" bIns="0" anchor="t">
            <a:noAutofit/>
          </a:bodyPr>
          <a:lstStyle/>
          <a:p>
            <a:pPr>
              <a:lnSpc>
                <a:spcPct val="105000"/>
              </a:lnSpc>
              <a:buNone/>
            </a:pPr>
            <a:r>
              <a:rPr lang="zh-CN" altLang="en-US" sz="650" dirty="0">
                <a:solidFill>
                  <a:srgbClr val="5A6472"/>
                </a:solidFill>
              </a:rPr>
              <a:t>xi 批次投料重量</a:t>
            </a:r>
          </a:p>
          <a:p>
            <a:pPr>
              <a:lnSpc>
                <a:spcPct val="105000"/>
              </a:lnSpc>
              <a:buNone/>
            </a:pPr>
            <a:r>
              <a:rPr lang="zh-CN" altLang="en-US" sz="650" dirty="0">
                <a:solidFill>
                  <a:srgbClr val="5A6472"/>
                </a:solidFill>
              </a:rPr>
              <a:t>Si 批次可用库存</a:t>
            </a:r>
          </a:p>
          <a:p>
            <a:pPr>
              <a:lnSpc>
                <a:spcPct val="105000"/>
              </a:lnSpc>
              <a:buNone/>
            </a:pPr>
            <a:r>
              <a:rPr lang="zh-CN" altLang="en-US" sz="650" dirty="0">
                <a:solidFill>
                  <a:srgbClr val="5A6472"/>
                </a:solidFill>
              </a:rPr>
              <a:t>Bi 批次冻力</a:t>
            </a:r>
          </a:p>
          <a:p>
            <a:pPr>
              <a:lnSpc>
                <a:spcPct val="105000"/>
              </a:lnSpc>
              <a:buNone/>
            </a:pPr>
            <a:r>
              <a:rPr lang="zh-CN" altLang="en-US" sz="650" dirty="0">
                <a:solidFill>
                  <a:srgbClr val="5A6472"/>
                </a:solidFill>
              </a:rPr>
              <a:t>yi 是否使用(0/1)</a:t>
            </a:r>
          </a:p>
          <a:p>
            <a:pPr>
              <a:lnSpc>
                <a:spcPct val="105000"/>
              </a:lnSpc>
              <a:buNone/>
            </a:pPr>
            <a:r>
              <a:rPr lang="zh-CN" altLang="en-US" sz="650" dirty="0">
                <a:solidFill>
                  <a:srgbClr val="5A6472"/>
                </a:solidFill>
              </a:rPr>
              <a:t>W 目标成品重量</a:t>
            </a:r>
          </a:p>
          <a:p>
            <a:pPr>
              <a:lnSpc>
                <a:spcPct val="105000"/>
              </a:lnSpc>
              <a:buNone/>
            </a:pPr>
            <a:r>
              <a:rPr lang="zh-CN" altLang="en-US" sz="650" dirty="0">
                <a:solidFill>
                  <a:srgbClr val="5A6472"/>
                </a:solidFill>
              </a:rPr>
              <a:t>M 历史偏差安全余量</a:t>
            </a:r>
          </a:p>
        </p:txBody>
      </p:sp>
      <p:sp>
        <p:nvSpPr>
          <p:cNvPr id="186" name="数值示例"/>
          <p:cNvSpPr/>
          <p:nvPr/>
        </p:nvSpPr>
        <p:spPr>
          <a:xfrm>
            <a:off x="6781800" y="2527300"/>
            <a:ext cx="1524000" cy="762000"/>
          </a:xfrm>
          <a:prstGeom prst="roundRect">
            <a:avLst/>
          </a:prstGeom>
          <a:solidFill>
            <a:srgbClr val="F3F5F7"/>
          </a:solidFill>
          <a:ln w="9525">
            <a:solidFill>
              <a:srgbClr val="B9C2CC"/>
            </a:solidFill>
          </a:ln>
        </p:spPr>
        <p:txBody>
          <a:bodyPr wrap="square" lIns="5000" tIns="2500" rIns="5000" bIns="2000" anchor="t">
            <a:noAutofit/>
          </a:bodyPr>
          <a:lstStyle/>
          <a:p>
            <a:pPr>
              <a:lnSpc>
                <a:spcPct val="110000"/>
              </a:lnSpc>
              <a:buNone/>
            </a:pPr>
            <a:r>
              <a:rPr lang="zh-CN" altLang="en-US" sz="750" b="1" dirty="0">
                <a:solidFill>
                  <a:srgbClr val="1B3A5C"/>
                </a:solidFill>
              </a:rPr>
              <a:t>数值示例</a:t>
            </a:r>
          </a:p>
          <a:p>
            <a:pPr>
              <a:lnSpc>
                <a:spcPct val="110000"/>
              </a:lnSpc>
              <a:buNone/>
            </a:pPr>
            <a:r>
              <a:rPr lang="zh-CN" altLang="en-US" sz="700" dirty="0">
                <a:solidFill>
                  <a:srgbClr val="16324F"/>
                </a:solidFill>
              </a:rPr>
              <a:t>客户最低冻力 200</a:t>
            </a:r>
          </a:p>
          <a:p>
            <a:pPr>
              <a:lnSpc>
                <a:spcPct val="110000"/>
              </a:lnSpc>
              <a:buNone/>
            </a:pPr>
            <a:r>
              <a:rPr lang="zh-CN" altLang="en-US" sz="700" dirty="0">
                <a:solidFill>
                  <a:srgbClr val="16324F"/>
                </a:solidFill>
              </a:rPr>
              <a:t>＋历史安全余量 2</a:t>
            </a:r>
          </a:p>
          <a:p>
            <a:pPr>
              <a:lnSpc>
                <a:spcPct val="110000"/>
              </a:lnSpc>
              <a:buNone/>
            </a:pPr>
            <a:r>
              <a:rPr lang="zh-CN" altLang="en-US" sz="700" b="1" dirty="0">
                <a:solidFill>
                  <a:srgbClr val="00796B"/>
                </a:solidFill>
              </a:rPr>
              <a:t>→ 控制线 202</a:t>
            </a:r>
            <a:r>
              <a:rPr lang="zh-CN" altLang="en-US" sz="700" dirty="0">
                <a:solidFill>
                  <a:srgbClr val="16324F"/>
                </a:solidFill>
              </a:rPr>
              <a:t>，建议 202—205</a:t>
            </a:r>
          </a:p>
        </p:txBody>
      </p:sp>
      <p:sp>
        <p:nvSpPr>
          <p:cNvPr id="187" name="硬约束标签1"/>
          <p:cNvSpPr/>
          <p:nvPr/>
        </p:nvSpPr>
        <p:spPr>
          <a:xfrm>
            <a:off x="2895600" y="3314700"/>
            <a:ext cx="1574800" cy="190500"/>
          </a:xfrm>
          <a:prstGeom prst="roundRect">
            <a:avLst/>
          </a:prstGeom>
          <a:solidFill>
            <a:srgbClr val="1E7A46"/>
          </a:solidFill>
          <a:ln>
            <a:noFill/>
          </a:ln>
        </p:spPr>
        <p:txBody>
          <a:bodyPr wrap="square" lIns="2000" tIns="0" rIns="2000" bIns="0" anchor="ctr">
            <a:noAutofit/>
          </a:bodyPr>
          <a:lstStyle/>
          <a:p>
            <a:pPr algn="ctr">
              <a:buNone/>
            </a:pPr>
            <a:r>
              <a:rPr lang="zh-CN" altLang="en-US" sz="750" b="1" dirty="0">
                <a:solidFill>
                  <a:srgbClr val="FFFFFF"/>
                </a:solidFill>
              </a:rPr>
              <a:t>冻力只能高不能低</a:t>
            </a:r>
          </a:p>
        </p:txBody>
      </p:sp>
      <p:sp>
        <p:nvSpPr>
          <p:cNvPr id="188" name="硬约束标签2"/>
          <p:cNvSpPr/>
          <p:nvPr/>
        </p:nvSpPr>
        <p:spPr>
          <a:xfrm>
            <a:off x="4546600" y="3314700"/>
            <a:ext cx="1422400" cy="190500"/>
          </a:xfrm>
          <a:prstGeom prst="roundRect">
            <a:avLst/>
          </a:prstGeom>
          <a:solidFill>
            <a:srgbClr val="1E7A46"/>
          </a:solidFill>
          <a:ln>
            <a:noFill/>
          </a:ln>
        </p:spPr>
        <p:txBody>
          <a:bodyPr wrap="square" lIns="2000" tIns="0" rIns="2000" bIns="0" anchor="ctr">
            <a:noAutofit/>
          </a:bodyPr>
          <a:lstStyle/>
          <a:p>
            <a:pPr algn="ctr">
              <a:buNone/>
            </a:pPr>
            <a:r>
              <a:rPr lang="zh-CN" altLang="en-US" sz="750" b="1" dirty="0">
                <a:solidFill>
                  <a:srgbClr val="FFFFFF"/>
                </a:solidFill>
              </a:rPr>
              <a:t>保下限、控超配</a:t>
            </a:r>
          </a:p>
        </p:txBody>
      </p:sp>
      <p:sp>
        <p:nvSpPr>
          <p:cNvPr id="189" name="硬约束标签3"/>
          <p:cNvSpPr/>
          <p:nvPr/>
        </p:nvSpPr>
        <p:spPr>
          <a:xfrm>
            <a:off x="6045200" y="3314700"/>
            <a:ext cx="1930400" cy="1905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txBody>
          <a:bodyPr wrap="square" lIns="2000" tIns="0" rIns="2000" bIns="0" anchor="ctr">
            <a:noAutofit/>
          </a:bodyPr>
          <a:lstStyle/>
          <a:p>
            <a:pPr algn="ctr">
              <a:buNone/>
            </a:pPr>
            <a:r>
              <a:rPr lang="zh-CN" altLang="en-US" sz="750" b="1" dirty="0">
                <a:solidFill>
                  <a:srgbClr val="FFFFFF"/>
                </a:solidFill>
              </a:rPr>
              <a:t>低于安全控制线直接淘汰</a:t>
            </a:r>
          </a:p>
        </p:txBody>
      </p:sp>
      <p:sp>
        <p:nvSpPr>
          <p:cNvPr id="190" name="第3层"/>
          <p:cNvSpPr/>
          <p:nvPr/>
        </p:nvSpPr>
        <p:spPr>
          <a:xfrm>
            <a:off x="2794000" y="3632200"/>
            <a:ext cx="5588000" cy="81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96B"/>
            </a:solidFill>
          </a:ln>
        </p:spPr>
        <p:txBody>
          <a:bodyPr wrap="square" lIns="7000" tIns="3000" rIns="7000" bIns="2000" anchor="t">
            <a:noAutofit/>
          </a:bodyPr>
          <a:lstStyle/>
          <a:p>
            <a:pPr>
              <a:lnSpc>
                <a:spcPct val="110000"/>
              </a:lnSpc>
              <a:buNone/>
            </a:pPr>
            <a:r>
              <a:rPr lang="zh-CN" altLang="en-US" sz="900" b="1" dirty="0">
                <a:solidFill>
                  <a:srgbClr val="1B3A5C"/>
                </a:solidFill>
              </a:rPr>
              <a:t>第3层｜多目标优化求解</a:t>
            </a:r>
            <a:r>
              <a:rPr lang="zh-CN" altLang="en-US" sz="800" b="1" dirty="0">
                <a:solidFill>
                  <a:srgbClr val="00796B"/>
                </a:solidFill>
              </a:rPr>
              <a:t>　OR-Tools MILP／CP-SAT</a:t>
            </a:r>
            <a:r>
              <a:rPr lang="zh-CN" altLang="en-US" sz="700" i="1" dirty="0">
                <a:solidFill>
                  <a:srgbClr val="5A6472"/>
                </a:solidFill>
              </a:rPr>
              <a:t>　分层优先级，非单一综合分数</a:t>
            </a:r>
          </a:p>
        </p:txBody>
      </p:sp>
      <p:sp>
        <p:nvSpPr>
          <p:cNvPr id="191" name="优先级P1"/>
          <p:cNvSpPr/>
          <p:nvPr/>
        </p:nvSpPr>
        <p:spPr>
          <a:xfrm>
            <a:off x="2895600" y="3860800"/>
            <a:ext cx="1054100" cy="2159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txBody>
          <a:bodyPr wrap="square" lIns="1500" tIns="0" rIns="1500" bIns="0" anchor="ctr">
            <a:noAutofit/>
          </a:bodyPr>
          <a:lstStyle/>
          <a:p>
            <a:pPr algn="ctr">
              <a:buNone/>
            </a:pPr>
            <a:r>
              <a:rPr lang="zh-CN" altLang="en-US" sz="700" b="1" dirty="0">
                <a:solidFill>
                  <a:srgbClr val="FFFFFF"/>
                </a:solidFill>
              </a:rPr>
              <a:t>P1 质量合格</a:t>
            </a:r>
          </a:p>
        </p:txBody>
      </p:sp>
      <p:sp>
        <p:nvSpPr>
          <p:cNvPr id="192" name="优先级P2"/>
          <p:cNvSpPr/>
          <p:nvPr/>
        </p:nvSpPr>
        <p:spPr>
          <a:xfrm>
            <a:off x="4000500" y="3860800"/>
            <a:ext cx="1054100" cy="215900"/>
          </a:xfrm>
          <a:prstGeom prst="rect">
            <a:avLst/>
          </a:prstGeom>
          <a:solidFill>
            <a:srgbClr val="3D5A7A"/>
          </a:solidFill>
          <a:ln>
            <a:noFill/>
          </a:ln>
        </p:spPr>
        <p:txBody>
          <a:bodyPr wrap="square" lIns="1500" tIns="0" rIns="1500" bIns="0" anchor="ctr">
            <a:noAutofit/>
          </a:bodyPr>
          <a:lstStyle/>
          <a:p>
            <a:pPr algn="ctr">
              <a:buNone/>
            </a:pPr>
            <a:r>
              <a:rPr lang="zh-CN" altLang="en-US" sz="700" b="1" dirty="0">
                <a:solidFill>
                  <a:srgbClr val="FFFFFF"/>
                </a:solidFill>
              </a:rPr>
              <a:t>P2 冻力贴近控制线</a:t>
            </a:r>
          </a:p>
        </p:txBody>
      </p:sp>
      <p:sp>
        <p:nvSpPr>
          <p:cNvPr id="193" name="优先级P3"/>
          <p:cNvSpPr/>
          <p:nvPr/>
        </p:nvSpPr>
        <p:spPr>
          <a:xfrm>
            <a:off x="5105400" y="3860800"/>
            <a:ext cx="1054100" cy="215900"/>
          </a:xfrm>
          <a:prstGeom prst="rect">
            <a:avLst/>
          </a:prstGeom>
          <a:solidFill>
            <a:srgbClr val="3D5A7A"/>
          </a:solidFill>
          <a:ln>
            <a:noFill/>
          </a:ln>
        </p:spPr>
        <p:txBody>
          <a:bodyPr wrap="square" lIns="1500" tIns="0" rIns="1500" bIns="0" anchor="ctr">
            <a:noAutofit/>
          </a:bodyPr>
          <a:lstStyle/>
          <a:p>
            <a:pPr algn="ctr">
              <a:buNone/>
            </a:pPr>
            <a:r>
              <a:rPr lang="zh-CN" altLang="en-US" sz="700" b="1" dirty="0">
                <a:solidFill>
                  <a:srgbClr val="FFFFFF"/>
                </a:solidFill>
              </a:rPr>
              <a:t>P3 优先消化老库存</a:t>
            </a:r>
          </a:p>
        </p:txBody>
      </p:sp>
      <p:sp>
        <p:nvSpPr>
          <p:cNvPr id="194" name="优先级P4"/>
          <p:cNvSpPr/>
          <p:nvPr/>
        </p:nvSpPr>
        <p:spPr>
          <a:xfrm>
            <a:off x="6210300" y="3860800"/>
            <a:ext cx="1054100" cy="215900"/>
          </a:xfrm>
          <a:prstGeom prst="rect">
            <a:avLst/>
          </a:prstGeom>
          <a:solidFill>
            <a:srgbClr val="3D5A7A"/>
          </a:solidFill>
          <a:ln>
            <a:noFill/>
          </a:ln>
        </p:spPr>
        <p:txBody>
          <a:bodyPr wrap="square" lIns="1500" tIns="0" rIns="1500" bIns="0" anchor="ctr">
            <a:noAutofit/>
          </a:bodyPr>
          <a:lstStyle/>
          <a:p>
            <a:pPr algn="ctr">
              <a:buNone/>
            </a:pPr>
            <a:r>
              <a:rPr lang="zh-CN" altLang="en-US" sz="700" b="1" dirty="0">
                <a:solidFill>
                  <a:srgbClr val="FFFFFF"/>
                </a:solidFill>
              </a:rPr>
              <a:t>P4 减少使用批次数</a:t>
            </a:r>
          </a:p>
        </p:txBody>
      </p:sp>
      <p:sp>
        <p:nvSpPr>
          <p:cNvPr id="195" name="优先级P5"/>
          <p:cNvSpPr/>
          <p:nvPr/>
        </p:nvSpPr>
        <p:spPr>
          <a:xfrm>
            <a:off x="7315200" y="3860800"/>
            <a:ext cx="1054100" cy="215900"/>
          </a:xfrm>
          <a:prstGeom prst="rect">
            <a:avLst/>
          </a:prstGeom>
          <a:solidFill>
            <a:srgbClr val="3D5A7A"/>
          </a:solidFill>
          <a:ln>
            <a:noFill/>
          </a:ln>
        </p:spPr>
        <p:txBody>
          <a:bodyPr wrap="square" lIns="1500" tIns="0" rIns="1500" bIns="0" anchor="ctr">
            <a:noAutofit/>
          </a:bodyPr>
          <a:lstStyle/>
          <a:p>
            <a:pPr algn="ctr">
              <a:buNone/>
            </a:pPr>
            <a:r>
              <a:rPr lang="zh-CN" altLang="en-US" sz="700" b="1" dirty="0">
                <a:solidFill>
                  <a:srgbClr val="FFFFFF"/>
                </a:solidFill>
              </a:rPr>
              <a:t>P5 成本与执行便利</a:t>
            </a:r>
          </a:p>
        </p:txBody>
      </p:sp>
      <p:sp>
        <p:nvSpPr>
          <p:cNvPr id="196" name="第3层说明"/>
          <p:cNvSpPr/>
          <p:nvPr/>
        </p:nvSpPr>
        <p:spPr>
          <a:xfrm>
            <a:off x="2895600" y="4140200"/>
            <a:ext cx="5384800" cy="254000"/>
          </a:xfrm>
          <a:prstGeom prst="rect">
            <a:avLst/>
          </a:prstGeom>
          <a:noFill/>
          <a:ln>
            <a:noFill/>
          </a:ln>
        </p:spPr>
        <p:txBody>
          <a:bodyPr wrap="square" lIns="3000" tIns="0" rIns="27000" bIns="0" anchor="t">
            <a:noAutofit/>
          </a:bodyPr>
          <a:lstStyle/>
          <a:p>
            <a:pPr>
              <a:lnSpc>
                <a:spcPct val="108000"/>
              </a:lnSpc>
              <a:buNone/>
            </a:pPr>
            <a:r>
              <a:rPr lang="zh-CN" altLang="en-US" sz="700" dirty="0">
                <a:solidFill>
                  <a:srgbClr val="5A6472"/>
                </a:solidFill>
              </a:rPr>
              <a:t>质量指标为硬约束；成本与库存仅在质量合格方案中优化，避免“成本较低但质量不合格”的配方</a:t>
            </a:r>
          </a:p>
        </p:txBody>
      </p:sp>
      <p:sp>
        <p:nvSpPr>
          <p:cNvPr id="197" name="第4层"/>
          <p:cNvSpPr/>
          <p:nvPr/>
        </p:nvSpPr>
        <p:spPr>
          <a:xfrm>
            <a:off x="2794000" y="4521200"/>
            <a:ext cx="5588000" cy="508000"/>
          </a:xfrm>
          <a:prstGeom prst="rect">
            <a:avLst/>
          </a:prstGeom>
          <a:solidFill>
            <a:srgbClr val="FFFFFF"/>
          </a:solidFill>
          <a:ln w="15875">
            <a:solidFill>
              <a:srgbClr val="1E7A46"/>
            </a:solidFill>
          </a:ln>
        </p:spPr>
        <p:txBody>
          <a:bodyPr wrap="square" lIns="7000" tIns="3000" rIns="7000" bIns="200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CN" altLang="en-US" sz="900" b="1" dirty="0">
                <a:solidFill>
                  <a:srgbClr val="1B3A5C"/>
                </a:solidFill>
              </a:rPr>
              <a:t>第4层｜AI解释与风险评估</a:t>
            </a:r>
            <a:r>
              <a:rPr lang="zh-CN" altLang="en-US" sz="750" b="1" dirty="0">
                <a:solidFill>
                  <a:srgbClr val="1E7A46"/>
                </a:solidFill>
              </a:rPr>
              <a:t>　大模型不做数值求解：算法负责计算，AI负责交互·解释·风险提示</a:t>
            </a:r>
          </a:p>
          <a:p>
            <a:pPr>
              <a:lnSpc>
                <a:spcPct val="112000"/>
              </a:lnSpc>
              <a:buNone/>
            </a:pPr>
            <a:r>
              <a:rPr lang="zh-CN" altLang="en-US" sz="700" dirty="0">
                <a:solidFill>
                  <a:srgbClr val="16324F"/>
                </a:solidFill>
              </a:rPr>
              <a:t>解释方案可行性｜冻力·黏度·库存指标｜安全余量充足性｜高冻力超配识别｜老库存消化效果｜库存不足·批次过多·数据异常提示｜自然语言推荐理由</a:t>
            </a:r>
          </a:p>
        </p:txBody>
      </p:sp>
      <p:sp>
        <p:nvSpPr>
          <p:cNvPr id="198" name="输出箭头"/>
          <p:cNvSpPr/>
          <p:nvPr/>
        </p:nvSpPr>
        <p:spPr>
          <a:xfrm>
            <a:off x="8509000" y="3048000"/>
            <a:ext cx="203200" cy="177800"/>
          </a:xfrm>
          <a:prstGeom prst="rightArrow">
            <a:avLst/>
          </a:prstGeom>
          <a:solidFill>
            <a:srgbClr val="1B3A5C"/>
          </a:solidFill>
          <a:ln>
            <a:noFill/>
          </a:ln>
        </p:spPr>
        <p:txBody>
          <a:bodyPr wrap="square" lIns="27000" tIns="9000" rIns="27000" bIns="9000" anchor="ctr">
            <a:noAutofit/>
          </a:bodyPr>
          <a:lstStyle/>
          <a:p>
            <a:endParaRPr lang="zh-CN"/>
          </a:p>
        </p:txBody>
      </p:sp>
      <p:sp>
        <p:nvSpPr>
          <p:cNvPr id="260" name="输出区标签"/>
          <p:cNvSpPr/>
          <p:nvPr/>
        </p:nvSpPr>
        <p:spPr>
          <a:xfrm>
            <a:off x="8712200" y="1168400"/>
            <a:ext cx="3175000" cy="203200"/>
          </a:xfrm>
          <a:prstGeom prst="rect">
            <a:avLst/>
          </a:prstGeom>
          <a:noFill/>
          <a:ln>
            <a:noFill/>
          </a:ln>
        </p:spPr>
        <p:txBody>
          <a:bodyPr wrap="square" lIns="3000" tIns="0" rIns="27000" bIns="0" anchor="ctr">
            <a:noAutofit/>
          </a:bodyPr>
          <a:lstStyle/>
          <a:p>
            <a:pPr>
              <a:buNone/>
            </a:pPr>
            <a:r>
              <a:rPr lang="zh-CN" altLang="en-US" sz="950" b="1" dirty="0">
                <a:solidFill>
                  <a:srgbClr val="1B3A5C"/>
                </a:solidFill>
              </a:rPr>
              <a:t>输出｜多套可比较方案</a:t>
            </a:r>
          </a:p>
        </p:txBody>
      </p:sp>
      <p:sp>
        <p:nvSpPr>
          <p:cNvPr id="261" name="方案A容器"/>
          <p:cNvSpPr/>
          <p:nvPr/>
        </p:nvSpPr>
        <p:spPr>
          <a:xfrm>
            <a:off x="8712200" y="1422400"/>
            <a:ext cx="1524000" cy="157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5C"/>
            </a:solidFill>
          </a:ln>
        </p:spPr>
        <p:txBody>
          <a:bodyPr wrap="square" lIns="27000" tIns="9000" rIns="27000" bIns="9000" anchor="t">
            <a:noAutofit/>
          </a:bodyPr>
          <a:lstStyle/>
          <a:p>
            <a:endParaRPr lang="zh-CN"/>
          </a:p>
        </p:txBody>
      </p:sp>
      <p:sp>
        <p:nvSpPr>
          <p:cNvPr id="262" name="方案A标头"/>
          <p:cNvSpPr/>
          <p:nvPr/>
        </p:nvSpPr>
        <p:spPr>
          <a:xfrm>
            <a:off x="8712200" y="1422400"/>
            <a:ext cx="1524000" cy="2286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txBody>
          <a:bodyPr wrap="square" lIns="2000" tIns="0" rIns="2000" bIns="0" anchor="ctr">
            <a:noAutofit/>
          </a:bodyPr>
          <a:lstStyle/>
          <a:p>
            <a:pPr algn="ctr">
              <a:buNone/>
            </a:pPr>
            <a:r>
              <a:rPr lang="zh-CN" altLang="en-US" sz="800" b="1" dirty="0">
                <a:solidFill>
                  <a:srgbClr val="FFFFFF"/>
                </a:solidFill>
              </a:rPr>
              <a:t>方案A｜质量最优</a:t>
            </a:r>
          </a:p>
        </p:txBody>
      </p:sp>
      <p:sp>
        <p:nvSpPr>
          <p:cNvPr id="263" name="方案A内容"/>
          <p:cNvSpPr/>
          <p:nvPr/>
        </p:nvSpPr>
        <p:spPr>
          <a:xfrm>
            <a:off x="8775700" y="1689100"/>
            <a:ext cx="1397000" cy="1270000"/>
          </a:xfrm>
          <a:prstGeom prst="rect">
            <a:avLst/>
          </a:prstGeom>
          <a:noFill/>
          <a:ln>
            <a:noFill/>
          </a:ln>
        </p:spPr>
        <p:txBody>
          <a:bodyPr wrap="square" lIns="2000" tIns="0" rIns="0" bIns="0" anchor="t">
            <a:noAutofit/>
          </a:bodyPr>
          <a:lstStyle/>
          <a:p>
            <a:pPr>
              <a:lnSpc>
                <a:spcPct val="132000"/>
              </a:lnSpc>
              <a:buNone/>
            </a:pPr>
            <a:r>
              <a:rPr lang="zh-CN" altLang="en-US" sz="700" b="1" dirty="0">
                <a:solidFill>
                  <a:srgbClr val="00796B"/>
                </a:solidFill>
              </a:rPr>
              <a:t>· </a:t>
            </a:r>
            <a:r>
              <a:rPr lang="zh-CN" altLang="en-US" sz="750" dirty="0">
                <a:solidFill>
                  <a:srgbClr val="16324F"/>
                </a:solidFill>
              </a:rPr>
              <a:t>理论冻力</a:t>
            </a:r>
          </a:p>
          <a:p>
            <a:pPr>
              <a:lnSpc>
                <a:spcPct val="132000"/>
              </a:lnSpc>
              <a:buNone/>
            </a:pPr>
            <a:r>
              <a:rPr lang="zh-CN" altLang="en-US" sz="700" b="1" dirty="0">
                <a:solidFill>
                  <a:srgbClr val="00796B"/>
                </a:solidFill>
              </a:rPr>
              <a:t>· </a:t>
            </a:r>
            <a:r>
              <a:rPr lang="zh-CN" altLang="en-US" sz="750" dirty="0">
                <a:solidFill>
                  <a:srgbClr val="16324F"/>
                </a:solidFill>
              </a:rPr>
              <a:t>理论黏度</a:t>
            </a:r>
          </a:p>
          <a:p>
            <a:pPr>
              <a:lnSpc>
                <a:spcPct val="132000"/>
              </a:lnSpc>
              <a:buNone/>
            </a:pPr>
            <a:r>
              <a:rPr lang="zh-CN" altLang="en-US" sz="700" b="1" dirty="0">
                <a:solidFill>
                  <a:srgbClr val="00796B"/>
                </a:solidFill>
              </a:rPr>
              <a:t>· </a:t>
            </a:r>
            <a:r>
              <a:rPr lang="zh-CN" altLang="en-US" sz="750" dirty="0">
                <a:solidFill>
                  <a:srgbClr val="16324F"/>
                </a:solidFill>
              </a:rPr>
              <a:t>使用批次数</a:t>
            </a:r>
          </a:p>
          <a:p>
            <a:pPr>
              <a:lnSpc>
                <a:spcPct val="132000"/>
              </a:lnSpc>
              <a:buNone/>
            </a:pPr>
            <a:r>
              <a:rPr lang="zh-CN" altLang="en-US" sz="700" b="1" dirty="0">
                <a:solidFill>
                  <a:srgbClr val="00796B"/>
                </a:solidFill>
              </a:rPr>
              <a:t>· </a:t>
            </a:r>
            <a:r>
              <a:rPr lang="zh-CN" altLang="en-US" sz="750" dirty="0">
                <a:solidFill>
                  <a:srgbClr val="16324F"/>
                </a:solidFill>
              </a:rPr>
              <a:t>安全余量</a:t>
            </a:r>
          </a:p>
          <a:p>
            <a:pPr>
              <a:lnSpc>
                <a:spcPct val="132000"/>
              </a:lnSpc>
              <a:buNone/>
            </a:pPr>
            <a:r>
              <a:rPr lang="zh-CN" altLang="en-US" sz="700" b="1" dirty="0">
                <a:solidFill>
                  <a:srgbClr val="00796B"/>
                </a:solidFill>
              </a:rPr>
              <a:t>· </a:t>
            </a:r>
            <a:r>
              <a:rPr lang="zh-CN" altLang="en-US" sz="750" dirty="0">
                <a:solidFill>
                  <a:srgbClr val="16324F"/>
                </a:solidFill>
              </a:rPr>
              <a:t>质量风险等级</a:t>
            </a:r>
          </a:p>
        </p:txBody>
      </p:sp>
      <p:sp>
        <p:nvSpPr>
          <p:cNvPr id="264" name="方案B容器"/>
          <p:cNvSpPr/>
          <p:nvPr/>
        </p:nvSpPr>
        <p:spPr>
          <a:xfrm>
            <a:off x="10312400" y="1422400"/>
            <a:ext cx="1524000" cy="157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5C"/>
            </a:solidFill>
          </a:ln>
        </p:spPr>
        <p:txBody>
          <a:bodyPr wrap="square" lIns="27000" tIns="9000" rIns="27000" bIns="9000" anchor="t">
            <a:noAutofit/>
          </a:bodyPr>
          <a:lstStyle/>
          <a:p>
            <a:endParaRPr lang="zh-CN"/>
          </a:p>
        </p:txBody>
      </p:sp>
      <p:sp>
        <p:nvSpPr>
          <p:cNvPr id="265" name="方案B标头"/>
          <p:cNvSpPr/>
          <p:nvPr/>
        </p:nvSpPr>
        <p:spPr>
          <a:xfrm>
            <a:off x="10312400" y="1422400"/>
            <a:ext cx="1524000" cy="2286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txBody>
          <a:bodyPr wrap="square" lIns="2000" tIns="0" rIns="2000" bIns="0" anchor="ctr">
            <a:noAutofit/>
          </a:bodyPr>
          <a:lstStyle/>
          <a:p>
            <a:pPr algn="ctr">
              <a:buNone/>
            </a:pPr>
            <a:r>
              <a:rPr lang="zh-CN" altLang="en-US" sz="800" b="1" dirty="0">
                <a:solidFill>
                  <a:srgbClr val="FFFFFF"/>
                </a:solidFill>
              </a:rPr>
              <a:t>方案B｜老库存优先</a:t>
            </a:r>
          </a:p>
        </p:txBody>
      </p:sp>
      <p:sp>
        <p:nvSpPr>
          <p:cNvPr id="266" name="方案B内容"/>
          <p:cNvSpPr/>
          <p:nvPr/>
        </p:nvSpPr>
        <p:spPr>
          <a:xfrm>
            <a:off x="10375900" y="1689100"/>
            <a:ext cx="1397000" cy="1270000"/>
          </a:xfrm>
          <a:prstGeom prst="rect">
            <a:avLst/>
          </a:prstGeom>
          <a:noFill/>
          <a:ln>
            <a:noFill/>
          </a:ln>
        </p:spPr>
        <p:txBody>
          <a:bodyPr wrap="square" lIns="2000" tIns="0" rIns="0" bIns="0" anchor="t">
            <a:noAutofit/>
          </a:bodyPr>
          <a:lstStyle/>
          <a:p>
            <a:pPr>
              <a:lnSpc>
                <a:spcPct val="132000"/>
              </a:lnSpc>
              <a:buNone/>
            </a:pPr>
            <a:r>
              <a:rPr lang="zh-CN" altLang="en-US" sz="700" b="1" dirty="0">
                <a:solidFill>
                  <a:srgbClr val="00796B"/>
                </a:solidFill>
              </a:rPr>
              <a:t>· </a:t>
            </a:r>
            <a:r>
              <a:rPr lang="zh-CN" altLang="en-US" sz="750" dirty="0">
                <a:solidFill>
                  <a:srgbClr val="16324F"/>
                </a:solidFill>
              </a:rPr>
              <a:t>老库存使用重量</a:t>
            </a:r>
          </a:p>
          <a:p>
            <a:pPr>
              <a:lnSpc>
                <a:spcPct val="132000"/>
              </a:lnSpc>
              <a:buNone/>
            </a:pPr>
            <a:r>
              <a:rPr lang="zh-CN" altLang="en-US" sz="700" b="1" dirty="0">
                <a:solidFill>
                  <a:srgbClr val="00796B"/>
                </a:solidFill>
              </a:rPr>
              <a:t>· </a:t>
            </a:r>
            <a:r>
              <a:rPr lang="zh-CN" altLang="en-US" sz="750" dirty="0">
                <a:solidFill>
                  <a:srgbClr val="16324F"/>
                </a:solidFill>
              </a:rPr>
              <a:t>老库存消化率</a:t>
            </a:r>
          </a:p>
          <a:p>
            <a:pPr>
              <a:lnSpc>
                <a:spcPct val="132000"/>
              </a:lnSpc>
              <a:buNone/>
            </a:pPr>
            <a:r>
              <a:rPr lang="zh-CN" altLang="en-US" sz="700" b="1" dirty="0">
                <a:solidFill>
                  <a:srgbClr val="00796B"/>
                </a:solidFill>
              </a:rPr>
              <a:t>· </a:t>
            </a:r>
            <a:r>
              <a:rPr lang="zh-CN" altLang="en-US" sz="750" dirty="0">
                <a:solidFill>
                  <a:srgbClr val="16324F"/>
                </a:solidFill>
              </a:rPr>
              <a:t>理论冻力</a:t>
            </a:r>
          </a:p>
          <a:p>
            <a:pPr>
              <a:lnSpc>
                <a:spcPct val="132000"/>
              </a:lnSpc>
              <a:buNone/>
            </a:pPr>
            <a:r>
              <a:rPr lang="zh-CN" altLang="en-US" sz="700" b="1" dirty="0">
                <a:solidFill>
                  <a:srgbClr val="00796B"/>
                </a:solidFill>
              </a:rPr>
              <a:t>· </a:t>
            </a:r>
            <a:r>
              <a:rPr lang="zh-CN" altLang="en-US" sz="750" dirty="0">
                <a:solidFill>
                  <a:srgbClr val="16324F"/>
                </a:solidFill>
              </a:rPr>
              <a:t>使用批次数</a:t>
            </a:r>
          </a:p>
          <a:p>
            <a:pPr>
              <a:lnSpc>
                <a:spcPct val="132000"/>
              </a:lnSpc>
              <a:buNone/>
            </a:pPr>
            <a:r>
              <a:rPr lang="zh-CN" altLang="en-US" sz="700" b="1" dirty="0">
                <a:solidFill>
                  <a:srgbClr val="00796B"/>
                </a:solidFill>
              </a:rPr>
              <a:t>· </a:t>
            </a:r>
            <a:r>
              <a:rPr lang="zh-CN" altLang="en-US" sz="750" dirty="0">
                <a:solidFill>
                  <a:srgbClr val="16324F"/>
                </a:solidFill>
              </a:rPr>
              <a:t>库存改善效果</a:t>
            </a:r>
          </a:p>
        </p:txBody>
      </p:sp>
      <p:sp>
        <p:nvSpPr>
          <p:cNvPr id="267" name="方案C容器"/>
          <p:cNvSpPr/>
          <p:nvPr/>
        </p:nvSpPr>
        <p:spPr>
          <a:xfrm>
            <a:off x="8712200" y="3073400"/>
            <a:ext cx="1524000" cy="157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5C"/>
            </a:solidFill>
          </a:ln>
        </p:spPr>
        <p:txBody>
          <a:bodyPr wrap="square" lIns="27000" tIns="9000" rIns="27000" bIns="9000" anchor="t">
            <a:noAutofit/>
          </a:bodyPr>
          <a:lstStyle/>
          <a:p>
            <a:endParaRPr lang="zh-CN"/>
          </a:p>
        </p:txBody>
      </p:sp>
      <p:sp>
        <p:nvSpPr>
          <p:cNvPr id="268" name="方案C标头"/>
          <p:cNvSpPr/>
          <p:nvPr/>
        </p:nvSpPr>
        <p:spPr>
          <a:xfrm>
            <a:off x="8712200" y="3073400"/>
            <a:ext cx="1524000" cy="2286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txBody>
          <a:bodyPr wrap="square" lIns="2000" tIns="0" rIns="2000" bIns="0" anchor="ctr">
            <a:noAutofit/>
          </a:bodyPr>
          <a:lstStyle/>
          <a:p>
            <a:pPr algn="ctr">
              <a:buNone/>
            </a:pPr>
            <a:r>
              <a:rPr lang="zh-CN" altLang="en-US" sz="800" b="1" dirty="0">
                <a:solidFill>
                  <a:srgbClr val="FFFFFF"/>
                </a:solidFill>
              </a:rPr>
              <a:t>方案C｜批次数最少</a:t>
            </a:r>
          </a:p>
        </p:txBody>
      </p:sp>
      <p:sp>
        <p:nvSpPr>
          <p:cNvPr id="269" name="方案C内容"/>
          <p:cNvSpPr/>
          <p:nvPr/>
        </p:nvSpPr>
        <p:spPr>
          <a:xfrm>
            <a:off x="8775700" y="3340100"/>
            <a:ext cx="1397000" cy="1270000"/>
          </a:xfrm>
          <a:prstGeom prst="rect">
            <a:avLst/>
          </a:prstGeom>
          <a:noFill/>
          <a:ln>
            <a:noFill/>
          </a:ln>
        </p:spPr>
        <p:txBody>
          <a:bodyPr wrap="square" lIns="2000" tIns="0" rIns="0" bIns="0" anchor="t">
            <a:noAutofit/>
          </a:bodyPr>
          <a:lstStyle/>
          <a:p>
            <a:pPr>
              <a:lnSpc>
                <a:spcPct val="132000"/>
              </a:lnSpc>
              <a:buNone/>
            </a:pPr>
            <a:r>
              <a:rPr lang="zh-CN" altLang="en-US" sz="700" b="1" dirty="0">
                <a:solidFill>
                  <a:srgbClr val="00796B"/>
                </a:solidFill>
              </a:rPr>
              <a:t>· </a:t>
            </a:r>
            <a:r>
              <a:rPr lang="zh-CN" altLang="en-US" sz="750" dirty="0">
                <a:solidFill>
                  <a:srgbClr val="16324F"/>
                </a:solidFill>
              </a:rPr>
              <a:t>使用批次数</a:t>
            </a:r>
          </a:p>
          <a:p>
            <a:pPr>
              <a:lnSpc>
                <a:spcPct val="132000"/>
              </a:lnSpc>
              <a:buNone/>
            </a:pPr>
            <a:r>
              <a:rPr lang="zh-CN" altLang="en-US" sz="700" b="1" dirty="0">
                <a:solidFill>
                  <a:srgbClr val="00796B"/>
                </a:solidFill>
              </a:rPr>
              <a:t>· </a:t>
            </a:r>
            <a:r>
              <a:rPr lang="zh-CN" altLang="en-US" sz="750" dirty="0">
                <a:solidFill>
                  <a:srgbClr val="16324F"/>
                </a:solidFill>
              </a:rPr>
              <a:t>现场投料复杂度</a:t>
            </a:r>
          </a:p>
          <a:p>
            <a:pPr>
              <a:lnSpc>
                <a:spcPct val="132000"/>
              </a:lnSpc>
              <a:buNone/>
            </a:pPr>
            <a:r>
              <a:rPr lang="zh-CN" altLang="en-US" sz="700" b="1" dirty="0">
                <a:solidFill>
                  <a:srgbClr val="00796B"/>
                </a:solidFill>
              </a:rPr>
              <a:t>· </a:t>
            </a:r>
            <a:r>
              <a:rPr lang="zh-CN" altLang="en-US" sz="750" dirty="0">
                <a:solidFill>
                  <a:srgbClr val="16324F"/>
                </a:solidFill>
              </a:rPr>
              <a:t>理论冻力</a:t>
            </a:r>
          </a:p>
          <a:p>
            <a:pPr>
              <a:lnSpc>
                <a:spcPct val="132000"/>
              </a:lnSpc>
              <a:buNone/>
            </a:pPr>
            <a:r>
              <a:rPr lang="zh-CN" altLang="en-US" sz="700" b="1" dirty="0">
                <a:solidFill>
                  <a:srgbClr val="00796B"/>
                </a:solidFill>
              </a:rPr>
              <a:t>· </a:t>
            </a:r>
            <a:r>
              <a:rPr lang="zh-CN" altLang="en-US" sz="750" dirty="0">
                <a:solidFill>
                  <a:srgbClr val="16324F"/>
                </a:solidFill>
              </a:rPr>
              <a:t>库存消耗</a:t>
            </a:r>
          </a:p>
          <a:p>
            <a:pPr>
              <a:lnSpc>
                <a:spcPct val="132000"/>
              </a:lnSpc>
              <a:buNone/>
            </a:pPr>
            <a:r>
              <a:rPr lang="zh-CN" altLang="en-US" sz="700" b="1" dirty="0">
                <a:solidFill>
                  <a:srgbClr val="00796B"/>
                </a:solidFill>
              </a:rPr>
              <a:t>· </a:t>
            </a:r>
            <a:r>
              <a:rPr lang="zh-CN" altLang="en-US" sz="750" dirty="0">
                <a:solidFill>
                  <a:srgbClr val="16324F"/>
                </a:solidFill>
              </a:rPr>
              <a:t>执行便利性</a:t>
            </a:r>
          </a:p>
        </p:txBody>
      </p:sp>
      <p:sp>
        <p:nvSpPr>
          <p:cNvPr id="270" name="方案D容器"/>
          <p:cNvSpPr/>
          <p:nvPr/>
        </p:nvSpPr>
        <p:spPr>
          <a:xfrm>
            <a:off x="10312400" y="3073400"/>
            <a:ext cx="1524000" cy="1574800"/>
          </a:xfrm>
          <a:prstGeom prst="rect">
            <a:avLst/>
          </a:prstGeom>
          <a:solidFill>
            <a:srgbClr val="FFFFFF"/>
          </a:solidFill>
          <a:ln w="22225">
            <a:solidFill>
              <a:srgbClr val="00796B"/>
            </a:solidFill>
          </a:ln>
        </p:spPr>
        <p:txBody>
          <a:bodyPr wrap="square" lIns="27000" tIns="9000" rIns="27000" bIns="9000" anchor="t">
            <a:noAutofit/>
          </a:bodyPr>
          <a:lstStyle/>
          <a:p>
            <a:endParaRPr lang="zh-CN"/>
          </a:p>
        </p:txBody>
      </p:sp>
      <p:sp>
        <p:nvSpPr>
          <p:cNvPr id="271" name="方案D标头"/>
          <p:cNvSpPr/>
          <p:nvPr/>
        </p:nvSpPr>
        <p:spPr>
          <a:xfrm>
            <a:off x="10312400" y="3073400"/>
            <a:ext cx="1524000" cy="22860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txBody>
          <a:bodyPr wrap="square" lIns="2000" tIns="0" rIns="2000" bIns="0" anchor="ctr">
            <a:noAutofit/>
          </a:bodyPr>
          <a:lstStyle/>
          <a:p>
            <a:pPr algn="ctr">
              <a:buNone/>
            </a:pPr>
            <a:r>
              <a:rPr lang="zh-CN" altLang="en-US" sz="800" b="1" dirty="0">
                <a:solidFill>
                  <a:srgbClr val="FFFFFF"/>
                </a:solidFill>
              </a:rPr>
              <a:t>方案D｜综合推荐</a:t>
            </a:r>
          </a:p>
        </p:txBody>
      </p:sp>
      <p:sp>
        <p:nvSpPr>
          <p:cNvPr id="272" name="方案D内容"/>
          <p:cNvSpPr/>
          <p:nvPr/>
        </p:nvSpPr>
        <p:spPr>
          <a:xfrm>
            <a:off x="10375900" y="3340100"/>
            <a:ext cx="1397000" cy="1270000"/>
          </a:xfrm>
          <a:prstGeom prst="rect">
            <a:avLst/>
          </a:prstGeom>
          <a:noFill/>
          <a:ln>
            <a:noFill/>
          </a:ln>
        </p:spPr>
        <p:txBody>
          <a:bodyPr wrap="square" lIns="2000" tIns="0" rIns="0" bIns="0" anchor="t">
            <a:noAutofit/>
          </a:bodyPr>
          <a:lstStyle/>
          <a:p>
            <a:pPr>
              <a:lnSpc>
                <a:spcPct val="116000"/>
              </a:lnSpc>
              <a:buNone/>
            </a:pPr>
            <a:r>
              <a:rPr lang="zh-CN" altLang="en-US" sz="700" b="1" dirty="0">
                <a:solidFill>
                  <a:srgbClr val="00796B"/>
                </a:solidFill>
              </a:rPr>
              <a:t>· </a:t>
            </a:r>
            <a:r>
              <a:rPr lang="zh-CN" altLang="en-US" sz="750" dirty="0">
                <a:solidFill>
                  <a:srgbClr val="16324F"/>
                </a:solidFill>
              </a:rPr>
              <a:t>理论冻力｜理论黏度</a:t>
            </a:r>
          </a:p>
          <a:p>
            <a:pPr>
              <a:lnSpc>
                <a:spcPct val="116000"/>
              </a:lnSpc>
              <a:buNone/>
            </a:pPr>
            <a:r>
              <a:rPr lang="zh-CN" altLang="en-US" sz="700" b="1" dirty="0">
                <a:solidFill>
                  <a:srgbClr val="00796B"/>
                </a:solidFill>
              </a:rPr>
              <a:t>· </a:t>
            </a:r>
            <a:r>
              <a:rPr lang="zh-CN" altLang="en-US" sz="750" dirty="0">
                <a:solidFill>
                  <a:srgbClr val="16324F"/>
                </a:solidFill>
              </a:rPr>
              <a:t>老库存消化率</a:t>
            </a:r>
          </a:p>
          <a:p>
            <a:pPr>
              <a:lnSpc>
                <a:spcPct val="116000"/>
              </a:lnSpc>
              <a:buNone/>
            </a:pPr>
            <a:r>
              <a:rPr lang="zh-CN" altLang="en-US" sz="700" b="1" dirty="0">
                <a:solidFill>
                  <a:srgbClr val="00796B"/>
                </a:solidFill>
              </a:rPr>
              <a:t>· </a:t>
            </a:r>
            <a:r>
              <a:rPr lang="zh-CN" altLang="en-US" sz="750" dirty="0">
                <a:solidFill>
                  <a:srgbClr val="16324F"/>
                </a:solidFill>
              </a:rPr>
              <a:t>预计成本</a:t>
            </a:r>
          </a:p>
          <a:p>
            <a:pPr>
              <a:lnSpc>
                <a:spcPct val="116000"/>
              </a:lnSpc>
              <a:buNone/>
            </a:pPr>
            <a:r>
              <a:rPr lang="zh-CN" altLang="en-US" sz="700" b="1" dirty="0">
                <a:solidFill>
                  <a:srgbClr val="00796B"/>
                </a:solidFill>
              </a:rPr>
              <a:t>· </a:t>
            </a:r>
            <a:r>
              <a:rPr lang="zh-CN" altLang="en-US" sz="750" dirty="0">
                <a:solidFill>
                  <a:srgbClr val="16324F"/>
                </a:solidFill>
              </a:rPr>
              <a:t>使用批次数</a:t>
            </a:r>
          </a:p>
          <a:p>
            <a:pPr>
              <a:lnSpc>
                <a:spcPct val="116000"/>
              </a:lnSpc>
              <a:buNone/>
            </a:pPr>
            <a:r>
              <a:rPr lang="zh-CN" altLang="en-US" sz="700" b="1" dirty="0">
                <a:solidFill>
                  <a:srgbClr val="00796B"/>
                </a:solidFill>
              </a:rPr>
              <a:t>· </a:t>
            </a:r>
            <a:r>
              <a:rPr lang="zh-CN" altLang="en-US" sz="750" dirty="0">
                <a:solidFill>
                  <a:srgbClr val="16324F"/>
                </a:solidFill>
              </a:rPr>
              <a:t>综合风险等级</a:t>
            </a:r>
          </a:p>
          <a:p>
            <a:pPr>
              <a:lnSpc>
                <a:spcPct val="116000"/>
              </a:lnSpc>
              <a:buNone/>
            </a:pPr>
            <a:r>
              <a:rPr lang="zh-CN" altLang="en-US" sz="700" b="1" dirty="0">
                <a:solidFill>
                  <a:srgbClr val="00796B"/>
                </a:solidFill>
              </a:rPr>
              <a:t>· </a:t>
            </a:r>
            <a:r>
              <a:rPr lang="zh-CN" altLang="en-US" sz="750" dirty="0">
                <a:solidFill>
                  <a:srgbClr val="16324F"/>
                </a:solidFill>
              </a:rPr>
              <a:t>AI推荐理由</a:t>
            </a:r>
          </a:p>
        </p:txBody>
      </p:sp>
      <p:sp>
        <p:nvSpPr>
          <p:cNvPr id="273" name="人工确认框"/>
          <p:cNvSpPr/>
          <p:nvPr/>
        </p:nvSpPr>
        <p:spPr>
          <a:xfrm>
            <a:off x="8712200" y="4724400"/>
            <a:ext cx="3175000" cy="38100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1B3A5C"/>
            </a:solidFill>
          </a:ln>
        </p:spPr>
        <p:txBody>
          <a:bodyPr wrap="square" lIns="5000" tIns="1500" rIns="5000" bIns="1500" anchor="ctr">
            <a:noAutofit/>
          </a:bodyPr>
          <a:lstStyle/>
          <a:p>
            <a:pPr algn="ctr">
              <a:buNone/>
            </a:pPr>
            <a:r>
              <a:rPr lang="zh-CN" altLang="en-US" sz="850" b="1" dirty="0">
                <a:solidFill>
                  <a:srgbClr val="1B3A5C"/>
                </a:solidFill>
              </a:rPr>
              <a:t>人工最终确认</a:t>
            </a:r>
          </a:p>
          <a:p>
            <a:pPr algn="ctr">
              <a:buNone/>
            </a:pPr>
            <a:r>
              <a:rPr lang="zh-CN" altLang="en-US" sz="700" dirty="0">
                <a:solidFill>
                  <a:srgbClr val="5A6472"/>
                </a:solidFill>
              </a:rPr>
              <a:t>方案对比 → 人工选择 → 库存锁定 → 生成配方单 → 下发混配任务</a:t>
            </a:r>
          </a:p>
        </p:txBody>
      </p:sp>
      <p:sp>
        <p:nvSpPr>
          <p:cNvPr id="320" name="反馈带容器"/>
          <p:cNvSpPr/>
          <p:nvPr/>
        </p:nvSpPr>
        <p:spPr>
          <a:xfrm>
            <a:off x="304800" y="5181600"/>
            <a:ext cx="11582400" cy="1498600"/>
          </a:xfrm>
          <a:prstGeom prst="rect">
            <a:avLst/>
          </a:prstGeom>
          <a:solidFill>
            <a:srgbClr val="E8F5EC"/>
          </a:solidFill>
          <a:ln w="15875">
            <a:solidFill>
              <a:srgbClr val="1E7A46"/>
            </a:solidFill>
          </a:ln>
        </p:spPr>
        <p:txBody>
          <a:bodyPr wrap="square" lIns="27000" tIns="9000" rIns="27000" bIns="9000" anchor="ctr">
            <a:noAutofit/>
          </a:bodyPr>
          <a:lstStyle/>
          <a:p>
            <a:endParaRPr lang="zh-CN"/>
          </a:p>
        </p:txBody>
      </p:sp>
      <p:sp>
        <p:nvSpPr>
          <p:cNvPr id="321" name="反馈带标题"/>
          <p:cNvSpPr/>
          <p:nvPr/>
        </p:nvSpPr>
        <p:spPr>
          <a:xfrm>
            <a:off x="457200" y="5232400"/>
            <a:ext cx="2489200" cy="228600"/>
          </a:xfrm>
          <a:prstGeom prst="rect">
            <a:avLst/>
          </a:prstGeom>
          <a:noFill/>
          <a:ln>
            <a:noFill/>
          </a:ln>
        </p:spPr>
        <p:txBody>
          <a:bodyPr wrap="square" lIns="2000" tIns="0" rIns="27000" bIns="0" anchor="ctr">
            <a:noAutofit/>
          </a:bodyPr>
          <a:lstStyle/>
          <a:p>
            <a:pPr>
              <a:buNone/>
            </a:pPr>
            <a:r>
              <a:rPr lang="zh-CN" altLang="en-US" sz="1050" b="1" dirty="0">
                <a:solidFill>
                  <a:srgbClr val="1E7A46"/>
                </a:solidFill>
              </a:rPr>
              <a:t>质量反馈与安全余量修正</a:t>
            </a:r>
          </a:p>
        </p:txBody>
      </p:sp>
      <p:sp>
        <p:nvSpPr>
          <p:cNvPr id="322" name="偏差公式"/>
          <p:cNvSpPr/>
          <p:nvPr/>
        </p:nvSpPr>
        <p:spPr>
          <a:xfrm>
            <a:off x="3022600" y="5232400"/>
            <a:ext cx="3073400" cy="22860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txBody>
          <a:bodyPr wrap="square" lIns="3000" tIns="0" rIns="3000" bIns="0" anchor="ctr">
            <a:noAutofit/>
          </a:bodyPr>
          <a:lstStyle/>
          <a:p>
            <a:pPr algn="ctr">
              <a:buNone/>
            </a:pPr>
            <a:r>
              <a:rPr lang="zh-CN" altLang="en-US" sz="800" b="1" dirty="0">
                <a:solidFill>
                  <a:srgbClr val="FFFFFF"/>
                </a:solidFill>
              </a:rPr>
              <a:t>生产偏差 ＝ 实际检测值 − 理论计算值</a:t>
            </a:r>
          </a:p>
        </p:txBody>
      </p:sp>
      <p:sp>
        <p:nvSpPr>
          <p:cNvPr id="323" name="数据来源"/>
          <p:cNvSpPr/>
          <p:nvPr/>
        </p:nvSpPr>
        <p:spPr>
          <a:xfrm>
            <a:off x="6223000" y="5232400"/>
            <a:ext cx="5537200" cy="228600"/>
          </a:xfrm>
          <a:prstGeom prst="rect">
            <a:avLst/>
          </a:prstGeom>
          <a:noFill/>
          <a:ln>
            <a:noFill/>
          </a:ln>
        </p:spPr>
        <p:txBody>
          <a:bodyPr wrap="square" lIns="2000" tIns="0" rIns="27000" bIns="0" anchor="ctr">
            <a:noAutofit/>
          </a:bodyPr>
          <a:lstStyle/>
          <a:p>
            <a:pPr>
              <a:buNone/>
            </a:pPr>
            <a:r>
              <a:rPr lang="zh-CN" altLang="en-US" sz="700" dirty="0">
                <a:solidFill>
                  <a:srgbClr val="5A6472"/>
                </a:solidFill>
              </a:rPr>
              <a:t>数据来源：理论配方结果｜实际冻力｜实际黏度｜实际投料记录｜人工调整记录｜最终合格状态</a:t>
            </a:r>
          </a:p>
        </p:txBody>
      </p:sp>
      <p:sp>
        <p:nvSpPr>
          <p:cNvPr id="324" name="反馈链1"/>
          <p:cNvSpPr/>
          <p:nvPr/>
        </p:nvSpPr>
        <p:spPr>
          <a:xfrm>
            <a:off x="457200" y="5562600"/>
            <a:ext cx="170180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1E7A46"/>
            </a:solidFill>
          </a:ln>
        </p:spPr>
        <p:txBody>
          <a:bodyPr wrap="square" lIns="2000" tIns="0" rIns="2000" bIns="0" anchor="ctr">
            <a:noAutofit/>
          </a:bodyPr>
          <a:lstStyle/>
          <a:p>
            <a:pPr algn="ctr">
              <a:buNone/>
            </a:pPr>
            <a:r>
              <a:rPr lang="zh-CN" altLang="en-US" sz="750" dirty="0">
                <a:solidFill>
                  <a:srgbClr val="16324F"/>
                </a:solidFill>
              </a:rPr>
              <a:t>理论值与实际值对比</a:t>
            </a:r>
          </a:p>
        </p:txBody>
      </p:sp>
      <p:sp>
        <p:nvSpPr>
          <p:cNvPr id="325" name="反馈链箭头1"/>
          <p:cNvSpPr/>
          <p:nvPr/>
        </p:nvSpPr>
        <p:spPr>
          <a:xfrm>
            <a:off x="2171700" y="5613400"/>
            <a:ext cx="101600" cy="127000"/>
          </a:xfrm>
          <a:prstGeom prst="rightArrow">
            <a:avLst/>
          </a:prstGeom>
          <a:solidFill>
            <a:srgbClr val="1E7A46"/>
          </a:solidFill>
          <a:ln>
            <a:noFill/>
          </a:ln>
        </p:spPr>
        <p:txBody>
          <a:bodyPr wrap="square" lIns="27000" tIns="9000" rIns="27000" bIns="9000" anchor="ctr">
            <a:noAutofit/>
          </a:bodyPr>
          <a:lstStyle/>
          <a:p>
            <a:endParaRPr lang="zh-CN"/>
          </a:p>
        </p:txBody>
      </p:sp>
      <p:sp>
        <p:nvSpPr>
          <p:cNvPr id="326" name="反馈链2"/>
          <p:cNvSpPr/>
          <p:nvPr/>
        </p:nvSpPr>
        <p:spPr>
          <a:xfrm>
            <a:off x="2286000" y="5562600"/>
            <a:ext cx="170180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1E7A46"/>
            </a:solidFill>
          </a:ln>
        </p:spPr>
        <p:txBody>
          <a:bodyPr wrap="square" lIns="2000" tIns="0" rIns="2000" bIns="0" anchor="ctr">
            <a:noAutofit/>
          </a:bodyPr>
          <a:lstStyle/>
          <a:p>
            <a:pPr algn="ctr">
              <a:buNone/>
            </a:pPr>
            <a:r>
              <a:rPr lang="zh-CN" altLang="en-US" sz="750" dirty="0">
                <a:solidFill>
                  <a:srgbClr val="16324F"/>
                </a:solidFill>
              </a:rPr>
              <a:t>分析产品偏差规律</a:t>
            </a:r>
          </a:p>
        </p:txBody>
      </p:sp>
      <p:sp>
        <p:nvSpPr>
          <p:cNvPr id="327" name="反馈链箭头2"/>
          <p:cNvSpPr/>
          <p:nvPr/>
        </p:nvSpPr>
        <p:spPr>
          <a:xfrm>
            <a:off x="4000500" y="5613400"/>
            <a:ext cx="101600" cy="127000"/>
          </a:xfrm>
          <a:prstGeom prst="rightArrow">
            <a:avLst/>
          </a:prstGeom>
          <a:solidFill>
            <a:srgbClr val="1E7A46"/>
          </a:solidFill>
          <a:ln>
            <a:noFill/>
          </a:ln>
        </p:spPr>
        <p:txBody>
          <a:bodyPr wrap="square" lIns="27000" tIns="9000" rIns="27000" bIns="9000" anchor="ctr">
            <a:noAutofit/>
          </a:bodyPr>
          <a:lstStyle/>
          <a:p>
            <a:endParaRPr lang="zh-CN"/>
          </a:p>
        </p:txBody>
      </p:sp>
      <p:sp>
        <p:nvSpPr>
          <p:cNvPr id="328" name="反馈链3"/>
          <p:cNvSpPr/>
          <p:nvPr/>
        </p:nvSpPr>
        <p:spPr>
          <a:xfrm>
            <a:off x="4114800" y="5562600"/>
            <a:ext cx="170180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1E7A46"/>
            </a:solidFill>
          </a:ln>
        </p:spPr>
        <p:txBody>
          <a:bodyPr wrap="square" lIns="2000" tIns="0" rIns="2000" bIns="0" anchor="ctr">
            <a:noAutofit/>
          </a:bodyPr>
          <a:lstStyle/>
          <a:p>
            <a:pPr algn="ctr">
              <a:buNone/>
            </a:pPr>
            <a:r>
              <a:rPr lang="zh-CN" altLang="en-US" sz="750" dirty="0">
                <a:solidFill>
                  <a:srgbClr val="16324F"/>
                </a:solidFill>
              </a:rPr>
              <a:t>修正安全余量M</a:t>
            </a:r>
          </a:p>
        </p:txBody>
      </p:sp>
      <p:sp>
        <p:nvSpPr>
          <p:cNvPr id="329" name="反馈链箭头3"/>
          <p:cNvSpPr/>
          <p:nvPr/>
        </p:nvSpPr>
        <p:spPr>
          <a:xfrm>
            <a:off x="5829300" y="5613400"/>
            <a:ext cx="101600" cy="127000"/>
          </a:xfrm>
          <a:prstGeom prst="rightArrow">
            <a:avLst/>
          </a:prstGeom>
          <a:solidFill>
            <a:srgbClr val="1E7A46"/>
          </a:solidFill>
          <a:ln>
            <a:noFill/>
          </a:ln>
        </p:spPr>
        <p:txBody>
          <a:bodyPr wrap="square" lIns="27000" tIns="9000" rIns="27000" bIns="9000" anchor="ctr">
            <a:noAutofit/>
          </a:bodyPr>
          <a:lstStyle/>
          <a:p>
            <a:endParaRPr lang="zh-CN"/>
          </a:p>
        </p:txBody>
      </p:sp>
      <p:sp>
        <p:nvSpPr>
          <p:cNvPr id="330" name="反馈链4"/>
          <p:cNvSpPr/>
          <p:nvPr/>
        </p:nvSpPr>
        <p:spPr>
          <a:xfrm>
            <a:off x="5943600" y="5562600"/>
            <a:ext cx="170180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1E7A46"/>
            </a:solidFill>
          </a:ln>
        </p:spPr>
        <p:txBody>
          <a:bodyPr wrap="square" lIns="2000" tIns="0" rIns="2000" bIns="0" anchor="ctr">
            <a:noAutofit/>
          </a:bodyPr>
          <a:lstStyle/>
          <a:p>
            <a:pPr algn="ctr">
              <a:buNone/>
            </a:pPr>
            <a:r>
              <a:rPr lang="zh-CN" altLang="en-US" sz="750" dirty="0">
                <a:solidFill>
                  <a:srgbClr val="16324F"/>
                </a:solidFill>
              </a:rPr>
              <a:t>调整规则与优化权重</a:t>
            </a:r>
          </a:p>
        </p:txBody>
      </p:sp>
      <p:sp>
        <p:nvSpPr>
          <p:cNvPr id="331" name="反馈链箭头4"/>
          <p:cNvSpPr/>
          <p:nvPr/>
        </p:nvSpPr>
        <p:spPr>
          <a:xfrm>
            <a:off x="7658100" y="5613400"/>
            <a:ext cx="101600" cy="127000"/>
          </a:xfrm>
          <a:prstGeom prst="rightArrow">
            <a:avLst/>
          </a:prstGeom>
          <a:solidFill>
            <a:srgbClr val="1E7A46"/>
          </a:solidFill>
          <a:ln>
            <a:noFill/>
          </a:ln>
        </p:spPr>
        <p:txBody>
          <a:bodyPr wrap="square" lIns="27000" tIns="9000" rIns="27000" bIns="9000" anchor="ctr">
            <a:noAutofit/>
          </a:bodyPr>
          <a:lstStyle/>
          <a:p>
            <a:endParaRPr lang="zh-CN"/>
          </a:p>
        </p:txBody>
      </p:sp>
      <p:sp>
        <p:nvSpPr>
          <p:cNvPr id="332" name="反馈链5"/>
          <p:cNvSpPr/>
          <p:nvPr/>
        </p:nvSpPr>
        <p:spPr>
          <a:xfrm>
            <a:off x="7772400" y="5562600"/>
            <a:ext cx="170180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1E7A46"/>
            </a:solidFill>
          </a:ln>
        </p:spPr>
        <p:txBody>
          <a:bodyPr wrap="square" lIns="2000" tIns="0" rIns="2000" bIns="0" anchor="ctr">
            <a:noAutofit/>
          </a:bodyPr>
          <a:lstStyle/>
          <a:p>
            <a:pPr algn="ctr">
              <a:buNone/>
            </a:pPr>
            <a:r>
              <a:rPr lang="zh-CN" altLang="en-US" sz="750" dirty="0">
                <a:solidFill>
                  <a:srgbClr val="16324F"/>
                </a:solidFill>
              </a:rPr>
              <a:t>沉淀历史优质配方</a:t>
            </a:r>
          </a:p>
        </p:txBody>
      </p:sp>
      <p:sp>
        <p:nvSpPr>
          <p:cNvPr id="333" name="反馈链箭头5"/>
          <p:cNvSpPr/>
          <p:nvPr/>
        </p:nvSpPr>
        <p:spPr>
          <a:xfrm>
            <a:off x="9486900" y="5613400"/>
            <a:ext cx="101600" cy="127000"/>
          </a:xfrm>
          <a:prstGeom prst="rightArrow">
            <a:avLst/>
          </a:prstGeom>
          <a:solidFill>
            <a:srgbClr val="1E7A46"/>
          </a:solidFill>
          <a:ln>
            <a:noFill/>
          </a:ln>
        </p:spPr>
        <p:txBody>
          <a:bodyPr wrap="square" lIns="27000" tIns="9000" rIns="27000" bIns="9000" anchor="ctr">
            <a:noAutofit/>
          </a:bodyPr>
          <a:lstStyle/>
          <a:p>
            <a:endParaRPr lang="zh-CN"/>
          </a:p>
        </p:txBody>
      </p:sp>
      <p:sp>
        <p:nvSpPr>
          <p:cNvPr id="334" name="反馈链6"/>
          <p:cNvSpPr/>
          <p:nvPr/>
        </p:nvSpPr>
        <p:spPr>
          <a:xfrm>
            <a:off x="9601200" y="5562600"/>
            <a:ext cx="170180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1E7A46"/>
            </a:solidFill>
          </a:ln>
        </p:spPr>
        <p:txBody>
          <a:bodyPr wrap="square" lIns="2000" tIns="0" rIns="2000" bIns="0" anchor="ctr">
            <a:noAutofit/>
          </a:bodyPr>
          <a:lstStyle/>
          <a:p>
            <a:pPr algn="ctr">
              <a:buNone/>
            </a:pPr>
            <a:r>
              <a:rPr lang="zh-CN" altLang="en-US" sz="750" dirty="0">
                <a:solidFill>
                  <a:srgbClr val="16324F"/>
                </a:solidFill>
              </a:rPr>
              <a:t>提高下次推荐准确性</a:t>
            </a:r>
          </a:p>
        </p:txBody>
      </p:sp>
      <p:sp>
        <p:nvSpPr>
          <p:cNvPr id="335" name="阶段一"/>
          <p:cNvSpPr/>
          <p:nvPr/>
        </p:nvSpPr>
        <p:spPr>
          <a:xfrm>
            <a:off x="457200" y="5892800"/>
            <a:ext cx="36576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7A46"/>
            </a:solidFill>
          </a:ln>
        </p:spPr>
        <p:txBody>
          <a:bodyPr wrap="square" lIns="6000" tIns="3500" rIns="6000" bIns="2000" anchor="t">
            <a:noAutofit/>
          </a:bodyPr>
          <a:lstStyle/>
          <a:p>
            <a:pPr>
              <a:lnSpc>
                <a:spcPct val="118000"/>
              </a:lnSpc>
              <a:buNone/>
            </a:pPr>
            <a:r>
              <a:rPr lang="zh-CN" altLang="en-US" sz="850" b="1" dirty="0">
                <a:solidFill>
                  <a:srgbClr val="1E7A46"/>
                </a:solidFill>
              </a:rPr>
              <a:t>第一阶段</a:t>
            </a:r>
          </a:p>
          <a:p>
            <a:pPr>
              <a:lnSpc>
                <a:spcPct val="118000"/>
              </a:lnSpc>
              <a:buNone/>
            </a:pPr>
            <a:r>
              <a:rPr lang="zh-CN" altLang="en-US" sz="750" dirty="0">
                <a:solidFill>
                  <a:srgbClr val="16324F"/>
                </a:solidFill>
              </a:rPr>
              <a:t>固定安全余量＋MILP/CP-SAT规则优化</a:t>
            </a:r>
          </a:p>
        </p:txBody>
      </p:sp>
      <p:sp>
        <p:nvSpPr>
          <p:cNvPr id="336" name="阶段箭头1"/>
          <p:cNvSpPr/>
          <p:nvPr/>
        </p:nvSpPr>
        <p:spPr>
          <a:xfrm>
            <a:off x="4140200" y="6146800"/>
            <a:ext cx="101600" cy="127000"/>
          </a:xfrm>
          <a:prstGeom prst="rightArrow">
            <a:avLst/>
          </a:prstGeom>
          <a:solidFill>
            <a:srgbClr val="1E7A46"/>
          </a:solidFill>
          <a:ln>
            <a:noFill/>
          </a:ln>
        </p:spPr>
        <p:txBody>
          <a:bodyPr wrap="square" lIns="27000" tIns="9000" rIns="27000" bIns="9000" anchor="ctr">
            <a:noAutofit/>
          </a:bodyPr>
          <a:lstStyle/>
          <a:p>
            <a:endParaRPr lang="zh-CN"/>
          </a:p>
        </p:txBody>
      </p:sp>
      <p:sp>
        <p:nvSpPr>
          <p:cNvPr id="337" name="阶段二"/>
          <p:cNvSpPr/>
          <p:nvPr/>
        </p:nvSpPr>
        <p:spPr>
          <a:xfrm>
            <a:off x="4292600" y="5892800"/>
            <a:ext cx="36576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7A46"/>
            </a:solidFill>
          </a:ln>
        </p:spPr>
        <p:txBody>
          <a:bodyPr wrap="square" lIns="6000" tIns="3500" rIns="6000" bIns="2000" anchor="t">
            <a:noAutofit/>
          </a:bodyPr>
          <a:lstStyle/>
          <a:p>
            <a:pPr>
              <a:lnSpc>
                <a:spcPct val="118000"/>
              </a:lnSpc>
              <a:buNone/>
            </a:pPr>
            <a:r>
              <a:rPr lang="zh-CN" altLang="en-US" sz="850" b="1" dirty="0">
                <a:solidFill>
                  <a:srgbClr val="1E7A46"/>
                </a:solidFill>
              </a:rPr>
              <a:t>第二阶段</a:t>
            </a:r>
          </a:p>
          <a:p>
            <a:pPr>
              <a:lnSpc>
                <a:spcPct val="118000"/>
              </a:lnSpc>
              <a:buNone/>
            </a:pPr>
            <a:r>
              <a:rPr lang="zh-CN" altLang="en-US" sz="750" dirty="0">
                <a:solidFill>
                  <a:srgbClr val="16324F"/>
                </a:solidFill>
              </a:rPr>
              <a:t>基于历史偏差的动态安全余量＋鲁棒优化</a:t>
            </a:r>
          </a:p>
        </p:txBody>
      </p:sp>
      <p:sp>
        <p:nvSpPr>
          <p:cNvPr id="338" name="阶段箭头2"/>
          <p:cNvSpPr/>
          <p:nvPr/>
        </p:nvSpPr>
        <p:spPr>
          <a:xfrm>
            <a:off x="7975600" y="6146800"/>
            <a:ext cx="101600" cy="127000"/>
          </a:xfrm>
          <a:prstGeom prst="rightArrow">
            <a:avLst/>
          </a:prstGeom>
          <a:solidFill>
            <a:srgbClr val="1E7A46"/>
          </a:solidFill>
          <a:ln>
            <a:noFill/>
          </a:ln>
        </p:spPr>
        <p:txBody>
          <a:bodyPr wrap="square" lIns="27000" tIns="9000" rIns="27000" bIns="9000" anchor="ctr">
            <a:noAutofit/>
          </a:bodyPr>
          <a:lstStyle/>
          <a:p>
            <a:endParaRPr lang="zh-CN"/>
          </a:p>
        </p:txBody>
      </p:sp>
      <p:sp>
        <p:nvSpPr>
          <p:cNvPr id="339" name="阶段三"/>
          <p:cNvSpPr/>
          <p:nvPr/>
        </p:nvSpPr>
        <p:spPr>
          <a:xfrm>
            <a:off x="8128000" y="5892800"/>
            <a:ext cx="3606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7A46"/>
            </a:solidFill>
          </a:ln>
        </p:spPr>
        <p:txBody>
          <a:bodyPr wrap="square" lIns="6000" tIns="3000" rIns="6000" bIns="150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CN" altLang="en-US" sz="850" b="1" dirty="0">
                <a:solidFill>
                  <a:srgbClr val="1E7A46"/>
                </a:solidFill>
              </a:rPr>
              <a:t>第三阶段　</a:t>
            </a:r>
            <a:r>
              <a:rPr lang="zh-CN" altLang="en-US" sz="750" dirty="0">
                <a:solidFill>
                  <a:srgbClr val="16324F"/>
                </a:solidFill>
              </a:rPr>
              <a:t>机器学习修正模型＋数学优化＋局部搜索/模拟退火</a:t>
            </a:r>
          </a:p>
          <a:p>
            <a:pPr>
              <a:lnSpc>
                <a:spcPct val="112000"/>
              </a:lnSpc>
              <a:buNone/>
            </a:pPr>
            <a:r>
              <a:rPr lang="zh-CN" altLang="en-US" sz="650" i="1" dirty="0">
                <a:solidFill>
                  <a:srgbClr val="5A6472"/>
                </a:solidFill>
              </a:rPr>
              <a:t>仅当黏度、颜色等指标存在明显非线性关系时，再引入模拟退火、遗传算法等补充算法</a:t>
            </a:r>
          </a:p>
        </p:txBody>
      </p:sp>
      <p:sp>
        <p:nvSpPr>
          <p:cNvPr id="340" name="结果下行箭头"/>
          <p:cNvSpPr/>
          <p:nvPr/>
        </p:nvSpPr>
        <p:spPr>
          <a:xfrm>
            <a:off x="10210800" y="5054600"/>
            <a:ext cx="177800" cy="177800"/>
          </a:xfrm>
          <a:prstGeom prst="downArrow">
            <a:avLst/>
          </a:prstGeom>
          <a:solidFill>
            <a:srgbClr val="1E7A46"/>
          </a:solidFill>
          <a:ln>
            <a:noFill/>
          </a:ln>
        </p:spPr>
        <p:txBody>
          <a:bodyPr wrap="square" lIns="27000" tIns="9000" rIns="27000" bIns="9000" anchor="ctr">
            <a:noAutofit/>
          </a:bodyPr>
          <a:lstStyle/>
          <a:p>
            <a:endParaRPr lang="zh-CN"/>
          </a:p>
        </p:txBody>
      </p:sp>
      <p:sp>
        <p:nvSpPr>
          <p:cNvPr id="341" name="反馈上行箭头"/>
          <p:cNvSpPr/>
          <p:nvPr/>
        </p:nvSpPr>
        <p:spPr>
          <a:xfrm>
            <a:off x="5486400" y="5029200"/>
            <a:ext cx="177800" cy="203200"/>
          </a:xfrm>
          <a:prstGeom prst="upArrow">
            <a:avLst/>
          </a:prstGeom>
          <a:solidFill>
            <a:srgbClr val="1E7A46"/>
          </a:solidFill>
          <a:ln>
            <a:noFill/>
          </a:ln>
        </p:spPr>
        <p:txBody>
          <a:bodyPr wrap="square" lIns="27000" tIns="9000" rIns="27000" bIns="9000" anchor="ctr">
            <a:noAutofit/>
          </a:bodyPr>
          <a:lstStyle/>
          <a:p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22435985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/>
          <p:nvPr/>
        </p:nvSpPr>
        <p:spPr>
          <a:xfrm>
            <a:off x="457200" y="177800"/>
            <a:ext cx="112776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zh-CN" altLang="en-US" sz="2200" b="1" dirty="0">
                <a:solidFill>
                  <a:srgbClr val="0B2F4E"/>
                </a:solidFill>
              </a:rPr>
              <a:t>AI智能配方优化：在保证质量要求下，实现原料成本降低</a:t>
            </a:r>
          </a:p>
        </p:txBody>
      </p:sp>
      <p:sp>
        <p:nvSpPr>
          <p:cNvPr id="101" name="TitleBar"/>
          <p:cNvSpPr/>
          <p:nvPr/>
        </p:nvSpPr>
        <p:spPr>
          <a:xfrm>
            <a:off x="457200" y="660400"/>
            <a:ext cx="685800" cy="38100"/>
          </a:xfrm>
          <a:prstGeom prst="rect">
            <a:avLst/>
          </a:prstGeom>
          <a:solidFill>
            <a:srgbClr val="0B2F4E"/>
          </a:solidFill>
          <a:ln>
            <a:noFill/>
          </a:ln>
        </p:spPr>
        <p:txBody>
          <a:bodyPr wrap="square" lIns="0" tIns="0" rIns="0" bIns="0" anchor="ctr"/>
          <a:lstStyle/>
          <a:p>
            <a:endParaRPr/>
          </a:p>
        </p:txBody>
      </p:sp>
      <p:sp>
        <p:nvSpPr>
          <p:cNvPr id="102" name="OrderBg"/>
          <p:cNvSpPr/>
          <p:nvPr/>
        </p:nvSpPr>
        <p:spPr>
          <a:xfrm>
            <a:off x="457200" y="787400"/>
            <a:ext cx="11277600" cy="533400"/>
          </a:xfrm>
          <a:prstGeom prst="rect">
            <a:avLst/>
          </a:prstGeom>
          <a:solidFill>
            <a:srgbClr val="EEF1F5"/>
          </a:solidFill>
          <a:ln w="9525">
            <a:solidFill>
              <a:srgbClr val="D5DBE3"/>
            </a:solidFill>
          </a:ln>
        </p:spPr>
        <p:txBody>
          <a:bodyPr wrap="square" lIns="0" tIns="0" rIns="0" bIns="0" anchor="ctr"/>
          <a:lstStyle/>
          <a:p>
            <a:endParaRPr/>
          </a:p>
        </p:txBody>
      </p:sp>
      <p:sp>
        <p:nvSpPr>
          <p:cNvPr id="103" name="OrderAccent"/>
          <p:cNvSpPr/>
          <p:nvPr/>
        </p:nvSpPr>
        <p:spPr>
          <a:xfrm>
            <a:off x="457200" y="787400"/>
            <a:ext cx="50800" cy="533400"/>
          </a:xfrm>
          <a:prstGeom prst="rect">
            <a:avLst/>
          </a:prstGeom>
          <a:solidFill>
            <a:srgbClr val="0B2F4E"/>
          </a:solidFill>
          <a:ln>
            <a:noFill/>
          </a:ln>
        </p:spPr>
        <p:txBody>
          <a:bodyPr wrap="square" lIns="0" tIns="0" rIns="0" bIns="0" anchor="ctr"/>
          <a:lstStyle/>
          <a:p>
            <a:endParaRPr/>
          </a:p>
        </p:txBody>
      </p:sp>
      <p:sp>
        <p:nvSpPr>
          <p:cNvPr id="104" name="OrderLabel"/>
          <p:cNvSpPr/>
          <p:nvPr/>
        </p:nvSpPr>
        <p:spPr>
          <a:xfrm>
            <a:off x="685800" y="787400"/>
            <a:ext cx="10668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zh-CN" altLang="en-US" sz="1500" b="1" dirty="0">
                <a:solidFill>
                  <a:srgbClr val="0B2F4E"/>
                </a:solidFill>
              </a:rPr>
              <a:t>订单需求</a:t>
            </a:r>
          </a:p>
        </p:txBody>
      </p:sp>
      <p:sp>
        <p:nvSpPr>
          <p:cNvPr id="105" name="OrderItem1"/>
          <p:cNvSpPr/>
          <p:nvPr/>
        </p:nvSpPr>
        <p:spPr>
          <a:xfrm>
            <a:off x="2159000" y="787400"/>
            <a:ext cx="30480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zh-CN" altLang="en-US" sz="1400" dirty="0">
                <a:solidFill>
                  <a:srgbClr val="595959"/>
                </a:solidFill>
              </a:rPr>
              <a:t>产品类型：</a:t>
            </a:r>
            <a:r>
              <a:rPr lang="zh-CN" altLang="en-US" sz="1400" b="1" dirty="0">
                <a:solidFill>
                  <a:srgbClr val="0B2F4E"/>
                </a:solidFill>
              </a:rPr>
              <a:t>胶囊用明胶</a:t>
            </a:r>
          </a:p>
        </p:txBody>
      </p:sp>
      <p:sp>
        <p:nvSpPr>
          <p:cNvPr id="106" name="OrderItem2"/>
          <p:cNvSpPr/>
          <p:nvPr/>
        </p:nvSpPr>
        <p:spPr>
          <a:xfrm>
            <a:off x="5461000" y="787400"/>
            <a:ext cx="26670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zh-CN" altLang="en-US" sz="1400" dirty="0">
                <a:solidFill>
                  <a:srgbClr val="595959"/>
                </a:solidFill>
              </a:rPr>
              <a:t>成品重量：</a:t>
            </a:r>
            <a:r>
              <a:rPr lang="zh-CN" altLang="en-US" sz="1400" b="1" dirty="0">
                <a:solidFill>
                  <a:srgbClr val="0B2F4E"/>
                </a:solidFill>
              </a:rPr>
              <a:t>10吨</a:t>
            </a:r>
          </a:p>
        </p:txBody>
      </p:sp>
      <p:sp>
        <p:nvSpPr>
          <p:cNvPr id="107" name="OrderItem3"/>
          <p:cNvSpPr/>
          <p:nvPr/>
        </p:nvSpPr>
        <p:spPr>
          <a:xfrm>
            <a:off x="8382000" y="787400"/>
            <a:ext cx="30480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zh-CN" altLang="en-US" sz="1400" dirty="0">
                <a:solidFill>
                  <a:srgbClr val="595959"/>
                </a:solidFill>
              </a:rPr>
              <a:t>目标冻力：</a:t>
            </a:r>
            <a:r>
              <a:rPr lang="zh-CN" altLang="en-US" sz="1400" b="1" dirty="0">
                <a:solidFill>
                  <a:srgbClr val="0B2F4E"/>
                </a:solidFill>
              </a:rPr>
              <a:t>≥200</a:t>
            </a:r>
          </a:p>
        </p:txBody>
      </p:sp>
      <p:sp>
        <p:nvSpPr>
          <p:cNvPr id="108" name="ManualBg"/>
          <p:cNvSpPr/>
          <p:nvPr/>
        </p:nvSpPr>
        <p:spPr>
          <a:xfrm>
            <a:off x="457200" y="1422400"/>
            <a:ext cx="4191000" cy="3048000"/>
          </a:xfrm>
          <a:prstGeom prst="rect">
            <a:avLst/>
          </a:prstGeom>
          <a:solidFill>
            <a:srgbClr val="FAFAFA"/>
          </a:solidFill>
          <a:ln w="9525">
            <a:solidFill>
              <a:srgbClr val="DDDDDD"/>
            </a:solidFill>
          </a:ln>
        </p:spPr>
        <p:txBody>
          <a:bodyPr wrap="square" lIns="0" tIns="0" rIns="0" bIns="0" anchor="ctr"/>
          <a:lstStyle/>
          <a:p>
            <a:endParaRPr/>
          </a:p>
        </p:txBody>
      </p:sp>
      <p:sp>
        <p:nvSpPr>
          <p:cNvPr id="109" name="ManualHeader"/>
          <p:cNvSpPr/>
          <p:nvPr/>
        </p:nvSpPr>
        <p:spPr>
          <a:xfrm>
            <a:off x="457200" y="1422400"/>
            <a:ext cx="4191000" cy="381000"/>
          </a:xfrm>
          <a:prstGeom prst="rect">
            <a:avLst/>
          </a:prstGeom>
          <a:solidFill>
            <a:srgbClr val="5A6B7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zh-CN" altLang="en-US" sz="1500" b="1" dirty="0">
                <a:solidFill>
                  <a:srgbClr val="FFFFFF"/>
                </a:solidFill>
              </a:rPr>
              <a:t>传统人工配方方案</a:t>
            </a:r>
          </a:p>
        </p:txBody>
      </p:sp>
      <p:sp>
        <p:nvSpPr>
          <p:cNvPr id="110" name="ManualH1"/>
          <p:cNvSpPr/>
          <p:nvPr/>
        </p:nvSpPr>
        <p:spPr>
          <a:xfrm>
            <a:off x="660400" y="1905000"/>
            <a:ext cx="1524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zh-CN" altLang="en-US" sz="1400" b="1" dirty="0">
                <a:solidFill>
                  <a:srgbClr val="595959"/>
                </a:solidFill>
              </a:rPr>
              <a:t>半成品</a:t>
            </a:r>
          </a:p>
        </p:txBody>
      </p:sp>
      <p:sp>
        <p:nvSpPr>
          <p:cNvPr id="111" name="ManualH2"/>
          <p:cNvSpPr/>
          <p:nvPr/>
        </p:nvSpPr>
        <p:spPr>
          <a:xfrm>
            <a:off x="2286000" y="1905000"/>
            <a:ext cx="1016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zh-CN" altLang="en-US" sz="1400" b="1" dirty="0">
                <a:solidFill>
                  <a:srgbClr val="595959"/>
                </a:solidFill>
              </a:rPr>
              <a:t>冻力</a:t>
            </a:r>
          </a:p>
        </p:txBody>
      </p:sp>
      <p:sp>
        <p:nvSpPr>
          <p:cNvPr id="112" name="ManualH3"/>
          <p:cNvSpPr/>
          <p:nvPr/>
        </p:nvSpPr>
        <p:spPr>
          <a:xfrm>
            <a:off x="3403600" y="1905000"/>
            <a:ext cx="1016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zh-CN" altLang="en-US" sz="1400" b="1" dirty="0">
                <a:solidFill>
                  <a:srgbClr val="595959"/>
                </a:solidFill>
              </a:rPr>
              <a:t>重量</a:t>
            </a:r>
          </a:p>
        </p:txBody>
      </p:sp>
      <p:sp>
        <p:nvSpPr>
          <p:cNvPr id="113" name="ManualDiv1"/>
          <p:cNvSpPr/>
          <p:nvPr/>
        </p:nvSpPr>
        <p:spPr>
          <a:xfrm>
            <a:off x="660400" y="2197100"/>
            <a:ext cx="37592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wrap="square" lIns="0" tIns="0" rIns="0" bIns="0" anchor="ctr"/>
          <a:lstStyle/>
          <a:p>
            <a:endParaRPr/>
          </a:p>
        </p:txBody>
      </p:sp>
      <p:sp>
        <p:nvSpPr>
          <p:cNvPr id="114" name="ManualA1"/>
          <p:cNvSpPr/>
          <p:nvPr/>
        </p:nvSpPr>
        <p:spPr>
          <a:xfrm>
            <a:off x="660400" y="2286000"/>
            <a:ext cx="1524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zh-CN" altLang="en-US" sz="1400" dirty="0">
                <a:solidFill>
                  <a:srgbClr val="0B2F4E"/>
                </a:solidFill>
              </a:rPr>
              <a:t>半成品A</a:t>
            </a:r>
          </a:p>
        </p:txBody>
      </p:sp>
      <p:sp>
        <p:nvSpPr>
          <p:cNvPr id="115" name="ManualA2"/>
          <p:cNvSpPr/>
          <p:nvPr/>
        </p:nvSpPr>
        <p:spPr>
          <a:xfrm>
            <a:off x="2286000" y="2286000"/>
            <a:ext cx="1016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zh-CN" altLang="en-US" sz="1500" b="1" dirty="0">
                <a:solidFill>
                  <a:srgbClr val="0B2F4E"/>
                </a:solidFill>
              </a:rPr>
              <a:t>220</a:t>
            </a:r>
          </a:p>
        </p:txBody>
      </p:sp>
      <p:sp>
        <p:nvSpPr>
          <p:cNvPr id="116" name="ManualA3"/>
          <p:cNvSpPr/>
          <p:nvPr/>
        </p:nvSpPr>
        <p:spPr>
          <a:xfrm>
            <a:off x="3403600" y="2286000"/>
            <a:ext cx="1016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zh-CN" altLang="en-US" sz="1400" dirty="0">
                <a:solidFill>
                  <a:srgbClr val="0B2F4E"/>
                </a:solidFill>
              </a:rPr>
              <a:t>5吨</a:t>
            </a:r>
          </a:p>
        </p:txBody>
      </p:sp>
      <p:sp>
        <p:nvSpPr>
          <p:cNvPr id="117" name="ManualB1"/>
          <p:cNvSpPr/>
          <p:nvPr/>
        </p:nvSpPr>
        <p:spPr>
          <a:xfrm>
            <a:off x="660400" y="2616200"/>
            <a:ext cx="1524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zh-CN" altLang="en-US" sz="1400" dirty="0">
                <a:solidFill>
                  <a:srgbClr val="0B2F4E"/>
                </a:solidFill>
              </a:rPr>
              <a:t>半成品B</a:t>
            </a:r>
          </a:p>
        </p:txBody>
      </p:sp>
      <p:sp>
        <p:nvSpPr>
          <p:cNvPr id="118" name="ManualB2"/>
          <p:cNvSpPr/>
          <p:nvPr/>
        </p:nvSpPr>
        <p:spPr>
          <a:xfrm>
            <a:off x="2286000" y="2616200"/>
            <a:ext cx="1016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zh-CN" altLang="en-US" sz="1500" b="1" dirty="0">
                <a:solidFill>
                  <a:srgbClr val="0B2F4E"/>
                </a:solidFill>
              </a:rPr>
              <a:t>210</a:t>
            </a:r>
          </a:p>
        </p:txBody>
      </p:sp>
      <p:sp>
        <p:nvSpPr>
          <p:cNvPr id="119" name="ManualB3"/>
          <p:cNvSpPr/>
          <p:nvPr/>
        </p:nvSpPr>
        <p:spPr>
          <a:xfrm>
            <a:off x="3403600" y="2616200"/>
            <a:ext cx="1016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zh-CN" altLang="en-US" sz="1400" dirty="0">
                <a:solidFill>
                  <a:srgbClr val="0B2F4E"/>
                </a:solidFill>
              </a:rPr>
              <a:t>5吨</a:t>
            </a:r>
          </a:p>
        </p:txBody>
      </p:sp>
      <p:sp>
        <p:nvSpPr>
          <p:cNvPr id="120" name="ManualDiv2"/>
          <p:cNvSpPr/>
          <p:nvPr/>
        </p:nvSpPr>
        <p:spPr>
          <a:xfrm>
            <a:off x="660400" y="2946400"/>
            <a:ext cx="37592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wrap="square" lIns="0" tIns="0" rIns="0" bIns="0" anchor="ctr"/>
          <a:lstStyle/>
          <a:p>
            <a:endParaRPr/>
          </a:p>
        </p:txBody>
      </p:sp>
      <p:sp>
        <p:nvSpPr>
          <p:cNvPr id="121" name="ManualTheo"/>
          <p:cNvSpPr/>
          <p:nvPr/>
        </p:nvSpPr>
        <p:spPr>
          <a:xfrm>
            <a:off x="660400" y="3022600"/>
            <a:ext cx="37846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zh-CN" altLang="en-US" sz="1500" dirty="0">
                <a:solidFill>
                  <a:srgbClr val="595959"/>
                </a:solidFill>
              </a:rPr>
              <a:t>理论冻力  </a:t>
            </a:r>
            <a:r>
              <a:rPr lang="zh-CN" altLang="en-US" sz="2800" b="1" dirty="0">
                <a:solidFill>
                  <a:srgbClr val="5A6B7C"/>
                </a:solidFill>
              </a:rPr>
              <a:t>215</a:t>
            </a:r>
          </a:p>
        </p:txBody>
      </p:sp>
      <p:sp>
        <p:nvSpPr>
          <p:cNvPr id="122" name="ManualNote"/>
          <p:cNvSpPr/>
          <p:nvPr/>
        </p:nvSpPr>
        <p:spPr>
          <a:xfrm>
            <a:off x="660400" y="3606800"/>
            <a:ext cx="37846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altLang="en-US" sz="1400" b="1" dirty="0">
                <a:solidFill>
                  <a:srgbClr val="595959"/>
                </a:solidFill>
              </a:rPr>
              <a:t>说明：</a:t>
            </a:r>
            <a:r>
              <a:rPr lang="zh-CN" altLang="en-US" sz="1400" dirty="0">
                <a:solidFill>
                  <a:srgbClr val="595959"/>
                </a:solidFill>
              </a:rPr>
              <a:t>满足质量要求，但由于人工经验偏保守，选择较高冻力库存，造成原料浪费。</a:t>
            </a:r>
          </a:p>
        </p:txBody>
      </p:sp>
      <p:sp>
        <p:nvSpPr>
          <p:cNvPr id="123" name="AIBg"/>
          <p:cNvSpPr/>
          <p:nvPr/>
        </p:nvSpPr>
        <p:spPr>
          <a:xfrm>
            <a:off x="7543800" y="1422400"/>
            <a:ext cx="4191000" cy="3048000"/>
          </a:xfrm>
          <a:prstGeom prst="rect">
            <a:avLst/>
          </a:prstGeom>
          <a:solidFill>
            <a:srgbClr val="E8F0F7"/>
          </a:solidFill>
          <a:ln w="9525">
            <a:solidFill>
              <a:srgbClr val="C8D7E5"/>
            </a:solidFill>
          </a:ln>
        </p:spPr>
        <p:txBody>
          <a:bodyPr wrap="square" lIns="0" tIns="0" rIns="0" bIns="0" anchor="ctr"/>
          <a:lstStyle/>
          <a:p>
            <a:endParaRPr/>
          </a:p>
        </p:txBody>
      </p:sp>
      <p:sp>
        <p:nvSpPr>
          <p:cNvPr id="124" name="AIHeader"/>
          <p:cNvSpPr/>
          <p:nvPr/>
        </p:nvSpPr>
        <p:spPr>
          <a:xfrm>
            <a:off x="7543800" y="1422400"/>
            <a:ext cx="4191000" cy="381000"/>
          </a:xfrm>
          <a:prstGeom prst="rect">
            <a:avLst/>
          </a:prstGeom>
          <a:solidFill>
            <a:srgbClr val="0B2F4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zh-CN" altLang="en-US" sz="1500" b="1" dirty="0">
                <a:solidFill>
                  <a:srgbClr val="FFFFFF"/>
                </a:solidFill>
              </a:rPr>
              <a:t>AI智能优化方案</a:t>
            </a:r>
          </a:p>
        </p:txBody>
      </p:sp>
      <p:sp>
        <p:nvSpPr>
          <p:cNvPr id="125" name="AIH1"/>
          <p:cNvSpPr/>
          <p:nvPr/>
        </p:nvSpPr>
        <p:spPr>
          <a:xfrm>
            <a:off x="7747000" y="1905000"/>
            <a:ext cx="1524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zh-CN" altLang="en-US" sz="1400" b="1" dirty="0">
                <a:solidFill>
                  <a:srgbClr val="595959"/>
                </a:solidFill>
              </a:rPr>
              <a:t>半成品</a:t>
            </a:r>
          </a:p>
        </p:txBody>
      </p:sp>
      <p:sp>
        <p:nvSpPr>
          <p:cNvPr id="126" name="AIH2"/>
          <p:cNvSpPr/>
          <p:nvPr/>
        </p:nvSpPr>
        <p:spPr>
          <a:xfrm>
            <a:off x="9372600" y="1905000"/>
            <a:ext cx="1016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zh-CN" altLang="en-US" sz="1400" b="1" dirty="0">
                <a:solidFill>
                  <a:srgbClr val="595959"/>
                </a:solidFill>
              </a:rPr>
              <a:t>冻力</a:t>
            </a:r>
          </a:p>
        </p:txBody>
      </p:sp>
      <p:sp>
        <p:nvSpPr>
          <p:cNvPr id="127" name="AIH3"/>
          <p:cNvSpPr/>
          <p:nvPr/>
        </p:nvSpPr>
        <p:spPr>
          <a:xfrm>
            <a:off x="10490200" y="1905000"/>
            <a:ext cx="1016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zh-CN" altLang="en-US" sz="1400" b="1" dirty="0">
                <a:solidFill>
                  <a:srgbClr val="595959"/>
                </a:solidFill>
              </a:rPr>
              <a:t>重量</a:t>
            </a:r>
          </a:p>
        </p:txBody>
      </p:sp>
      <p:sp>
        <p:nvSpPr>
          <p:cNvPr id="128" name="AIDiv1"/>
          <p:cNvSpPr/>
          <p:nvPr/>
        </p:nvSpPr>
        <p:spPr>
          <a:xfrm>
            <a:off x="7747000" y="2197100"/>
            <a:ext cx="3759200" cy="12700"/>
          </a:xfrm>
          <a:prstGeom prst="rect">
            <a:avLst/>
          </a:prstGeom>
          <a:solidFill>
            <a:srgbClr val="C8D7E5"/>
          </a:solidFill>
          <a:ln>
            <a:noFill/>
          </a:ln>
        </p:spPr>
        <p:txBody>
          <a:bodyPr wrap="square" lIns="0" tIns="0" rIns="0" bIns="0" anchor="ctr"/>
          <a:lstStyle/>
          <a:p>
            <a:endParaRPr/>
          </a:p>
        </p:txBody>
      </p:sp>
      <p:sp>
        <p:nvSpPr>
          <p:cNvPr id="129" name="AIA1"/>
          <p:cNvSpPr/>
          <p:nvPr/>
        </p:nvSpPr>
        <p:spPr>
          <a:xfrm>
            <a:off x="7747000" y="2286000"/>
            <a:ext cx="1524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zh-CN" altLang="en-US" sz="1400" dirty="0">
                <a:solidFill>
                  <a:srgbClr val="0B2F4E"/>
                </a:solidFill>
              </a:rPr>
              <a:t>半成品A</a:t>
            </a:r>
          </a:p>
        </p:txBody>
      </p:sp>
      <p:sp>
        <p:nvSpPr>
          <p:cNvPr id="130" name="AIA2"/>
          <p:cNvSpPr/>
          <p:nvPr/>
        </p:nvSpPr>
        <p:spPr>
          <a:xfrm>
            <a:off x="9372600" y="2286000"/>
            <a:ext cx="1016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zh-CN" altLang="en-US" sz="1500" b="1" dirty="0">
                <a:solidFill>
                  <a:srgbClr val="0B2F4E"/>
                </a:solidFill>
              </a:rPr>
              <a:t>205</a:t>
            </a:r>
          </a:p>
        </p:txBody>
      </p:sp>
      <p:sp>
        <p:nvSpPr>
          <p:cNvPr id="131" name="AIA3"/>
          <p:cNvSpPr/>
          <p:nvPr/>
        </p:nvSpPr>
        <p:spPr>
          <a:xfrm>
            <a:off x="10490200" y="2286000"/>
            <a:ext cx="1016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zh-CN" altLang="en-US" sz="1400" dirty="0">
                <a:solidFill>
                  <a:srgbClr val="0B2F4E"/>
                </a:solidFill>
              </a:rPr>
              <a:t>6吨</a:t>
            </a:r>
          </a:p>
        </p:txBody>
      </p:sp>
      <p:sp>
        <p:nvSpPr>
          <p:cNvPr id="132" name="AIB1"/>
          <p:cNvSpPr/>
          <p:nvPr/>
        </p:nvSpPr>
        <p:spPr>
          <a:xfrm>
            <a:off x="7747000" y="2616200"/>
            <a:ext cx="1524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zh-CN" altLang="en-US" sz="1400" dirty="0">
                <a:solidFill>
                  <a:srgbClr val="0B2F4E"/>
                </a:solidFill>
              </a:rPr>
              <a:t>半成品B</a:t>
            </a:r>
          </a:p>
        </p:txBody>
      </p:sp>
      <p:sp>
        <p:nvSpPr>
          <p:cNvPr id="133" name="AIB2"/>
          <p:cNvSpPr/>
          <p:nvPr/>
        </p:nvSpPr>
        <p:spPr>
          <a:xfrm>
            <a:off x="9372600" y="2616200"/>
            <a:ext cx="1016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zh-CN" altLang="en-US" sz="1500" b="1" dirty="0">
                <a:solidFill>
                  <a:srgbClr val="0B2F4E"/>
                </a:solidFill>
              </a:rPr>
              <a:t>200</a:t>
            </a:r>
          </a:p>
        </p:txBody>
      </p:sp>
      <p:sp>
        <p:nvSpPr>
          <p:cNvPr id="134" name="AIB3"/>
          <p:cNvSpPr/>
          <p:nvPr/>
        </p:nvSpPr>
        <p:spPr>
          <a:xfrm>
            <a:off x="10490200" y="2616200"/>
            <a:ext cx="1016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zh-CN" altLang="en-US" sz="1400" dirty="0">
                <a:solidFill>
                  <a:srgbClr val="0B2F4E"/>
                </a:solidFill>
              </a:rPr>
              <a:t>4吨</a:t>
            </a:r>
          </a:p>
        </p:txBody>
      </p:sp>
      <p:sp>
        <p:nvSpPr>
          <p:cNvPr id="135" name="AIDiv2"/>
          <p:cNvSpPr/>
          <p:nvPr/>
        </p:nvSpPr>
        <p:spPr>
          <a:xfrm>
            <a:off x="7747000" y="2946400"/>
            <a:ext cx="3759200" cy="12700"/>
          </a:xfrm>
          <a:prstGeom prst="rect">
            <a:avLst/>
          </a:prstGeom>
          <a:solidFill>
            <a:srgbClr val="C8D7E5"/>
          </a:solidFill>
          <a:ln>
            <a:noFill/>
          </a:ln>
        </p:spPr>
        <p:txBody>
          <a:bodyPr wrap="square" lIns="0" tIns="0" rIns="0" bIns="0" anchor="ctr"/>
          <a:lstStyle/>
          <a:p>
            <a:endParaRPr/>
          </a:p>
        </p:txBody>
      </p:sp>
      <p:sp>
        <p:nvSpPr>
          <p:cNvPr id="136" name="AITheo"/>
          <p:cNvSpPr/>
          <p:nvPr/>
        </p:nvSpPr>
        <p:spPr>
          <a:xfrm>
            <a:off x="7747000" y="3022600"/>
            <a:ext cx="37846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zh-CN" altLang="en-US" sz="1500" dirty="0">
                <a:solidFill>
                  <a:srgbClr val="595959"/>
                </a:solidFill>
              </a:rPr>
              <a:t>理论冻力  </a:t>
            </a:r>
            <a:r>
              <a:rPr lang="zh-CN" altLang="en-US" sz="2800" b="1" dirty="0">
                <a:solidFill>
                  <a:srgbClr val="0B2F4E"/>
                </a:solidFill>
              </a:rPr>
              <a:t>203</a:t>
            </a:r>
          </a:p>
        </p:txBody>
      </p:sp>
      <p:sp>
        <p:nvSpPr>
          <p:cNvPr id="137" name="AINote"/>
          <p:cNvSpPr/>
          <p:nvPr/>
        </p:nvSpPr>
        <p:spPr>
          <a:xfrm>
            <a:off x="7747000" y="3606800"/>
            <a:ext cx="37846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altLang="en-US" sz="1400" b="1" dirty="0">
                <a:solidFill>
                  <a:srgbClr val="595959"/>
                </a:solidFill>
              </a:rPr>
              <a:t>说明：</a:t>
            </a:r>
            <a:r>
              <a:rPr lang="zh-CN" altLang="en-US" sz="1400" dirty="0">
                <a:solidFill>
                  <a:srgbClr val="595959"/>
                </a:solidFill>
              </a:rPr>
              <a:t>AI基于库存、冻力与质量约束进行优化，在满足冻力要求的前提下减少高冻力原料使用。</a:t>
            </a:r>
          </a:p>
        </p:txBody>
      </p:sp>
      <p:sp>
        <p:nvSpPr>
          <p:cNvPr id="200" name="ArrowLabel"/>
          <p:cNvSpPr/>
          <p:nvPr/>
        </p:nvSpPr>
        <p:spPr>
          <a:xfrm>
            <a:off x="4724400" y="1600200"/>
            <a:ext cx="27432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zh-CN" altLang="en-US" sz="1400" b="1" dirty="0">
                <a:solidFill>
                  <a:srgbClr val="0B2F4E"/>
                </a:solidFill>
              </a:rPr>
              <a:t>减少冻力过配 · 成本节约</a:t>
            </a:r>
          </a:p>
        </p:txBody>
      </p:sp>
      <p:sp>
        <p:nvSpPr>
          <p:cNvPr id="201" name="Arrow"/>
          <p:cNvSpPr/>
          <p:nvPr/>
        </p:nvSpPr>
        <p:spPr>
          <a:xfrm>
            <a:off x="4838700" y="1905000"/>
            <a:ext cx="2514600" cy="533400"/>
          </a:xfrm>
          <a:prstGeom prst="rightArrow">
            <a:avLst/>
          </a:prstGeom>
          <a:solidFill>
            <a:srgbClr val="0B2F4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zh-CN" altLang="en-US" sz="1500" b="1" dirty="0">
                <a:solidFill>
                  <a:srgbClr val="FFFFFF"/>
                </a:solidFill>
              </a:rPr>
              <a:t>AI优化</a:t>
            </a:r>
          </a:p>
        </p:txBody>
      </p:sp>
      <p:sp>
        <p:nvSpPr>
          <p:cNvPr id="202" name="CompareCard"/>
          <p:cNvSpPr/>
          <p:nvPr/>
        </p:nvSpPr>
        <p:spPr>
          <a:xfrm>
            <a:off x="4838700" y="2590800"/>
            <a:ext cx="2514600" cy="8128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zh-CN" altLang="en-US" sz="1400" dirty="0">
                <a:solidFill>
                  <a:srgbClr val="595959"/>
                </a:solidFill>
              </a:rPr>
              <a:t>人工方案冻力  </a:t>
            </a:r>
            <a:r>
              <a:rPr lang="zh-CN" altLang="en-US" sz="1500" b="1" dirty="0">
                <a:solidFill>
                  <a:srgbClr val="595959"/>
                </a:solidFill>
              </a:rPr>
              <a:t>215</a:t>
            </a:r>
          </a:p>
          <a:p>
            <a:pPr algn="ctr">
              <a:spcBef>
                <a:spcPts val="400"/>
              </a:spcBef>
              <a:buNone/>
            </a:pPr>
            <a:r>
              <a:rPr lang="zh-CN" altLang="en-US" sz="1400" dirty="0">
                <a:solidFill>
                  <a:srgbClr val="0B2F4E"/>
                </a:solidFill>
              </a:rPr>
              <a:t>AI方案冻力  </a:t>
            </a:r>
            <a:r>
              <a:rPr lang="zh-CN" altLang="en-US" sz="1500" b="1" dirty="0">
                <a:solidFill>
                  <a:srgbClr val="0B2F4E"/>
                </a:solidFill>
              </a:rPr>
              <a:t>203</a:t>
            </a:r>
          </a:p>
        </p:txBody>
      </p:sp>
      <p:sp>
        <p:nvSpPr>
          <p:cNvPr id="203" name="ReducePill"/>
          <p:cNvSpPr/>
          <p:nvPr/>
        </p:nvSpPr>
        <p:spPr>
          <a:xfrm>
            <a:off x="4838700" y="3530600"/>
            <a:ext cx="2514600" cy="406400"/>
          </a:xfrm>
          <a:prstGeom prst="roundRect">
            <a:avLst/>
          </a:prstGeom>
          <a:solidFill>
            <a:srgbClr val="0B2F4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zh-CN" altLang="en-US" sz="1500" b="1" dirty="0">
                <a:solidFill>
                  <a:srgbClr val="FFFFFF"/>
                </a:solidFill>
              </a:rPr>
              <a:t>减少冻力冗余 12点</a:t>
            </a:r>
          </a:p>
        </p:txBody>
      </p:sp>
      <p:sp>
        <p:nvSpPr>
          <p:cNvPr id="204" name="Tagline"/>
          <p:cNvSpPr/>
          <p:nvPr/>
        </p:nvSpPr>
        <p:spPr>
          <a:xfrm>
            <a:off x="4699000" y="4064000"/>
            <a:ext cx="27940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zh-CN" altLang="en-US" sz="1400" i="1" dirty="0">
                <a:solidFill>
                  <a:srgbClr val="0B2F4E"/>
                </a:solidFill>
              </a:rPr>
              <a:t>“AI不是替代人工，而是在质量约束下寻找更优组合”</a:t>
            </a:r>
          </a:p>
        </p:txBody>
      </p:sp>
      <p:sp>
        <p:nvSpPr>
          <p:cNvPr id="205" name="FormulaBar"/>
          <p:cNvSpPr/>
          <p:nvPr/>
        </p:nvSpPr>
        <p:spPr>
          <a:xfrm>
            <a:off x="457200" y="4699000"/>
            <a:ext cx="11277600" cy="406400"/>
          </a:xfrm>
          <a:prstGeom prst="rect">
            <a:avLst/>
          </a:prstGeom>
          <a:solidFill>
            <a:srgbClr val="0B2F4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zh-CN" altLang="en-US" sz="1400" b="1" dirty="0">
                <a:solidFill>
                  <a:srgbClr val="FFFFFF"/>
                </a:solidFill>
              </a:rPr>
              <a:t>成本测算模型：</a:t>
            </a:r>
            <a:r>
              <a:rPr lang="zh-CN" altLang="en-US" sz="1400" dirty="0">
                <a:solidFill>
                  <a:srgbClr val="FFFFFF"/>
                </a:solidFill>
              </a:rPr>
              <a:t>节省金额 = 减少高冻力原料使用量 × 单价差 × 年生产量</a:t>
            </a:r>
          </a:p>
        </p:txBody>
      </p:sp>
      <p:sp>
        <p:nvSpPr>
          <p:cNvPr id="206" name="Kpi36Bg"/>
          <p:cNvSpPr/>
          <p:nvPr/>
        </p:nvSpPr>
        <p:spPr>
          <a:xfrm>
            <a:off x="457200" y="5207000"/>
            <a:ext cx="3606800" cy="88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zh-CN" altLang="en-US" sz="1400" dirty="0">
                <a:solidFill>
                  <a:srgbClr val="595959"/>
                </a:solidFill>
              </a:rPr>
              <a:t>单次配方节约</a:t>
            </a:r>
          </a:p>
          <a:p>
            <a:pPr algn="ctr">
              <a:spcBef>
                <a:spcPts val="300"/>
              </a:spcBef>
              <a:buNone/>
            </a:pPr>
            <a:r>
              <a:rPr lang="zh-CN" altLang="en-US" sz="2200" b="1" dirty="0">
                <a:solidFill>
                  <a:srgbClr val="0B2F4E"/>
                </a:solidFill>
              </a:rPr>
              <a:t>¥ XX,XXX</a:t>
            </a:r>
          </a:p>
        </p:txBody>
      </p:sp>
      <p:sp>
        <p:nvSpPr>
          <p:cNvPr id="207" name="Kpi36Bar"/>
          <p:cNvSpPr/>
          <p:nvPr/>
        </p:nvSpPr>
        <p:spPr>
          <a:xfrm>
            <a:off x="457200" y="5207000"/>
            <a:ext cx="3606800" cy="38100"/>
          </a:xfrm>
          <a:prstGeom prst="rect">
            <a:avLst/>
          </a:prstGeom>
          <a:solidFill>
            <a:srgbClr val="0B2F4E"/>
          </a:solidFill>
          <a:ln>
            <a:noFill/>
          </a:ln>
        </p:spPr>
        <p:txBody>
          <a:bodyPr wrap="square" lIns="0" tIns="0" rIns="0" bIns="0" anchor="ctr"/>
          <a:lstStyle/>
          <a:p>
            <a:endParaRPr/>
          </a:p>
        </p:txBody>
      </p:sp>
      <p:sp>
        <p:nvSpPr>
          <p:cNvPr id="208" name="Kpi338Bg"/>
          <p:cNvSpPr/>
          <p:nvPr/>
        </p:nvSpPr>
        <p:spPr>
          <a:xfrm>
            <a:off x="4292600" y="5207000"/>
            <a:ext cx="3606800" cy="88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zh-CN" altLang="en-US" sz="1400" dirty="0">
                <a:solidFill>
                  <a:srgbClr val="595959"/>
                </a:solidFill>
              </a:rPr>
              <a:t>原料利用效率提升</a:t>
            </a:r>
          </a:p>
          <a:p>
            <a:pPr algn="ctr">
              <a:spcBef>
                <a:spcPts val="300"/>
              </a:spcBef>
              <a:buNone/>
            </a:pPr>
            <a:r>
              <a:rPr lang="zh-CN" altLang="en-US" sz="2200" b="1" dirty="0">
                <a:solidFill>
                  <a:srgbClr val="0B2F4E"/>
                </a:solidFill>
              </a:rPr>
              <a:t>XX%</a:t>
            </a:r>
          </a:p>
        </p:txBody>
      </p:sp>
      <p:sp>
        <p:nvSpPr>
          <p:cNvPr id="209" name="Kpi338Bar"/>
          <p:cNvSpPr/>
          <p:nvPr/>
        </p:nvSpPr>
        <p:spPr>
          <a:xfrm>
            <a:off x="4292600" y="5207000"/>
            <a:ext cx="3606800" cy="38100"/>
          </a:xfrm>
          <a:prstGeom prst="rect">
            <a:avLst/>
          </a:prstGeom>
          <a:solidFill>
            <a:srgbClr val="0B2F4E"/>
          </a:solidFill>
          <a:ln>
            <a:noFill/>
          </a:ln>
        </p:spPr>
        <p:txBody>
          <a:bodyPr wrap="square" lIns="0" tIns="0" rIns="0" bIns="0" anchor="ctr"/>
          <a:lstStyle/>
          <a:p>
            <a:endParaRPr/>
          </a:p>
        </p:txBody>
      </p:sp>
      <p:sp>
        <p:nvSpPr>
          <p:cNvPr id="210" name="Kpi640Bg"/>
          <p:cNvSpPr/>
          <p:nvPr/>
        </p:nvSpPr>
        <p:spPr>
          <a:xfrm>
            <a:off x="8128000" y="5207000"/>
            <a:ext cx="3606800" cy="88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zh-CN" altLang="en-US" sz="1400" dirty="0">
                <a:solidFill>
                  <a:srgbClr val="595959"/>
                </a:solidFill>
              </a:rPr>
              <a:t>年度潜在收益</a:t>
            </a:r>
          </a:p>
          <a:p>
            <a:pPr algn="ctr">
              <a:spcBef>
                <a:spcPts val="300"/>
              </a:spcBef>
              <a:buNone/>
            </a:pPr>
            <a:r>
              <a:rPr lang="zh-CN" altLang="en-US" sz="2200" b="1" dirty="0">
                <a:solidFill>
                  <a:srgbClr val="0B2F4E"/>
                </a:solidFill>
              </a:rPr>
              <a:t>¥ XXX万</a:t>
            </a:r>
          </a:p>
        </p:txBody>
      </p:sp>
      <p:sp>
        <p:nvSpPr>
          <p:cNvPr id="211" name="Kpi640Bar"/>
          <p:cNvSpPr/>
          <p:nvPr/>
        </p:nvSpPr>
        <p:spPr>
          <a:xfrm>
            <a:off x="8128000" y="5207000"/>
            <a:ext cx="3606800" cy="38100"/>
          </a:xfrm>
          <a:prstGeom prst="rect">
            <a:avLst/>
          </a:prstGeom>
          <a:solidFill>
            <a:srgbClr val="0B2F4E"/>
          </a:solidFill>
          <a:ln>
            <a:noFill/>
          </a:ln>
        </p:spPr>
        <p:txBody>
          <a:bodyPr wrap="square" lIns="0" tIns="0" rIns="0" bIns="0" anchor="ctr"/>
          <a:lstStyle/>
          <a:p>
            <a:endParaRPr/>
          </a:p>
        </p:txBody>
      </p:sp>
      <p:sp>
        <p:nvSpPr>
          <p:cNvPr id="212" name="Footnote"/>
          <p:cNvSpPr/>
          <p:nvPr/>
        </p:nvSpPr>
        <p:spPr>
          <a:xfrm>
            <a:off x="457200" y="6197600"/>
            <a:ext cx="11277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zh-CN" altLang="en-US" sz="1400" dirty="0">
                <a:solidFill>
                  <a:srgbClr val="808080"/>
                </a:solidFill>
              </a:rPr>
              <a:t>注：实际收益根据企业历史配方、半成品成本及年度生产规模进行测算。</a:t>
            </a:r>
          </a:p>
        </p:txBody>
      </p:sp>
    </p:spTree>
    <p:extLst>
      <p:ext uri="{BB962C8B-B14F-4D97-AF65-F5344CB8AC3E}">
        <p14:creationId xmlns:p14="http://schemas.microsoft.com/office/powerpoint/2010/main" val="40395356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" name="think-cell data - do not delete" hidden="1">
            <a:extLst>
              <a:ext uri="{FF2B5EF4-FFF2-40B4-BE49-F238E27FC236}">
                <a16:creationId xmlns:a16="http://schemas.microsoft.com/office/drawing/2014/main" id="{C16BEC79-DF90-83B0-76E1-EBA3949799F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638516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3" progId="TCLayout.ActiveDocument.1">
                  <p:embed/>
                </p:oleObj>
              </mc:Choice>
              <mc:Fallback>
                <p:oleObj name="think-cell Slide" r:id="rId4" imgW="473" imgH="473" progId="TCLayout.ActiveDocument.1">
                  <p:embed/>
                  <p:pic>
                    <p:nvPicPr>
                      <p:cNvPr id="2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16BEC79-DF90-83B0-76E1-EBA3949799F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0"/>
          <p:cNvSpPr/>
          <p:nvPr/>
        </p:nvSpPr>
        <p:spPr>
          <a:xfrm>
            <a:off x="502920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项目实施路径与交付物</a:t>
            </a:r>
            <a:endParaRPr lang="en-US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521208" y="841248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以 4 个阶段推进：先诊断、再 MVP、再校准、最后扩展全链路</a:t>
            </a:r>
            <a:endParaRPr lang="en-US" sz="88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94360" y="1581912"/>
            <a:ext cx="2240280" cy="42976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77240" y="1847088"/>
            <a:ext cx="777240" cy="310896"/>
          </a:xfrm>
          <a:prstGeom prst="roundRect">
            <a:avLst>
              <a:gd name="adj" fmla="val 23529"/>
            </a:avLst>
          </a:prstGeom>
          <a:solidFill>
            <a:srgbClr val="1F6EA8"/>
          </a:solidFill>
          <a:ln w="12700">
            <a:solidFill>
              <a:srgbClr val="1F6EA8"/>
            </a:solidFill>
            <a:prstDash val="solid"/>
          </a:ln>
        </p:spPr>
        <p:txBody>
          <a:bodyPr/>
          <a:lstStyle/>
          <a:p>
            <a:endParaRPr lang="en-US" sz="3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 5"/>
          <p:cNvSpPr/>
          <p:nvPr/>
        </p:nvSpPr>
        <p:spPr>
          <a:xfrm>
            <a:off x="777240" y="1920240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阶段一</a:t>
            </a:r>
            <a:endParaRPr lang="en-US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 6"/>
          <p:cNvSpPr/>
          <p:nvPr/>
        </p:nvSpPr>
        <p:spPr>
          <a:xfrm>
            <a:off x="762000" y="2306955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工艺与数据诊断</a:t>
            </a: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 7"/>
          <p:cNvSpPr/>
          <p:nvPr/>
        </p:nvSpPr>
        <p:spPr>
          <a:xfrm>
            <a:off x="762000" y="2913126"/>
            <a:ext cx="1996440" cy="13182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050" dirty="0" err="1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梳理从浸灰、提胶、浓缩、复配、凝胶、干燥到成品检验的完整流程</a:t>
            </a:r>
            <a:r>
              <a:rPr lang="en-US" sz="105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 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050" dirty="0" err="1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识别哪些参数目前靠人工判断，哪些参数已经有记录</a:t>
            </a:r>
            <a:r>
              <a:rPr lang="en-US" sz="105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05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sz="1050" dirty="0" err="1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明确分子量计算、复配比例、产出预测中哪些公式已存在，哪些需要校正</a:t>
            </a:r>
            <a:r>
              <a:rPr lang="en-US" sz="105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05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sz="1050" dirty="0" err="1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建立数据字典和批次追溯逻辑</a:t>
            </a:r>
            <a:endParaRPr lang="en-US" sz="1050" dirty="0">
              <a:solidFill>
                <a:srgbClr val="5E6B7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77240" y="4451604"/>
            <a:ext cx="1874520" cy="0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981325" y="3725037"/>
            <a:ext cx="421005" cy="0"/>
          </a:xfrm>
          <a:prstGeom prst="line">
            <a:avLst/>
          </a:prstGeom>
          <a:noFill/>
          <a:ln w="19050">
            <a:solidFill>
              <a:srgbClr val="D8E0E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520440" y="1581912"/>
            <a:ext cx="2240280" cy="42976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703320" y="1847088"/>
            <a:ext cx="777240" cy="310896"/>
          </a:xfrm>
          <a:prstGeom prst="roundRect">
            <a:avLst>
              <a:gd name="adj" fmla="val 23529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 sz="3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703320" y="1920240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阶段二</a:t>
            </a:r>
            <a:endParaRPr lang="en-US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703320" y="2313431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凝胶/复配算法 MVP</a:t>
            </a: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703320" y="2953511"/>
            <a:ext cx="1874520" cy="1350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171450" indent="-171450">
              <a:spcAft>
                <a:spcPts val="400"/>
              </a:spcAft>
              <a:buFont typeface="Courier New" panose="02070309020205020404" pitchFamily="49" charset="0"/>
              <a:buChar char="o"/>
            </a:pPr>
            <a:r>
              <a:rPr lang="en-US" sz="1050" dirty="0" err="1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固化</a:t>
            </a:r>
            <a:r>
              <a:rPr lang="en-US" sz="105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sz="1050" dirty="0" err="1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GPC、黏度法、复配分子量计算公式</a:t>
            </a:r>
            <a:endParaRPr lang="en-US" sz="1050" dirty="0">
              <a:solidFill>
                <a:srgbClr val="5E6B7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spcAft>
                <a:spcPts val="400"/>
              </a:spcAft>
              <a:buFont typeface="Courier New" panose="02070309020205020404" pitchFamily="49" charset="0"/>
              <a:buChar char="o"/>
            </a:pPr>
            <a:r>
              <a:rPr lang="en-US" sz="1050" dirty="0" err="1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建立干基重量、固含量、水分、损耗率的产出预测逻辑</a:t>
            </a:r>
            <a:endParaRPr lang="en-US" sz="1050" dirty="0">
              <a:solidFill>
                <a:srgbClr val="5E6B7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spcAft>
                <a:spcPts val="400"/>
              </a:spcAft>
              <a:buFont typeface="Courier New" panose="02070309020205020404" pitchFamily="49" charset="0"/>
              <a:buChar char="o"/>
            </a:pPr>
            <a:r>
              <a:rPr lang="en-US" sz="105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sz="1050" dirty="0" err="1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建立批次胶液复配推荐工具</a:t>
            </a:r>
            <a:endParaRPr lang="en-US" sz="1050" dirty="0">
              <a:solidFill>
                <a:srgbClr val="5E6B7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spcAft>
                <a:spcPts val="400"/>
              </a:spcAft>
              <a:buFont typeface="Courier New" panose="02070309020205020404" pitchFamily="49" charset="0"/>
              <a:buChar char="o"/>
            </a:pPr>
            <a:r>
              <a:rPr lang="en-US" sz="1050" dirty="0" err="1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输出目标</a:t>
            </a:r>
            <a:r>
              <a:rPr lang="en-US" sz="105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sz="1050" dirty="0" err="1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Mw、目标产出、复配比例、风险提示</a:t>
            </a:r>
            <a:r>
              <a:rPr lang="en-US" sz="105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18" name="Shape 16"/>
          <p:cNvSpPr/>
          <p:nvPr/>
        </p:nvSpPr>
        <p:spPr>
          <a:xfrm>
            <a:off x="3703320" y="4451604"/>
            <a:ext cx="1874520" cy="0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878830" y="3737607"/>
            <a:ext cx="368046" cy="1"/>
          </a:xfrm>
          <a:prstGeom prst="line">
            <a:avLst/>
          </a:prstGeom>
          <a:noFill/>
          <a:ln w="19050">
            <a:solidFill>
              <a:srgbClr val="D8E0E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446520" y="1581912"/>
            <a:ext cx="2240280" cy="42976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629400" y="1847088"/>
            <a:ext cx="777240" cy="310896"/>
          </a:xfrm>
          <a:prstGeom prst="roundRect">
            <a:avLst>
              <a:gd name="adj" fmla="val 2352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 sz="3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629400" y="1920240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阶段三</a:t>
            </a:r>
            <a:endParaRPr lang="en-US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669024" y="2335531"/>
            <a:ext cx="1996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质量偏差校正AI</a:t>
            </a:r>
            <a:r>
              <a:rPr lang="zh-CN" altLang="en-US" sz="14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推荐</a:t>
            </a: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652260" y="2875025"/>
            <a:ext cx="1874520" cy="14904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171450" indent="-171450">
              <a:spcAft>
                <a:spcPts val="400"/>
              </a:spcAft>
              <a:buFont typeface="Courier New" panose="02070309020205020404" pitchFamily="49" charset="0"/>
              <a:buChar char="o"/>
            </a:pPr>
            <a:r>
              <a:rPr lang="en-US" sz="1050" dirty="0" err="1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用历史批次数据训练偏差校正模型</a:t>
            </a:r>
            <a:endParaRPr lang="en-US" sz="1050" dirty="0">
              <a:solidFill>
                <a:srgbClr val="5E6B7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spcAft>
                <a:spcPts val="400"/>
              </a:spcAft>
              <a:buFont typeface="Courier New" panose="02070309020205020404" pitchFamily="49" charset="0"/>
              <a:buChar char="o"/>
            </a:pPr>
            <a:r>
              <a:rPr lang="en-US" sz="1050" dirty="0" err="1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对理论</a:t>
            </a:r>
            <a:r>
              <a:rPr lang="en-US" sz="105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Mw </a:t>
            </a:r>
            <a:r>
              <a:rPr lang="en-US" sz="1050" dirty="0" err="1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与实际</a:t>
            </a:r>
            <a:r>
              <a:rPr lang="en-US" sz="105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GPC </a:t>
            </a:r>
            <a:r>
              <a:rPr lang="en-US" sz="1050" dirty="0" err="1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检测结果进行偏差分析</a:t>
            </a:r>
            <a:endParaRPr lang="en-US" sz="1050" dirty="0">
              <a:solidFill>
                <a:srgbClr val="5E6B7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spcAft>
                <a:spcPts val="400"/>
              </a:spcAft>
              <a:buFont typeface="Courier New" panose="02070309020205020404" pitchFamily="49" charset="0"/>
              <a:buChar char="o"/>
            </a:pPr>
            <a:r>
              <a:rPr lang="en-US" sz="1050" dirty="0" err="1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对理论产出与实际成品入库量进行偏差分析</a:t>
            </a:r>
            <a:endParaRPr lang="en-US" sz="1050" dirty="0">
              <a:solidFill>
                <a:srgbClr val="5E6B7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spcAft>
                <a:spcPts val="400"/>
              </a:spcAft>
              <a:buFont typeface="Courier New" panose="02070309020205020404" pitchFamily="49" charset="0"/>
              <a:buChar char="o"/>
            </a:pPr>
            <a:r>
              <a:rPr lang="en-US" sz="1050" dirty="0" err="1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输出复配方案推荐、异常预警、参数调整建议</a:t>
            </a:r>
            <a:endParaRPr lang="en-US" sz="1050" dirty="0">
              <a:solidFill>
                <a:srgbClr val="5E6B7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629400" y="4451604"/>
            <a:ext cx="1874520" cy="0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8819769" y="3725035"/>
            <a:ext cx="413004" cy="1"/>
          </a:xfrm>
          <a:prstGeom prst="line">
            <a:avLst/>
          </a:prstGeom>
          <a:noFill/>
          <a:ln w="19050">
            <a:solidFill>
              <a:srgbClr val="D8E0E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9372600" y="1581912"/>
            <a:ext cx="2240280" cy="42976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9555480" y="1847088"/>
            <a:ext cx="777240" cy="310896"/>
          </a:xfrm>
          <a:prstGeom prst="roundRect">
            <a:avLst>
              <a:gd name="adj" fmla="val 23529"/>
            </a:avLst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  <p:txBody>
          <a:bodyPr/>
          <a:lstStyle/>
          <a:p>
            <a:endParaRPr lang="en-US" sz="3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9555480" y="1920240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阶段四</a:t>
            </a:r>
            <a:endParaRPr lang="en-US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9555480" y="232867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全链路 AI 化</a:t>
            </a: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9559240" y="3664456"/>
            <a:ext cx="1874520" cy="0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8A8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lang="en-US" b="0">
                <a:latin typeface="微软雅黑" panose="020B0503020204020204" pitchFamily="34" charset="-122"/>
                <a:ea typeface="微软雅黑" panose="020B0503020204020204" pitchFamily="34" charset="-122"/>
              </a:rPr>
              <a:t>18</a:t>
            </a:fld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Text 7">
            <a:extLst>
              <a:ext uri="{FF2B5EF4-FFF2-40B4-BE49-F238E27FC236}">
                <a16:creationId xmlns:a16="http://schemas.microsoft.com/office/drawing/2014/main" id="{F88EFB82-42A6-4F78-E92C-9F88F0F95C0E}"/>
              </a:ext>
            </a:extLst>
          </p:cNvPr>
          <p:cNvSpPr/>
          <p:nvPr/>
        </p:nvSpPr>
        <p:spPr>
          <a:xfrm>
            <a:off x="762000" y="4711445"/>
            <a:ext cx="1996440" cy="92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zh-CN" altLang="en-US" sz="1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交付</a:t>
            </a:r>
            <a:endParaRPr lang="en-US" altLang="zh-CN" sz="1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050" dirty="0" err="1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现状流程图</a:t>
            </a:r>
            <a:endParaRPr lang="en-US" sz="1050" dirty="0">
              <a:solidFill>
                <a:srgbClr val="5E6B7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050" dirty="0" err="1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分子量与产出影响因子清单</a:t>
            </a:r>
            <a:endParaRPr lang="en-US" sz="1050" dirty="0">
              <a:solidFill>
                <a:srgbClr val="5E6B7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050" dirty="0" err="1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数据字段清单</a:t>
            </a:r>
            <a:endParaRPr lang="en-US" sz="1050" dirty="0">
              <a:solidFill>
                <a:srgbClr val="5E6B7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zh-CN" altLang="en-US" sz="105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当前系统、设备的信息</a:t>
            </a:r>
            <a:endParaRPr lang="en-US" sz="1050" dirty="0">
              <a:solidFill>
                <a:srgbClr val="5E6B7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050" dirty="0" err="1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当前计算偏差诊断报告</a:t>
            </a:r>
            <a:endParaRPr lang="en-US" sz="1050" dirty="0">
              <a:solidFill>
                <a:srgbClr val="5E6B7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Text 7">
            <a:extLst>
              <a:ext uri="{FF2B5EF4-FFF2-40B4-BE49-F238E27FC236}">
                <a16:creationId xmlns:a16="http://schemas.microsoft.com/office/drawing/2014/main" id="{8748D7E4-2C7F-656F-AB52-5A09A20DBFDD}"/>
              </a:ext>
            </a:extLst>
          </p:cNvPr>
          <p:cNvSpPr/>
          <p:nvPr/>
        </p:nvSpPr>
        <p:spPr>
          <a:xfrm>
            <a:off x="3703320" y="4670302"/>
            <a:ext cx="1996440" cy="92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zh-CN" altLang="en-US" sz="1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交付</a:t>
            </a:r>
            <a:endParaRPr lang="en-US" altLang="zh-CN" sz="1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zh-CN" altLang="en-US" sz="105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分子量算法模型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zh-CN" altLang="en-US" sz="105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复配比例推荐模型 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zh-CN" altLang="en-US" sz="105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凝胶</a:t>
            </a:r>
            <a:r>
              <a:rPr lang="en-US" altLang="zh-CN" sz="105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05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干燥产出预测模型 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altLang="zh-CN" sz="105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Agent MVP</a:t>
            </a:r>
            <a:endParaRPr lang="zh-CN" altLang="en-US" sz="1050" dirty="0">
              <a:solidFill>
                <a:srgbClr val="5E6B7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zh-CN" altLang="en-US" sz="105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现场试算报告。 </a:t>
            </a:r>
          </a:p>
        </p:txBody>
      </p:sp>
      <p:sp>
        <p:nvSpPr>
          <p:cNvPr id="43" name="Text 7">
            <a:extLst>
              <a:ext uri="{FF2B5EF4-FFF2-40B4-BE49-F238E27FC236}">
                <a16:creationId xmlns:a16="http://schemas.microsoft.com/office/drawing/2014/main" id="{6529923A-2973-C730-020E-CEC175924D24}"/>
              </a:ext>
            </a:extLst>
          </p:cNvPr>
          <p:cNvSpPr/>
          <p:nvPr/>
        </p:nvSpPr>
        <p:spPr>
          <a:xfrm>
            <a:off x="6652260" y="4634485"/>
            <a:ext cx="1996440" cy="92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zh-CN" altLang="en-US" sz="1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交付</a:t>
            </a:r>
            <a:endParaRPr lang="en-US" altLang="zh-CN" sz="1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zh-CN" altLang="en-US" sz="105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分子量偏差校正模型 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zh-CN" altLang="en-US" sz="105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产出偏差预测模型 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zh-CN" altLang="en-US" sz="105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质量风险预警规则 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zh-CN" altLang="en-US" sz="105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工艺参数推荐逻辑 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zh-CN" altLang="en-US" sz="105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试运行效果评估报告 </a:t>
            </a:r>
          </a:p>
        </p:txBody>
      </p:sp>
      <p:sp>
        <p:nvSpPr>
          <p:cNvPr id="44" name="Text 7">
            <a:extLst>
              <a:ext uri="{FF2B5EF4-FFF2-40B4-BE49-F238E27FC236}">
                <a16:creationId xmlns:a16="http://schemas.microsoft.com/office/drawing/2014/main" id="{5FDE3C9D-70F3-B1FD-93F4-38687F20AB27}"/>
              </a:ext>
            </a:extLst>
          </p:cNvPr>
          <p:cNvSpPr/>
          <p:nvPr/>
        </p:nvSpPr>
        <p:spPr>
          <a:xfrm>
            <a:off x="9559240" y="2736343"/>
            <a:ext cx="1996440" cy="92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zh-CN" altLang="en-US" sz="1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纵向深化</a:t>
            </a:r>
            <a:endParaRPr lang="en-US" altLang="zh-CN" sz="1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zh-CN" altLang="en-US" sz="105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深化</a:t>
            </a:r>
            <a:r>
              <a:rPr lang="en-US" altLang="zh-CN" sz="105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05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驱动的业务流程，实现能柔性调整的</a:t>
            </a:r>
            <a:r>
              <a:rPr lang="en-US" sz="105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en-US" sz="1050" dirty="0" err="1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订单目标驱动的生产参数优化</a:t>
            </a:r>
            <a:r>
              <a:rPr lang="en-US" sz="105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endParaRPr lang="zh-CN" altLang="en-US" sz="1050" dirty="0">
              <a:solidFill>
                <a:srgbClr val="5E6B7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Text 7">
            <a:extLst>
              <a:ext uri="{FF2B5EF4-FFF2-40B4-BE49-F238E27FC236}">
                <a16:creationId xmlns:a16="http://schemas.microsoft.com/office/drawing/2014/main" id="{69934018-546E-455B-D016-F03504BBB6AC}"/>
              </a:ext>
            </a:extLst>
          </p:cNvPr>
          <p:cNvSpPr/>
          <p:nvPr/>
        </p:nvSpPr>
        <p:spPr>
          <a:xfrm>
            <a:off x="9544000" y="3806952"/>
            <a:ext cx="1996440" cy="19263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zh-CN" altLang="en-US" sz="1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横向拓展</a:t>
            </a:r>
            <a:endParaRPr lang="en-US" altLang="zh-CN" sz="1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zh-CN" altLang="en-US" sz="1050" b="1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浸灰阶段：</a:t>
            </a:r>
            <a:r>
              <a:rPr lang="zh-CN" altLang="en-US" sz="105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浸灰时间、温度、</a:t>
            </a:r>
            <a:r>
              <a:rPr lang="en-US" altLang="zh-CN" sz="105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pH </a:t>
            </a:r>
            <a:r>
              <a:rPr lang="zh-CN" altLang="en-US" sz="105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与分子量趋势预测</a:t>
            </a:r>
            <a:endParaRPr lang="en-US" altLang="zh-CN" sz="1050" dirty="0">
              <a:solidFill>
                <a:srgbClr val="5E6B7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zh-CN" altLang="en-US" sz="1050" b="1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提胶阶段：</a:t>
            </a:r>
            <a:r>
              <a:rPr lang="zh-CN" altLang="en-US" sz="105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不同道次胶液分子量分级与质量预测</a:t>
            </a:r>
            <a:endParaRPr lang="en-US" altLang="zh-CN" sz="1050" dirty="0">
              <a:solidFill>
                <a:srgbClr val="5E6B7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zh-CN" altLang="en-US" sz="1050" b="1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浓缩阶段：</a:t>
            </a:r>
            <a:r>
              <a:rPr lang="zh-CN" altLang="en-US" sz="105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浓度、黏度、灭菌条件对后续凝胶状态的影响预测</a:t>
            </a:r>
            <a:endParaRPr lang="en-US" altLang="zh-CN" sz="1050" dirty="0">
              <a:solidFill>
                <a:srgbClr val="5E6B7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zh-CN" altLang="en-US" sz="1050" b="1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干燥阶段：</a:t>
            </a:r>
            <a:r>
              <a:rPr lang="zh-CN" altLang="en-US" sz="105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水分、干燥时间、能耗、成品质量预测</a:t>
            </a:r>
            <a:endParaRPr lang="en-US" altLang="zh-CN" sz="1050" dirty="0">
              <a:solidFill>
                <a:srgbClr val="5E6B7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zh-CN" altLang="en-US" sz="1050" b="1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质检阶段：</a:t>
            </a:r>
            <a:r>
              <a:rPr lang="en-US" altLang="zh-CN" sz="105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GPC</a:t>
            </a:r>
            <a:r>
              <a:rPr lang="zh-CN" altLang="en-US" sz="105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、黏度、冻力、</a:t>
            </a:r>
            <a:r>
              <a:rPr lang="en-US" altLang="zh-CN" sz="105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PDI </a:t>
            </a:r>
            <a:r>
              <a:rPr lang="zh-CN" altLang="en-US" sz="105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数据自动核算与异常判断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D95B012-1E71-66FD-DCC3-1A4A6AD6481F}"/>
              </a:ext>
            </a:extLst>
          </p:cNvPr>
          <p:cNvSpPr/>
          <p:nvPr/>
        </p:nvSpPr>
        <p:spPr>
          <a:xfrm>
            <a:off x="9869396" y="469392"/>
            <a:ext cx="1819684" cy="45779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初步设想，待讨论</a:t>
            </a:r>
            <a:endParaRPr lang="en-US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62FC61B-EBF2-74B4-EE6A-C0BF67E5D00D}"/>
              </a:ext>
            </a:extLst>
          </p:cNvPr>
          <p:cNvSpPr/>
          <p:nvPr/>
        </p:nvSpPr>
        <p:spPr>
          <a:xfrm>
            <a:off x="419878" y="1303949"/>
            <a:ext cx="8500187" cy="4712802"/>
          </a:xfrm>
          <a:prstGeom prst="rect">
            <a:avLst/>
          </a:prstGeom>
          <a:noFill/>
          <a:ln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" name="think-cell data - do not delete" hidden="1">
            <a:extLst>
              <a:ext uri="{FF2B5EF4-FFF2-40B4-BE49-F238E27FC236}">
                <a16:creationId xmlns:a16="http://schemas.microsoft.com/office/drawing/2014/main" id="{A77353D3-9DA1-F960-2AE3-C3729E129B1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173550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3" progId="TCLayout.ActiveDocument.1">
                  <p:embed/>
                </p:oleObj>
              </mc:Choice>
              <mc:Fallback>
                <p:oleObj name="think-cell Slide" r:id="rId4" imgW="473" imgH="473" progId="TCLayout.ActiveDocument.1">
                  <p:embed/>
                  <p:pic>
                    <p:nvPicPr>
                      <p:cNvPr id="4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77353D3-9DA1-F960-2AE3-C3729E129B1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0"/>
          <p:cNvSpPr/>
          <p:nvPr/>
        </p:nvSpPr>
        <p:spPr>
          <a:xfrm>
            <a:off x="502920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未来拓展：从凝胶试点到全链路 AI 化</a:t>
            </a:r>
            <a:endParaRPr lang="en-US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521208" y="841248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先横向复制到更多工段，再纵向深化为订单目标驱动的智能决策系统</a:t>
            </a:r>
            <a:endParaRPr lang="en-US" sz="88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 3"/>
          <p:cNvSpPr/>
          <p:nvPr/>
        </p:nvSpPr>
        <p:spPr>
          <a:xfrm>
            <a:off x="685800" y="13716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6EA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横向复制</a:t>
            </a:r>
            <a:endParaRPr lang="en-US" sz="1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1828800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143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 5"/>
          <p:cNvSpPr/>
          <p:nvPr/>
        </p:nvSpPr>
        <p:spPr>
          <a:xfrm>
            <a:off x="896112" y="1975104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6EA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浸灰</a:t>
            </a:r>
            <a:endParaRPr 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 6"/>
          <p:cNvSpPr/>
          <p:nvPr/>
        </p:nvSpPr>
        <p:spPr>
          <a:xfrm>
            <a:off x="896112" y="2340864"/>
            <a:ext cx="1499616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时间/温度/pH → Mw 趋势</a:t>
            </a:r>
            <a:endParaRPr lang="en-US" sz="83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606040" y="2359152"/>
            <a:ext cx="292608" cy="0"/>
          </a:xfrm>
          <a:prstGeom prst="line">
            <a:avLst/>
          </a:prstGeom>
          <a:noFill/>
          <a:ln w="19050">
            <a:solidFill>
              <a:srgbClr val="D8E0E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971800" y="1828800"/>
            <a:ext cx="1828800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143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136392" y="1975104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6EA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提胶</a:t>
            </a:r>
            <a:endParaRPr 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136392" y="2340864"/>
            <a:ext cx="1499616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道次/温度 → 分子量分级</a:t>
            </a:r>
            <a:endParaRPr lang="en-US" sz="83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846320" y="2359152"/>
            <a:ext cx="292608" cy="0"/>
          </a:xfrm>
          <a:prstGeom prst="line">
            <a:avLst/>
          </a:prstGeom>
          <a:noFill/>
          <a:ln w="19050">
            <a:solidFill>
              <a:srgbClr val="D8E0E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212080" y="1828800"/>
            <a:ext cx="1828800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143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376672" y="1975104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6EA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浓缩</a:t>
            </a:r>
            <a:endParaRPr 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376672" y="2340864"/>
            <a:ext cx="1499616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浓度/黏度 → 复配基础</a:t>
            </a:r>
            <a:endParaRPr lang="en-US" sz="83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086600" y="2359152"/>
            <a:ext cx="292608" cy="0"/>
          </a:xfrm>
          <a:prstGeom prst="line">
            <a:avLst/>
          </a:prstGeom>
          <a:noFill/>
          <a:ln w="19050">
            <a:solidFill>
              <a:srgbClr val="D8E0E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7452360" y="1828800"/>
            <a:ext cx="1828800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143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616952" y="1975104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凝胶干燥</a:t>
            </a:r>
            <a:endParaRPr 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616952" y="2340864"/>
            <a:ext cx="1499616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水分/损耗 → 产出预测</a:t>
            </a:r>
            <a:endParaRPr lang="en-US" sz="83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9326880" y="2359152"/>
            <a:ext cx="292608" cy="0"/>
          </a:xfrm>
          <a:prstGeom prst="line">
            <a:avLst/>
          </a:prstGeom>
          <a:noFill/>
          <a:ln w="19050">
            <a:solidFill>
              <a:srgbClr val="D8E0E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9692640" y="1828800"/>
            <a:ext cx="1828800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143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9857232" y="1975104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6EA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质检</a:t>
            </a:r>
            <a:endParaRPr 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9857232" y="2340864"/>
            <a:ext cx="1499616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GPC/黏度/冻力 → 质量闭环</a:t>
            </a:r>
            <a:endParaRPr lang="en-US" sz="83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85800" y="3337560"/>
            <a:ext cx="10835640" cy="0"/>
          </a:xfrm>
          <a:prstGeom prst="line">
            <a:avLst/>
          </a:prstGeom>
          <a:noFill/>
          <a:ln w="1397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85800" y="37033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B8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纵向深化</a:t>
            </a:r>
            <a:endParaRPr lang="en-US" sz="1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960120" y="4315968"/>
            <a:ext cx="2176272" cy="960120"/>
          </a:xfrm>
          <a:prstGeom prst="roundRect">
            <a:avLst>
              <a:gd name="adj" fmla="val 9524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124712" y="448056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6EA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L1</a:t>
            </a:r>
            <a:endParaRPr 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554480" y="4425696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自动计算</a:t>
            </a:r>
            <a:endParaRPr 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1554480" y="477316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公式自动化</a:t>
            </a:r>
            <a:endParaRPr lang="en-US" sz="8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3172968" y="4800600"/>
            <a:ext cx="347472" cy="0"/>
          </a:xfrm>
          <a:prstGeom prst="line">
            <a:avLst/>
          </a:prstGeom>
          <a:noFill/>
          <a:ln w="19050">
            <a:solidFill>
              <a:srgbClr val="D8E0E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3721608" y="4315968"/>
            <a:ext cx="2176272" cy="960120"/>
          </a:xfrm>
          <a:prstGeom prst="roundRect">
            <a:avLst>
              <a:gd name="adj" fmla="val 9524"/>
            </a:avLst>
          </a:prstGeom>
          <a:solidFill>
            <a:srgbClr val="EAF7F3"/>
          </a:solidFill>
          <a:ln w="12700">
            <a:solidFill>
              <a:srgbClr val="EAF7F3"/>
            </a:solidFill>
            <a:prstDash val="solid"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3886200" y="448056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L2</a:t>
            </a:r>
            <a:endParaRPr 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4315968" y="4425696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方案推荐</a:t>
            </a:r>
            <a:endParaRPr 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4315968" y="477316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复配比例/参数建议</a:t>
            </a:r>
            <a:endParaRPr lang="en-US" sz="8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5934456" y="4800600"/>
            <a:ext cx="347472" cy="0"/>
          </a:xfrm>
          <a:prstGeom prst="line">
            <a:avLst/>
          </a:prstGeom>
          <a:noFill/>
          <a:ln w="19050">
            <a:solidFill>
              <a:srgbClr val="D8E0E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6483096" y="4315968"/>
            <a:ext cx="2176272" cy="960120"/>
          </a:xfrm>
          <a:prstGeom prst="roundRect">
            <a:avLst>
              <a:gd name="adj" fmla="val 9524"/>
            </a:avLst>
          </a:prstGeom>
          <a:solidFill>
            <a:srgbClr val="FFF7E8"/>
          </a:solidFill>
          <a:ln w="12700">
            <a:solidFill>
              <a:srgbClr val="FFF7E8"/>
            </a:solidFill>
            <a:prstDash val="solid"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6647688" y="448056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L3</a:t>
            </a:r>
            <a:endParaRPr 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7077456" y="4425696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风险预警</a:t>
            </a:r>
            <a:endParaRPr 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7077456" y="477316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质量与产出偏差预测</a:t>
            </a:r>
            <a:endParaRPr lang="en-US" sz="8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8695944" y="4800600"/>
            <a:ext cx="347472" cy="0"/>
          </a:xfrm>
          <a:prstGeom prst="line">
            <a:avLst/>
          </a:prstGeom>
          <a:noFill/>
          <a:ln w="19050">
            <a:solidFill>
              <a:srgbClr val="D8E0E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9244584" y="4315968"/>
            <a:ext cx="2176272" cy="960120"/>
          </a:xfrm>
          <a:prstGeom prst="roundRect">
            <a:avLst>
              <a:gd name="adj" fmla="val 9524"/>
            </a:avLst>
          </a:prstGeom>
          <a:solidFill>
            <a:srgbClr val="FFF2F0"/>
          </a:solidFill>
          <a:ln w="12700">
            <a:solidFill>
              <a:srgbClr val="FFF2F0"/>
            </a:solidFill>
            <a:prstDash val="solid"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9409176" y="448056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645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L4</a:t>
            </a:r>
            <a:endParaRPr 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9838944" y="4425696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智能优化</a:t>
            </a:r>
            <a:endParaRPr 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9838944" y="477316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订单目标驱动生产参数优化</a:t>
            </a:r>
            <a:endParaRPr lang="en-US" sz="8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512064" y="6473952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9AA6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Source: 客户提供《添正生物明胶生产工艺及分子量计算技术手册》</a:t>
            </a:r>
            <a:endParaRPr lang="en-US" sz="68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8A8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lang="en-US" b="0">
                <a:latin typeface="微软雅黑" panose="020B0503020204020204" pitchFamily="34" charset="-122"/>
                <a:ea typeface="微软雅黑" panose="020B0503020204020204" pitchFamily="34" charset="-122"/>
              </a:rPr>
              <a:t>19</a:t>
            </a:fld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6F0C503-FD54-C424-4A96-92432502BD00}"/>
              </a:ext>
            </a:extLst>
          </p:cNvPr>
          <p:cNvSpPr/>
          <p:nvPr/>
        </p:nvSpPr>
        <p:spPr>
          <a:xfrm>
            <a:off x="9820691" y="489255"/>
            <a:ext cx="1819684" cy="45779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初步设想，待讨论</a:t>
            </a:r>
            <a:endParaRPr lang="en-US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think-cell data - do not delete" hidden="1">
            <a:extLst>
              <a:ext uri="{FF2B5EF4-FFF2-40B4-BE49-F238E27FC236}">
                <a16:creationId xmlns:a16="http://schemas.microsoft.com/office/drawing/2014/main" id="{EFCA2A96-E14A-34D8-A878-8A9D56D9BB4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3761380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3" progId="TCLayout.ActiveDocument.1">
                  <p:embed/>
                </p:oleObj>
              </mc:Choice>
              <mc:Fallback>
                <p:oleObj name="think-cell Slide" r:id="rId4" imgW="473" imgH="473" progId="TCLayout.ActiveDocument.1">
                  <p:embed/>
                  <p:pic>
                    <p:nvPicPr>
                      <p:cNvPr id="2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FCA2A96-E14A-34D8-A878-8A9D56D9BB4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0"/>
          <p:cNvSpPr/>
          <p:nvPr/>
        </p:nvSpPr>
        <p:spPr>
          <a:xfrm>
            <a:off x="502920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客户参与与项目分工</a:t>
            </a:r>
            <a:endParaRPr lang="en-US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521208" y="841248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项目成败关键不只是建模型，而是拿到可追溯、可校验的批次数据</a:t>
            </a:r>
            <a:endParaRPr lang="en-US" sz="88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85800" y="1508760"/>
            <a:ext cx="1083564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 4"/>
          <p:cNvSpPr/>
          <p:nvPr/>
        </p:nvSpPr>
        <p:spPr>
          <a:xfrm>
            <a:off x="960120" y="1737360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6EA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客户生产/工艺团队</a:t>
            </a:r>
            <a:endParaRPr 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 5"/>
          <p:cNvSpPr/>
          <p:nvPr/>
        </p:nvSpPr>
        <p:spPr>
          <a:xfrm>
            <a:off x="3246120" y="1737360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提供工艺参数、复配经验、道次规则、异常案例；参与试算和结果复核</a:t>
            </a:r>
            <a:endParaRPr 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85800" y="2542032"/>
            <a:ext cx="10835640" cy="804672"/>
          </a:xfrm>
          <a:prstGeom prst="roundRect">
            <a:avLst>
              <a:gd name="adj" fmla="val 11364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 7"/>
          <p:cNvSpPr/>
          <p:nvPr/>
        </p:nvSpPr>
        <p:spPr>
          <a:xfrm>
            <a:off x="960120" y="2770632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客户质检团队</a:t>
            </a:r>
            <a:endParaRPr 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246120" y="2770632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提供 GPC、黏度、冻力、水分等检测数据；确认指标口径和判定标准</a:t>
            </a:r>
            <a:endParaRPr 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85800" y="3575304"/>
            <a:ext cx="1083564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960120" y="3803904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客户信息/设备团队</a:t>
            </a:r>
            <a:endParaRPr 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246120" y="3803904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协助导出历史批次、仪表数据；评估后续系统接口与权限</a:t>
            </a:r>
            <a:endParaRPr 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85800" y="4608576"/>
            <a:ext cx="10835640" cy="804672"/>
          </a:xfrm>
          <a:prstGeom prst="roundRect">
            <a:avLst>
              <a:gd name="adj" fmla="val 11364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60120" y="4837176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200" b="1" dirty="0">
                <a:solidFill>
                  <a:srgbClr val="D645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澜晞智能</a:t>
            </a:r>
            <a:r>
              <a:rPr lang="en-US" sz="1200" b="1" dirty="0" err="1">
                <a:solidFill>
                  <a:srgbClr val="D645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项目团队</a:t>
            </a:r>
            <a:endParaRPr 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246120" y="4837176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流程诊断、算法建模、MVP 开发、偏差分析、试运行评估和全链路蓝图规划</a:t>
            </a:r>
            <a:endParaRPr 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85800" y="5715000"/>
            <a:ext cx="10835640" cy="438912"/>
          </a:xfrm>
          <a:prstGeom prst="roundRect">
            <a:avLst>
              <a:gd name="adj" fmla="val 25000"/>
            </a:avLst>
          </a:prstGeom>
          <a:solidFill>
            <a:srgbClr val="EAF7F3"/>
          </a:solidFill>
          <a:ln w="11430">
            <a:solidFill>
              <a:srgbClr val="EAF7F3"/>
            </a:solidFill>
            <a:prstDash val="solid"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50392" y="5861304"/>
            <a:ext cx="10506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4B8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建议前置确认</a:t>
            </a:r>
            <a:endParaRPr lang="en-US" sz="9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50392" y="6227064"/>
            <a:ext cx="10506456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25000" lnSpcReduction="20000"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至少准备 20–50 个历史批次的数据样本，用于对比“理论计算值—实际 GPC 检测值—实际成品产出”的偏差。</a:t>
            </a:r>
            <a:endParaRPr lang="en-US" sz="9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12064" y="6473952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9AA6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Source: 客户提供《添正生物明胶生产工艺及分子量计算技术手册》</a:t>
            </a:r>
            <a:endParaRPr lang="en-US" sz="68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8A8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lang="en-US" b="0"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fld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B56994B-EB60-D02E-4CC7-73CDEB5E6FA5}"/>
              </a:ext>
            </a:extLst>
          </p:cNvPr>
          <p:cNvSpPr/>
          <p:nvPr/>
        </p:nvSpPr>
        <p:spPr>
          <a:xfrm>
            <a:off x="9820691" y="489255"/>
            <a:ext cx="1819684" cy="45779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初步设想，待讨论</a:t>
            </a:r>
            <a:endParaRPr lang="en-US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E03354F8-4EDF-DCAC-71AA-98091165CC9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6340457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3" progId="TCLayout.ActiveDocument.1">
                  <p:embed/>
                </p:oleObj>
              </mc:Choice>
              <mc:Fallback>
                <p:oleObj name="think-cell Slide" r:id="rId4" imgW="473" imgH="473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03354F8-4EDF-DCAC-71AA-98091165CC9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D24B0801-73A6-F180-FA1A-8959E58ABC21}"/>
              </a:ext>
            </a:extLst>
          </p:cNvPr>
          <p:cNvSpPr/>
          <p:nvPr/>
        </p:nvSpPr>
        <p:spPr>
          <a:xfrm>
            <a:off x="0" y="2733040"/>
            <a:ext cx="12192000" cy="163576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Backup</a:t>
            </a:r>
            <a:r>
              <a:rPr lang="zh-CN" altLang="en-US" sz="3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材料</a:t>
            </a:r>
            <a:endParaRPr lang="en-US" sz="3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458196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B222270-5C9C-E0E7-0FD3-3178FDE38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" name="think-cell data - do not delete" hidden="1">
            <a:extLst>
              <a:ext uri="{FF2B5EF4-FFF2-40B4-BE49-F238E27FC236}">
                <a16:creationId xmlns:a16="http://schemas.microsoft.com/office/drawing/2014/main" id="{FCC17B77-D39B-63F4-0524-B1A525B66C9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8136129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3" progId="TCLayout.ActiveDocument.1">
                  <p:embed/>
                </p:oleObj>
              </mc:Choice>
              <mc:Fallback>
                <p:oleObj name="think-cell Slide" r:id="rId4" imgW="473" imgH="473" progId="TCLayout.ActiveDocument.1">
                  <p:embed/>
                  <p:pic>
                    <p:nvPicPr>
                      <p:cNvPr id="3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CC17B77-D39B-63F4-0524-B1A525B66C9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0">
            <a:extLst>
              <a:ext uri="{FF2B5EF4-FFF2-40B4-BE49-F238E27FC236}">
                <a16:creationId xmlns:a16="http://schemas.microsoft.com/office/drawing/2014/main" id="{E3A2A36C-7727-87ED-EEED-EF105CD1AD55}"/>
              </a:ext>
            </a:extLst>
          </p:cNvPr>
          <p:cNvSpPr/>
          <p:nvPr/>
        </p:nvSpPr>
        <p:spPr>
          <a:xfrm>
            <a:off x="502920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2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骨明胶生产工艺</a:t>
            </a:r>
            <a:endParaRPr lang="en-US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7059927-AECD-00BA-7521-225034D1C3AF}"/>
              </a:ext>
            </a:extLst>
          </p:cNvPr>
          <p:cNvSpPr/>
          <p:nvPr/>
        </p:nvSpPr>
        <p:spPr>
          <a:xfrm>
            <a:off x="521208" y="841248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凝胶是问题显现点，但上游工艺参数共同决定分子量与最终产出</a:t>
            </a:r>
            <a:endParaRPr lang="en-US" sz="88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F811EEB-2747-CC55-7B8D-78FF7A936F36}"/>
              </a:ext>
            </a:extLst>
          </p:cNvPr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97AA557F-16DA-247B-81C0-DD4098CBAA75}"/>
              </a:ext>
            </a:extLst>
          </p:cNvPr>
          <p:cNvGrpSpPr/>
          <p:nvPr/>
        </p:nvGrpSpPr>
        <p:grpSpPr>
          <a:xfrm>
            <a:off x="783082" y="1953437"/>
            <a:ext cx="10595356" cy="1251713"/>
            <a:chOff x="502920" y="1874520"/>
            <a:chExt cx="10104120" cy="868680"/>
          </a:xfrm>
        </p:grpSpPr>
        <p:sp>
          <p:nvSpPr>
            <p:cNvPr id="5" name="Shape 3">
              <a:extLst>
                <a:ext uri="{FF2B5EF4-FFF2-40B4-BE49-F238E27FC236}">
                  <a16:creationId xmlns:a16="http://schemas.microsoft.com/office/drawing/2014/main" id="{E10001E4-CEE4-8835-5CA8-CAEB9BA2DEE7}"/>
                </a:ext>
              </a:extLst>
            </p:cNvPr>
            <p:cNvSpPr/>
            <p:nvPr/>
          </p:nvSpPr>
          <p:spPr>
            <a:xfrm>
              <a:off x="502920" y="1874520"/>
              <a:ext cx="1325880" cy="868680"/>
            </a:xfrm>
            <a:prstGeom prst="roundRect">
              <a:avLst>
                <a:gd name="adj" fmla="val 10526"/>
              </a:avLst>
            </a:prstGeom>
            <a:solidFill>
              <a:srgbClr val="FFFFFF"/>
            </a:solidFill>
            <a:ln w="12700">
              <a:solidFill>
                <a:srgbClr val="D8E0E8"/>
              </a:solidFill>
              <a:prstDash val="solid"/>
            </a:ln>
          </p:spPr>
          <p:txBody>
            <a:bodyPr/>
            <a:lstStyle/>
            <a:p>
              <a:endParaRPr lang="en-US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Text 4">
              <a:extLst>
                <a:ext uri="{FF2B5EF4-FFF2-40B4-BE49-F238E27FC236}">
                  <a16:creationId xmlns:a16="http://schemas.microsoft.com/office/drawing/2014/main" id="{A3B9E732-E5CC-BC02-35C4-FD50BE69913C}"/>
                </a:ext>
              </a:extLst>
            </p:cNvPr>
            <p:cNvSpPr/>
            <p:nvPr/>
          </p:nvSpPr>
          <p:spPr>
            <a:xfrm>
              <a:off x="557784" y="2020824"/>
              <a:ext cx="1216152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1020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CJK SC" pitchFamily="34" charset="-120"/>
                </a:rPr>
                <a:t>原料预处理</a:t>
              </a:r>
              <a:endParaRPr 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Text 5">
              <a:extLst>
                <a:ext uri="{FF2B5EF4-FFF2-40B4-BE49-F238E27FC236}">
                  <a16:creationId xmlns:a16="http://schemas.microsoft.com/office/drawing/2014/main" id="{3AB21009-26F8-5E99-FBEF-ECAA1DCA58BD}"/>
                </a:ext>
              </a:extLst>
            </p:cNvPr>
            <p:cNvSpPr/>
            <p:nvPr/>
          </p:nvSpPr>
          <p:spPr>
            <a:xfrm>
              <a:off x="557784" y="2215432"/>
              <a:ext cx="1216152" cy="3444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algn="ctr"/>
              <a:r>
                <a:rPr lang="en-US" sz="1000" b="1" dirty="0" err="1">
                  <a:solidFill>
                    <a:srgbClr val="5E6B7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去除油脂、矿物质与杂质，保留纯胶原基础</a:t>
              </a:r>
              <a:endParaRPr lang="en-US" sz="1000" b="1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Shape 6">
              <a:extLst>
                <a:ext uri="{FF2B5EF4-FFF2-40B4-BE49-F238E27FC236}">
                  <a16:creationId xmlns:a16="http://schemas.microsoft.com/office/drawing/2014/main" id="{30936FB8-2250-1C4D-6E4E-C053D93D819E}"/>
                </a:ext>
              </a:extLst>
            </p:cNvPr>
            <p:cNvSpPr/>
            <p:nvPr/>
          </p:nvSpPr>
          <p:spPr>
            <a:xfrm>
              <a:off x="1856232" y="2304288"/>
              <a:ext cx="100584" cy="0"/>
            </a:xfrm>
            <a:prstGeom prst="line">
              <a:avLst/>
            </a:prstGeom>
            <a:noFill/>
            <a:ln w="19050">
              <a:solidFill>
                <a:srgbClr val="D8E0E8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 lang="en-US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Shape 7">
              <a:extLst>
                <a:ext uri="{FF2B5EF4-FFF2-40B4-BE49-F238E27FC236}">
                  <a16:creationId xmlns:a16="http://schemas.microsoft.com/office/drawing/2014/main" id="{A1E94A5E-DDC7-721F-75E0-84D0CDDEB80C}"/>
                </a:ext>
              </a:extLst>
            </p:cNvPr>
            <p:cNvSpPr/>
            <p:nvPr/>
          </p:nvSpPr>
          <p:spPr>
            <a:xfrm>
              <a:off x="1965960" y="1874520"/>
              <a:ext cx="1325880" cy="868680"/>
            </a:xfrm>
            <a:prstGeom prst="roundRect">
              <a:avLst>
                <a:gd name="adj" fmla="val 10526"/>
              </a:avLst>
            </a:prstGeom>
            <a:solidFill>
              <a:srgbClr val="EAF2FF"/>
            </a:solidFill>
            <a:ln w="12700">
              <a:solidFill>
                <a:srgbClr val="B9D3FF"/>
              </a:solidFill>
              <a:prstDash val="solid"/>
            </a:ln>
          </p:spPr>
          <p:txBody>
            <a:bodyPr/>
            <a:lstStyle/>
            <a:p>
              <a:endParaRPr lang="en-US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Text 8">
              <a:extLst>
                <a:ext uri="{FF2B5EF4-FFF2-40B4-BE49-F238E27FC236}">
                  <a16:creationId xmlns:a16="http://schemas.microsoft.com/office/drawing/2014/main" id="{4016FDF8-A149-3A40-E06E-B0E6CCE1CC72}"/>
                </a:ext>
              </a:extLst>
            </p:cNvPr>
            <p:cNvSpPr/>
            <p:nvPr/>
          </p:nvSpPr>
          <p:spPr>
            <a:xfrm>
              <a:off x="2020824" y="2020824"/>
              <a:ext cx="1216152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1020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CJK SC" pitchFamily="34" charset="-120"/>
                </a:rPr>
                <a:t>浸灰水解</a:t>
              </a:r>
              <a:endParaRPr 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Text 9">
              <a:extLst>
                <a:ext uri="{FF2B5EF4-FFF2-40B4-BE49-F238E27FC236}">
                  <a16:creationId xmlns:a16="http://schemas.microsoft.com/office/drawing/2014/main" id="{715D7F06-EFAB-DC51-70D0-867CF5C13A81}"/>
                </a:ext>
              </a:extLst>
            </p:cNvPr>
            <p:cNvSpPr/>
            <p:nvPr/>
          </p:nvSpPr>
          <p:spPr>
            <a:xfrm>
              <a:off x="2020824" y="2313432"/>
              <a:ext cx="1216152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00" b="1" dirty="0" err="1">
                  <a:solidFill>
                    <a:srgbClr val="5E6B7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通过碱浸控制胶原断链程度，决定分子量基础区间</a:t>
              </a:r>
              <a:endParaRPr lang="en-US" sz="1000" b="1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Shape 10">
              <a:extLst>
                <a:ext uri="{FF2B5EF4-FFF2-40B4-BE49-F238E27FC236}">
                  <a16:creationId xmlns:a16="http://schemas.microsoft.com/office/drawing/2014/main" id="{BAA94846-D5F5-1B53-D3FD-5B5572CF80DD}"/>
                </a:ext>
              </a:extLst>
            </p:cNvPr>
            <p:cNvSpPr/>
            <p:nvPr/>
          </p:nvSpPr>
          <p:spPr>
            <a:xfrm>
              <a:off x="3319272" y="2304288"/>
              <a:ext cx="100584" cy="0"/>
            </a:xfrm>
            <a:prstGeom prst="line">
              <a:avLst/>
            </a:prstGeom>
            <a:noFill/>
            <a:ln w="19050">
              <a:solidFill>
                <a:srgbClr val="D8E0E8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 lang="en-US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Shape 11">
              <a:extLst>
                <a:ext uri="{FF2B5EF4-FFF2-40B4-BE49-F238E27FC236}">
                  <a16:creationId xmlns:a16="http://schemas.microsoft.com/office/drawing/2014/main" id="{7E1A0330-48AC-71D4-9E7E-68610DFBF79A}"/>
                </a:ext>
              </a:extLst>
            </p:cNvPr>
            <p:cNvSpPr/>
            <p:nvPr/>
          </p:nvSpPr>
          <p:spPr>
            <a:xfrm>
              <a:off x="3429000" y="1874520"/>
              <a:ext cx="1325880" cy="868680"/>
            </a:xfrm>
            <a:prstGeom prst="roundRect">
              <a:avLst>
                <a:gd name="adj" fmla="val 10526"/>
              </a:avLst>
            </a:prstGeom>
            <a:solidFill>
              <a:srgbClr val="FFFFFF"/>
            </a:solidFill>
            <a:ln w="12700">
              <a:solidFill>
                <a:srgbClr val="D8E0E8"/>
              </a:solidFill>
              <a:prstDash val="solid"/>
            </a:ln>
          </p:spPr>
          <p:txBody>
            <a:bodyPr/>
            <a:lstStyle/>
            <a:p>
              <a:endParaRPr lang="en-US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Text 12">
              <a:extLst>
                <a:ext uri="{FF2B5EF4-FFF2-40B4-BE49-F238E27FC236}">
                  <a16:creationId xmlns:a16="http://schemas.microsoft.com/office/drawing/2014/main" id="{1811F5FB-7B13-1E0D-C5D5-B86366EF2C5F}"/>
                </a:ext>
              </a:extLst>
            </p:cNvPr>
            <p:cNvSpPr/>
            <p:nvPr/>
          </p:nvSpPr>
          <p:spPr>
            <a:xfrm>
              <a:off x="3483864" y="2020824"/>
              <a:ext cx="1216152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1020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CJK SC" pitchFamily="34" charset="-120"/>
                </a:rPr>
                <a:t>中和水洗</a:t>
              </a:r>
              <a:endParaRPr 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Text 13">
              <a:extLst>
                <a:ext uri="{FF2B5EF4-FFF2-40B4-BE49-F238E27FC236}">
                  <a16:creationId xmlns:a16="http://schemas.microsoft.com/office/drawing/2014/main" id="{42BC259D-F413-29DD-0000-0244282BC5A0}"/>
                </a:ext>
              </a:extLst>
            </p:cNvPr>
            <p:cNvSpPr/>
            <p:nvPr/>
          </p:nvSpPr>
          <p:spPr>
            <a:xfrm>
              <a:off x="3462167" y="2248620"/>
              <a:ext cx="1237849" cy="2804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00" b="1" dirty="0" err="1">
                  <a:solidFill>
                    <a:srgbClr val="5E6B7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去除残余碱性与杂质，稳定</a:t>
              </a:r>
              <a:r>
                <a:rPr lang="en-US" sz="1000" b="1" dirty="0">
                  <a:solidFill>
                    <a:srgbClr val="5E6B7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pH </a:t>
              </a:r>
              <a:r>
                <a:rPr lang="en-US" sz="1000" b="1" dirty="0" err="1">
                  <a:solidFill>
                    <a:srgbClr val="5E6B7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与胶液纯净度</a:t>
              </a:r>
              <a:endParaRPr lang="en-US" sz="1000" b="1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Shape 14">
              <a:extLst>
                <a:ext uri="{FF2B5EF4-FFF2-40B4-BE49-F238E27FC236}">
                  <a16:creationId xmlns:a16="http://schemas.microsoft.com/office/drawing/2014/main" id="{80B631E8-8518-C01E-E027-B5A0DBD05A0C}"/>
                </a:ext>
              </a:extLst>
            </p:cNvPr>
            <p:cNvSpPr/>
            <p:nvPr/>
          </p:nvSpPr>
          <p:spPr>
            <a:xfrm>
              <a:off x="4782312" y="2304288"/>
              <a:ext cx="100584" cy="0"/>
            </a:xfrm>
            <a:prstGeom prst="line">
              <a:avLst/>
            </a:prstGeom>
            <a:noFill/>
            <a:ln w="19050">
              <a:solidFill>
                <a:srgbClr val="D8E0E8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 lang="en-US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Shape 15">
              <a:extLst>
                <a:ext uri="{FF2B5EF4-FFF2-40B4-BE49-F238E27FC236}">
                  <a16:creationId xmlns:a16="http://schemas.microsoft.com/office/drawing/2014/main" id="{D2A44D60-F737-1A7D-F34D-A2E65DF03649}"/>
                </a:ext>
              </a:extLst>
            </p:cNvPr>
            <p:cNvSpPr/>
            <p:nvPr/>
          </p:nvSpPr>
          <p:spPr>
            <a:xfrm>
              <a:off x="4892040" y="1874520"/>
              <a:ext cx="1325880" cy="868680"/>
            </a:xfrm>
            <a:prstGeom prst="roundRect">
              <a:avLst>
                <a:gd name="adj" fmla="val 10526"/>
              </a:avLst>
            </a:prstGeom>
            <a:solidFill>
              <a:srgbClr val="FFFFFF"/>
            </a:solidFill>
            <a:ln w="12700">
              <a:solidFill>
                <a:srgbClr val="D8E0E8"/>
              </a:solidFill>
              <a:prstDash val="solid"/>
            </a:ln>
          </p:spPr>
          <p:txBody>
            <a:bodyPr/>
            <a:lstStyle/>
            <a:p>
              <a:endParaRPr lang="en-US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Text 16">
              <a:extLst>
                <a:ext uri="{FF2B5EF4-FFF2-40B4-BE49-F238E27FC236}">
                  <a16:creationId xmlns:a16="http://schemas.microsoft.com/office/drawing/2014/main" id="{C0F2F338-BAA2-793A-D24E-A044989B2E67}"/>
                </a:ext>
              </a:extLst>
            </p:cNvPr>
            <p:cNvSpPr/>
            <p:nvPr/>
          </p:nvSpPr>
          <p:spPr>
            <a:xfrm>
              <a:off x="4946904" y="2020824"/>
              <a:ext cx="1216152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1020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CJK SC" pitchFamily="34" charset="-120"/>
                </a:rPr>
                <a:t>分段提胶</a:t>
              </a:r>
              <a:endParaRPr 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Text 17">
              <a:extLst>
                <a:ext uri="{FF2B5EF4-FFF2-40B4-BE49-F238E27FC236}">
                  <a16:creationId xmlns:a16="http://schemas.microsoft.com/office/drawing/2014/main" id="{F3832C4C-17E8-0D21-64DA-4BDFE5776D4B}"/>
                </a:ext>
              </a:extLst>
            </p:cNvPr>
            <p:cNvSpPr/>
            <p:nvPr/>
          </p:nvSpPr>
          <p:spPr>
            <a:xfrm>
              <a:off x="4892039" y="2247436"/>
              <a:ext cx="1335025" cy="2804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00" b="1" dirty="0" err="1">
                  <a:solidFill>
                    <a:srgbClr val="5E6B7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按温度梯度提取不同分子量胶液，实现天然分级</a:t>
              </a:r>
              <a:endParaRPr lang="en-US" sz="1000" b="1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Shape 18">
              <a:extLst>
                <a:ext uri="{FF2B5EF4-FFF2-40B4-BE49-F238E27FC236}">
                  <a16:creationId xmlns:a16="http://schemas.microsoft.com/office/drawing/2014/main" id="{85B7BCC6-57D9-2A69-D7E6-C8158CED4BD0}"/>
                </a:ext>
              </a:extLst>
            </p:cNvPr>
            <p:cNvSpPr/>
            <p:nvPr/>
          </p:nvSpPr>
          <p:spPr>
            <a:xfrm>
              <a:off x="6245352" y="2304288"/>
              <a:ext cx="100584" cy="0"/>
            </a:xfrm>
            <a:prstGeom prst="line">
              <a:avLst/>
            </a:prstGeom>
            <a:noFill/>
            <a:ln w="19050">
              <a:solidFill>
                <a:srgbClr val="D8E0E8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 lang="en-US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Shape 19">
              <a:extLst>
                <a:ext uri="{FF2B5EF4-FFF2-40B4-BE49-F238E27FC236}">
                  <a16:creationId xmlns:a16="http://schemas.microsoft.com/office/drawing/2014/main" id="{A46644AA-B40B-6CD1-539E-AB8A371FEB4D}"/>
                </a:ext>
              </a:extLst>
            </p:cNvPr>
            <p:cNvSpPr/>
            <p:nvPr/>
          </p:nvSpPr>
          <p:spPr>
            <a:xfrm>
              <a:off x="6355080" y="1874520"/>
              <a:ext cx="1325880" cy="868680"/>
            </a:xfrm>
            <a:prstGeom prst="roundRect">
              <a:avLst>
                <a:gd name="adj" fmla="val 10526"/>
              </a:avLst>
            </a:prstGeom>
            <a:solidFill>
              <a:srgbClr val="EAF2FF"/>
            </a:solidFill>
            <a:ln w="12700">
              <a:solidFill>
                <a:srgbClr val="B9D3FF"/>
              </a:solidFill>
              <a:prstDash val="solid"/>
            </a:ln>
          </p:spPr>
          <p:txBody>
            <a:bodyPr/>
            <a:lstStyle/>
            <a:p>
              <a:endParaRPr lang="en-US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Text 20">
              <a:extLst>
                <a:ext uri="{FF2B5EF4-FFF2-40B4-BE49-F238E27FC236}">
                  <a16:creationId xmlns:a16="http://schemas.microsoft.com/office/drawing/2014/main" id="{CAC621F9-66E1-609D-5949-16A7DDC83A56}"/>
                </a:ext>
              </a:extLst>
            </p:cNvPr>
            <p:cNvSpPr/>
            <p:nvPr/>
          </p:nvSpPr>
          <p:spPr>
            <a:xfrm>
              <a:off x="6409944" y="2020824"/>
              <a:ext cx="1216152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1020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CJK SC" pitchFamily="34" charset="-120"/>
                </a:rPr>
                <a:t>浓缩复配</a:t>
              </a:r>
              <a:endParaRPr 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Text 21">
              <a:extLst>
                <a:ext uri="{FF2B5EF4-FFF2-40B4-BE49-F238E27FC236}">
                  <a16:creationId xmlns:a16="http://schemas.microsoft.com/office/drawing/2014/main" id="{EF853749-70C6-26F5-CA17-5EE02B77E8A3}"/>
                </a:ext>
              </a:extLst>
            </p:cNvPr>
            <p:cNvSpPr/>
            <p:nvPr/>
          </p:nvSpPr>
          <p:spPr>
            <a:xfrm>
              <a:off x="6373368" y="2282952"/>
              <a:ext cx="1316737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00" b="1" dirty="0" err="1">
                  <a:solidFill>
                    <a:srgbClr val="5E6B7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按订单目标调配不同批次胶液，影响目标</a:t>
              </a:r>
              <a:r>
                <a:rPr lang="en-US" sz="1000" b="1" dirty="0">
                  <a:solidFill>
                    <a:srgbClr val="5E6B7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Mw </a:t>
              </a:r>
              <a:r>
                <a:rPr lang="en-US" sz="1000" b="1" dirty="0" err="1">
                  <a:solidFill>
                    <a:srgbClr val="5E6B7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与产出</a:t>
              </a:r>
              <a:endParaRPr lang="en-US" sz="1000" b="1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Shape 22">
              <a:extLst>
                <a:ext uri="{FF2B5EF4-FFF2-40B4-BE49-F238E27FC236}">
                  <a16:creationId xmlns:a16="http://schemas.microsoft.com/office/drawing/2014/main" id="{10D13E0C-7CBF-27E4-CC70-A081143F4528}"/>
                </a:ext>
              </a:extLst>
            </p:cNvPr>
            <p:cNvSpPr/>
            <p:nvPr/>
          </p:nvSpPr>
          <p:spPr>
            <a:xfrm>
              <a:off x="7708392" y="2304288"/>
              <a:ext cx="100584" cy="0"/>
            </a:xfrm>
            <a:prstGeom prst="line">
              <a:avLst/>
            </a:prstGeom>
            <a:noFill/>
            <a:ln w="19050">
              <a:solidFill>
                <a:srgbClr val="D8E0E8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 lang="en-US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Shape 23">
              <a:extLst>
                <a:ext uri="{FF2B5EF4-FFF2-40B4-BE49-F238E27FC236}">
                  <a16:creationId xmlns:a16="http://schemas.microsoft.com/office/drawing/2014/main" id="{BD15C6E3-BF83-EBB4-19B1-9BB8FEE13FA5}"/>
                </a:ext>
              </a:extLst>
            </p:cNvPr>
            <p:cNvSpPr/>
            <p:nvPr/>
          </p:nvSpPr>
          <p:spPr>
            <a:xfrm>
              <a:off x="7818120" y="1874520"/>
              <a:ext cx="1325880" cy="868680"/>
            </a:xfrm>
            <a:prstGeom prst="roundRect">
              <a:avLst>
                <a:gd name="adj" fmla="val 10526"/>
              </a:avLst>
            </a:prstGeom>
            <a:solidFill>
              <a:srgbClr val="FFF2F0"/>
            </a:solidFill>
            <a:ln w="12700">
              <a:solidFill>
                <a:srgbClr val="F6B4AD"/>
              </a:solidFill>
              <a:prstDash val="solid"/>
            </a:ln>
          </p:spPr>
          <p:txBody>
            <a:bodyPr/>
            <a:lstStyle/>
            <a:p>
              <a:endParaRPr lang="en-US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Text 24">
              <a:extLst>
                <a:ext uri="{FF2B5EF4-FFF2-40B4-BE49-F238E27FC236}">
                  <a16:creationId xmlns:a16="http://schemas.microsoft.com/office/drawing/2014/main" id="{C8D29C9E-6AB0-1ACD-2845-C5427408842C}"/>
                </a:ext>
              </a:extLst>
            </p:cNvPr>
            <p:cNvSpPr/>
            <p:nvPr/>
          </p:nvSpPr>
          <p:spPr>
            <a:xfrm>
              <a:off x="7872984" y="2020824"/>
              <a:ext cx="1216152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1020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CJK SC" pitchFamily="34" charset="-120"/>
                </a:rPr>
                <a:t>凝胶干燥</a:t>
              </a:r>
              <a:endParaRPr 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Text 25">
              <a:extLst>
                <a:ext uri="{FF2B5EF4-FFF2-40B4-BE49-F238E27FC236}">
                  <a16:creationId xmlns:a16="http://schemas.microsoft.com/office/drawing/2014/main" id="{233E95BC-B186-8B0C-82CE-FF360BAC7058}"/>
                </a:ext>
              </a:extLst>
            </p:cNvPr>
            <p:cNvSpPr/>
            <p:nvPr/>
          </p:nvSpPr>
          <p:spPr>
            <a:xfrm>
              <a:off x="7872984" y="2313431"/>
              <a:ext cx="1271016" cy="28041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00" b="1" dirty="0" err="1">
                  <a:solidFill>
                    <a:srgbClr val="5E6B7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胶液成型并脱水干燥，是质量与产出偏差的集中显现点</a:t>
              </a:r>
              <a:endParaRPr lang="en-US" sz="1000" b="1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Shape 26">
              <a:extLst>
                <a:ext uri="{FF2B5EF4-FFF2-40B4-BE49-F238E27FC236}">
                  <a16:creationId xmlns:a16="http://schemas.microsoft.com/office/drawing/2014/main" id="{60C24EF1-5602-1EB0-02FF-2BA492CCFEB2}"/>
                </a:ext>
              </a:extLst>
            </p:cNvPr>
            <p:cNvSpPr/>
            <p:nvPr/>
          </p:nvSpPr>
          <p:spPr>
            <a:xfrm>
              <a:off x="9171432" y="2304288"/>
              <a:ext cx="100584" cy="0"/>
            </a:xfrm>
            <a:prstGeom prst="line">
              <a:avLst/>
            </a:prstGeom>
            <a:noFill/>
            <a:ln w="19050">
              <a:solidFill>
                <a:srgbClr val="D8E0E8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 lang="en-US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Shape 27">
              <a:extLst>
                <a:ext uri="{FF2B5EF4-FFF2-40B4-BE49-F238E27FC236}">
                  <a16:creationId xmlns:a16="http://schemas.microsoft.com/office/drawing/2014/main" id="{2518443D-B2C9-C285-8749-006C8B40CF0B}"/>
                </a:ext>
              </a:extLst>
            </p:cNvPr>
            <p:cNvSpPr/>
            <p:nvPr/>
          </p:nvSpPr>
          <p:spPr>
            <a:xfrm>
              <a:off x="9281160" y="1874520"/>
              <a:ext cx="1325880" cy="868680"/>
            </a:xfrm>
            <a:prstGeom prst="roundRect">
              <a:avLst>
                <a:gd name="adj" fmla="val 10526"/>
              </a:avLst>
            </a:prstGeom>
            <a:solidFill>
              <a:srgbClr val="FFFFFF"/>
            </a:solidFill>
            <a:ln w="12700">
              <a:solidFill>
                <a:srgbClr val="D8E0E8"/>
              </a:solidFill>
              <a:prstDash val="solid"/>
            </a:ln>
          </p:spPr>
          <p:txBody>
            <a:bodyPr/>
            <a:lstStyle/>
            <a:p>
              <a:endParaRPr lang="en-US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Text 28">
              <a:extLst>
                <a:ext uri="{FF2B5EF4-FFF2-40B4-BE49-F238E27FC236}">
                  <a16:creationId xmlns:a16="http://schemas.microsoft.com/office/drawing/2014/main" id="{46A260AB-E993-7748-34E5-D7051D781FA6}"/>
                </a:ext>
              </a:extLst>
            </p:cNvPr>
            <p:cNvSpPr/>
            <p:nvPr/>
          </p:nvSpPr>
          <p:spPr>
            <a:xfrm>
              <a:off x="9336024" y="2020824"/>
              <a:ext cx="1216152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1020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CJK SC" pitchFamily="34" charset="-120"/>
                </a:rPr>
                <a:t>粉碎成品</a:t>
              </a:r>
              <a:endParaRPr 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Text 29">
              <a:extLst>
                <a:ext uri="{FF2B5EF4-FFF2-40B4-BE49-F238E27FC236}">
                  <a16:creationId xmlns:a16="http://schemas.microsoft.com/office/drawing/2014/main" id="{3E55A49E-BF19-A428-5302-5DE6EA3BA5FC}"/>
                </a:ext>
              </a:extLst>
            </p:cNvPr>
            <p:cNvSpPr/>
            <p:nvPr/>
          </p:nvSpPr>
          <p:spPr>
            <a:xfrm>
              <a:off x="9336024" y="2313432"/>
              <a:ext cx="1216152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00" b="1" dirty="0" err="1">
                  <a:solidFill>
                    <a:srgbClr val="5E6B7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粉碎、筛分、包装入库，完成最终质量检验</a:t>
              </a:r>
              <a:endParaRPr lang="en-US" sz="1000" b="1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2" name="Shape 30">
            <a:extLst>
              <a:ext uri="{FF2B5EF4-FFF2-40B4-BE49-F238E27FC236}">
                <a16:creationId xmlns:a16="http://schemas.microsoft.com/office/drawing/2014/main" id="{EA964791-D78D-B1A1-B16C-31135A6F5D8F}"/>
              </a:ext>
            </a:extLst>
          </p:cNvPr>
          <p:cNvSpPr/>
          <p:nvPr/>
        </p:nvSpPr>
        <p:spPr>
          <a:xfrm>
            <a:off x="775589" y="3566346"/>
            <a:ext cx="10595356" cy="1412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Slide Number Placeholder 0">
            <a:extLst>
              <a:ext uri="{FF2B5EF4-FFF2-40B4-BE49-F238E27FC236}">
                <a16:creationId xmlns:a16="http://schemas.microsoft.com/office/drawing/2014/main" id="{1AFD8693-B71D-5BEF-7315-98946B70F7F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98A8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lang="en-US" b="0">
                <a:latin typeface="微软雅黑" panose="020B0503020204020204" pitchFamily="34" charset="-122"/>
                <a:ea typeface="微软雅黑" panose="020B0503020204020204" pitchFamily="34" charset="-122"/>
              </a:rPr>
              <a:t>22</a:t>
            </a:fld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D81E6F6-FB2D-885F-BECC-9BBB1BE3FB76}"/>
              </a:ext>
            </a:extLst>
          </p:cNvPr>
          <p:cNvSpPr txBox="1"/>
          <p:nvPr/>
        </p:nvSpPr>
        <p:spPr>
          <a:xfrm>
            <a:off x="775589" y="1546931"/>
            <a:ext cx="21870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端到端工艺流程</a:t>
            </a:r>
            <a:endParaRPr lang="en-US" sz="14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396A890-FFE7-CFA5-BA55-E679BC5D5C6C}"/>
              </a:ext>
            </a:extLst>
          </p:cNvPr>
          <p:cNvSpPr txBox="1"/>
          <p:nvPr/>
        </p:nvSpPr>
        <p:spPr>
          <a:xfrm>
            <a:off x="775588" y="3822647"/>
            <a:ext cx="21870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主要问题</a:t>
            </a:r>
            <a:endParaRPr 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80317622-5DF0-FD51-BA92-D2EAFFA6A502}"/>
              </a:ext>
            </a:extLst>
          </p:cNvPr>
          <p:cNvGrpSpPr/>
          <p:nvPr/>
        </p:nvGrpSpPr>
        <p:grpSpPr>
          <a:xfrm>
            <a:off x="835514" y="4248020"/>
            <a:ext cx="3115120" cy="1683511"/>
            <a:chOff x="835514" y="4248020"/>
            <a:chExt cx="2298842" cy="1683511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88575720-52CC-9233-C3A0-F98531059F37}"/>
                </a:ext>
              </a:extLst>
            </p:cNvPr>
            <p:cNvSpPr/>
            <p:nvPr/>
          </p:nvSpPr>
          <p:spPr>
            <a:xfrm>
              <a:off x="835514" y="4248020"/>
              <a:ext cx="2268082" cy="1683511"/>
            </a:xfrm>
            <a:prstGeom prst="rect">
              <a:avLst/>
            </a:prstGeom>
            <a:noFill/>
            <a:ln w="15875">
              <a:solidFill>
                <a:schemeClr val="tx1">
                  <a:lumMod val="50000"/>
                  <a:lumOff val="50000"/>
                </a:schemeClr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2CE9C1F2-7C0B-02F8-C6A7-B49E5197E76A}"/>
                </a:ext>
              </a:extLst>
            </p:cNvPr>
            <p:cNvSpPr txBox="1"/>
            <p:nvPr/>
          </p:nvSpPr>
          <p:spPr>
            <a:xfrm>
              <a:off x="1045914" y="4398100"/>
              <a:ext cx="208844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b="1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关键参数判断依赖老师傅经验</a:t>
              </a:r>
              <a:endParaRPr 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88A1CF5F-F2EA-AFEB-21F6-DBCFACF1510B}"/>
                </a:ext>
              </a:extLst>
            </p:cNvPr>
            <p:cNvSpPr txBox="1"/>
            <p:nvPr/>
          </p:nvSpPr>
          <p:spPr>
            <a:xfrm>
              <a:off x="913846" y="4931318"/>
              <a:ext cx="2048810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浸灰时间、提胶道次、复配比例、凝胶</a:t>
              </a:r>
              <a:r>
                <a:rPr 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en-US" sz="1200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干燥状态等关键判断缺少统一计算口径，不同人员、不同批次之间存在经验差异</a:t>
              </a:r>
              <a:r>
                <a:rPr 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B66929CE-AA02-D72C-5C1D-8144526C6BC7}"/>
              </a:ext>
            </a:extLst>
          </p:cNvPr>
          <p:cNvGrpSpPr/>
          <p:nvPr/>
        </p:nvGrpSpPr>
        <p:grpSpPr>
          <a:xfrm>
            <a:off x="4591258" y="4248020"/>
            <a:ext cx="3115120" cy="1683511"/>
            <a:chOff x="835514" y="4248020"/>
            <a:chExt cx="2298842" cy="1683511"/>
          </a:xfrm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A9AFA2DE-1BF5-C696-0267-B68B042B61CB}"/>
                </a:ext>
              </a:extLst>
            </p:cNvPr>
            <p:cNvSpPr/>
            <p:nvPr/>
          </p:nvSpPr>
          <p:spPr>
            <a:xfrm>
              <a:off x="835514" y="4248020"/>
              <a:ext cx="2268082" cy="1683511"/>
            </a:xfrm>
            <a:prstGeom prst="rect">
              <a:avLst/>
            </a:prstGeom>
            <a:noFill/>
            <a:ln w="15875">
              <a:solidFill>
                <a:schemeClr val="tx1">
                  <a:lumMod val="50000"/>
                  <a:lumOff val="50000"/>
                </a:schemeClr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FF2E02E2-CFAB-1970-8EF1-FA0A09C961EB}"/>
                </a:ext>
              </a:extLst>
            </p:cNvPr>
            <p:cNvSpPr txBox="1"/>
            <p:nvPr/>
          </p:nvSpPr>
          <p:spPr>
            <a:xfrm>
              <a:off x="1045914" y="4398100"/>
              <a:ext cx="208844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b="1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凝胶阶段是偏差集中暴露点</a:t>
              </a:r>
              <a:endParaRPr 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09DF2080-DF07-07EB-1AA8-A859DA2EE07D}"/>
                </a:ext>
              </a:extLst>
            </p:cNvPr>
            <p:cNvSpPr txBox="1"/>
            <p:nvPr/>
          </p:nvSpPr>
          <p:spPr>
            <a:xfrm>
              <a:off x="921552" y="4931318"/>
              <a:ext cx="2048810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当前最突出的痛点表现为凝胶</a:t>
              </a:r>
              <a:r>
                <a:rPr 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en-US" sz="1200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干燥后的分子量、质量和实际产出与理论计算存在偏差，但偏差来源可能来自前序浸灰、提胶、浓缩复配等多个环节</a:t>
              </a:r>
              <a:endParaRPr 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8D85E04B-7E66-A1E0-5E71-A9039DAE2561}"/>
              </a:ext>
            </a:extLst>
          </p:cNvPr>
          <p:cNvGrpSpPr/>
          <p:nvPr/>
        </p:nvGrpSpPr>
        <p:grpSpPr>
          <a:xfrm>
            <a:off x="8240593" y="4248020"/>
            <a:ext cx="3115120" cy="1683511"/>
            <a:chOff x="835514" y="4248020"/>
            <a:chExt cx="2298842" cy="1683511"/>
          </a:xfrm>
        </p:grpSpPr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3F64E1B2-9798-0EA6-4B0F-0DD7F1FE7B77}"/>
                </a:ext>
              </a:extLst>
            </p:cNvPr>
            <p:cNvSpPr/>
            <p:nvPr/>
          </p:nvSpPr>
          <p:spPr>
            <a:xfrm>
              <a:off x="835514" y="4248020"/>
              <a:ext cx="2268082" cy="1683511"/>
            </a:xfrm>
            <a:prstGeom prst="rect">
              <a:avLst/>
            </a:prstGeom>
            <a:noFill/>
            <a:ln w="15875">
              <a:solidFill>
                <a:schemeClr val="tx1">
                  <a:lumMod val="50000"/>
                  <a:lumOff val="50000"/>
                </a:schemeClr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4EA0D5DF-AA7D-1D3C-4B6D-412403D5B849}"/>
                </a:ext>
              </a:extLst>
            </p:cNvPr>
            <p:cNvSpPr txBox="1"/>
            <p:nvPr/>
          </p:nvSpPr>
          <p:spPr>
            <a:xfrm>
              <a:off x="914040" y="4398100"/>
              <a:ext cx="222031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b="1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质量检测与生产调整尚未形成闭环</a:t>
              </a:r>
              <a:endParaRPr 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47DBD583-9596-E460-0F6E-05C9A8ABFE4D}"/>
                </a:ext>
              </a:extLst>
            </p:cNvPr>
            <p:cNvSpPr txBox="1"/>
            <p:nvPr/>
          </p:nvSpPr>
          <p:spPr>
            <a:xfrm>
              <a:off x="921552" y="4931318"/>
              <a:ext cx="2048810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GPC、黏度、PDI、产出、入库检验等数据更多用于事后判断，尚未反向校正复配计算和工艺参数，导致经验难以沉淀、模型难以持续优化。</a:t>
              </a:r>
              <a:endParaRPr 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5E71C98D-5362-D107-3C28-AF31902339AE}"/>
              </a:ext>
            </a:extLst>
          </p:cNvPr>
          <p:cNvSpPr/>
          <p:nvPr/>
        </p:nvSpPr>
        <p:spPr>
          <a:xfrm>
            <a:off x="4591258" y="3566346"/>
            <a:ext cx="3862670" cy="1761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665808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4DE81DE1-53D2-DD84-DA6C-14EF6F9E8C38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643981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3" progId="TCLayout.ActiveDocument.1">
                  <p:embed/>
                </p:oleObj>
              </mc:Choice>
              <mc:Fallback>
                <p:oleObj name="think-cell Slide" r:id="rId4" imgW="473" imgH="473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DE81DE1-53D2-DD84-DA6C-14EF6F9E8C3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0"/>
          <p:cNvSpPr/>
          <p:nvPr/>
        </p:nvSpPr>
        <p:spPr>
          <a:xfrm>
            <a:off x="502920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GB" sz="2200" b="1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部分关键算法与参数</a:t>
            </a:r>
            <a:endParaRPr lang="en-GB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85800" y="1918208"/>
            <a:ext cx="2331720" cy="30175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143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GB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 4"/>
          <p:cNvSpPr/>
          <p:nvPr/>
        </p:nvSpPr>
        <p:spPr>
          <a:xfrm>
            <a:off x="850392" y="2064512"/>
            <a:ext cx="2002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600" b="1">
                <a:solidFill>
                  <a:srgbClr val="1F6EA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GPC 标准核算</a:t>
            </a:r>
            <a:endParaRPr lang="en-GB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 5"/>
          <p:cNvSpPr/>
          <p:nvPr/>
        </p:nvSpPr>
        <p:spPr>
          <a:xfrm>
            <a:off x="850392" y="2430272"/>
            <a:ext cx="2002536" cy="2359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GB" sz="160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Mn = ΣNiMi / ΣNi</a:t>
            </a:r>
            <a:endParaRPr lang="en-GB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GB" sz="160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Mw = ΣNiMi² / ΣNiMi</a:t>
            </a:r>
            <a:endParaRPr lang="en-GB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GB" sz="160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Mz = ΣNiMi³ / ΣNiMi²</a:t>
            </a:r>
            <a:endParaRPr lang="en-GB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GB" sz="160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PDI = Mw / Mn</a:t>
            </a:r>
            <a:endParaRPr lang="en-GB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Shape 6"/>
          <p:cNvSpPr/>
          <p:nvPr/>
        </p:nvSpPr>
        <p:spPr>
          <a:xfrm>
            <a:off x="914400" y="3701288"/>
            <a:ext cx="1874520" cy="0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GB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 7"/>
          <p:cNvSpPr/>
          <p:nvPr/>
        </p:nvSpPr>
        <p:spPr>
          <a:xfrm>
            <a:off x="868680" y="3911600"/>
            <a:ext cx="1965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GB" sz="105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自动计算 Mn / Mw / Mz / PDI，统一质检核算口径</a:t>
            </a:r>
            <a:endParaRPr lang="en-GB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611880" y="1918208"/>
            <a:ext cx="2331720" cy="30175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143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GB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776472" y="2064512"/>
            <a:ext cx="2002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600" b="1">
                <a:solidFill>
                  <a:srgbClr val="1F6EA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小分子占比</a:t>
            </a:r>
            <a:endParaRPr lang="en-GB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776472" y="2430272"/>
            <a:ext cx="2002536" cy="2359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GB" sz="160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&lt;10000Da 峰面积</a:t>
            </a:r>
            <a:endParaRPr lang="en-GB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GB" sz="160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—————————— ×100%</a:t>
            </a:r>
            <a:endParaRPr lang="en-GB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GB" sz="160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全部峰面积</a:t>
            </a:r>
            <a:endParaRPr lang="en-GB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840480" y="3701288"/>
            <a:ext cx="1874520" cy="0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GB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794760" y="3911600"/>
            <a:ext cx="1965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GB" sz="105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自动判断低分子产品是否满足目标区间与客户要求</a:t>
            </a:r>
            <a:endParaRPr lang="en-GB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537960" y="1918208"/>
            <a:ext cx="2331720" cy="30175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143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GB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702552" y="2064512"/>
            <a:ext cx="2002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600" b="1">
                <a:solidFill>
                  <a:srgbClr val="14B8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黏度快速估算</a:t>
            </a:r>
            <a:endParaRPr lang="en-GB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702552" y="2430272"/>
            <a:ext cx="2002536" cy="2359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GB" sz="160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[η] = K · Mwᵃ</a:t>
            </a:r>
            <a:endParaRPr lang="en-GB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GB" sz="160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K = 1.7×10⁻⁵</a:t>
            </a:r>
            <a:endParaRPr lang="en-GB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GB" sz="160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a = 0.86</a:t>
            </a:r>
            <a:endParaRPr lang="en-GB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766560" y="3701288"/>
            <a:ext cx="1874520" cy="0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GB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720840" y="3911600"/>
            <a:ext cx="1965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GB" sz="105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车间中控快速估 Mw，再用 GPC 结果做终检校准</a:t>
            </a:r>
            <a:endParaRPr lang="en-GB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9464040" y="1918208"/>
            <a:ext cx="2331720" cy="30175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143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GB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9628632" y="2064512"/>
            <a:ext cx="2002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600" b="1">
                <a:solidFill>
                  <a:srgbClr val="F59E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复配分子量</a:t>
            </a:r>
            <a:endParaRPr lang="en-GB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9628632" y="2430272"/>
            <a:ext cx="2002536" cy="2359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GB" sz="160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Mw混 = Σ(Wi · Mwi) / ΣWi</a:t>
            </a:r>
            <a:endParaRPr lang="en-GB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endParaRPr lang="en-GB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GB" sz="160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建议升级：</a:t>
            </a:r>
            <a:endParaRPr lang="en-GB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GB" sz="160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Wi有效 = Wi × 固含量i</a:t>
            </a:r>
            <a:endParaRPr lang="en-GB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9692640" y="3701288"/>
            <a:ext cx="1874520" cy="0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GB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9646920" y="3911600"/>
            <a:ext cx="1965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GB" sz="105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推荐复配比例，并用干基重量修正现场偏差</a:t>
            </a:r>
            <a:endParaRPr lang="en-GB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8A8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lang="en-GB" b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 algn="l"/>
              <a:t>23</a:t>
            </a:fld>
            <a:endParaRPr lang="en-GB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think-cell data - do not delete" hidden="1">
            <a:extLst>
              <a:ext uri="{FF2B5EF4-FFF2-40B4-BE49-F238E27FC236}">
                <a16:creationId xmlns:a16="http://schemas.microsoft.com/office/drawing/2014/main" id="{550DDD79-1D41-1792-E3C2-84E646CB8D6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120659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3" progId="TCLayout.ActiveDocument.1">
                  <p:embed/>
                </p:oleObj>
              </mc:Choice>
              <mc:Fallback>
                <p:oleObj name="think-cell Slide" r:id="rId4" imgW="473" imgH="473" progId="TCLayout.ActiveDocument.1">
                  <p:embed/>
                  <p:pic>
                    <p:nvPicPr>
                      <p:cNvPr id="1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50DDD79-1D41-1792-E3C2-84E646CB8D6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0"/>
          <p:cNvSpPr/>
          <p:nvPr/>
        </p:nvSpPr>
        <p:spPr>
          <a:xfrm>
            <a:off x="502920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算法闭环设计：标准公式 + 现场变量 + 历史校准</a:t>
            </a:r>
            <a:endParaRPr lang="en-US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521208" y="841248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先用公式保证口径统一，再用现场数据解释“为什么公式算不准”</a:t>
            </a:r>
            <a:endParaRPr lang="en-US" sz="88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3063240" cy="356616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 w="1143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 4"/>
          <p:cNvSpPr/>
          <p:nvPr/>
        </p:nvSpPr>
        <p:spPr>
          <a:xfrm>
            <a:off x="850392" y="1563624"/>
            <a:ext cx="2734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6EA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标准公式层</a:t>
            </a:r>
            <a:endParaRPr 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 5"/>
          <p:cNvSpPr/>
          <p:nvPr/>
        </p:nvSpPr>
        <p:spPr>
          <a:xfrm>
            <a:off x="850392" y="1929384"/>
            <a:ext cx="2734056" cy="2907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Mn / Mw / Mz / PDI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小分子占比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Mark-Houwink 黏度估算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复配 Mw 加权计算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0" y="1417320"/>
            <a:ext cx="3063240" cy="356616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 w="1143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 7"/>
          <p:cNvSpPr/>
          <p:nvPr/>
        </p:nvSpPr>
        <p:spPr>
          <a:xfrm>
            <a:off x="4736592" y="1563624"/>
            <a:ext cx="2734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现场校正层</a:t>
            </a:r>
            <a:endParaRPr 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736592" y="1929384"/>
            <a:ext cx="2734056" cy="2907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有效干基重量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固含量 / 浓缩浓度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水分 / 干燥损耗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pH / 黏度 / 温度 / 道次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458200" y="1417320"/>
            <a:ext cx="3063240" cy="356616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 w="1143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622792" y="1563624"/>
            <a:ext cx="2734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AI 校准层</a:t>
            </a:r>
            <a:endParaRPr 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622792" y="1929384"/>
            <a:ext cx="2734056" cy="2907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理论值 vs 实测值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历史批次偏差学习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质量风险预测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复配与参数推荐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886200" y="3182112"/>
            <a:ext cx="502920" cy="0"/>
          </a:xfrm>
          <a:prstGeom prst="line">
            <a:avLst/>
          </a:prstGeom>
          <a:noFill/>
          <a:ln w="19050">
            <a:solidFill>
              <a:srgbClr val="D8E0E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772400" y="3182112"/>
            <a:ext cx="502920" cy="0"/>
          </a:xfrm>
          <a:prstGeom prst="line">
            <a:avLst/>
          </a:prstGeom>
          <a:noFill/>
          <a:ln w="19050">
            <a:solidFill>
              <a:srgbClr val="D8E0E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1417320" y="5486400"/>
            <a:ext cx="9372600" cy="502920"/>
          </a:xfrm>
          <a:prstGeom prst="roundRect">
            <a:avLst>
              <a:gd name="adj" fmla="val 21818"/>
            </a:avLst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600200" y="5641848"/>
            <a:ext cx="9006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最终输出：更接近实际生产的 Mw 预测、复配比例、凝胶/干燥产出、质量风险与参数调整建议</a:t>
            </a:r>
            <a:endParaRPr lang="en-US" sz="108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12064" y="6473952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9AA6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Source: 客户提供《添正生物明胶生产工艺及分子量计算技术手册》</a:t>
            </a:r>
            <a:endParaRPr lang="en-US" sz="68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8A8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lang="en-US" b="0">
                <a:latin typeface="微软雅黑" panose="020B0503020204020204" pitchFamily="34" charset="-122"/>
                <a:ea typeface="微软雅黑" panose="020B0503020204020204" pitchFamily="34" charset="-122"/>
              </a:rPr>
              <a:t>24</a:t>
            </a:fld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E9F3FCA-ED05-F612-A6E4-5B68E72BE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" name="think-cell data - do not delete" hidden="1">
            <a:extLst>
              <a:ext uri="{FF2B5EF4-FFF2-40B4-BE49-F238E27FC236}">
                <a16:creationId xmlns:a16="http://schemas.microsoft.com/office/drawing/2014/main" id="{CEE8782B-A6D0-11DB-1B9D-A76496F5882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313536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3" progId="TCLayout.ActiveDocument.1">
                  <p:embed/>
                </p:oleObj>
              </mc:Choice>
              <mc:Fallback>
                <p:oleObj name="think-cell Slide" r:id="rId4" imgW="473" imgH="473" progId="TCLayout.ActiveDocument.1">
                  <p:embed/>
                  <p:pic>
                    <p:nvPicPr>
                      <p:cNvPr id="3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EE8782B-A6D0-11DB-1B9D-A76496F588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0">
            <a:extLst>
              <a:ext uri="{FF2B5EF4-FFF2-40B4-BE49-F238E27FC236}">
                <a16:creationId xmlns:a16="http://schemas.microsoft.com/office/drawing/2014/main" id="{78598F59-BD2F-557E-668A-9DE96BA68BDE}"/>
              </a:ext>
            </a:extLst>
          </p:cNvPr>
          <p:cNvSpPr/>
          <p:nvPr/>
        </p:nvSpPr>
        <p:spPr>
          <a:xfrm>
            <a:off x="502920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一期 MVP：凝胶/复配智能计算与产出预测</a:t>
            </a:r>
            <a:endParaRPr lang="en-US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5160CB2-9784-14E5-988C-36ACE47FBFBF}"/>
              </a:ext>
            </a:extLst>
          </p:cNvPr>
          <p:cNvSpPr/>
          <p:nvPr/>
        </p:nvSpPr>
        <p:spPr>
          <a:xfrm>
            <a:off x="521208" y="841248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范围建议从“复配”延伸到“凝胶干燥结果”，避免只算分子量不算产出</a:t>
            </a:r>
            <a:endParaRPr lang="en-US" sz="88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33734C2-AC7B-2EA2-94F6-E999562570E1}"/>
              </a:ext>
            </a:extLst>
          </p:cNvPr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D21F6B6-5C26-3397-8303-EC4204D2E5B2}"/>
              </a:ext>
            </a:extLst>
          </p:cNvPr>
          <p:cNvSpPr/>
          <p:nvPr/>
        </p:nvSpPr>
        <p:spPr>
          <a:xfrm>
            <a:off x="658368" y="1325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MVP 不应只是分子量计算器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BBFD606-1B24-7DF7-FBD7-4D8863EC2069}"/>
              </a:ext>
            </a:extLst>
          </p:cNvPr>
          <p:cNvSpPr/>
          <p:nvPr/>
        </p:nvSpPr>
        <p:spPr>
          <a:xfrm>
            <a:off x="685800" y="1719072"/>
            <a:ext cx="4617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客户现在的偏差来自两个维度：质量指标偏差与实际产出偏差。前者需要 Mw / PDI / 黏度 / 冻力闭环，后者需要固含量、水分、损耗率、干燥参数闭环。</a:t>
            </a:r>
            <a:endParaRPr lang="en-US" sz="108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3DC665E4-C1A9-85F2-ABD4-B96D1C373A89}"/>
              </a:ext>
            </a:extLst>
          </p:cNvPr>
          <p:cNvSpPr/>
          <p:nvPr/>
        </p:nvSpPr>
        <p:spPr>
          <a:xfrm>
            <a:off x="5742432" y="1298448"/>
            <a:ext cx="0" cy="4526280"/>
          </a:xfrm>
          <a:prstGeom prst="line">
            <a:avLst/>
          </a:prstGeom>
          <a:noFill/>
          <a:ln w="1524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1229161-1F6C-70BB-8981-D84D957B82CB}"/>
              </a:ext>
            </a:extLst>
          </p:cNvPr>
          <p:cNvSpPr/>
          <p:nvPr/>
        </p:nvSpPr>
        <p:spPr>
          <a:xfrm>
            <a:off x="6227065" y="1700784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6EA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1</a:t>
            </a:r>
            <a:endParaRPr 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9C923CA-48D4-E6E8-EF44-8FCF04E6536B}"/>
              </a:ext>
            </a:extLst>
          </p:cNvPr>
          <p:cNvSpPr/>
          <p:nvPr/>
        </p:nvSpPr>
        <p:spPr>
          <a:xfrm>
            <a:off x="6684265" y="16184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输入</a:t>
            </a:r>
            <a:endParaRPr lang="en-US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151B80A9-2D2A-69EE-F1CB-8F67FE8AD47E}"/>
              </a:ext>
            </a:extLst>
          </p:cNvPr>
          <p:cNvSpPr/>
          <p:nvPr/>
        </p:nvSpPr>
        <p:spPr>
          <a:xfrm>
            <a:off x="6684265" y="196596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批次胶液重量、道次、固含量、黏度、pH、GPC 分子量、提胶/浓缩/干燥参数</a:t>
            </a:r>
            <a:endParaRPr lang="en-US" sz="94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285D45E3-DE36-2853-D934-35A4A21C6ED9}"/>
              </a:ext>
            </a:extLst>
          </p:cNvPr>
          <p:cNvSpPr/>
          <p:nvPr/>
        </p:nvSpPr>
        <p:spPr>
          <a:xfrm>
            <a:off x="6384006" y="2240280"/>
            <a:ext cx="0" cy="329184"/>
          </a:xfrm>
          <a:prstGeom prst="line">
            <a:avLst/>
          </a:prstGeom>
          <a:noFill/>
          <a:ln w="15240">
            <a:solidFill>
              <a:srgbClr val="D8E0E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BD4AA1C4-98C4-6904-8140-6EAE925D803A}"/>
              </a:ext>
            </a:extLst>
          </p:cNvPr>
          <p:cNvSpPr/>
          <p:nvPr/>
        </p:nvSpPr>
        <p:spPr>
          <a:xfrm>
            <a:off x="6227065" y="2724912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B8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2</a:t>
            </a:r>
            <a:endParaRPr 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30898DAC-03C6-2A58-7666-8D793E8E1EBB}"/>
              </a:ext>
            </a:extLst>
          </p:cNvPr>
          <p:cNvSpPr/>
          <p:nvPr/>
        </p:nvSpPr>
        <p:spPr>
          <a:xfrm>
            <a:off x="6684265" y="264261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计算</a:t>
            </a:r>
            <a:endParaRPr lang="en-US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7C778B4E-02F7-1ADA-D791-7B3B4F052A7C}"/>
              </a:ext>
            </a:extLst>
          </p:cNvPr>
          <p:cNvSpPr/>
          <p:nvPr/>
        </p:nvSpPr>
        <p:spPr>
          <a:xfrm>
            <a:off x="6684265" y="299008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GPC 标准核算、黏度估算、复配加权、干基重量校正、理论产出预测</a:t>
            </a:r>
            <a:endParaRPr lang="en-US" sz="94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DA937CD5-EEF1-ED30-AC44-C08DEF4989EA}"/>
              </a:ext>
            </a:extLst>
          </p:cNvPr>
          <p:cNvSpPr/>
          <p:nvPr/>
        </p:nvSpPr>
        <p:spPr>
          <a:xfrm>
            <a:off x="6382513" y="3264408"/>
            <a:ext cx="0" cy="329184"/>
          </a:xfrm>
          <a:prstGeom prst="line">
            <a:avLst/>
          </a:prstGeom>
          <a:noFill/>
          <a:ln w="15240">
            <a:solidFill>
              <a:srgbClr val="D8E0E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E83DC4A7-287B-D46D-CAF9-37F0392B0A17}"/>
              </a:ext>
            </a:extLst>
          </p:cNvPr>
          <p:cNvSpPr/>
          <p:nvPr/>
        </p:nvSpPr>
        <p:spPr>
          <a:xfrm>
            <a:off x="6227065" y="37490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9E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3</a:t>
            </a:r>
            <a:endParaRPr 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E1E925CC-1163-8AC6-331A-77CB7D5532E2}"/>
              </a:ext>
            </a:extLst>
          </p:cNvPr>
          <p:cNvSpPr/>
          <p:nvPr/>
        </p:nvSpPr>
        <p:spPr>
          <a:xfrm>
            <a:off x="6684265" y="366674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校正</a:t>
            </a:r>
            <a:endParaRPr lang="en-US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CDA6976E-F4FD-B4CE-E1ED-AF3159E78D27}"/>
              </a:ext>
            </a:extLst>
          </p:cNvPr>
          <p:cNvSpPr/>
          <p:nvPr/>
        </p:nvSpPr>
        <p:spPr>
          <a:xfrm>
            <a:off x="6684265" y="4014216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用历史批次对理论 Mw、理论产出与实际检测/入库结果进行偏差校准</a:t>
            </a:r>
            <a:endParaRPr lang="en-US" sz="94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ADAE38D1-F6EC-D38E-1776-2382564AEFD8}"/>
              </a:ext>
            </a:extLst>
          </p:cNvPr>
          <p:cNvSpPr/>
          <p:nvPr/>
        </p:nvSpPr>
        <p:spPr>
          <a:xfrm>
            <a:off x="6382513" y="4288536"/>
            <a:ext cx="0" cy="329184"/>
          </a:xfrm>
          <a:prstGeom prst="line">
            <a:avLst/>
          </a:prstGeom>
          <a:noFill/>
          <a:ln w="15240">
            <a:solidFill>
              <a:srgbClr val="D8E0E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448451C3-CD45-8584-63C6-D947BA1B04C8}"/>
              </a:ext>
            </a:extLst>
          </p:cNvPr>
          <p:cNvSpPr/>
          <p:nvPr/>
        </p:nvSpPr>
        <p:spPr>
          <a:xfrm>
            <a:off x="6227065" y="477316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645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4</a:t>
            </a:r>
            <a:endParaRPr 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9DA80BE0-FFCC-5608-F078-AB740CEC7912}"/>
              </a:ext>
            </a:extLst>
          </p:cNvPr>
          <p:cNvSpPr/>
          <p:nvPr/>
        </p:nvSpPr>
        <p:spPr>
          <a:xfrm>
            <a:off x="6684265" y="46908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输出</a:t>
            </a:r>
            <a:endParaRPr lang="en-US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EA89311F-81FC-3782-3E9C-80CD29C4D5A2}"/>
              </a:ext>
            </a:extLst>
          </p:cNvPr>
          <p:cNvSpPr/>
          <p:nvPr/>
        </p:nvSpPr>
        <p:spPr>
          <a:xfrm>
            <a:off x="6684265" y="503834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复配比例建议、目标分子量预测、凝胶/干燥产出预测、异常风险提示</a:t>
            </a:r>
            <a:endParaRPr lang="en-US" sz="94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565C0D9D-E953-3264-D879-F671DED95008}"/>
              </a:ext>
            </a:extLst>
          </p:cNvPr>
          <p:cNvSpPr/>
          <p:nvPr/>
        </p:nvSpPr>
        <p:spPr>
          <a:xfrm>
            <a:off x="685800" y="2971800"/>
            <a:ext cx="4572000" cy="960120"/>
          </a:xfrm>
          <a:prstGeom prst="roundRect">
            <a:avLst>
              <a:gd name="adj" fmla="val 11429"/>
            </a:avLst>
          </a:prstGeom>
          <a:solidFill>
            <a:srgbClr val="EAF2FF"/>
          </a:solidFill>
          <a:ln w="11430">
            <a:solidFill>
              <a:srgbClr val="EAF2FF"/>
            </a:solidFill>
            <a:prstDash val="solid"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0717C4D3-998A-4C5A-E8B4-84F1C07D0ED9}"/>
              </a:ext>
            </a:extLst>
          </p:cNvPr>
          <p:cNvSpPr/>
          <p:nvPr/>
        </p:nvSpPr>
        <p:spPr>
          <a:xfrm>
            <a:off x="850392" y="3118104"/>
            <a:ext cx="4242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6EA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核心修正点</a:t>
            </a:r>
            <a:endParaRPr 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2BFD0E95-A37C-AA0F-BF57-90245695ABAE}"/>
              </a:ext>
            </a:extLst>
          </p:cNvPr>
          <p:cNvSpPr/>
          <p:nvPr/>
        </p:nvSpPr>
        <p:spPr>
          <a:xfrm>
            <a:off x="850392" y="3483864"/>
            <a:ext cx="424281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如果不同胶液浓度不一致，只用湿胶液重量 W 计算 Mw混，容易导致分子量与产出双重偏差。建议改为按“有效干基重量”参与复配计算。</a:t>
            </a:r>
            <a:endParaRPr lang="en-US" sz="9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F50AB704-11AD-775C-0433-CF704D9C7E83}"/>
              </a:ext>
            </a:extLst>
          </p:cNvPr>
          <p:cNvSpPr/>
          <p:nvPr/>
        </p:nvSpPr>
        <p:spPr>
          <a:xfrm>
            <a:off x="685800" y="4224528"/>
            <a:ext cx="4572000" cy="960120"/>
          </a:xfrm>
          <a:prstGeom prst="roundRect">
            <a:avLst>
              <a:gd name="adj" fmla="val 11429"/>
            </a:avLst>
          </a:prstGeom>
          <a:solidFill>
            <a:srgbClr val="EAF7F3"/>
          </a:solidFill>
          <a:ln w="11430">
            <a:solidFill>
              <a:srgbClr val="EAF7F3"/>
            </a:solidFill>
            <a:prstDash val="solid"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9AEB91C6-DC95-6053-E785-FE64E425281A}"/>
              </a:ext>
            </a:extLst>
          </p:cNvPr>
          <p:cNvSpPr/>
          <p:nvPr/>
        </p:nvSpPr>
        <p:spPr>
          <a:xfrm>
            <a:off x="850392" y="4370832"/>
            <a:ext cx="4242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MVP 目标</a:t>
            </a:r>
            <a:endParaRPr 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3A170475-CFEA-40AD-2E96-1284A9E561F2}"/>
              </a:ext>
            </a:extLst>
          </p:cNvPr>
          <p:cNvSpPr/>
          <p:nvPr/>
        </p:nvSpPr>
        <p:spPr>
          <a:xfrm>
            <a:off x="850392" y="4736592"/>
            <a:ext cx="424281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形成一套能被现场验证的“输入数据 → 自动计算 → 推荐复配 → 预测结果 → 质检校准”闭环。</a:t>
            </a:r>
            <a:endParaRPr lang="en-US" sz="102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3208D47F-A134-7529-0D2D-A8CDC97CED6A}"/>
              </a:ext>
            </a:extLst>
          </p:cNvPr>
          <p:cNvSpPr/>
          <p:nvPr/>
        </p:nvSpPr>
        <p:spPr>
          <a:xfrm>
            <a:off x="512064" y="6473952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9AA6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Source: 客户提供《添正生物明胶生产工艺及分子量计算技术手册》</a:t>
            </a:r>
            <a:endParaRPr lang="en-US" sz="68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Slide Number Placeholder 0">
            <a:extLst>
              <a:ext uri="{FF2B5EF4-FFF2-40B4-BE49-F238E27FC236}">
                <a16:creationId xmlns:a16="http://schemas.microsoft.com/office/drawing/2014/main" id="{9158F613-C53E-DC1E-1F14-2063A95AF97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98A8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lang="en-US" b="0">
                <a:latin typeface="微软雅黑" panose="020B0503020204020204" pitchFamily="34" charset="-122"/>
                <a:ea typeface="微软雅黑" panose="020B0503020204020204" pitchFamily="34" charset="-122"/>
              </a:rPr>
              <a:t>25</a:t>
            </a:fld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750780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think-cell data - do not delete" hidden="1">
            <a:extLst>
              <a:ext uri="{FF2B5EF4-FFF2-40B4-BE49-F238E27FC236}">
                <a16:creationId xmlns:a16="http://schemas.microsoft.com/office/drawing/2014/main" id="{8A6BAABE-279B-4450-F5C6-92EA258C675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9744747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3" progId="TCLayout.ActiveDocument.1">
                  <p:embed/>
                </p:oleObj>
              </mc:Choice>
              <mc:Fallback>
                <p:oleObj name="think-cell Slide" r:id="rId4" imgW="473" imgH="473" progId="TCLayout.ActiveDocument.1">
                  <p:embed/>
                  <p:pic>
                    <p:nvPicPr>
                      <p:cNvPr id="2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A6BAABE-279B-4450-F5C6-92EA258C675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0"/>
          <p:cNvSpPr/>
          <p:nvPr/>
        </p:nvSpPr>
        <p:spPr>
          <a:xfrm>
            <a:off x="502920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数据与系统架构建议</a:t>
            </a:r>
            <a:endParaRPr lang="en-US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521208" y="841248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一期可以轻量化落地，重点是打通批次数据、公式计算与结果校准</a:t>
            </a:r>
            <a:endParaRPr lang="en-US" sz="88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2377440" cy="43891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143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 4"/>
          <p:cNvSpPr/>
          <p:nvPr/>
        </p:nvSpPr>
        <p:spPr>
          <a:xfrm>
            <a:off x="804672" y="1517904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6EA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数据输入</a:t>
            </a:r>
            <a:endParaRPr 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 5"/>
          <p:cNvSpPr/>
          <p:nvPr/>
        </p:nvSpPr>
        <p:spPr>
          <a:xfrm>
            <a:off x="804672" y="1883664"/>
            <a:ext cx="2048256" cy="3730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• 批次与道次</a:t>
            </a:r>
            <a:endParaRPr lang="en-US" sz="98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sz="98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• 胶液重量 / 固含量</a:t>
            </a:r>
            <a:endParaRPr lang="en-US" sz="98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sz="98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• GPC 分子量数据</a:t>
            </a:r>
            <a:endParaRPr lang="en-US" sz="98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sz="98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• 黏度 / pH / 温度</a:t>
            </a:r>
            <a:endParaRPr lang="en-US" sz="98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sz="98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• 浓缩 / 凝胶 / 干燥参数</a:t>
            </a:r>
            <a:endParaRPr lang="en-US" sz="98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sz="98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• 成品产出与质检结果</a:t>
            </a:r>
            <a:endParaRPr lang="en-US" sz="98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892040" y="1371600"/>
            <a:ext cx="2377440" cy="43891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143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 7"/>
          <p:cNvSpPr/>
          <p:nvPr/>
        </p:nvSpPr>
        <p:spPr>
          <a:xfrm>
            <a:off x="5056632" y="1517904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算法引擎</a:t>
            </a:r>
            <a:endParaRPr 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056632" y="1883664"/>
            <a:ext cx="2048256" cy="3730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• GPC 标准核算</a:t>
            </a:r>
            <a:endParaRPr lang="en-US" sz="98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sz="98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• 黏度法估算</a:t>
            </a:r>
            <a:endParaRPr lang="en-US" sz="98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sz="98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• 复配加权计算</a:t>
            </a:r>
            <a:endParaRPr lang="en-US" sz="98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sz="98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• 干基重量校正</a:t>
            </a:r>
            <a:endParaRPr lang="en-US" sz="98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sz="98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• 产出预测</a:t>
            </a:r>
            <a:endParaRPr lang="en-US" sz="98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sz="98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• 偏差校准模型</a:t>
            </a:r>
            <a:endParaRPr lang="en-US" sz="98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9144000" y="1371600"/>
            <a:ext cx="2377440" cy="43891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143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9308592" y="1517904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业务输出</a:t>
            </a:r>
            <a:endParaRPr 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9308592" y="1883664"/>
            <a:ext cx="2048256" cy="3730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• 目标 Mw 预测</a:t>
            </a:r>
            <a:endParaRPr lang="en-US" sz="98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sz="98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• 推荐复配比例</a:t>
            </a:r>
            <a:endParaRPr lang="en-US" sz="98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sz="98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• 预计成品产出</a:t>
            </a:r>
            <a:endParaRPr lang="en-US" sz="98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sz="98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• 异常风险提示</a:t>
            </a:r>
            <a:endParaRPr lang="en-US" sz="98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sz="98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• 参数调整建议</a:t>
            </a:r>
            <a:endParaRPr lang="en-US" sz="98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sz="98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• 质检追溯报告</a:t>
            </a:r>
            <a:endParaRPr lang="en-US" sz="98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246120" y="3566160"/>
            <a:ext cx="1325880" cy="0"/>
          </a:xfrm>
          <a:prstGeom prst="line">
            <a:avLst/>
          </a:prstGeom>
          <a:noFill/>
          <a:ln w="19050">
            <a:solidFill>
              <a:srgbClr val="D8E0E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498080" y="3566160"/>
            <a:ext cx="1325880" cy="0"/>
          </a:xfrm>
          <a:prstGeom prst="line">
            <a:avLst/>
          </a:prstGeom>
          <a:noFill/>
          <a:ln w="19050">
            <a:solidFill>
              <a:srgbClr val="D8E0E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703320" y="151790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一期工具形态</a:t>
            </a:r>
            <a:endParaRPr lang="en-US" sz="82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401568" y="1883664"/>
            <a:ext cx="1417320" cy="457200"/>
          </a:xfrm>
          <a:prstGeom prst="roundRect">
            <a:avLst>
              <a:gd name="adj" fmla="val 16000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401568" y="2029968"/>
            <a:ext cx="1417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F6EA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Excel MVP</a:t>
            </a:r>
            <a:endParaRPr lang="en-US" sz="88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653528" y="1883664"/>
            <a:ext cx="1417320" cy="457200"/>
          </a:xfrm>
          <a:prstGeom prst="roundRect">
            <a:avLst>
              <a:gd name="adj" fmla="val 16000"/>
            </a:avLst>
          </a:prstGeom>
          <a:solidFill>
            <a:srgbClr val="EAF7F3"/>
          </a:solidFill>
          <a:ln w="12700">
            <a:solidFill>
              <a:srgbClr val="EAF7F3"/>
            </a:solidFill>
            <a:prstDash val="solid"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653528" y="2029968"/>
            <a:ext cx="1417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4B8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Web 工具</a:t>
            </a:r>
            <a:endParaRPr lang="en-US" sz="88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520440" y="5897880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系统不建议一开始做大平台：先以轻量 MVP 跑通计算与校准闭环，再根据试运行效果决定是否接入 MES / LIMS / DCS 等系统。</a:t>
            </a:r>
            <a:endParaRPr lang="en-US" sz="87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12064" y="6473952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9AA6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Source: 客户提供《添正生物明胶生产工艺及分子量计算技术手册》</a:t>
            </a:r>
            <a:endParaRPr lang="en-US" sz="68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8A8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lang="en-US" b="0">
                <a:latin typeface="微软雅黑" panose="020B0503020204020204" pitchFamily="34" charset="-122"/>
                <a:ea typeface="微软雅黑" panose="020B0503020204020204" pitchFamily="34" charset="-122"/>
              </a:rPr>
              <a:t>26</a:t>
            </a:fld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think-cell data - do not delete" hidden="1">
            <a:extLst>
              <a:ext uri="{FF2B5EF4-FFF2-40B4-BE49-F238E27FC236}">
                <a16:creationId xmlns:a16="http://schemas.microsoft.com/office/drawing/2014/main" id="{FDB1534A-30D2-F485-6DEF-0EF50F1DFA9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26230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3" progId="TCLayout.ActiveDocument.1">
                  <p:embed/>
                </p:oleObj>
              </mc:Choice>
              <mc:Fallback>
                <p:oleObj name="think-cell Slide" r:id="rId4" imgW="473" imgH="473" progId="TCLayout.ActiveDocument.1">
                  <p:embed/>
                  <p:pic>
                    <p:nvPicPr>
                      <p:cNvPr id="1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DB1534A-30D2-F485-6DEF-0EF50F1DFA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0"/>
          <p:cNvSpPr/>
          <p:nvPr/>
        </p:nvSpPr>
        <p:spPr>
          <a:xfrm>
            <a:off x="502920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建议在 Proposal 中强调的三句话</a:t>
            </a:r>
            <a:endParaRPr lang="en-US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521208" y="841248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帮助客户理解：一期不是做大平台，而是把最关键的计算闭环跑通</a:t>
            </a:r>
            <a:endParaRPr lang="en-US" sz="88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 3"/>
          <p:cNvSpPr/>
          <p:nvPr/>
        </p:nvSpPr>
        <p:spPr>
          <a:xfrm>
            <a:off x="777240" y="157276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6EA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01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 4"/>
          <p:cNvSpPr/>
          <p:nvPr/>
        </p:nvSpPr>
        <p:spPr>
          <a:xfrm>
            <a:off x="1463040" y="14447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从经验判断到标准算法</a:t>
            </a:r>
            <a:endParaRPr lang="en-US" sz="17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 5"/>
          <p:cNvSpPr/>
          <p:nvPr/>
        </p:nvSpPr>
        <p:spPr>
          <a:xfrm>
            <a:off x="1463040" y="1920240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将老师傅经验、技术手册公式和质检计算逻辑沉淀为统一算法，减少人工口径不一致。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463040" y="2450592"/>
            <a:ext cx="9326880" cy="0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 7"/>
          <p:cNvSpPr/>
          <p:nvPr/>
        </p:nvSpPr>
        <p:spPr>
          <a:xfrm>
            <a:off x="777240" y="2990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B8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02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463040" y="286207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从单点分子量到质量与产出闭环</a:t>
            </a:r>
            <a:endParaRPr lang="en-US" sz="17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463040" y="3337560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不只计算道尔顿分子量，还要把固含量、水分、损耗、GPC 结果与成品产出打通。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463040" y="3867912"/>
            <a:ext cx="9326880" cy="0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77240" y="440740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9E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03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463040" y="427939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从凝胶试点到全链路 AI 化</a:t>
            </a:r>
            <a:endParaRPr lang="en-US" sz="17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463040" y="4754880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先在凝胶/复配阶段验证价值，再扩展到浸灰、提胶、浓缩、干燥和质检全流程。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960120" y="5559552"/>
            <a:ext cx="9966960" cy="512064"/>
          </a:xfrm>
          <a:prstGeom prst="roundRect">
            <a:avLst>
              <a:gd name="adj" fmla="val 21429"/>
            </a:avLst>
          </a:prstGeom>
          <a:solidFill>
            <a:srgbClr val="0B2F4E"/>
          </a:solidFill>
          <a:ln w="12700">
            <a:solidFill>
              <a:srgbClr val="0B2F4E"/>
            </a:solidFill>
            <a:prstDash val="solid"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188720" y="5715000"/>
            <a:ext cx="9509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6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最终项目价值：把 PDF 中的公式从“技术文件”变成“现场工具”，再通过历史数据校准成为“生产决策能力”。</a:t>
            </a:r>
            <a:endParaRPr lang="en-US" sz="116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12064" y="6473952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9AA6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Source: 客户提供《添正生物明胶生产工艺及分子量计算技术手册》</a:t>
            </a:r>
            <a:endParaRPr lang="en-US" sz="68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8A8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lang="en-US" b="0">
                <a:latin typeface="微软雅黑" panose="020B0503020204020204" pitchFamily="34" charset="-122"/>
                <a:ea typeface="微软雅黑" panose="020B0503020204020204" pitchFamily="34" charset="-122"/>
              </a:rPr>
              <a:t>27</a:t>
            </a:fld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" name="think-cell data - do not delete" hidden="1">
            <a:extLst>
              <a:ext uri="{FF2B5EF4-FFF2-40B4-BE49-F238E27FC236}">
                <a16:creationId xmlns:a16="http://schemas.microsoft.com/office/drawing/2014/main" id="{2A4E8F29-E9FB-08D7-8309-D211ACA38A0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013181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3" progId="TCLayout.ActiveDocument.1">
                  <p:embed/>
                </p:oleObj>
              </mc:Choice>
              <mc:Fallback>
                <p:oleObj name="think-cell Slide" r:id="rId4" imgW="473" imgH="473" progId="TCLayout.ActiveDocument.1">
                  <p:embed/>
                  <p:pic>
                    <p:nvPicPr>
                      <p:cNvPr id="3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A4E8F29-E9FB-08D7-8309-D211ACA38A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0"/>
          <p:cNvSpPr/>
          <p:nvPr/>
        </p:nvSpPr>
        <p:spPr>
          <a:xfrm>
            <a:off x="502920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2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骨明胶生产工艺</a:t>
            </a:r>
            <a:endParaRPr lang="en-US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521208" y="841248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凝胶是问题显现点，但上游工艺参数共同决定分子量与最终产出</a:t>
            </a:r>
            <a:endParaRPr lang="en-US" sz="88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3EF65BB8-623E-B89A-5DAD-5BDDC9347B7B}"/>
              </a:ext>
            </a:extLst>
          </p:cNvPr>
          <p:cNvGrpSpPr/>
          <p:nvPr/>
        </p:nvGrpSpPr>
        <p:grpSpPr>
          <a:xfrm>
            <a:off x="783082" y="1953437"/>
            <a:ext cx="10595356" cy="1251713"/>
            <a:chOff x="502920" y="1874520"/>
            <a:chExt cx="10104120" cy="868680"/>
          </a:xfrm>
        </p:grpSpPr>
        <p:sp>
          <p:nvSpPr>
            <p:cNvPr id="5" name="Shape 3"/>
            <p:cNvSpPr/>
            <p:nvPr/>
          </p:nvSpPr>
          <p:spPr>
            <a:xfrm>
              <a:off x="502920" y="1874520"/>
              <a:ext cx="1325880" cy="868680"/>
            </a:xfrm>
            <a:prstGeom prst="roundRect">
              <a:avLst>
                <a:gd name="adj" fmla="val 10526"/>
              </a:avLst>
            </a:prstGeom>
            <a:noFill/>
            <a:ln w="12700">
              <a:solidFill>
                <a:srgbClr val="D8E0E8"/>
              </a:solidFill>
              <a:prstDash val="solid"/>
            </a:ln>
          </p:spPr>
          <p:txBody>
            <a:bodyPr/>
            <a:lstStyle/>
            <a:p>
              <a:endParaRPr 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Text 4"/>
            <p:cNvSpPr/>
            <p:nvPr/>
          </p:nvSpPr>
          <p:spPr>
            <a:xfrm>
              <a:off x="557784" y="2020824"/>
              <a:ext cx="1216152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1020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CJK SC" pitchFamily="34" charset="-120"/>
                </a:rPr>
                <a:t>原料预处理</a:t>
              </a:r>
              <a:endParaRPr 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Text 5"/>
            <p:cNvSpPr/>
            <p:nvPr/>
          </p:nvSpPr>
          <p:spPr>
            <a:xfrm>
              <a:off x="557784" y="2215432"/>
              <a:ext cx="1216152" cy="3444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algn="ctr"/>
              <a:r>
                <a:rPr lang="en-US" sz="1000" b="1" dirty="0" err="1">
                  <a:solidFill>
                    <a:srgbClr val="5E6B7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去除油脂、矿物质与杂质，保留纯胶原基础</a:t>
              </a:r>
              <a:endParaRPr lang="en-US" sz="1000" b="1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Shape 6"/>
            <p:cNvSpPr/>
            <p:nvPr/>
          </p:nvSpPr>
          <p:spPr>
            <a:xfrm>
              <a:off x="1856232" y="2304288"/>
              <a:ext cx="100584" cy="0"/>
            </a:xfrm>
            <a:prstGeom prst="line">
              <a:avLst/>
            </a:prstGeom>
            <a:noFill/>
            <a:ln w="19050">
              <a:solidFill>
                <a:srgbClr val="D8E0E8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 lang="en-US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Shape 7"/>
            <p:cNvSpPr/>
            <p:nvPr/>
          </p:nvSpPr>
          <p:spPr>
            <a:xfrm>
              <a:off x="1965960" y="1874520"/>
              <a:ext cx="1325880" cy="868680"/>
            </a:xfrm>
            <a:prstGeom prst="roundRect">
              <a:avLst>
                <a:gd name="adj" fmla="val 10526"/>
              </a:avLst>
            </a:prstGeom>
            <a:noFill/>
            <a:ln w="12700">
              <a:solidFill>
                <a:srgbClr val="B9D3FF"/>
              </a:solidFill>
              <a:prstDash val="solid"/>
            </a:ln>
          </p:spPr>
          <p:txBody>
            <a:bodyPr/>
            <a:lstStyle/>
            <a:p>
              <a:endParaRPr lang="en-US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Text 8"/>
            <p:cNvSpPr/>
            <p:nvPr/>
          </p:nvSpPr>
          <p:spPr>
            <a:xfrm>
              <a:off x="2020824" y="2020824"/>
              <a:ext cx="1216152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1020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CJK SC" pitchFamily="34" charset="-120"/>
                </a:rPr>
                <a:t>浸灰水解</a:t>
              </a:r>
              <a:endParaRPr 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Text 9"/>
            <p:cNvSpPr/>
            <p:nvPr/>
          </p:nvSpPr>
          <p:spPr>
            <a:xfrm>
              <a:off x="2020824" y="2313432"/>
              <a:ext cx="1216152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00" b="1" dirty="0" err="1">
                  <a:solidFill>
                    <a:srgbClr val="5E6B7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通过碱浸控制胶原断链程度，决定分子量基础区间</a:t>
              </a:r>
              <a:endParaRPr lang="en-US" sz="1000" b="1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Shape 10"/>
            <p:cNvSpPr/>
            <p:nvPr/>
          </p:nvSpPr>
          <p:spPr>
            <a:xfrm>
              <a:off x="3319272" y="2304288"/>
              <a:ext cx="100584" cy="0"/>
            </a:xfrm>
            <a:prstGeom prst="line">
              <a:avLst/>
            </a:prstGeom>
            <a:noFill/>
            <a:ln w="19050">
              <a:solidFill>
                <a:srgbClr val="D8E0E8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 lang="en-US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Shape 11"/>
            <p:cNvSpPr/>
            <p:nvPr/>
          </p:nvSpPr>
          <p:spPr>
            <a:xfrm>
              <a:off x="3429000" y="1874520"/>
              <a:ext cx="1325880" cy="868680"/>
            </a:xfrm>
            <a:prstGeom prst="roundRect">
              <a:avLst>
                <a:gd name="adj" fmla="val 10526"/>
              </a:avLst>
            </a:prstGeom>
            <a:noFill/>
            <a:ln w="12700">
              <a:solidFill>
                <a:srgbClr val="D8E0E8"/>
              </a:solidFill>
              <a:prstDash val="solid"/>
            </a:ln>
          </p:spPr>
          <p:txBody>
            <a:bodyPr/>
            <a:lstStyle/>
            <a:p>
              <a:endParaRPr lang="en-US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Text 12"/>
            <p:cNvSpPr/>
            <p:nvPr/>
          </p:nvSpPr>
          <p:spPr>
            <a:xfrm>
              <a:off x="3483864" y="2020824"/>
              <a:ext cx="1216152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1020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CJK SC" pitchFamily="34" charset="-120"/>
                </a:rPr>
                <a:t>中和水洗</a:t>
              </a:r>
              <a:endParaRPr 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Text 13"/>
            <p:cNvSpPr/>
            <p:nvPr/>
          </p:nvSpPr>
          <p:spPr>
            <a:xfrm>
              <a:off x="3462167" y="2248620"/>
              <a:ext cx="1237849" cy="2804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00" b="1" dirty="0" err="1">
                  <a:solidFill>
                    <a:srgbClr val="5E6B7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去除残余碱性与杂质，稳定</a:t>
              </a:r>
              <a:r>
                <a:rPr lang="en-US" sz="1000" b="1" dirty="0">
                  <a:solidFill>
                    <a:srgbClr val="5E6B7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pH </a:t>
              </a:r>
              <a:r>
                <a:rPr lang="en-US" sz="1000" b="1" dirty="0" err="1">
                  <a:solidFill>
                    <a:srgbClr val="5E6B7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与胶液纯净度</a:t>
              </a:r>
              <a:endParaRPr lang="en-US" sz="1000" b="1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Shape 14"/>
            <p:cNvSpPr/>
            <p:nvPr/>
          </p:nvSpPr>
          <p:spPr>
            <a:xfrm>
              <a:off x="4782312" y="2304288"/>
              <a:ext cx="100584" cy="0"/>
            </a:xfrm>
            <a:prstGeom prst="line">
              <a:avLst/>
            </a:prstGeom>
            <a:noFill/>
            <a:ln w="19050">
              <a:solidFill>
                <a:srgbClr val="D8E0E8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 lang="en-US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Shape 15"/>
            <p:cNvSpPr/>
            <p:nvPr/>
          </p:nvSpPr>
          <p:spPr>
            <a:xfrm>
              <a:off x="4892040" y="1874520"/>
              <a:ext cx="1325880" cy="868680"/>
            </a:xfrm>
            <a:prstGeom prst="roundRect">
              <a:avLst>
                <a:gd name="adj" fmla="val 10526"/>
              </a:avLst>
            </a:prstGeom>
            <a:noFill/>
            <a:ln w="12700">
              <a:solidFill>
                <a:srgbClr val="D8E0E8"/>
              </a:solidFill>
              <a:prstDash val="solid"/>
            </a:ln>
          </p:spPr>
          <p:txBody>
            <a:bodyPr/>
            <a:lstStyle/>
            <a:p>
              <a:endParaRPr lang="en-US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Text 16"/>
            <p:cNvSpPr/>
            <p:nvPr/>
          </p:nvSpPr>
          <p:spPr>
            <a:xfrm>
              <a:off x="4946904" y="2020824"/>
              <a:ext cx="1216152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 err="1">
                  <a:solidFill>
                    <a:srgbClr val="1020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CJK SC" pitchFamily="34" charset="-120"/>
                </a:rPr>
                <a:t>分段提胶</a:t>
              </a:r>
              <a:endParaRPr 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Text 17"/>
            <p:cNvSpPr/>
            <p:nvPr/>
          </p:nvSpPr>
          <p:spPr>
            <a:xfrm>
              <a:off x="4892039" y="2247436"/>
              <a:ext cx="1335025" cy="2804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00" b="1" dirty="0" err="1">
                  <a:solidFill>
                    <a:srgbClr val="5E6B7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按温度梯度提取不同分子量胶液，实现天然分级</a:t>
              </a:r>
              <a:endParaRPr lang="en-US" sz="1000" b="1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Shape 18"/>
            <p:cNvSpPr/>
            <p:nvPr/>
          </p:nvSpPr>
          <p:spPr>
            <a:xfrm>
              <a:off x="6245352" y="2304288"/>
              <a:ext cx="100584" cy="0"/>
            </a:xfrm>
            <a:prstGeom prst="line">
              <a:avLst/>
            </a:prstGeom>
            <a:noFill/>
            <a:ln w="19050">
              <a:solidFill>
                <a:srgbClr val="D8E0E8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 lang="en-US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Shape 19"/>
            <p:cNvSpPr/>
            <p:nvPr/>
          </p:nvSpPr>
          <p:spPr>
            <a:xfrm>
              <a:off x="6355080" y="1874520"/>
              <a:ext cx="1325880" cy="868680"/>
            </a:xfrm>
            <a:prstGeom prst="roundRect">
              <a:avLst>
                <a:gd name="adj" fmla="val 10526"/>
              </a:avLst>
            </a:prstGeom>
            <a:noFill/>
            <a:ln w="12700">
              <a:solidFill>
                <a:srgbClr val="B9D3FF"/>
              </a:solidFill>
              <a:prstDash val="solid"/>
            </a:ln>
          </p:spPr>
          <p:txBody>
            <a:bodyPr/>
            <a:lstStyle/>
            <a:p>
              <a:endParaRPr lang="en-US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Text 20"/>
            <p:cNvSpPr/>
            <p:nvPr/>
          </p:nvSpPr>
          <p:spPr>
            <a:xfrm>
              <a:off x="6409944" y="2020824"/>
              <a:ext cx="1216152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1020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CJK SC" pitchFamily="34" charset="-120"/>
                </a:rPr>
                <a:t>浓缩复配</a:t>
              </a:r>
              <a:endParaRPr 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Text 21"/>
            <p:cNvSpPr/>
            <p:nvPr/>
          </p:nvSpPr>
          <p:spPr>
            <a:xfrm>
              <a:off x="6373368" y="2282952"/>
              <a:ext cx="1316737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00" b="1" dirty="0" err="1">
                  <a:solidFill>
                    <a:srgbClr val="5E6B7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按订单目标调配不同批次胶液，影响目标</a:t>
              </a:r>
              <a:r>
                <a:rPr lang="en-US" sz="1000" b="1" dirty="0">
                  <a:solidFill>
                    <a:srgbClr val="5E6B7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Mw </a:t>
              </a:r>
              <a:r>
                <a:rPr lang="en-US" sz="1000" b="1" dirty="0" err="1">
                  <a:solidFill>
                    <a:srgbClr val="5E6B7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与产出</a:t>
              </a:r>
              <a:endParaRPr lang="en-US" sz="1000" b="1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Shape 22"/>
            <p:cNvSpPr/>
            <p:nvPr/>
          </p:nvSpPr>
          <p:spPr>
            <a:xfrm>
              <a:off x="7708392" y="2304288"/>
              <a:ext cx="100584" cy="0"/>
            </a:xfrm>
            <a:prstGeom prst="line">
              <a:avLst/>
            </a:prstGeom>
            <a:noFill/>
            <a:ln w="19050">
              <a:solidFill>
                <a:srgbClr val="D8E0E8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 lang="en-US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Shape 23"/>
            <p:cNvSpPr/>
            <p:nvPr/>
          </p:nvSpPr>
          <p:spPr>
            <a:xfrm>
              <a:off x="7818120" y="1874520"/>
              <a:ext cx="1325880" cy="868680"/>
            </a:xfrm>
            <a:prstGeom prst="roundRect">
              <a:avLst>
                <a:gd name="adj" fmla="val 10526"/>
              </a:avLst>
            </a:prstGeom>
            <a:noFill/>
            <a:ln w="12700">
              <a:solidFill>
                <a:srgbClr val="F6B4AD"/>
              </a:solidFill>
              <a:prstDash val="solid"/>
            </a:ln>
          </p:spPr>
          <p:txBody>
            <a:bodyPr/>
            <a:lstStyle/>
            <a:p>
              <a:endParaRPr lang="en-US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Text 24"/>
            <p:cNvSpPr/>
            <p:nvPr/>
          </p:nvSpPr>
          <p:spPr>
            <a:xfrm>
              <a:off x="7872984" y="2020824"/>
              <a:ext cx="1216152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1020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CJK SC" pitchFamily="34" charset="-120"/>
                </a:rPr>
                <a:t>凝胶干燥</a:t>
              </a:r>
              <a:endParaRPr 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Text 25"/>
            <p:cNvSpPr/>
            <p:nvPr/>
          </p:nvSpPr>
          <p:spPr>
            <a:xfrm>
              <a:off x="7872984" y="2313431"/>
              <a:ext cx="1271016" cy="28041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00" b="1" dirty="0" err="1">
                  <a:solidFill>
                    <a:srgbClr val="5E6B7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胶液成型并脱水干燥，是质量与产出偏差的集中显现点</a:t>
              </a:r>
              <a:endParaRPr lang="en-US" sz="1000" b="1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Shape 26"/>
            <p:cNvSpPr/>
            <p:nvPr/>
          </p:nvSpPr>
          <p:spPr>
            <a:xfrm>
              <a:off x="9171432" y="2304288"/>
              <a:ext cx="100584" cy="0"/>
            </a:xfrm>
            <a:prstGeom prst="line">
              <a:avLst/>
            </a:prstGeom>
            <a:noFill/>
            <a:ln w="19050">
              <a:solidFill>
                <a:srgbClr val="D8E0E8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 lang="en-US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Shape 27"/>
            <p:cNvSpPr/>
            <p:nvPr/>
          </p:nvSpPr>
          <p:spPr>
            <a:xfrm>
              <a:off x="9281160" y="1874520"/>
              <a:ext cx="1325880" cy="868680"/>
            </a:xfrm>
            <a:prstGeom prst="roundRect">
              <a:avLst>
                <a:gd name="adj" fmla="val 10526"/>
              </a:avLst>
            </a:prstGeom>
            <a:noFill/>
            <a:ln w="12700">
              <a:solidFill>
                <a:srgbClr val="D8E0E8"/>
              </a:solidFill>
              <a:prstDash val="solid"/>
            </a:ln>
          </p:spPr>
          <p:txBody>
            <a:bodyPr/>
            <a:lstStyle/>
            <a:p>
              <a:endParaRPr lang="en-US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Text 28"/>
            <p:cNvSpPr/>
            <p:nvPr/>
          </p:nvSpPr>
          <p:spPr>
            <a:xfrm>
              <a:off x="9336024" y="2020824"/>
              <a:ext cx="1216152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1020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CJK SC" pitchFamily="34" charset="-120"/>
                </a:rPr>
                <a:t>粉碎成品</a:t>
              </a:r>
              <a:endParaRPr 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Text 29"/>
            <p:cNvSpPr/>
            <p:nvPr/>
          </p:nvSpPr>
          <p:spPr>
            <a:xfrm>
              <a:off x="9336024" y="2313432"/>
              <a:ext cx="1216152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00" b="1" dirty="0" err="1">
                  <a:solidFill>
                    <a:srgbClr val="5E6B7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粉碎、筛分、包装入库，完成最终质量检验</a:t>
              </a:r>
              <a:endParaRPr lang="en-US" sz="1000" b="1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8A8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lang="en-US" b="0">
                <a:latin typeface="微软雅黑" panose="020B0503020204020204" pitchFamily="34" charset="-122"/>
                <a:ea typeface="微软雅黑" panose="020B0503020204020204" pitchFamily="34" charset="-122"/>
              </a:rPr>
              <a:t>28</a:t>
            </a:fld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D6BBA81-A4F1-EF7E-0251-23C8827173ED}"/>
              </a:ext>
            </a:extLst>
          </p:cNvPr>
          <p:cNvSpPr txBox="1"/>
          <p:nvPr/>
        </p:nvSpPr>
        <p:spPr>
          <a:xfrm>
            <a:off x="775589" y="1546931"/>
            <a:ext cx="21870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端到端工艺流程</a:t>
            </a:r>
            <a:endParaRPr lang="en-US" sz="14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F6D1DAE-666E-DA2B-76BE-5503051B571D}"/>
              </a:ext>
            </a:extLst>
          </p:cNvPr>
          <p:cNvSpPr/>
          <p:nvPr/>
        </p:nvSpPr>
        <p:spPr>
          <a:xfrm>
            <a:off x="176318" y="3376428"/>
            <a:ext cx="599271" cy="9258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D5DF256-5BB6-6279-FB75-5EA9B9821428}"/>
              </a:ext>
            </a:extLst>
          </p:cNvPr>
          <p:cNvSpPr/>
          <p:nvPr/>
        </p:nvSpPr>
        <p:spPr>
          <a:xfrm>
            <a:off x="176318" y="4435608"/>
            <a:ext cx="599271" cy="9258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3410F0B-26DB-CAF6-D964-8ABB0325ED5E}"/>
              </a:ext>
            </a:extLst>
          </p:cNvPr>
          <p:cNvSpPr/>
          <p:nvPr/>
        </p:nvSpPr>
        <p:spPr>
          <a:xfrm>
            <a:off x="180832" y="5513835"/>
            <a:ext cx="599271" cy="9258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现状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7DAF2E2-0609-AED6-B60E-38F1F65BE13F}"/>
              </a:ext>
            </a:extLst>
          </p:cNvPr>
          <p:cNvSpPr/>
          <p:nvPr/>
        </p:nvSpPr>
        <p:spPr>
          <a:xfrm>
            <a:off x="2601990" y="5785370"/>
            <a:ext cx="6957540" cy="4040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现状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这个维度我随便想的，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yikang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你觉得呢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8" name="直线箭头连接符 47">
            <a:extLst>
              <a:ext uri="{FF2B5EF4-FFF2-40B4-BE49-F238E27FC236}">
                <a16:creationId xmlns:a16="http://schemas.microsoft.com/office/drawing/2014/main" id="{5A6A3746-F5D5-EBE1-41AE-C5339B3B019C}"/>
              </a:ext>
            </a:extLst>
          </p:cNvPr>
          <p:cNvCxnSpPr/>
          <p:nvPr/>
        </p:nvCxnSpPr>
        <p:spPr>
          <a:xfrm flipV="1">
            <a:off x="443159" y="4425121"/>
            <a:ext cx="11140965" cy="439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线箭头连接符 48">
            <a:extLst>
              <a:ext uri="{FF2B5EF4-FFF2-40B4-BE49-F238E27FC236}">
                <a16:creationId xmlns:a16="http://schemas.microsoft.com/office/drawing/2014/main" id="{289156F6-873B-6BF0-19DA-2FDD287076BD}"/>
              </a:ext>
            </a:extLst>
          </p:cNvPr>
          <p:cNvCxnSpPr>
            <a:cxnSpLocks/>
            <a:stCxn id="34" idx="3"/>
            <a:endCxn id="7" idx="1"/>
          </p:cNvCxnSpPr>
          <p:nvPr/>
        </p:nvCxnSpPr>
        <p:spPr>
          <a:xfrm flipV="1">
            <a:off x="775589" y="2692817"/>
            <a:ext cx="65024" cy="11465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线箭头连接符 51">
            <a:extLst>
              <a:ext uri="{FF2B5EF4-FFF2-40B4-BE49-F238E27FC236}">
                <a16:creationId xmlns:a16="http://schemas.microsoft.com/office/drawing/2014/main" id="{313C57A9-1778-C345-5092-70E91BC1F4B2}"/>
              </a:ext>
            </a:extLst>
          </p:cNvPr>
          <p:cNvCxnSpPr>
            <a:cxnSpLocks/>
            <a:stCxn id="7" idx="3"/>
            <a:endCxn id="35" idx="3"/>
          </p:cNvCxnSpPr>
          <p:nvPr/>
        </p:nvCxnSpPr>
        <p:spPr>
          <a:xfrm flipH="1">
            <a:off x="775589" y="2692817"/>
            <a:ext cx="1340302" cy="22057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95646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6C64BD9-9B32-9E41-F636-60BBA9E90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BA9B3675-CF21-5743-DCC1-41AAB50F3AC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133432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3" progId="TCLayout.ActiveDocument.1">
                  <p:embed/>
                </p:oleObj>
              </mc:Choice>
              <mc:Fallback>
                <p:oleObj name="think-cell Slide" r:id="rId4" imgW="473" imgH="473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A9B3675-CF21-5743-DCC1-41AAB50F3AC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0">
            <a:extLst>
              <a:ext uri="{FF2B5EF4-FFF2-40B4-BE49-F238E27FC236}">
                <a16:creationId xmlns:a16="http://schemas.microsoft.com/office/drawing/2014/main" id="{229D1C34-2977-BABA-9383-BDEA08A7512C}"/>
              </a:ext>
            </a:extLst>
          </p:cNvPr>
          <p:cNvSpPr/>
          <p:nvPr/>
        </p:nvSpPr>
        <p:spPr>
          <a:xfrm>
            <a:off x="502920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2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骨明胶生产工艺</a:t>
            </a:r>
            <a:endParaRPr lang="en-US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AD471E4-8245-DCAA-C8A9-3E54C0E5054E}"/>
              </a:ext>
            </a:extLst>
          </p:cNvPr>
          <p:cNvSpPr/>
          <p:nvPr/>
        </p:nvSpPr>
        <p:spPr>
          <a:xfrm>
            <a:off x="521208" y="841248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凝胶是问题显现点，但上游工艺参数共同决定分子量与最终产出</a:t>
            </a:r>
            <a:endParaRPr lang="en-US" sz="88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B409EC0-2B14-3790-9B2C-2EEE2AF7F421}"/>
              </a:ext>
            </a:extLst>
          </p:cNvPr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2" name="Group 20">
            <a:extLst>
              <a:ext uri="{FF2B5EF4-FFF2-40B4-BE49-F238E27FC236}">
                <a16:creationId xmlns:a16="http://schemas.microsoft.com/office/drawing/2014/main" id="{79A4D6B4-D8EE-CAAD-AD6C-40A36933AE4C}"/>
              </a:ext>
            </a:extLst>
          </p:cNvPr>
          <p:cNvGrpSpPr/>
          <p:nvPr/>
        </p:nvGrpSpPr>
        <p:grpSpPr>
          <a:xfrm>
            <a:off x="929640" y="3260834"/>
            <a:ext cx="10332720" cy="804768"/>
            <a:chOff x="1866122" y="1378959"/>
            <a:chExt cx="10711540" cy="338872"/>
          </a:xfrm>
          <a:solidFill>
            <a:srgbClr val="002060"/>
          </a:solidFill>
        </p:grpSpPr>
        <p:sp>
          <p:nvSpPr>
            <p:cNvPr id="33" name="Arrow: Chevron 4">
              <a:extLst>
                <a:ext uri="{FF2B5EF4-FFF2-40B4-BE49-F238E27FC236}">
                  <a16:creationId xmlns:a16="http://schemas.microsoft.com/office/drawing/2014/main" id="{81F1AF48-8F08-2BE7-B2A6-33048A7AC7C9}"/>
                </a:ext>
              </a:extLst>
            </p:cNvPr>
            <p:cNvSpPr/>
            <p:nvPr/>
          </p:nvSpPr>
          <p:spPr>
            <a:xfrm>
              <a:off x="1866122" y="1379277"/>
              <a:ext cx="1530220" cy="338554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1400" b="1" dirty="0" err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CJK SC" pitchFamily="34" charset="-120"/>
                </a:rPr>
                <a:t>原料预处理</a:t>
              </a:r>
              <a:endPara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Arrow: Chevron 5">
              <a:extLst>
                <a:ext uri="{FF2B5EF4-FFF2-40B4-BE49-F238E27FC236}">
                  <a16:creationId xmlns:a16="http://schemas.microsoft.com/office/drawing/2014/main" id="{ED7C46A6-8BA0-1524-37B9-87A98649A1CA}"/>
                </a:ext>
              </a:extLst>
            </p:cNvPr>
            <p:cNvSpPr/>
            <p:nvPr/>
          </p:nvSpPr>
          <p:spPr>
            <a:xfrm>
              <a:off x="6456782" y="1379277"/>
              <a:ext cx="1530220" cy="338554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1400" b="1" dirty="0" err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CJK SC" pitchFamily="34" charset="-120"/>
                </a:rPr>
                <a:t>分段提胶</a:t>
              </a:r>
              <a:endPara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Arrow: Chevron 6">
              <a:extLst>
                <a:ext uri="{FF2B5EF4-FFF2-40B4-BE49-F238E27FC236}">
                  <a16:creationId xmlns:a16="http://schemas.microsoft.com/office/drawing/2014/main" id="{E0EBF48B-3EC0-3A6F-94C2-D1763754D8E9}"/>
                </a:ext>
              </a:extLst>
            </p:cNvPr>
            <p:cNvSpPr/>
            <p:nvPr/>
          </p:nvSpPr>
          <p:spPr>
            <a:xfrm>
              <a:off x="3396342" y="1379277"/>
              <a:ext cx="1530220" cy="338554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1400" b="1" dirty="0" err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CJK SC" pitchFamily="34" charset="-120"/>
                </a:rPr>
                <a:t>浸灰水解</a:t>
              </a:r>
              <a:endPara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Arrow: Chevron 7">
              <a:extLst>
                <a:ext uri="{FF2B5EF4-FFF2-40B4-BE49-F238E27FC236}">
                  <a16:creationId xmlns:a16="http://schemas.microsoft.com/office/drawing/2014/main" id="{6347818C-24D8-B992-8EFE-F54B65C3581E}"/>
                </a:ext>
              </a:extLst>
            </p:cNvPr>
            <p:cNvSpPr/>
            <p:nvPr/>
          </p:nvSpPr>
          <p:spPr>
            <a:xfrm>
              <a:off x="4926562" y="1379277"/>
              <a:ext cx="1530220" cy="338554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1400" b="1" dirty="0" err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CJK SC" pitchFamily="34" charset="-120"/>
                </a:rPr>
                <a:t>中和水洗</a:t>
              </a:r>
              <a:endPara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Arrow: Chevron 8">
              <a:extLst>
                <a:ext uri="{FF2B5EF4-FFF2-40B4-BE49-F238E27FC236}">
                  <a16:creationId xmlns:a16="http://schemas.microsoft.com/office/drawing/2014/main" id="{911E08C0-C4F2-2127-2204-649C7B1098FC}"/>
                </a:ext>
              </a:extLst>
            </p:cNvPr>
            <p:cNvSpPr/>
            <p:nvPr/>
          </p:nvSpPr>
          <p:spPr>
            <a:xfrm>
              <a:off x="9517222" y="1378959"/>
              <a:ext cx="1530220" cy="338554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1400" b="1" dirty="0" err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CJK SC" pitchFamily="34" charset="-120"/>
                </a:rPr>
                <a:t>凝胶干燥</a:t>
              </a:r>
              <a:endPara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" name="Arrow: Chevron 9">
              <a:extLst>
                <a:ext uri="{FF2B5EF4-FFF2-40B4-BE49-F238E27FC236}">
                  <a16:creationId xmlns:a16="http://schemas.microsoft.com/office/drawing/2014/main" id="{DD4EB1C0-44ED-56CA-3955-F12D2B00D4EE}"/>
                </a:ext>
              </a:extLst>
            </p:cNvPr>
            <p:cNvSpPr/>
            <p:nvPr/>
          </p:nvSpPr>
          <p:spPr>
            <a:xfrm>
              <a:off x="11047442" y="1378959"/>
              <a:ext cx="1530220" cy="338554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1400" b="1" dirty="0" err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CJK SC" pitchFamily="34" charset="-120"/>
                </a:rPr>
                <a:t>粉碎成品</a:t>
              </a:r>
              <a:endPara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" name="Arrow: Chevron 19">
              <a:extLst>
                <a:ext uri="{FF2B5EF4-FFF2-40B4-BE49-F238E27FC236}">
                  <a16:creationId xmlns:a16="http://schemas.microsoft.com/office/drawing/2014/main" id="{651C1529-A3C6-5926-5194-CA87D48E2F6A}"/>
                </a:ext>
              </a:extLst>
            </p:cNvPr>
            <p:cNvSpPr/>
            <p:nvPr/>
          </p:nvSpPr>
          <p:spPr>
            <a:xfrm>
              <a:off x="7987002" y="1379277"/>
              <a:ext cx="1530220" cy="338554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1400" b="1" dirty="0" err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CJK SC" pitchFamily="34" charset="-120"/>
                </a:rPr>
                <a:t>浓缩复配</a:t>
              </a:r>
              <a:endPara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81" name="五边形 80">
            <a:extLst>
              <a:ext uri="{FF2B5EF4-FFF2-40B4-BE49-F238E27FC236}">
                <a16:creationId xmlns:a16="http://schemas.microsoft.com/office/drawing/2014/main" id="{A0901DD7-1D87-5B0F-8F72-BBCF319D4E68}"/>
              </a:ext>
            </a:extLst>
          </p:cNvPr>
          <p:cNvSpPr/>
          <p:nvPr/>
        </p:nvSpPr>
        <p:spPr>
          <a:xfrm rot="5400000">
            <a:off x="-719505" y="3319728"/>
            <a:ext cx="4448118" cy="945931"/>
          </a:xfrm>
          <a:prstGeom prst="homePlat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2" name="五边形 81">
            <a:extLst>
              <a:ext uri="{FF2B5EF4-FFF2-40B4-BE49-F238E27FC236}">
                <a16:creationId xmlns:a16="http://schemas.microsoft.com/office/drawing/2014/main" id="{0F2C4CFA-8F85-137F-B029-C145EE62E3C1}"/>
              </a:ext>
            </a:extLst>
          </p:cNvPr>
          <p:cNvSpPr/>
          <p:nvPr/>
        </p:nvSpPr>
        <p:spPr>
          <a:xfrm rot="5400000">
            <a:off x="813805" y="3319728"/>
            <a:ext cx="4448118" cy="945931"/>
          </a:xfrm>
          <a:prstGeom prst="homePlat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3" name="五边形 82">
            <a:extLst>
              <a:ext uri="{FF2B5EF4-FFF2-40B4-BE49-F238E27FC236}">
                <a16:creationId xmlns:a16="http://schemas.microsoft.com/office/drawing/2014/main" id="{EEE5277F-DF20-5AF3-300C-627D079C02B7}"/>
              </a:ext>
            </a:extLst>
          </p:cNvPr>
          <p:cNvSpPr/>
          <p:nvPr/>
        </p:nvSpPr>
        <p:spPr>
          <a:xfrm rot="5400000">
            <a:off x="2347940" y="3319729"/>
            <a:ext cx="4448118" cy="945931"/>
          </a:xfrm>
          <a:prstGeom prst="homePlat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4" name="五边形 83">
            <a:extLst>
              <a:ext uri="{FF2B5EF4-FFF2-40B4-BE49-F238E27FC236}">
                <a16:creationId xmlns:a16="http://schemas.microsoft.com/office/drawing/2014/main" id="{7822C335-A517-4C2D-E95A-EE5047EE10F6}"/>
              </a:ext>
            </a:extLst>
          </p:cNvPr>
          <p:cNvSpPr/>
          <p:nvPr/>
        </p:nvSpPr>
        <p:spPr>
          <a:xfrm rot="5400000">
            <a:off x="3766010" y="3319730"/>
            <a:ext cx="4448118" cy="945931"/>
          </a:xfrm>
          <a:prstGeom prst="homePlat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5" name="五边形 84">
            <a:extLst>
              <a:ext uri="{FF2B5EF4-FFF2-40B4-BE49-F238E27FC236}">
                <a16:creationId xmlns:a16="http://schemas.microsoft.com/office/drawing/2014/main" id="{EFB855E0-89B2-DDBD-882C-7BF9B1FD98F8}"/>
              </a:ext>
            </a:extLst>
          </p:cNvPr>
          <p:cNvSpPr/>
          <p:nvPr/>
        </p:nvSpPr>
        <p:spPr>
          <a:xfrm rot="5400000">
            <a:off x="5300145" y="3319731"/>
            <a:ext cx="4448118" cy="945931"/>
          </a:xfrm>
          <a:prstGeom prst="homePlat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6" name="五边形 85">
            <a:extLst>
              <a:ext uri="{FF2B5EF4-FFF2-40B4-BE49-F238E27FC236}">
                <a16:creationId xmlns:a16="http://schemas.microsoft.com/office/drawing/2014/main" id="{742B6C16-72BE-C456-21A8-0D86BE3DFA92}"/>
              </a:ext>
            </a:extLst>
          </p:cNvPr>
          <p:cNvSpPr/>
          <p:nvPr/>
        </p:nvSpPr>
        <p:spPr>
          <a:xfrm rot="5400000">
            <a:off x="6718215" y="3319732"/>
            <a:ext cx="4448118" cy="945931"/>
          </a:xfrm>
          <a:prstGeom prst="homePlat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7" name="五边形 86">
            <a:extLst>
              <a:ext uri="{FF2B5EF4-FFF2-40B4-BE49-F238E27FC236}">
                <a16:creationId xmlns:a16="http://schemas.microsoft.com/office/drawing/2014/main" id="{292DA70A-D308-EE1D-194D-9ADE5388490F}"/>
              </a:ext>
            </a:extLst>
          </p:cNvPr>
          <p:cNvSpPr/>
          <p:nvPr/>
        </p:nvSpPr>
        <p:spPr>
          <a:xfrm rot="5400000">
            <a:off x="8251525" y="3319733"/>
            <a:ext cx="4448118" cy="945931"/>
          </a:xfrm>
          <a:prstGeom prst="homePlat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721134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C7572A96-AEAA-7832-BBCE-E3071D8477F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4586240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3" progId="TCLayout.ActiveDocument.1">
                  <p:embed/>
                </p:oleObj>
              </mc:Choice>
              <mc:Fallback>
                <p:oleObj name="think-cell Slide" r:id="rId4" imgW="473" imgH="473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7572A96-AEAA-7832-BBCE-E3071D8477F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2">
            <a:extLst>
              <a:ext uri="{FF2B5EF4-FFF2-40B4-BE49-F238E27FC236}">
                <a16:creationId xmlns:a16="http://schemas.microsoft.com/office/drawing/2014/main" id="{414CBF36-84CC-47C9-D17F-A4DAB342F8B7}"/>
              </a:ext>
            </a:extLst>
          </p:cNvPr>
          <p:cNvGrpSpPr/>
          <p:nvPr/>
        </p:nvGrpSpPr>
        <p:grpSpPr>
          <a:xfrm>
            <a:off x="1000958" y="2521477"/>
            <a:ext cx="3115120" cy="1683511"/>
            <a:chOff x="835514" y="4248020"/>
            <a:chExt cx="2298842" cy="1683511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76E2A58-F079-D167-42F2-6CEFF5BAD815}"/>
                </a:ext>
              </a:extLst>
            </p:cNvPr>
            <p:cNvSpPr/>
            <p:nvPr/>
          </p:nvSpPr>
          <p:spPr>
            <a:xfrm>
              <a:off x="835514" y="4248020"/>
              <a:ext cx="2268082" cy="1683511"/>
            </a:xfrm>
            <a:prstGeom prst="rect">
              <a:avLst/>
            </a:prstGeom>
            <a:noFill/>
            <a:ln w="15875">
              <a:solidFill>
                <a:schemeClr val="tx1">
                  <a:lumMod val="50000"/>
                  <a:lumOff val="50000"/>
                </a:schemeClr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A279194-F32E-6BEF-FD9C-F9CB6FB9E492}"/>
                </a:ext>
              </a:extLst>
            </p:cNvPr>
            <p:cNvSpPr txBox="1"/>
            <p:nvPr/>
          </p:nvSpPr>
          <p:spPr>
            <a:xfrm>
              <a:off x="1045914" y="4398100"/>
              <a:ext cx="208844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b="1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关键参数判断依赖老师傅经验</a:t>
              </a:r>
              <a:endParaRPr 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5DD0BD7-AF9F-5D9C-DC15-06014F13D70A}"/>
                </a:ext>
              </a:extLst>
            </p:cNvPr>
            <p:cNvSpPr txBox="1"/>
            <p:nvPr/>
          </p:nvSpPr>
          <p:spPr>
            <a:xfrm>
              <a:off x="913846" y="4931318"/>
              <a:ext cx="2048810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浸灰时间、提胶道次、复配比例、凝胶</a:t>
              </a:r>
              <a:r>
                <a:rPr 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en-US" sz="1200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干燥状态等关键判断缺少统一计算口径，不同人员、不同批次之间存在经验差异</a:t>
              </a:r>
              <a:r>
                <a:rPr 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79104252-428E-2A35-29B1-D08EB61BCDE2}"/>
              </a:ext>
            </a:extLst>
          </p:cNvPr>
          <p:cNvGrpSpPr/>
          <p:nvPr/>
        </p:nvGrpSpPr>
        <p:grpSpPr>
          <a:xfrm>
            <a:off x="4756702" y="2521477"/>
            <a:ext cx="3115120" cy="1683511"/>
            <a:chOff x="835514" y="4248020"/>
            <a:chExt cx="2298842" cy="168351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FAE0B8A-9164-261A-9C0D-DFCF95A2EF45}"/>
                </a:ext>
              </a:extLst>
            </p:cNvPr>
            <p:cNvSpPr/>
            <p:nvPr/>
          </p:nvSpPr>
          <p:spPr>
            <a:xfrm>
              <a:off x="835514" y="4248020"/>
              <a:ext cx="2268082" cy="1683511"/>
            </a:xfrm>
            <a:prstGeom prst="rect">
              <a:avLst/>
            </a:prstGeom>
            <a:noFill/>
            <a:ln w="15875">
              <a:solidFill>
                <a:schemeClr val="tx1">
                  <a:lumMod val="50000"/>
                  <a:lumOff val="50000"/>
                </a:schemeClr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846246A-AF45-0138-3EEE-1D10FE71835A}"/>
                </a:ext>
              </a:extLst>
            </p:cNvPr>
            <p:cNvSpPr txBox="1"/>
            <p:nvPr/>
          </p:nvSpPr>
          <p:spPr>
            <a:xfrm>
              <a:off x="1045914" y="4398100"/>
              <a:ext cx="208844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b="1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凝胶阶段是偏差集中暴露点</a:t>
              </a:r>
              <a:endParaRPr 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7DAB3D1-1D78-E982-A3B7-2E70EA07DD78}"/>
                </a:ext>
              </a:extLst>
            </p:cNvPr>
            <p:cNvSpPr txBox="1"/>
            <p:nvPr/>
          </p:nvSpPr>
          <p:spPr>
            <a:xfrm>
              <a:off x="921552" y="4931318"/>
              <a:ext cx="2048810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当前最突出的痛点表现为凝胶</a:t>
              </a:r>
              <a:r>
                <a:rPr 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en-US" sz="1200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干燥后的分子量、质量和实际产出与理论计算存在偏差，但偏差来源可能来自前序浸灰、提胶、浓缩复配等多个环节</a:t>
              </a:r>
              <a:endParaRPr 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914BF39-A09A-4EDC-3C2F-262BE4E04C36}"/>
              </a:ext>
            </a:extLst>
          </p:cNvPr>
          <p:cNvGrpSpPr/>
          <p:nvPr/>
        </p:nvGrpSpPr>
        <p:grpSpPr>
          <a:xfrm>
            <a:off x="8406037" y="2521477"/>
            <a:ext cx="3115120" cy="1683511"/>
            <a:chOff x="835514" y="4248020"/>
            <a:chExt cx="2298842" cy="1683511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7B1D467-9621-225D-84BA-6B8673855C06}"/>
                </a:ext>
              </a:extLst>
            </p:cNvPr>
            <p:cNvSpPr/>
            <p:nvPr/>
          </p:nvSpPr>
          <p:spPr>
            <a:xfrm>
              <a:off x="835514" y="4248020"/>
              <a:ext cx="2268082" cy="1683511"/>
            </a:xfrm>
            <a:prstGeom prst="rect">
              <a:avLst/>
            </a:prstGeom>
            <a:noFill/>
            <a:ln w="15875">
              <a:solidFill>
                <a:schemeClr val="tx1">
                  <a:lumMod val="50000"/>
                  <a:lumOff val="50000"/>
                </a:schemeClr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EA28285-F9C7-F7DE-6F7C-1DC92F795352}"/>
                </a:ext>
              </a:extLst>
            </p:cNvPr>
            <p:cNvSpPr txBox="1"/>
            <p:nvPr/>
          </p:nvSpPr>
          <p:spPr>
            <a:xfrm>
              <a:off x="914040" y="4398100"/>
              <a:ext cx="222031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b="1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质量检测与生产调整尚未形成闭环</a:t>
              </a:r>
              <a:endParaRPr 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AAB734B-3728-6636-ABFD-75C55E2F7EC6}"/>
                </a:ext>
              </a:extLst>
            </p:cNvPr>
            <p:cNvSpPr txBox="1"/>
            <p:nvPr/>
          </p:nvSpPr>
          <p:spPr>
            <a:xfrm>
              <a:off x="921552" y="4931318"/>
              <a:ext cx="2048810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GPC、黏度、PDI、产出、入库检验等数据更多用于事后判断，尚未反向校正复配计算和工艺参数，导致经验难以沉淀、模型难以持续优化。</a:t>
              </a:r>
              <a:endParaRPr 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5" name="Text 0">
            <a:extLst>
              <a:ext uri="{FF2B5EF4-FFF2-40B4-BE49-F238E27FC236}">
                <a16:creationId xmlns:a16="http://schemas.microsoft.com/office/drawing/2014/main" id="{C3A7E023-F050-7DA2-8F27-0EE5E6DD7546}"/>
              </a:ext>
            </a:extLst>
          </p:cNvPr>
          <p:cNvSpPr/>
          <p:nvPr/>
        </p:nvSpPr>
        <p:spPr>
          <a:xfrm>
            <a:off x="502920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CN" altLang="en-US" sz="22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当前痛点汇总</a:t>
            </a:r>
            <a:endParaRPr lang="en-US" sz="2200" b="1" dirty="0">
              <a:solidFill>
                <a:srgbClr val="1020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71BA418-E525-C403-0B45-A403C4E36CEA}"/>
              </a:ext>
            </a:extLst>
          </p:cNvPr>
          <p:cNvSpPr/>
          <p:nvPr/>
        </p:nvSpPr>
        <p:spPr>
          <a:xfrm>
            <a:off x="7396224" y="795528"/>
            <a:ext cx="4253568" cy="7439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我的初步想法，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yikang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帮忙完善一下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278903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CE44C8C-4E53-20A4-B3B8-057345377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5462007B-9FD1-C5A3-0AA2-823014FEAA6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1459410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3" progId="TCLayout.ActiveDocument.1">
                  <p:embed/>
                </p:oleObj>
              </mc:Choice>
              <mc:Fallback>
                <p:oleObj name="think-cell Slide" r:id="rId4" imgW="473" imgH="473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462007B-9FD1-C5A3-0AA2-823014FEAA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0">
            <a:extLst>
              <a:ext uri="{FF2B5EF4-FFF2-40B4-BE49-F238E27FC236}">
                <a16:creationId xmlns:a16="http://schemas.microsoft.com/office/drawing/2014/main" id="{2446F54B-052C-236D-7900-ACA81712FE76}"/>
              </a:ext>
            </a:extLst>
          </p:cNvPr>
          <p:cNvSpPr/>
          <p:nvPr/>
        </p:nvSpPr>
        <p:spPr>
          <a:xfrm>
            <a:off x="502920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2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骨明胶生产工艺</a:t>
            </a:r>
            <a:r>
              <a:rPr lang="en-US" altLang="zh-CN" sz="22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22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切入点</a:t>
            </a:r>
            <a:endParaRPr lang="en-US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A8458AD-8C12-F3A5-489F-7E338E0FB62E}"/>
              </a:ext>
            </a:extLst>
          </p:cNvPr>
          <p:cNvSpPr/>
          <p:nvPr/>
        </p:nvSpPr>
        <p:spPr>
          <a:xfrm>
            <a:off x="521208" y="841248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凝胶是问题显现点，但上游工艺参数共同决定分子量与最终产出</a:t>
            </a:r>
            <a:endParaRPr lang="en-US" sz="88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636BCA3-0DC4-B6BA-AB2E-885F870F35EB}"/>
              </a:ext>
            </a:extLst>
          </p:cNvPr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2" name="Text 4">
            <a:extLst>
              <a:ext uri="{FF2B5EF4-FFF2-40B4-BE49-F238E27FC236}">
                <a16:creationId xmlns:a16="http://schemas.microsoft.com/office/drawing/2014/main" id="{A6A4A2FA-E238-EF85-4FFE-600444F1AFFC}"/>
              </a:ext>
            </a:extLst>
          </p:cNvPr>
          <p:cNvSpPr/>
          <p:nvPr/>
        </p:nvSpPr>
        <p:spPr>
          <a:xfrm>
            <a:off x="2428890" y="1239642"/>
            <a:ext cx="1275278" cy="237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端到端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工艺流程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3" name="Text 4">
            <a:extLst>
              <a:ext uri="{FF2B5EF4-FFF2-40B4-BE49-F238E27FC236}">
                <a16:creationId xmlns:a16="http://schemas.microsoft.com/office/drawing/2014/main" id="{DC7B5A7A-4CE8-DEF5-E276-66FC6018A0E3}"/>
              </a:ext>
            </a:extLst>
          </p:cNvPr>
          <p:cNvSpPr/>
          <p:nvPr/>
        </p:nvSpPr>
        <p:spPr>
          <a:xfrm>
            <a:off x="835410" y="1295147"/>
            <a:ext cx="1275278" cy="237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输入</a:t>
            </a:r>
            <a:endParaRPr 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4" name="Text 4">
            <a:extLst>
              <a:ext uri="{FF2B5EF4-FFF2-40B4-BE49-F238E27FC236}">
                <a16:creationId xmlns:a16="http://schemas.microsoft.com/office/drawing/2014/main" id="{4AC51B39-798C-C456-10F3-AB5C44E96F5B}"/>
              </a:ext>
            </a:extLst>
          </p:cNvPr>
          <p:cNvSpPr/>
          <p:nvPr/>
        </p:nvSpPr>
        <p:spPr>
          <a:xfrm>
            <a:off x="4272689" y="1295147"/>
            <a:ext cx="1275278" cy="237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4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输出</a:t>
            </a: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5" name="Text 4">
            <a:extLst>
              <a:ext uri="{FF2B5EF4-FFF2-40B4-BE49-F238E27FC236}">
                <a16:creationId xmlns:a16="http://schemas.microsoft.com/office/drawing/2014/main" id="{C4B706D1-FE77-7B4F-EEC9-EF4BF2AF3420}"/>
              </a:ext>
            </a:extLst>
          </p:cNvPr>
          <p:cNvSpPr/>
          <p:nvPr/>
        </p:nvSpPr>
        <p:spPr>
          <a:xfrm>
            <a:off x="8661809" y="1295147"/>
            <a:ext cx="1275278" cy="237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AI改善点</a:t>
            </a:r>
            <a:endParaRPr 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7" name="组合 96">
            <a:extLst>
              <a:ext uri="{FF2B5EF4-FFF2-40B4-BE49-F238E27FC236}">
                <a16:creationId xmlns:a16="http://schemas.microsoft.com/office/drawing/2014/main" id="{F266813C-6E0D-051B-D671-8019B6D3132C}"/>
              </a:ext>
            </a:extLst>
          </p:cNvPr>
          <p:cNvGrpSpPr/>
          <p:nvPr/>
        </p:nvGrpSpPr>
        <p:grpSpPr>
          <a:xfrm>
            <a:off x="502920" y="1590658"/>
            <a:ext cx="6354636" cy="696462"/>
            <a:chOff x="502920" y="1590659"/>
            <a:chExt cx="6354636" cy="696462"/>
          </a:xfrm>
        </p:grpSpPr>
        <p:sp>
          <p:nvSpPr>
            <p:cNvPr id="65" name="AutoShape 15">
              <a:extLst>
                <a:ext uri="{FF2B5EF4-FFF2-40B4-BE49-F238E27FC236}">
                  <a16:creationId xmlns:a16="http://schemas.microsoft.com/office/drawing/2014/main" id="{B3489FE5-01C8-C3E1-2D0B-39443E9D295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743200" y="1815292"/>
              <a:ext cx="646332" cy="200055"/>
            </a:xfrm>
            <a:prstGeom prst="homePlate">
              <a:avLst>
                <a:gd name="adj" fmla="val 9936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outerShdw dist="35921" dir="2700000" algn="ctr" rotWithShape="0">
                <a:schemeClr val="hlink"/>
              </a:outerShdw>
            </a:effectLst>
          </p:spPr>
          <p:txBody>
            <a:bodyPr wrap="square" lIns="0" tIns="0" rIns="0" bIns="0" anchor="ctr">
              <a:spAutoFit/>
            </a:bodyPr>
            <a:lstStyle>
              <a:lvl1pPr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92" name="组合 91">
              <a:extLst>
                <a:ext uri="{FF2B5EF4-FFF2-40B4-BE49-F238E27FC236}">
                  <a16:creationId xmlns:a16="http://schemas.microsoft.com/office/drawing/2014/main" id="{A265287E-B275-5F98-7FCF-83F14088AD2F}"/>
                </a:ext>
              </a:extLst>
            </p:cNvPr>
            <p:cNvGrpSpPr/>
            <p:nvPr/>
          </p:nvGrpSpPr>
          <p:grpSpPr>
            <a:xfrm>
              <a:off x="502920" y="1590659"/>
              <a:ext cx="6354636" cy="696462"/>
              <a:chOff x="502920" y="1590659"/>
              <a:chExt cx="6354636" cy="696462"/>
            </a:xfrm>
          </p:grpSpPr>
          <p:sp>
            <p:nvSpPr>
              <p:cNvPr id="32" name="五边形 31">
                <a:extLst>
                  <a:ext uri="{FF2B5EF4-FFF2-40B4-BE49-F238E27FC236}">
                    <a16:creationId xmlns:a16="http://schemas.microsoft.com/office/drawing/2014/main" id="{2AD23AF0-27BA-2650-232D-33E86D92741C}"/>
                  </a:ext>
                </a:extLst>
              </p:cNvPr>
              <p:cNvSpPr/>
              <p:nvPr/>
            </p:nvSpPr>
            <p:spPr>
              <a:xfrm>
                <a:off x="502920" y="1590659"/>
                <a:ext cx="6354636" cy="638117"/>
              </a:xfrm>
              <a:prstGeom prst="homePlat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7" name="文本框 86">
                <a:extLst>
                  <a:ext uri="{FF2B5EF4-FFF2-40B4-BE49-F238E27FC236}">
                    <a16:creationId xmlns:a16="http://schemas.microsoft.com/office/drawing/2014/main" id="{45F0C51A-E895-6EF2-3827-0D35BCF790BA}"/>
                  </a:ext>
                </a:extLst>
              </p:cNvPr>
              <p:cNvSpPr txBox="1"/>
              <p:nvPr/>
            </p:nvSpPr>
            <p:spPr>
              <a:xfrm>
                <a:off x="2491060" y="1640790"/>
                <a:ext cx="1150938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800" b="1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Noto Sans CJK SC" pitchFamily="34" charset="-120"/>
                  </a:rPr>
                  <a:t>原料预</a:t>
                </a:r>
                <a:endParaRPr lang="en-US" altLang="zh-CN" sz="1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CJK SC" pitchFamily="34" charset="-120"/>
                </a:endParaRPr>
              </a:p>
              <a:p>
                <a:pPr algn="ctr"/>
                <a:r>
                  <a:rPr lang="en-US" altLang="zh-CN" sz="1800" b="1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Noto Sans CJK SC" pitchFamily="34" charset="-120"/>
                  </a:rPr>
                  <a:t>处理</a:t>
                </a:r>
                <a:endParaRPr lang="en-US" altLang="zh-CN" sz="18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98" name="组合 97">
            <a:extLst>
              <a:ext uri="{FF2B5EF4-FFF2-40B4-BE49-F238E27FC236}">
                <a16:creationId xmlns:a16="http://schemas.microsoft.com/office/drawing/2014/main" id="{0D9F692E-8EF3-E47A-11E1-0D551196DC02}"/>
              </a:ext>
            </a:extLst>
          </p:cNvPr>
          <p:cNvGrpSpPr/>
          <p:nvPr/>
        </p:nvGrpSpPr>
        <p:grpSpPr>
          <a:xfrm>
            <a:off x="521208" y="2287119"/>
            <a:ext cx="6336348" cy="648279"/>
            <a:chOff x="521208" y="1590659"/>
            <a:chExt cx="6336348" cy="648279"/>
          </a:xfrm>
        </p:grpSpPr>
        <p:sp>
          <p:nvSpPr>
            <p:cNvPr id="99" name="AutoShape 15">
              <a:extLst>
                <a:ext uri="{FF2B5EF4-FFF2-40B4-BE49-F238E27FC236}">
                  <a16:creationId xmlns:a16="http://schemas.microsoft.com/office/drawing/2014/main" id="{0EE89383-399D-7C18-4876-5C6B8E6F25B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743200" y="1815744"/>
              <a:ext cx="646332" cy="200055"/>
            </a:xfrm>
            <a:prstGeom prst="homePlate">
              <a:avLst>
                <a:gd name="adj" fmla="val 9936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outerShdw dist="35921" dir="2700000" algn="ctr" rotWithShape="0">
                <a:schemeClr val="hlink"/>
              </a:outerShdw>
            </a:effectLst>
          </p:spPr>
          <p:txBody>
            <a:bodyPr wrap="square" lIns="0" tIns="0" rIns="0" bIns="0" anchor="ctr">
              <a:spAutoFit/>
            </a:bodyPr>
            <a:lstStyle>
              <a:lvl1pPr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00" name="组合 99">
              <a:extLst>
                <a:ext uri="{FF2B5EF4-FFF2-40B4-BE49-F238E27FC236}">
                  <a16:creationId xmlns:a16="http://schemas.microsoft.com/office/drawing/2014/main" id="{D09F5B6B-6836-3775-0AAE-FC7ACE8E84C6}"/>
                </a:ext>
              </a:extLst>
            </p:cNvPr>
            <p:cNvGrpSpPr/>
            <p:nvPr/>
          </p:nvGrpSpPr>
          <p:grpSpPr>
            <a:xfrm>
              <a:off x="521208" y="1590659"/>
              <a:ext cx="6336348" cy="638117"/>
              <a:chOff x="521208" y="1590659"/>
              <a:chExt cx="6336348" cy="638117"/>
            </a:xfrm>
          </p:grpSpPr>
          <p:sp>
            <p:nvSpPr>
              <p:cNvPr id="101" name="五边形 100">
                <a:extLst>
                  <a:ext uri="{FF2B5EF4-FFF2-40B4-BE49-F238E27FC236}">
                    <a16:creationId xmlns:a16="http://schemas.microsoft.com/office/drawing/2014/main" id="{941BCC50-0964-6306-D5ED-0B28310CE8CC}"/>
                  </a:ext>
                </a:extLst>
              </p:cNvPr>
              <p:cNvSpPr/>
              <p:nvPr/>
            </p:nvSpPr>
            <p:spPr>
              <a:xfrm>
                <a:off x="521208" y="1590659"/>
                <a:ext cx="6336348" cy="638117"/>
              </a:xfrm>
              <a:prstGeom prst="homePlat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3" name="文本框 102">
                <a:extLst>
                  <a:ext uri="{FF2B5EF4-FFF2-40B4-BE49-F238E27FC236}">
                    <a16:creationId xmlns:a16="http://schemas.microsoft.com/office/drawing/2014/main" id="{C53462A1-3C73-46E7-F38A-F39033348AC5}"/>
                  </a:ext>
                </a:extLst>
              </p:cNvPr>
              <p:cNvSpPr txBox="1"/>
              <p:nvPr/>
            </p:nvSpPr>
            <p:spPr>
              <a:xfrm>
                <a:off x="2491060" y="1726778"/>
                <a:ext cx="115093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zh-CN" b="1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Noto Sans CJK SC" pitchFamily="34" charset="-120"/>
                  </a:rPr>
                  <a:t>浸灰水解</a:t>
                </a:r>
                <a:endPara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104" name="组合 103">
            <a:extLst>
              <a:ext uri="{FF2B5EF4-FFF2-40B4-BE49-F238E27FC236}">
                <a16:creationId xmlns:a16="http://schemas.microsoft.com/office/drawing/2014/main" id="{347B2A30-F590-03AB-2F4D-BDF2E9C5F48F}"/>
              </a:ext>
            </a:extLst>
          </p:cNvPr>
          <p:cNvGrpSpPr/>
          <p:nvPr/>
        </p:nvGrpSpPr>
        <p:grpSpPr>
          <a:xfrm>
            <a:off x="521208" y="3001822"/>
            <a:ext cx="6336348" cy="647951"/>
            <a:chOff x="521208" y="1590659"/>
            <a:chExt cx="6336348" cy="647951"/>
          </a:xfrm>
        </p:grpSpPr>
        <p:sp>
          <p:nvSpPr>
            <p:cNvPr id="105" name="AutoShape 15">
              <a:extLst>
                <a:ext uri="{FF2B5EF4-FFF2-40B4-BE49-F238E27FC236}">
                  <a16:creationId xmlns:a16="http://schemas.microsoft.com/office/drawing/2014/main" id="{2CA0A830-FB0D-7ED5-7040-40431A9E3E3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743200" y="1815416"/>
              <a:ext cx="646332" cy="200055"/>
            </a:xfrm>
            <a:prstGeom prst="homePlate">
              <a:avLst>
                <a:gd name="adj" fmla="val 9936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outerShdw dist="35921" dir="2700000" algn="ctr" rotWithShape="0">
                <a:schemeClr val="hlink"/>
              </a:outerShdw>
            </a:effectLst>
          </p:spPr>
          <p:txBody>
            <a:bodyPr wrap="square" lIns="0" tIns="0" rIns="0" bIns="0" anchor="ctr">
              <a:spAutoFit/>
            </a:bodyPr>
            <a:lstStyle>
              <a:lvl1pPr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06" name="组合 105">
              <a:extLst>
                <a:ext uri="{FF2B5EF4-FFF2-40B4-BE49-F238E27FC236}">
                  <a16:creationId xmlns:a16="http://schemas.microsoft.com/office/drawing/2014/main" id="{3B912841-F39D-8757-52D4-DC617B6B3285}"/>
                </a:ext>
              </a:extLst>
            </p:cNvPr>
            <p:cNvGrpSpPr/>
            <p:nvPr/>
          </p:nvGrpSpPr>
          <p:grpSpPr>
            <a:xfrm>
              <a:off x="521208" y="1590659"/>
              <a:ext cx="6336348" cy="638117"/>
              <a:chOff x="521208" y="1590659"/>
              <a:chExt cx="6336348" cy="638117"/>
            </a:xfrm>
          </p:grpSpPr>
          <p:sp>
            <p:nvSpPr>
              <p:cNvPr id="107" name="五边形 106">
                <a:extLst>
                  <a:ext uri="{FF2B5EF4-FFF2-40B4-BE49-F238E27FC236}">
                    <a16:creationId xmlns:a16="http://schemas.microsoft.com/office/drawing/2014/main" id="{43BDC940-5FC7-6809-7BC1-CD2CCFA4361A}"/>
                  </a:ext>
                </a:extLst>
              </p:cNvPr>
              <p:cNvSpPr/>
              <p:nvPr/>
            </p:nvSpPr>
            <p:spPr>
              <a:xfrm>
                <a:off x="521208" y="1590659"/>
                <a:ext cx="6336348" cy="638117"/>
              </a:xfrm>
              <a:prstGeom prst="homePlat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9" name="文本框 108">
                <a:extLst>
                  <a:ext uri="{FF2B5EF4-FFF2-40B4-BE49-F238E27FC236}">
                    <a16:creationId xmlns:a16="http://schemas.microsoft.com/office/drawing/2014/main" id="{E8544CD9-0D44-4872-8D57-542264832BDE}"/>
                  </a:ext>
                </a:extLst>
              </p:cNvPr>
              <p:cNvSpPr txBox="1"/>
              <p:nvPr/>
            </p:nvSpPr>
            <p:spPr>
              <a:xfrm>
                <a:off x="2491060" y="1727168"/>
                <a:ext cx="115093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b="1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Noto Sans CJK SC" pitchFamily="34" charset="-120"/>
                  </a:rPr>
                  <a:t>中和水洗</a:t>
                </a:r>
                <a:endPara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110" name="组合 109">
            <a:extLst>
              <a:ext uri="{FF2B5EF4-FFF2-40B4-BE49-F238E27FC236}">
                <a16:creationId xmlns:a16="http://schemas.microsoft.com/office/drawing/2014/main" id="{E38CA9DA-22D2-B133-1268-025431F4C397}"/>
              </a:ext>
            </a:extLst>
          </p:cNvPr>
          <p:cNvGrpSpPr/>
          <p:nvPr/>
        </p:nvGrpSpPr>
        <p:grpSpPr>
          <a:xfrm>
            <a:off x="521208" y="3716525"/>
            <a:ext cx="6336348" cy="647623"/>
            <a:chOff x="521208" y="1590659"/>
            <a:chExt cx="6336348" cy="647623"/>
          </a:xfrm>
        </p:grpSpPr>
        <p:sp>
          <p:nvSpPr>
            <p:cNvPr id="111" name="AutoShape 15">
              <a:extLst>
                <a:ext uri="{FF2B5EF4-FFF2-40B4-BE49-F238E27FC236}">
                  <a16:creationId xmlns:a16="http://schemas.microsoft.com/office/drawing/2014/main" id="{D83B9C26-8CCD-0FFA-3999-6D67CF5C0C4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743200" y="1815088"/>
              <a:ext cx="646332" cy="200055"/>
            </a:xfrm>
            <a:prstGeom prst="homePlate">
              <a:avLst>
                <a:gd name="adj" fmla="val 9936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outerShdw dist="35921" dir="2700000" algn="ctr" rotWithShape="0">
                <a:schemeClr val="hlink"/>
              </a:outerShdw>
            </a:effectLst>
          </p:spPr>
          <p:txBody>
            <a:bodyPr wrap="square" lIns="0" tIns="0" rIns="0" bIns="0" anchor="ctr">
              <a:spAutoFit/>
            </a:bodyPr>
            <a:lstStyle>
              <a:lvl1pPr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2" name="组合 111">
              <a:extLst>
                <a:ext uri="{FF2B5EF4-FFF2-40B4-BE49-F238E27FC236}">
                  <a16:creationId xmlns:a16="http://schemas.microsoft.com/office/drawing/2014/main" id="{E8AFF9F3-51FF-9AE3-5FEC-5EA21C3836D7}"/>
                </a:ext>
              </a:extLst>
            </p:cNvPr>
            <p:cNvGrpSpPr/>
            <p:nvPr/>
          </p:nvGrpSpPr>
          <p:grpSpPr>
            <a:xfrm>
              <a:off x="521208" y="1590659"/>
              <a:ext cx="6336348" cy="638117"/>
              <a:chOff x="521208" y="1590659"/>
              <a:chExt cx="6336348" cy="638117"/>
            </a:xfrm>
          </p:grpSpPr>
          <p:sp>
            <p:nvSpPr>
              <p:cNvPr id="113" name="五边形 112">
                <a:extLst>
                  <a:ext uri="{FF2B5EF4-FFF2-40B4-BE49-F238E27FC236}">
                    <a16:creationId xmlns:a16="http://schemas.microsoft.com/office/drawing/2014/main" id="{AB8F62C2-3CFA-5F9D-5941-A120FDE1498A}"/>
                  </a:ext>
                </a:extLst>
              </p:cNvPr>
              <p:cNvSpPr/>
              <p:nvPr/>
            </p:nvSpPr>
            <p:spPr>
              <a:xfrm>
                <a:off x="521208" y="1590659"/>
                <a:ext cx="6336348" cy="638117"/>
              </a:xfrm>
              <a:prstGeom prst="homePlat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5" name="文本框 114">
                <a:extLst>
                  <a:ext uri="{FF2B5EF4-FFF2-40B4-BE49-F238E27FC236}">
                    <a16:creationId xmlns:a16="http://schemas.microsoft.com/office/drawing/2014/main" id="{8945878E-21F0-53D4-98A8-9293ED2A7BA4}"/>
                  </a:ext>
                </a:extLst>
              </p:cNvPr>
              <p:cNvSpPr txBox="1"/>
              <p:nvPr/>
            </p:nvSpPr>
            <p:spPr>
              <a:xfrm>
                <a:off x="2491060" y="1725051"/>
                <a:ext cx="115093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b="1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Noto Sans CJK SC" pitchFamily="34" charset="-120"/>
                  </a:rPr>
                  <a:t>分段提胶</a:t>
                </a:r>
                <a:endPara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119" name="五边形 118">
            <a:extLst>
              <a:ext uri="{FF2B5EF4-FFF2-40B4-BE49-F238E27FC236}">
                <a16:creationId xmlns:a16="http://schemas.microsoft.com/office/drawing/2014/main" id="{42ED8FA1-B586-B102-86A5-B4E9D58C9779}"/>
              </a:ext>
            </a:extLst>
          </p:cNvPr>
          <p:cNvSpPr/>
          <p:nvPr/>
        </p:nvSpPr>
        <p:spPr>
          <a:xfrm>
            <a:off x="521208" y="4431228"/>
            <a:ext cx="6336348" cy="638117"/>
          </a:xfrm>
          <a:prstGeom prst="homePlat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C365866E-7DD3-2347-57AB-600E47323E65}"/>
              </a:ext>
            </a:extLst>
          </p:cNvPr>
          <p:cNvGrpSpPr/>
          <p:nvPr/>
        </p:nvGrpSpPr>
        <p:grpSpPr>
          <a:xfrm>
            <a:off x="2480891" y="4419491"/>
            <a:ext cx="1150938" cy="646332"/>
            <a:chOff x="2491060" y="4432295"/>
            <a:chExt cx="1150938" cy="646332"/>
          </a:xfrm>
        </p:grpSpPr>
        <p:sp>
          <p:nvSpPr>
            <p:cNvPr id="117" name="AutoShape 15">
              <a:extLst>
                <a:ext uri="{FF2B5EF4-FFF2-40B4-BE49-F238E27FC236}">
                  <a16:creationId xmlns:a16="http://schemas.microsoft.com/office/drawing/2014/main" id="{EEE1B730-EAEB-A85B-AFA8-4698D5F9A30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743844" y="4655433"/>
              <a:ext cx="646332" cy="200055"/>
            </a:xfrm>
            <a:prstGeom prst="homePlate">
              <a:avLst>
                <a:gd name="adj" fmla="val 9936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outerShdw dist="35921" dir="2700000" algn="ctr" rotWithShape="0">
                <a:schemeClr val="hlink"/>
              </a:outerShdw>
            </a:effectLst>
          </p:spPr>
          <p:txBody>
            <a:bodyPr wrap="square" lIns="0" tIns="0" rIns="0" bIns="0" anchor="ctr">
              <a:spAutoFit/>
            </a:bodyPr>
            <a:lstStyle>
              <a:lvl1pPr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" name="文本框 120">
              <a:extLst>
                <a:ext uri="{FF2B5EF4-FFF2-40B4-BE49-F238E27FC236}">
                  <a16:creationId xmlns:a16="http://schemas.microsoft.com/office/drawing/2014/main" id="{A10E26E2-13C2-F020-27F2-59F51F2196AE}"/>
                </a:ext>
              </a:extLst>
            </p:cNvPr>
            <p:cNvSpPr txBox="1"/>
            <p:nvPr/>
          </p:nvSpPr>
          <p:spPr>
            <a:xfrm>
              <a:off x="2491060" y="4565620"/>
              <a:ext cx="115093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b="1" dirty="0" err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CJK SC" pitchFamily="34" charset="-120"/>
                </a:rPr>
                <a:t>浓缩复配</a:t>
              </a:r>
              <a:endPara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22" name="组合 121">
            <a:extLst>
              <a:ext uri="{FF2B5EF4-FFF2-40B4-BE49-F238E27FC236}">
                <a16:creationId xmlns:a16="http://schemas.microsoft.com/office/drawing/2014/main" id="{DE3717F1-6CA2-6B59-2350-6FC42B872841}"/>
              </a:ext>
            </a:extLst>
          </p:cNvPr>
          <p:cNvGrpSpPr/>
          <p:nvPr/>
        </p:nvGrpSpPr>
        <p:grpSpPr>
          <a:xfrm>
            <a:off x="521208" y="5124912"/>
            <a:ext cx="6336348" cy="647348"/>
            <a:chOff x="521208" y="1590659"/>
            <a:chExt cx="6336348" cy="647348"/>
          </a:xfrm>
        </p:grpSpPr>
        <p:sp>
          <p:nvSpPr>
            <p:cNvPr id="123" name="AutoShape 15">
              <a:extLst>
                <a:ext uri="{FF2B5EF4-FFF2-40B4-BE49-F238E27FC236}">
                  <a16:creationId xmlns:a16="http://schemas.microsoft.com/office/drawing/2014/main" id="{97692F11-BC14-BA9C-27AF-CFB077ADE78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743200" y="1814813"/>
              <a:ext cx="646332" cy="200055"/>
            </a:xfrm>
            <a:prstGeom prst="homePlate">
              <a:avLst>
                <a:gd name="adj" fmla="val 9936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outerShdw dist="35921" dir="2700000" algn="ctr" rotWithShape="0">
                <a:schemeClr val="hlink"/>
              </a:outerShdw>
            </a:effectLst>
          </p:spPr>
          <p:txBody>
            <a:bodyPr wrap="square" lIns="0" tIns="0" rIns="0" bIns="0" anchor="ctr">
              <a:spAutoFit/>
            </a:bodyPr>
            <a:lstStyle>
              <a:lvl1pPr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24" name="组合 123">
              <a:extLst>
                <a:ext uri="{FF2B5EF4-FFF2-40B4-BE49-F238E27FC236}">
                  <a16:creationId xmlns:a16="http://schemas.microsoft.com/office/drawing/2014/main" id="{31235E78-5950-DE0F-B1FC-6ABAD976CA59}"/>
                </a:ext>
              </a:extLst>
            </p:cNvPr>
            <p:cNvGrpSpPr/>
            <p:nvPr/>
          </p:nvGrpSpPr>
          <p:grpSpPr>
            <a:xfrm>
              <a:off x="521208" y="1590659"/>
              <a:ext cx="6336348" cy="638117"/>
              <a:chOff x="521208" y="1590659"/>
              <a:chExt cx="6336348" cy="638117"/>
            </a:xfrm>
          </p:grpSpPr>
          <p:sp>
            <p:nvSpPr>
              <p:cNvPr id="125" name="五边形 124">
                <a:extLst>
                  <a:ext uri="{FF2B5EF4-FFF2-40B4-BE49-F238E27FC236}">
                    <a16:creationId xmlns:a16="http://schemas.microsoft.com/office/drawing/2014/main" id="{8CB4C991-BD41-DE02-E334-54056885EEDC}"/>
                  </a:ext>
                </a:extLst>
              </p:cNvPr>
              <p:cNvSpPr/>
              <p:nvPr/>
            </p:nvSpPr>
            <p:spPr>
              <a:xfrm>
                <a:off x="521208" y="1590659"/>
                <a:ext cx="6336348" cy="638117"/>
              </a:xfrm>
              <a:prstGeom prst="homePlat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7" name="文本框 126">
                <a:extLst>
                  <a:ext uri="{FF2B5EF4-FFF2-40B4-BE49-F238E27FC236}">
                    <a16:creationId xmlns:a16="http://schemas.microsoft.com/office/drawing/2014/main" id="{B568D108-0351-32C3-9E77-886B3825ABC5}"/>
                  </a:ext>
                </a:extLst>
              </p:cNvPr>
              <p:cNvSpPr txBox="1"/>
              <p:nvPr/>
            </p:nvSpPr>
            <p:spPr>
              <a:xfrm>
                <a:off x="2491060" y="1725051"/>
                <a:ext cx="115093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b="1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Noto Sans CJK SC" pitchFamily="34" charset="-120"/>
                  </a:rPr>
                  <a:t>凝胶干燥</a:t>
                </a:r>
                <a:endPara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128" name="组合 127">
            <a:extLst>
              <a:ext uri="{FF2B5EF4-FFF2-40B4-BE49-F238E27FC236}">
                <a16:creationId xmlns:a16="http://schemas.microsoft.com/office/drawing/2014/main" id="{EFC72020-8EA6-E6D7-FCF5-69E458A134B2}"/>
              </a:ext>
            </a:extLst>
          </p:cNvPr>
          <p:cNvGrpSpPr/>
          <p:nvPr/>
        </p:nvGrpSpPr>
        <p:grpSpPr>
          <a:xfrm>
            <a:off x="521208" y="5860636"/>
            <a:ext cx="6336348" cy="648224"/>
            <a:chOff x="521208" y="1590659"/>
            <a:chExt cx="6336348" cy="648224"/>
          </a:xfrm>
        </p:grpSpPr>
        <p:sp>
          <p:nvSpPr>
            <p:cNvPr id="129" name="AutoShape 15">
              <a:extLst>
                <a:ext uri="{FF2B5EF4-FFF2-40B4-BE49-F238E27FC236}">
                  <a16:creationId xmlns:a16="http://schemas.microsoft.com/office/drawing/2014/main" id="{217E5E01-45EA-479B-F721-A2DE14B7959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743200" y="1815689"/>
              <a:ext cx="646332" cy="200055"/>
            </a:xfrm>
            <a:prstGeom prst="homePlate">
              <a:avLst>
                <a:gd name="adj" fmla="val 9936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outerShdw dist="35921" dir="2700000" algn="ctr" rotWithShape="0">
                <a:schemeClr val="hlink"/>
              </a:outerShdw>
            </a:effectLst>
          </p:spPr>
          <p:txBody>
            <a:bodyPr wrap="square" lIns="0" tIns="0" rIns="0" bIns="0" anchor="ctr">
              <a:spAutoFit/>
            </a:bodyPr>
            <a:lstStyle>
              <a:lvl1pPr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30" name="组合 129">
              <a:extLst>
                <a:ext uri="{FF2B5EF4-FFF2-40B4-BE49-F238E27FC236}">
                  <a16:creationId xmlns:a16="http://schemas.microsoft.com/office/drawing/2014/main" id="{93F6164B-1D1E-F950-51B2-DB1CCE4DD2A2}"/>
                </a:ext>
              </a:extLst>
            </p:cNvPr>
            <p:cNvGrpSpPr/>
            <p:nvPr/>
          </p:nvGrpSpPr>
          <p:grpSpPr>
            <a:xfrm>
              <a:off x="521208" y="1590659"/>
              <a:ext cx="6336348" cy="638117"/>
              <a:chOff x="521208" y="1590659"/>
              <a:chExt cx="6336348" cy="638117"/>
            </a:xfrm>
          </p:grpSpPr>
          <p:sp>
            <p:nvSpPr>
              <p:cNvPr id="131" name="五边形 130">
                <a:extLst>
                  <a:ext uri="{FF2B5EF4-FFF2-40B4-BE49-F238E27FC236}">
                    <a16:creationId xmlns:a16="http://schemas.microsoft.com/office/drawing/2014/main" id="{A6FE851F-D835-0E42-4000-F96FA6BB5519}"/>
                  </a:ext>
                </a:extLst>
              </p:cNvPr>
              <p:cNvSpPr/>
              <p:nvPr/>
            </p:nvSpPr>
            <p:spPr>
              <a:xfrm>
                <a:off x="521208" y="1590659"/>
                <a:ext cx="6336348" cy="638117"/>
              </a:xfrm>
              <a:prstGeom prst="homePlat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3" name="文本框 132">
                <a:extLst>
                  <a:ext uri="{FF2B5EF4-FFF2-40B4-BE49-F238E27FC236}">
                    <a16:creationId xmlns:a16="http://schemas.microsoft.com/office/drawing/2014/main" id="{8844E2C4-A1BD-5FDC-430E-BD3F424D2ABA}"/>
                  </a:ext>
                </a:extLst>
              </p:cNvPr>
              <p:cNvSpPr txBox="1"/>
              <p:nvPr/>
            </p:nvSpPr>
            <p:spPr>
              <a:xfrm>
                <a:off x="2491060" y="1725051"/>
                <a:ext cx="115093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b="1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Noto Sans CJK SC" pitchFamily="34" charset="-120"/>
                  </a:rPr>
                  <a:t>粉碎成品</a:t>
                </a:r>
                <a:endPara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136" name="文本框 135">
            <a:extLst>
              <a:ext uri="{FF2B5EF4-FFF2-40B4-BE49-F238E27FC236}">
                <a16:creationId xmlns:a16="http://schemas.microsoft.com/office/drawing/2014/main" id="{D24A5FDF-7E27-5EFB-114F-598DE65AB38B}"/>
              </a:ext>
            </a:extLst>
          </p:cNvPr>
          <p:cNvSpPr txBox="1"/>
          <p:nvPr/>
        </p:nvSpPr>
        <p:spPr>
          <a:xfrm>
            <a:off x="563116" y="1616203"/>
            <a:ext cx="18198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纯化胶原骨粒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骨粒规格、脱脂/脱矿程度、杂质控制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7" name="文本框 136">
            <a:extLst>
              <a:ext uri="{FF2B5EF4-FFF2-40B4-BE49-F238E27FC236}">
                <a16:creationId xmlns:a16="http://schemas.microsoft.com/office/drawing/2014/main" id="{5185DDF3-7279-7113-6819-129F81C92CF1}"/>
              </a:ext>
            </a:extLst>
          </p:cNvPr>
          <p:cNvSpPr txBox="1"/>
          <p:nvPr/>
        </p:nvSpPr>
        <p:spPr>
          <a:xfrm>
            <a:off x="563116" y="2287121"/>
            <a:ext cx="181986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不同断链程度胶原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目标Mw 基础区间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8" name="文本框 137">
            <a:extLst>
              <a:ext uri="{FF2B5EF4-FFF2-40B4-BE49-F238E27FC236}">
                <a16:creationId xmlns:a16="http://schemas.microsoft.com/office/drawing/2014/main" id="{691C8FDC-B2A2-436F-A0A1-3218D31233B7}"/>
              </a:ext>
            </a:extLst>
          </p:cNvPr>
          <p:cNvSpPr txBox="1"/>
          <p:nvPr/>
        </p:nvSpPr>
        <p:spPr>
          <a:xfrm>
            <a:off x="563116" y="3030512"/>
            <a:ext cx="18198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pH稳定胶原物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pH、钙/氯离子残留、透明度风险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8127C8B4-BAF2-88A7-1268-DA9D2C495FEB}"/>
              </a:ext>
            </a:extLst>
          </p:cNvPr>
          <p:cNvSpPr txBox="1"/>
          <p:nvPr/>
        </p:nvSpPr>
        <p:spPr>
          <a:xfrm>
            <a:off x="563116" y="3712417"/>
            <a:ext cx="18198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不同道次胶液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各道次 Mw、重量、黏度、冻力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3D68FC11-F46B-1F5D-A442-BD6C2CC27C3F}"/>
              </a:ext>
            </a:extLst>
          </p:cNvPr>
          <p:cNvSpPr txBox="1"/>
          <p:nvPr/>
        </p:nvSpPr>
        <p:spPr>
          <a:xfrm>
            <a:off x="563116" y="4434365"/>
            <a:ext cx="18198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目标 Mw 复配胶液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固含量、黏度、冻力、理论产出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710CE97E-6D7E-0395-C900-7FBA18DF450B}"/>
              </a:ext>
            </a:extLst>
          </p:cNvPr>
          <p:cNvSpPr txBox="1"/>
          <p:nvPr/>
        </p:nvSpPr>
        <p:spPr>
          <a:xfrm>
            <a:off x="563116" y="5116698"/>
            <a:ext cx="18198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干燥后成品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水分、损耗率、实际产出、质量偏差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2" name="文本框 141">
            <a:extLst>
              <a:ext uri="{FF2B5EF4-FFF2-40B4-BE49-F238E27FC236}">
                <a16:creationId xmlns:a16="http://schemas.microsoft.com/office/drawing/2014/main" id="{324036C4-686F-2675-2D77-A9B9DF041343}"/>
              </a:ext>
            </a:extLst>
          </p:cNvPr>
          <p:cNvSpPr txBox="1"/>
          <p:nvPr/>
        </p:nvSpPr>
        <p:spPr>
          <a:xfrm>
            <a:off x="563116" y="5852422"/>
            <a:ext cx="1819866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入库成品与质检报告</a:t>
            </a:r>
            <a:endParaRPr lang="en-US" altLang="zh-CN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Mn、Mw、Mz、PDI、小分子占比、黏度、冻力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4" name="文本框 143">
            <a:extLst>
              <a:ext uri="{FF2B5EF4-FFF2-40B4-BE49-F238E27FC236}">
                <a16:creationId xmlns:a16="http://schemas.microsoft.com/office/drawing/2014/main" id="{A055FBB5-D36A-C96A-0938-1ECBF38B27E9}"/>
              </a:ext>
            </a:extLst>
          </p:cNvPr>
          <p:cNvSpPr txBox="1"/>
          <p:nvPr/>
        </p:nvSpPr>
        <p:spPr>
          <a:xfrm>
            <a:off x="3817916" y="1616203"/>
            <a:ext cx="22780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原料批次、骨粒规格、残油/灰分/杂质率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5" name="文本框 144">
            <a:extLst>
              <a:ext uri="{FF2B5EF4-FFF2-40B4-BE49-F238E27FC236}">
                <a16:creationId xmlns:a16="http://schemas.microsoft.com/office/drawing/2014/main" id="{256EE56B-CE1D-A239-0831-A413CCF01475}"/>
              </a:ext>
            </a:extLst>
          </p:cNvPr>
          <p:cNvSpPr txBox="1"/>
          <p:nvPr/>
        </p:nvSpPr>
        <p:spPr>
          <a:xfrm>
            <a:off x="3817916" y="2287997"/>
            <a:ext cx="22780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浸灰时间、温度、料液比、石灰乳浓度、Mw区间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6" name="文本框 145">
            <a:extLst>
              <a:ext uri="{FF2B5EF4-FFF2-40B4-BE49-F238E27FC236}">
                <a16:creationId xmlns:a16="http://schemas.microsoft.com/office/drawing/2014/main" id="{738489A9-801B-D7D4-3755-F14F8D5386A9}"/>
              </a:ext>
            </a:extLst>
          </p:cNvPr>
          <p:cNvSpPr txBox="1"/>
          <p:nvPr/>
        </p:nvSpPr>
        <p:spPr>
          <a:xfrm>
            <a:off x="3817916" y="3001824"/>
            <a:ext cx="22780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pH 6.0–6.5、残留离子、洗涤次数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7" name="文本框 146">
            <a:extLst>
              <a:ext uri="{FF2B5EF4-FFF2-40B4-BE49-F238E27FC236}">
                <a16:creationId xmlns:a16="http://schemas.microsoft.com/office/drawing/2014/main" id="{AF364BA3-EA29-30AF-A6BE-555FF5C3EB80}"/>
              </a:ext>
            </a:extLst>
          </p:cNvPr>
          <p:cNvSpPr txBox="1"/>
          <p:nvPr/>
        </p:nvSpPr>
        <p:spPr>
          <a:xfrm>
            <a:off x="3817916" y="3705174"/>
            <a:ext cx="22780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Mwᵢ、Wᵢ、道次、提胶温度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8" name="文本框 147">
            <a:extLst>
              <a:ext uri="{FF2B5EF4-FFF2-40B4-BE49-F238E27FC236}">
                <a16:creationId xmlns:a16="http://schemas.microsoft.com/office/drawing/2014/main" id="{F4BF2867-954B-5814-3ABF-94629D8BF7E3}"/>
              </a:ext>
            </a:extLst>
          </p:cNvPr>
          <p:cNvSpPr txBox="1"/>
          <p:nvPr/>
        </p:nvSpPr>
        <p:spPr>
          <a:xfrm>
            <a:off x="3817916" y="4419877"/>
            <a:ext cx="22780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Mw混、Wᵢ、固含量ᵢ、[η]、理论产出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9" name="文本框 148">
            <a:extLst>
              <a:ext uri="{FF2B5EF4-FFF2-40B4-BE49-F238E27FC236}">
                <a16:creationId xmlns:a16="http://schemas.microsoft.com/office/drawing/2014/main" id="{C1EB80B8-BA13-DDAA-214D-84A2E483D402}"/>
              </a:ext>
            </a:extLst>
          </p:cNvPr>
          <p:cNvSpPr txBox="1"/>
          <p:nvPr/>
        </p:nvSpPr>
        <p:spPr>
          <a:xfrm>
            <a:off x="3817916" y="5113561"/>
            <a:ext cx="22780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成品水分 12%–16%、干基重量、损耗率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0" name="文本框 149">
            <a:extLst>
              <a:ext uri="{FF2B5EF4-FFF2-40B4-BE49-F238E27FC236}">
                <a16:creationId xmlns:a16="http://schemas.microsoft.com/office/drawing/2014/main" id="{49E8BF38-7D45-4E88-2918-EB3D78B7F707}"/>
              </a:ext>
            </a:extLst>
          </p:cNvPr>
          <p:cNvSpPr txBox="1"/>
          <p:nvPr/>
        </p:nvSpPr>
        <p:spPr>
          <a:xfrm>
            <a:off x="3817916" y="5851461"/>
            <a:ext cx="22780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GPC公式、PDI公式、小分子占比公式、黏度估算公式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标注 5">
            <a:extLst>
              <a:ext uri="{FF2B5EF4-FFF2-40B4-BE49-F238E27FC236}">
                <a16:creationId xmlns:a16="http://schemas.microsoft.com/office/drawing/2014/main" id="{174004C5-5C01-0F21-5CFD-BE0B5F68B05C}"/>
              </a:ext>
            </a:extLst>
          </p:cNvPr>
          <p:cNvSpPr/>
          <p:nvPr/>
        </p:nvSpPr>
        <p:spPr>
          <a:xfrm>
            <a:off x="7230141" y="1590658"/>
            <a:ext cx="4742120" cy="5224082"/>
          </a:xfrm>
          <a:prstGeom prst="wedgeRectCallout">
            <a:avLst>
              <a:gd name="adj1" fmla="val -56483"/>
              <a:gd name="adj2" fmla="val 11069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3901A28B-B4A3-3FA5-0F6F-470B389D9445}"/>
              </a:ext>
            </a:extLst>
          </p:cNvPr>
          <p:cNvGrpSpPr>
            <a:grpSpLocks/>
          </p:cNvGrpSpPr>
          <p:nvPr/>
        </p:nvGrpSpPr>
        <p:grpSpPr bwMode="auto">
          <a:xfrm>
            <a:off x="7352792" y="1786585"/>
            <a:ext cx="4513142" cy="276225"/>
            <a:chOff x="1306" y="1587"/>
            <a:chExt cx="1442" cy="174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9" name="Rectangle 4">
              <a:extLst>
                <a:ext uri="{FF2B5EF4-FFF2-40B4-BE49-F238E27FC236}">
                  <a16:creationId xmlns:a16="http://schemas.microsoft.com/office/drawing/2014/main" id="{85F6939D-D9C3-3AC3-2043-EF88B59EEB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6" y="1613"/>
              <a:ext cx="1442" cy="126"/>
            </a:xfrm>
            <a:prstGeom prst="rect">
              <a:avLst/>
            </a:prstGeom>
            <a:grpFill/>
            <a:ln>
              <a:noFill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63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Text Box 5">
              <a:extLst>
                <a:ext uri="{FF2B5EF4-FFF2-40B4-BE49-F238E27FC236}">
                  <a16:creationId xmlns:a16="http://schemas.microsoft.com/office/drawing/2014/main" id="{98BC4212-EB60-1AAA-3985-B1CC676B13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12" y="1587"/>
              <a:ext cx="1231" cy="174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63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>
              <a:lvl1pPr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zh-CN" altLang="en-US" sz="1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现有流程公式（例）</a:t>
              </a:r>
            </a:p>
          </p:txBody>
        </p:sp>
      </p:grpSp>
      <p:sp>
        <p:nvSpPr>
          <p:cNvPr id="11" name="Rectangle 7">
            <a:extLst>
              <a:ext uri="{FF2B5EF4-FFF2-40B4-BE49-F238E27FC236}">
                <a16:creationId xmlns:a16="http://schemas.microsoft.com/office/drawing/2014/main" id="{D4C7A10D-58E4-BF50-EDD3-8BAD3D3471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2790" y="2219972"/>
            <a:ext cx="4513143" cy="1296491"/>
          </a:xfrm>
          <a:prstGeom prst="rect">
            <a:avLst/>
          </a:prstGeom>
          <a:noFill/>
          <a:ln w="63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2" name="Group 8">
            <a:extLst>
              <a:ext uri="{FF2B5EF4-FFF2-40B4-BE49-F238E27FC236}">
                <a16:creationId xmlns:a16="http://schemas.microsoft.com/office/drawing/2014/main" id="{938BC654-24DB-CE67-7039-1947F2DB80E4}"/>
              </a:ext>
            </a:extLst>
          </p:cNvPr>
          <p:cNvGrpSpPr>
            <a:grpSpLocks/>
          </p:cNvGrpSpPr>
          <p:nvPr/>
        </p:nvGrpSpPr>
        <p:grpSpPr bwMode="auto">
          <a:xfrm>
            <a:off x="7352791" y="3865559"/>
            <a:ext cx="4513143" cy="276225"/>
            <a:chOff x="1306" y="1587"/>
            <a:chExt cx="1442" cy="174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13" name="Rectangle 9">
              <a:extLst>
                <a:ext uri="{FF2B5EF4-FFF2-40B4-BE49-F238E27FC236}">
                  <a16:creationId xmlns:a16="http://schemas.microsoft.com/office/drawing/2014/main" id="{2CFFFDA9-498A-851C-6656-655500587B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6" y="1611"/>
              <a:ext cx="1442" cy="126"/>
            </a:xfrm>
            <a:prstGeom prst="rect">
              <a:avLst/>
            </a:prstGeom>
            <a:grpFill/>
            <a:ln>
              <a:noFill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63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Text Box 10">
              <a:extLst>
                <a:ext uri="{FF2B5EF4-FFF2-40B4-BE49-F238E27FC236}">
                  <a16:creationId xmlns:a16="http://schemas.microsoft.com/office/drawing/2014/main" id="{13216FE9-95FC-8FA7-F728-4159278A7E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12" y="1587"/>
              <a:ext cx="1231" cy="174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63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>
              <a:lvl1pPr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zh-CN" sz="1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公式后台代码化</a:t>
              </a:r>
              <a:endPara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5" name="Rectangle 11">
            <a:extLst>
              <a:ext uri="{FF2B5EF4-FFF2-40B4-BE49-F238E27FC236}">
                <a16:creationId xmlns:a16="http://schemas.microsoft.com/office/drawing/2014/main" id="{42CE18CC-A03A-A2CB-39D2-EA33D6A3E8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2790" y="4305488"/>
            <a:ext cx="4513143" cy="2467451"/>
          </a:xfrm>
          <a:prstGeom prst="rect">
            <a:avLst/>
          </a:prstGeom>
          <a:noFill/>
          <a:ln w="63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AutoShape 18">
            <a:extLst>
              <a:ext uri="{FF2B5EF4-FFF2-40B4-BE49-F238E27FC236}">
                <a16:creationId xmlns:a16="http://schemas.microsoft.com/office/drawing/2014/main" id="{78B2B55E-E777-A19A-E9C7-B4B138C06E43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7450361" y="3578222"/>
            <a:ext cx="4318000" cy="203200"/>
          </a:xfrm>
          <a:prstGeom prst="triangle">
            <a:avLst>
              <a:gd name="adj" fmla="val 50000"/>
            </a:avLst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1456E4E0-8630-4566-209C-AB9621A03E09}"/>
                  </a:ext>
                </a:extLst>
              </p:cNvPr>
              <p:cNvSpPr txBox="1"/>
              <p:nvPr/>
            </p:nvSpPr>
            <p:spPr>
              <a:xfrm>
                <a:off x="7352791" y="2300168"/>
                <a:ext cx="4513142" cy="121629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zh-CN" altLang="zh-CN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复配后分子量</a:t>
                </a:r>
                <a:r>
                  <a:rPr lang="zh-CN" altLang="en-US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</a:t>
                </a:r>
                <a:endParaRPr kumimoji="1" lang="en" altLang="zh-CN" sz="1050" i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" altLang="zh-CN" sz="105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" altLang="zh-CN" sz="1050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kumimoji="1" lang="en" altLang="zh-CN" sz="1050" i="1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kumimoji="1" lang="en" altLang="zh-CN" sz="105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" altLang="zh-CN" sz="1050" i="1">
                              <a:latin typeface="Cambria Math" panose="02040503050406030204" pitchFamily="18" charset="0"/>
                            </a:rPr>
                            <m:t>𝑚𝑖𝑥</m:t>
                          </m:r>
                        </m:sub>
                      </m:sSub>
                      <m:r>
                        <a:rPr kumimoji="1" lang="en" altLang="zh-CN" sz="105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" altLang="zh-CN" sz="105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kumimoji="1" lang="en" altLang="zh-CN" sz="105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kumimoji="1" lang="en" altLang="zh-CN" sz="105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kumimoji="1" lang="en" altLang="zh-CN" sz="105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kumimoji="1" lang="en" altLang="zh-CN" sz="105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kumimoji="1" lang="en-US" altLang="zh-CN" sz="105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nary>
                          <m:sSub>
                            <m:sSubPr>
                              <m:ctrlPr>
                                <a:rPr kumimoji="1" lang="en" altLang="zh-CN" sz="105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" altLang="zh-CN" sz="105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kumimoji="1" lang="en" altLang="zh-CN" sz="105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1" lang="en" altLang="zh-CN" sz="105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" altLang="zh-CN" sz="105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kumimoji="1" lang="en" altLang="zh-CN" sz="1050" i="1">
                                  <a:latin typeface="Cambria Math" panose="02040503050406030204" pitchFamily="18" charset="0"/>
                                </a:rPr>
                                <m:t>𝑤𝑖</m:t>
                              </m:r>
                            </m:sub>
                          </m:sSub>
                        </m:num>
                        <m:den>
                          <m:nary>
                            <m:naryPr>
                              <m:chr m:val="∑"/>
                              <m:ctrlPr>
                                <a:rPr kumimoji="1" lang="en" altLang="zh-CN" sz="105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kumimoji="1" lang="en" altLang="zh-CN" sz="105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kumimoji="1" lang="en" altLang="zh-CN" sz="105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kumimoji="1" lang="en" altLang="zh-CN" sz="105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kumimoji="1" lang="en-US" altLang="zh-CN" sz="105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nary>
                          <m:sSub>
                            <m:sSubPr>
                              <m:ctrlPr>
                                <a:rPr kumimoji="1" lang="en" altLang="zh-CN" sz="105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" altLang="zh-CN" sz="105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kumimoji="1" lang="en" altLang="zh-CN" sz="105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kumimoji="1" lang="en-US" altLang="zh-CN" sz="105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endPara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zh-CN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胶液重量、Mw、黏度、固含量等信息由</a:t>
                </a:r>
                <a:r>
                  <a:rPr lang="zh-CN" altLang="zh-CN" sz="1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人工判断</a:t>
                </a:r>
                <a:r>
                  <a:rPr lang="zh-CN" altLang="zh-CN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，复配比例依赖经验</a:t>
                </a:r>
                <a:endParaRPr kumimoji="1"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1456E4E0-8630-4566-209C-AB9621A03E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2791" y="2300168"/>
                <a:ext cx="4513142" cy="1216295"/>
              </a:xfrm>
              <a:prstGeom prst="rect">
                <a:avLst/>
              </a:prstGeom>
              <a:blipFill>
                <a:blip r:embed="rId6"/>
                <a:stretch>
                  <a:fillRect l="-2429" t="-7000"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8" name="组合 37">
            <a:extLst>
              <a:ext uri="{FF2B5EF4-FFF2-40B4-BE49-F238E27FC236}">
                <a16:creationId xmlns:a16="http://schemas.microsoft.com/office/drawing/2014/main" id="{A7098EF7-248E-0FD3-508E-A326C7CC3F0B}"/>
              </a:ext>
            </a:extLst>
          </p:cNvPr>
          <p:cNvGrpSpPr/>
          <p:nvPr/>
        </p:nvGrpSpPr>
        <p:grpSpPr>
          <a:xfrm>
            <a:off x="7648925" y="4419343"/>
            <a:ext cx="3888382" cy="1755799"/>
            <a:chOff x="688975" y="2358233"/>
            <a:chExt cx="8550275" cy="3110820"/>
          </a:xfrm>
        </p:grpSpPr>
        <p:sp>
          <p:nvSpPr>
            <p:cNvPr id="39" name="Freeform 2">
              <a:extLst>
                <a:ext uri="{FF2B5EF4-FFF2-40B4-BE49-F238E27FC236}">
                  <a16:creationId xmlns:a16="http://schemas.microsoft.com/office/drawing/2014/main" id="{FC175E01-F4B6-1F48-9CE4-0BC362B5F9C9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1463" y="3243263"/>
              <a:ext cx="1743075" cy="1701800"/>
            </a:xfrm>
            <a:custGeom>
              <a:avLst/>
              <a:gdLst>
                <a:gd name="T0" fmla="*/ 2147483647 w 984"/>
                <a:gd name="T1" fmla="*/ 2147483647 h 960"/>
                <a:gd name="T2" fmla="*/ 0 w 984"/>
                <a:gd name="T3" fmla="*/ 2147483647 h 960"/>
                <a:gd name="T4" fmla="*/ 2147483647 w 984"/>
                <a:gd name="T5" fmla="*/ 2147483647 h 960"/>
                <a:gd name="T6" fmla="*/ 2147483647 w 984"/>
                <a:gd name="T7" fmla="*/ 0 h 960"/>
                <a:gd name="T8" fmla="*/ 2147483647 w 984"/>
                <a:gd name="T9" fmla="*/ 2147483647 h 960"/>
                <a:gd name="T10" fmla="*/ 2147483647 w 984"/>
                <a:gd name="T11" fmla="*/ 2147483647 h 960"/>
                <a:gd name="T12" fmla="*/ 2147483647 w 984"/>
                <a:gd name="T13" fmla="*/ 2147483647 h 960"/>
                <a:gd name="T14" fmla="*/ 2147483647 w 984"/>
                <a:gd name="T15" fmla="*/ 2147483647 h 96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984" h="960">
                  <a:moveTo>
                    <a:pt x="273" y="960"/>
                  </a:moveTo>
                  <a:lnTo>
                    <a:pt x="0" y="617"/>
                  </a:lnTo>
                  <a:lnTo>
                    <a:pt x="97" y="190"/>
                  </a:lnTo>
                  <a:lnTo>
                    <a:pt x="492" y="0"/>
                  </a:lnTo>
                  <a:lnTo>
                    <a:pt x="886" y="190"/>
                  </a:lnTo>
                  <a:lnTo>
                    <a:pt x="984" y="618"/>
                  </a:lnTo>
                  <a:lnTo>
                    <a:pt x="710" y="960"/>
                  </a:lnTo>
                  <a:lnTo>
                    <a:pt x="273" y="960"/>
                  </a:lnTo>
                  <a:close/>
                </a:path>
              </a:pathLst>
            </a:cu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2225">
                  <a:solidFill>
                    <a:schemeClr val="hlink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Freeform 4">
              <a:extLst>
                <a:ext uri="{FF2B5EF4-FFF2-40B4-BE49-F238E27FC236}">
                  <a16:creationId xmlns:a16="http://schemas.microsoft.com/office/drawing/2014/main" id="{A4200FB9-AEA1-4D97-188B-9047F16D85D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8975" y="3241559"/>
              <a:ext cx="3546474" cy="490770"/>
            </a:xfrm>
            <a:custGeom>
              <a:avLst/>
              <a:gdLst>
                <a:gd name="T0" fmla="*/ 2147483647 w 2234"/>
                <a:gd name="T1" fmla="*/ 2147483647 h 107"/>
                <a:gd name="T2" fmla="*/ 2147483647 w 2234"/>
                <a:gd name="T3" fmla="*/ 2147483647 h 107"/>
                <a:gd name="T4" fmla="*/ 0 w 2234"/>
                <a:gd name="T5" fmla="*/ 0 h 10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34" h="107">
                  <a:moveTo>
                    <a:pt x="2234" y="107"/>
                  </a:moveTo>
                  <a:lnTo>
                    <a:pt x="2014" y="5"/>
                  </a:lnTo>
                  <a:lnTo>
                    <a:pt x="0" y="0"/>
                  </a:lnTo>
                </a:path>
              </a:pathLst>
            </a:custGeom>
            <a:noFill/>
            <a:ln w="22225" cap="flat" cmpd="sng">
              <a:solidFill>
                <a:schemeClr val="hlink"/>
              </a:solidFill>
              <a:prstDash val="solid"/>
              <a:round/>
              <a:headEnd type="triangle" w="med" len="lg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Rectangle 5">
              <a:extLst>
                <a:ext uri="{FF2B5EF4-FFF2-40B4-BE49-F238E27FC236}">
                  <a16:creationId xmlns:a16="http://schemas.microsoft.com/office/drawing/2014/main" id="{ED9CB0B5-2443-D5EC-230D-320EBB4F7E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5863" y="3953198"/>
              <a:ext cx="2963861" cy="436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b">
              <a:spAutoFit/>
            </a:bodyPr>
            <a:lstStyle>
              <a:lvl1pPr defTabSz="330200"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defTabSz="330200"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defTabSz="330200"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330200"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defTabSz="330200"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330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330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330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330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各批次 Mwᵢ </a:t>
              </a:r>
              <a:endParaRPr kumimoji="1" lang="en-US" altLang="de-DE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" name="Rectangle 6">
              <a:extLst>
                <a:ext uri="{FF2B5EF4-FFF2-40B4-BE49-F238E27FC236}">
                  <a16:creationId xmlns:a16="http://schemas.microsoft.com/office/drawing/2014/main" id="{9A2EDF43-DA10-C8CA-74E2-69A2FA2515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3864" y="3683321"/>
              <a:ext cx="1458912" cy="8724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>
              <a:lvl1pPr defTabSz="330200"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defTabSz="330200"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defTabSz="330200"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330200"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defTabSz="330200"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330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330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330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330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复配后分子量</a:t>
              </a:r>
              <a:endParaRPr kumimoji="1" lang="en-US" altLang="de-DE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" name="Rectangle 7">
              <a:extLst>
                <a:ext uri="{FF2B5EF4-FFF2-40B4-BE49-F238E27FC236}">
                  <a16:creationId xmlns:a16="http://schemas.microsoft.com/office/drawing/2014/main" id="{99ADC7B4-3B63-9C05-FCAB-1BA6256775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5863" y="2886400"/>
              <a:ext cx="2963861" cy="436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b">
              <a:spAutoFit/>
            </a:bodyPr>
            <a:lstStyle>
              <a:lvl1pPr defTabSz="330200"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defTabSz="330200"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defTabSz="330200"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330200"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defTabSz="330200"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330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330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330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330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目标 Mw</a:t>
              </a:r>
              <a:endParaRPr kumimoji="1" lang="en-US" altLang="de-DE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" name="Rectangle 8">
              <a:extLst>
                <a:ext uri="{FF2B5EF4-FFF2-40B4-BE49-F238E27FC236}">
                  <a16:creationId xmlns:a16="http://schemas.microsoft.com/office/drawing/2014/main" id="{C0BCE036-9762-82C6-46B3-17B91639A0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2787" y="3953198"/>
              <a:ext cx="2963861" cy="436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b">
              <a:spAutoFit/>
            </a:bodyPr>
            <a:lstStyle>
              <a:lvl1pPr defTabSz="330200"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defTabSz="330200"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defTabSz="330200"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330200"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defTabSz="330200"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330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330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330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330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胶液重量 Wi</a:t>
              </a:r>
              <a:endParaRPr kumimoji="1" lang="en-US" altLang="de-DE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5" name="Freeform 9">
              <a:extLst>
                <a:ext uri="{FF2B5EF4-FFF2-40B4-BE49-F238E27FC236}">
                  <a16:creationId xmlns:a16="http://schemas.microsoft.com/office/drawing/2014/main" id="{145E2181-D2BF-1ECB-7009-E31F4E18E32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49875" y="4978283"/>
              <a:ext cx="3889375" cy="490770"/>
            </a:xfrm>
            <a:custGeom>
              <a:avLst/>
              <a:gdLst>
                <a:gd name="T0" fmla="*/ 0 w 2450"/>
                <a:gd name="T1" fmla="*/ 0 h 275"/>
                <a:gd name="T2" fmla="*/ 2147483647 w 2450"/>
                <a:gd name="T3" fmla="*/ 2147483647 h 275"/>
                <a:gd name="T4" fmla="*/ 2147483647 w 2450"/>
                <a:gd name="T5" fmla="*/ 2147483647 h 27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50" h="275">
                  <a:moveTo>
                    <a:pt x="0" y="0"/>
                  </a:moveTo>
                  <a:lnTo>
                    <a:pt x="128" y="274"/>
                  </a:lnTo>
                  <a:lnTo>
                    <a:pt x="2450" y="275"/>
                  </a:lnTo>
                </a:path>
              </a:pathLst>
            </a:custGeom>
            <a:noFill/>
            <a:ln w="22225" cap="flat" cmpd="sng">
              <a:solidFill>
                <a:schemeClr val="hlink"/>
              </a:solidFill>
              <a:prstDash val="solid"/>
              <a:round/>
              <a:headEnd type="triangle" w="med" len="lg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6" name="Freeform 10">
              <a:extLst>
                <a:ext uri="{FF2B5EF4-FFF2-40B4-BE49-F238E27FC236}">
                  <a16:creationId xmlns:a16="http://schemas.microsoft.com/office/drawing/2014/main" id="{5946E785-8FC4-3619-1891-066E82DA0E8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8501" y="4973521"/>
              <a:ext cx="3859212" cy="490770"/>
            </a:xfrm>
            <a:custGeom>
              <a:avLst/>
              <a:gdLst>
                <a:gd name="T0" fmla="*/ 2147483647 w 2431"/>
                <a:gd name="T1" fmla="*/ 0 h 280"/>
                <a:gd name="T2" fmla="*/ 2147483647 w 2431"/>
                <a:gd name="T3" fmla="*/ 2147483647 h 280"/>
                <a:gd name="T4" fmla="*/ 0 w 2431"/>
                <a:gd name="T5" fmla="*/ 2147483647 h 28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31" h="280">
                  <a:moveTo>
                    <a:pt x="2431" y="0"/>
                  </a:moveTo>
                  <a:lnTo>
                    <a:pt x="2303" y="279"/>
                  </a:lnTo>
                  <a:lnTo>
                    <a:pt x="0" y="280"/>
                  </a:lnTo>
                </a:path>
              </a:pathLst>
            </a:custGeom>
            <a:noFill/>
            <a:ln w="22225" cap="flat" cmpd="sng">
              <a:solidFill>
                <a:schemeClr val="hlink"/>
              </a:solidFill>
              <a:prstDash val="solid"/>
              <a:round/>
              <a:headEnd type="triangle" w="med" len="lg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7" name="Rectangle 11">
              <a:extLst>
                <a:ext uri="{FF2B5EF4-FFF2-40B4-BE49-F238E27FC236}">
                  <a16:creationId xmlns:a16="http://schemas.microsoft.com/office/drawing/2014/main" id="{5AD40177-A0F7-C7CC-5CBC-71D39A8173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5863" y="4943798"/>
              <a:ext cx="2963861" cy="436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b">
              <a:spAutoFit/>
            </a:bodyPr>
            <a:lstStyle>
              <a:lvl1pPr defTabSz="330200"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defTabSz="330200"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defTabSz="330200"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330200"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defTabSz="330200"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330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330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330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330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黏度 /</a:t>
              </a:r>
              <a:r>
                <a:rPr lang="en-US" altLang="zh-CN" sz="1600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ph</a:t>
              </a:r>
              <a:endParaRPr kumimoji="1" lang="en-US" altLang="de-DE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8" name="Rectangle 12">
              <a:extLst>
                <a:ext uri="{FF2B5EF4-FFF2-40B4-BE49-F238E27FC236}">
                  <a16:creationId xmlns:a16="http://schemas.microsoft.com/office/drawing/2014/main" id="{CF896F24-5432-9071-0893-3B2E803ED9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2787" y="4943798"/>
              <a:ext cx="2963861" cy="436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b">
              <a:spAutoFit/>
            </a:bodyPr>
            <a:lstStyle>
              <a:lvl1pPr defTabSz="330200"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defTabSz="330200"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defTabSz="330200"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330200"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defTabSz="330200"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330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330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330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330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固含量 Si</a:t>
              </a:r>
              <a:endParaRPr kumimoji="1" lang="en-US" altLang="de-DE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9" name="Rectangle 13">
              <a:extLst>
                <a:ext uri="{FF2B5EF4-FFF2-40B4-BE49-F238E27FC236}">
                  <a16:creationId xmlns:a16="http://schemas.microsoft.com/office/drawing/2014/main" id="{4F809F75-2580-30AE-9EB1-A9797DDA36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2787" y="2892749"/>
              <a:ext cx="2963861" cy="436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b">
              <a:spAutoFit/>
            </a:bodyPr>
            <a:lstStyle>
              <a:lvl1pPr defTabSz="330200"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defTabSz="330200"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defTabSz="330200"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330200"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defTabSz="330200"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330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330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330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330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可用胶液批次</a:t>
              </a:r>
              <a:endParaRPr kumimoji="1" lang="en-US" altLang="de-DE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0" name="Rectangle 15">
              <a:extLst>
                <a:ext uri="{FF2B5EF4-FFF2-40B4-BE49-F238E27FC236}">
                  <a16:creationId xmlns:a16="http://schemas.microsoft.com/office/drawing/2014/main" id="{BFAA958A-1E7A-426A-C73A-2277C6ADD0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2005" y="2358233"/>
              <a:ext cx="3201988" cy="436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b">
              <a:spAutoFit/>
            </a:bodyPr>
            <a:lstStyle>
              <a:lvl1pPr defTabSz="330200"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defTabSz="330200"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defTabSz="330200"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330200"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defTabSz="330200"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330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330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330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330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8521700" algn="r"/>
                </a:tabLs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公式计算引擎</a:t>
              </a:r>
              <a:endParaRPr kumimoji="1" lang="en-US" altLang="de-DE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" name="Line 16">
              <a:extLst>
                <a:ext uri="{FF2B5EF4-FFF2-40B4-BE49-F238E27FC236}">
                  <a16:creationId xmlns:a16="http://schemas.microsoft.com/office/drawing/2014/main" id="{8FC24242-23C2-1D62-1C06-696A55D977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9612" y="2796716"/>
              <a:ext cx="3406774" cy="0"/>
            </a:xfrm>
            <a:prstGeom prst="line">
              <a:avLst/>
            </a:prstGeom>
            <a:noFill/>
            <a:ln w="22225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" name="Freeform 17">
              <a:extLst>
                <a:ext uri="{FF2B5EF4-FFF2-40B4-BE49-F238E27FC236}">
                  <a16:creationId xmlns:a16="http://schemas.microsoft.com/office/drawing/2014/main" id="{11C8967D-C4CD-879A-F1C9-B752CD591BB3}"/>
                </a:ext>
              </a:extLst>
            </p:cNvPr>
            <p:cNvSpPr>
              <a:spLocks/>
            </p:cNvSpPr>
            <p:nvPr/>
          </p:nvSpPr>
          <p:spPr bwMode="auto">
            <a:xfrm>
              <a:off x="5834064" y="4160722"/>
              <a:ext cx="3392487" cy="490770"/>
            </a:xfrm>
            <a:custGeom>
              <a:avLst/>
              <a:gdLst>
                <a:gd name="T0" fmla="*/ 0 w 2137"/>
                <a:gd name="T1" fmla="*/ 0 h 75"/>
                <a:gd name="T2" fmla="*/ 2147483647 w 2137"/>
                <a:gd name="T3" fmla="*/ 2147483647 h 75"/>
                <a:gd name="T4" fmla="*/ 2147483647 w 2137"/>
                <a:gd name="T5" fmla="*/ 2147483647 h 7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37" h="75">
                  <a:moveTo>
                    <a:pt x="0" y="0"/>
                  </a:moveTo>
                  <a:lnTo>
                    <a:pt x="273" y="75"/>
                  </a:lnTo>
                  <a:lnTo>
                    <a:pt x="2137" y="74"/>
                  </a:lnTo>
                </a:path>
              </a:pathLst>
            </a:custGeom>
            <a:noFill/>
            <a:ln w="22225" cap="flat" cmpd="sng">
              <a:solidFill>
                <a:schemeClr val="hlink"/>
              </a:solidFill>
              <a:prstDash val="solid"/>
              <a:round/>
              <a:headEnd type="triangle" w="med" len="lg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" name="Freeform 18">
              <a:extLst>
                <a:ext uri="{FF2B5EF4-FFF2-40B4-BE49-F238E27FC236}">
                  <a16:creationId xmlns:a16="http://schemas.microsoft.com/office/drawing/2014/main" id="{DC5FD469-5CD3-39D9-192A-179C514E69CA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200" y="4160722"/>
              <a:ext cx="3368675" cy="490770"/>
            </a:xfrm>
            <a:custGeom>
              <a:avLst/>
              <a:gdLst>
                <a:gd name="T0" fmla="*/ 2147483647 w 2122"/>
                <a:gd name="T1" fmla="*/ 0 h 75"/>
                <a:gd name="T2" fmla="*/ 2147483647 w 2122"/>
                <a:gd name="T3" fmla="*/ 2147483647 h 75"/>
                <a:gd name="T4" fmla="*/ 0 w 2122"/>
                <a:gd name="T5" fmla="*/ 2147483647 h 7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22" h="75">
                  <a:moveTo>
                    <a:pt x="2122" y="0"/>
                  </a:moveTo>
                  <a:lnTo>
                    <a:pt x="1865" y="75"/>
                  </a:lnTo>
                  <a:lnTo>
                    <a:pt x="0" y="74"/>
                  </a:lnTo>
                </a:path>
              </a:pathLst>
            </a:custGeom>
            <a:noFill/>
            <a:ln w="22225" cap="flat" cmpd="sng">
              <a:solidFill>
                <a:schemeClr val="hlink"/>
              </a:solidFill>
              <a:prstDash val="solid"/>
              <a:round/>
              <a:headEnd type="triangle" w="med" len="lg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4" name="Freeform 19">
              <a:extLst>
                <a:ext uri="{FF2B5EF4-FFF2-40B4-BE49-F238E27FC236}">
                  <a16:creationId xmlns:a16="http://schemas.microsoft.com/office/drawing/2014/main" id="{5EAAF9C0-6A77-02C7-4A3B-A2F83379EF47}"/>
                </a:ext>
              </a:extLst>
            </p:cNvPr>
            <p:cNvSpPr>
              <a:spLocks/>
            </p:cNvSpPr>
            <p:nvPr/>
          </p:nvSpPr>
          <p:spPr bwMode="auto">
            <a:xfrm>
              <a:off x="5664201" y="3241559"/>
              <a:ext cx="3575049" cy="490770"/>
            </a:xfrm>
            <a:custGeom>
              <a:avLst/>
              <a:gdLst>
                <a:gd name="T0" fmla="*/ 0 w 2252"/>
                <a:gd name="T1" fmla="*/ 2147483647 h 107"/>
                <a:gd name="T2" fmla="*/ 2147483647 w 2252"/>
                <a:gd name="T3" fmla="*/ 2147483647 h 107"/>
                <a:gd name="T4" fmla="*/ 2147483647 w 2252"/>
                <a:gd name="T5" fmla="*/ 0 h 10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52" h="107">
                  <a:moveTo>
                    <a:pt x="0" y="107"/>
                  </a:moveTo>
                  <a:lnTo>
                    <a:pt x="238" y="5"/>
                  </a:lnTo>
                  <a:lnTo>
                    <a:pt x="2252" y="0"/>
                  </a:lnTo>
                </a:path>
              </a:pathLst>
            </a:custGeom>
            <a:noFill/>
            <a:ln w="22225" cap="flat" cmpd="sng">
              <a:solidFill>
                <a:schemeClr val="hlink"/>
              </a:solidFill>
              <a:prstDash val="solid"/>
              <a:round/>
              <a:headEnd type="triangle" w="med" len="lg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6" name="文本框 55">
            <a:extLst>
              <a:ext uri="{FF2B5EF4-FFF2-40B4-BE49-F238E27FC236}">
                <a16:creationId xmlns:a16="http://schemas.microsoft.com/office/drawing/2014/main" id="{6767C4C3-24E4-A511-B174-E834E0487506}"/>
              </a:ext>
            </a:extLst>
          </p:cNvPr>
          <p:cNvSpPr txBox="1"/>
          <p:nvPr/>
        </p:nvSpPr>
        <p:spPr>
          <a:xfrm>
            <a:off x="7352790" y="6291522"/>
            <a:ext cx="44155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自动输出</a:t>
            </a:r>
            <a:r>
              <a:rPr lang="zh-CN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复配比例</a:t>
            </a:r>
            <a:r>
              <a:rPr lang="zh-CN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zh-CN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 Mw</a:t>
            </a:r>
            <a:r>
              <a:rPr lang="zh-CN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zh-CN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产出预测</a:t>
            </a:r>
            <a:r>
              <a:rPr lang="zh-CN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和偏差风险，减少对老师傅经验的依赖并提升批次稳定性。</a:t>
            </a:r>
            <a:endParaRPr kumimoji="1"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615791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4F71B08-E214-7A3F-1337-2E4DDAD72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think-cell data - do not delete" hidden="1">
            <a:extLst>
              <a:ext uri="{FF2B5EF4-FFF2-40B4-BE49-F238E27FC236}">
                <a16:creationId xmlns:a16="http://schemas.microsoft.com/office/drawing/2014/main" id="{328A9E38-81B6-8212-2451-97E21D549E3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3528620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3" progId="TCLayout.ActiveDocument.1">
                  <p:embed/>
                </p:oleObj>
              </mc:Choice>
              <mc:Fallback>
                <p:oleObj name="think-cell Slide" r:id="rId4" imgW="473" imgH="473" progId="TCLayout.ActiveDocument.1">
                  <p:embed/>
                  <p:pic>
                    <p:nvPicPr>
                      <p:cNvPr id="2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28A9E38-81B6-8212-2451-97E21D549E3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0">
            <a:extLst>
              <a:ext uri="{FF2B5EF4-FFF2-40B4-BE49-F238E27FC236}">
                <a16:creationId xmlns:a16="http://schemas.microsoft.com/office/drawing/2014/main" id="{65611B27-982C-B055-1545-0599B2224A50}"/>
              </a:ext>
            </a:extLst>
          </p:cNvPr>
          <p:cNvSpPr/>
          <p:nvPr/>
        </p:nvSpPr>
        <p:spPr>
          <a:xfrm>
            <a:off x="502920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2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骨明胶生产工艺</a:t>
            </a:r>
            <a:r>
              <a:rPr lang="en-US" altLang="zh-CN" sz="22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22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切入点</a:t>
            </a:r>
            <a:endParaRPr lang="en-US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79BB62B-000E-CCD4-9AB3-777E3DA60559}"/>
              </a:ext>
            </a:extLst>
          </p:cNvPr>
          <p:cNvSpPr/>
          <p:nvPr/>
        </p:nvSpPr>
        <p:spPr>
          <a:xfrm>
            <a:off x="521208" y="841248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凝胶是问题显现点，但上游工艺参数共同决定分子量与最终产出</a:t>
            </a:r>
            <a:endParaRPr lang="en-US" sz="88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A0CBBBB-BC40-FAF6-8526-A439ABB8C30E}"/>
              </a:ext>
            </a:extLst>
          </p:cNvPr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2" name="Text 4">
            <a:extLst>
              <a:ext uri="{FF2B5EF4-FFF2-40B4-BE49-F238E27FC236}">
                <a16:creationId xmlns:a16="http://schemas.microsoft.com/office/drawing/2014/main" id="{EDE613CB-0A8F-2C5A-C9E9-44E8122ACB71}"/>
              </a:ext>
            </a:extLst>
          </p:cNvPr>
          <p:cNvSpPr/>
          <p:nvPr/>
        </p:nvSpPr>
        <p:spPr>
          <a:xfrm>
            <a:off x="2428890" y="1239642"/>
            <a:ext cx="1275278" cy="237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端到端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工艺流程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3" name="Text 4">
            <a:extLst>
              <a:ext uri="{FF2B5EF4-FFF2-40B4-BE49-F238E27FC236}">
                <a16:creationId xmlns:a16="http://schemas.microsoft.com/office/drawing/2014/main" id="{53756E1A-B021-80DB-AC00-BB8BAEC396C9}"/>
              </a:ext>
            </a:extLst>
          </p:cNvPr>
          <p:cNvSpPr/>
          <p:nvPr/>
        </p:nvSpPr>
        <p:spPr>
          <a:xfrm>
            <a:off x="835410" y="1295147"/>
            <a:ext cx="1275278" cy="237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输入</a:t>
            </a:r>
            <a:endParaRPr 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4" name="Text 4">
            <a:extLst>
              <a:ext uri="{FF2B5EF4-FFF2-40B4-BE49-F238E27FC236}">
                <a16:creationId xmlns:a16="http://schemas.microsoft.com/office/drawing/2014/main" id="{88E0BC27-00BD-E33A-0AF8-DC1ED1425069}"/>
              </a:ext>
            </a:extLst>
          </p:cNvPr>
          <p:cNvSpPr/>
          <p:nvPr/>
        </p:nvSpPr>
        <p:spPr>
          <a:xfrm>
            <a:off x="4272689" y="1295147"/>
            <a:ext cx="1275278" cy="237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4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输出</a:t>
            </a: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5" name="Text 4">
            <a:extLst>
              <a:ext uri="{FF2B5EF4-FFF2-40B4-BE49-F238E27FC236}">
                <a16:creationId xmlns:a16="http://schemas.microsoft.com/office/drawing/2014/main" id="{A00624CE-E312-0F69-C18B-2A2FF7844F4D}"/>
              </a:ext>
            </a:extLst>
          </p:cNvPr>
          <p:cNvSpPr/>
          <p:nvPr/>
        </p:nvSpPr>
        <p:spPr>
          <a:xfrm>
            <a:off x="8661809" y="1295147"/>
            <a:ext cx="1275278" cy="237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AI改善点</a:t>
            </a:r>
            <a:endParaRPr 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7" name="组合 96">
            <a:extLst>
              <a:ext uri="{FF2B5EF4-FFF2-40B4-BE49-F238E27FC236}">
                <a16:creationId xmlns:a16="http://schemas.microsoft.com/office/drawing/2014/main" id="{C39007FC-34E1-F3B6-AFE9-592B16183E0F}"/>
              </a:ext>
            </a:extLst>
          </p:cNvPr>
          <p:cNvGrpSpPr/>
          <p:nvPr/>
        </p:nvGrpSpPr>
        <p:grpSpPr>
          <a:xfrm>
            <a:off x="502920" y="1590658"/>
            <a:ext cx="6354636" cy="696462"/>
            <a:chOff x="502920" y="1590659"/>
            <a:chExt cx="6354636" cy="696462"/>
          </a:xfrm>
        </p:grpSpPr>
        <p:sp>
          <p:nvSpPr>
            <p:cNvPr id="65" name="AutoShape 15">
              <a:extLst>
                <a:ext uri="{FF2B5EF4-FFF2-40B4-BE49-F238E27FC236}">
                  <a16:creationId xmlns:a16="http://schemas.microsoft.com/office/drawing/2014/main" id="{CAA1C4AC-22AC-2D3F-485F-400A26B338A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743200" y="1815292"/>
              <a:ext cx="646332" cy="200055"/>
            </a:xfrm>
            <a:prstGeom prst="homePlate">
              <a:avLst>
                <a:gd name="adj" fmla="val 9936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outerShdw dist="35921" dir="2700000" algn="ctr" rotWithShape="0">
                <a:schemeClr val="hlink"/>
              </a:outerShdw>
            </a:effectLst>
          </p:spPr>
          <p:txBody>
            <a:bodyPr wrap="square" lIns="0" tIns="0" rIns="0" bIns="0" anchor="ctr">
              <a:spAutoFit/>
            </a:bodyPr>
            <a:lstStyle>
              <a:lvl1pPr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92" name="组合 91">
              <a:extLst>
                <a:ext uri="{FF2B5EF4-FFF2-40B4-BE49-F238E27FC236}">
                  <a16:creationId xmlns:a16="http://schemas.microsoft.com/office/drawing/2014/main" id="{2EFB5415-4939-CB99-3AF3-88EB8A8EC269}"/>
                </a:ext>
              </a:extLst>
            </p:cNvPr>
            <p:cNvGrpSpPr/>
            <p:nvPr/>
          </p:nvGrpSpPr>
          <p:grpSpPr>
            <a:xfrm>
              <a:off x="502920" y="1590659"/>
              <a:ext cx="6354636" cy="696462"/>
              <a:chOff x="502920" y="1590659"/>
              <a:chExt cx="6354636" cy="696462"/>
            </a:xfrm>
          </p:grpSpPr>
          <p:sp>
            <p:nvSpPr>
              <p:cNvPr id="32" name="五边形 31">
                <a:extLst>
                  <a:ext uri="{FF2B5EF4-FFF2-40B4-BE49-F238E27FC236}">
                    <a16:creationId xmlns:a16="http://schemas.microsoft.com/office/drawing/2014/main" id="{B8252E8A-26CB-7A1A-9964-7C879F8580D4}"/>
                  </a:ext>
                </a:extLst>
              </p:cNvPr>
              <p:cNvSpPr/>
              <p:nvPr/>
            </p:nvSpPr>
            <p:spPr>
              <a:xfrm>
                <a:off x="502920" y="1590659"/>
                <a:ext cx="6354636" cy="638117"/>
              </a:xfrm>
              <a:prstGeom prst="homePlat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7" name="文本框 86">
                <a:extLst>
                  <a:ext uri="{FF2B5EF4-FFF2-40B4-BE49-F238E27FC236}">
                    <a16:creationId xmlns:a16="http://schemas.microsoft.com/office/drawing/2014/main" id="{95E0A937-9771-150D-8831-A91AFA0936A9}"/>
                  </a:ext>
                </a:extLst>
              </p:cNvPr>
              <p:cNvSpPr txBox="1"/>
              <p:nvPr/>
            </p:nvSpPr>
            <p:spPr>
              <a:xfrm>
                <a:off x="2491060" y="1640790"/>
                <a:ext cx="1150938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800" b="1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Noto Sans CJK SC" pitchFamily="34" charset="-120"/>
                  </a:rPr>
                  <a:t>原料预</a:t>
                </a:r>
                <a:endParaRPr lang="en-US" altLang="zh-CN" sz="1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CJK SC" pitchFamily="34" charset="-120"/>
                </a:endParaRPr>
              </a:p>
              <a:p>
                <a:pPr algn="ctr"/>
                <a:r>
                  <a:rPr lang="en-US" altLang="zh-CN" sz="1800" b="1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Noto Sans CJK SC" pitchFamily="34" charset="-120"/>
                  </a:rPr>
                  <a:t>处理</a:t>
                </a:r>
                <a:endParaRPr lang="en-US" altLang="zh-CN" sz="18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98" name="组合 97">
            <a:extLst>
              <a:ext uri="{FF2B5EF4-FFF2-40B4-BE49-F238E27FC236}">
                <a16:creationId xmlns:a16="http://schemas.microsoft.com/office/drawing/2014/main" id="{B8C54094-608C-8FCA-341F-40FA95E1D472}"/>
              </a:ext>
            </a:extLst>
          </p:cNvPr>
          <p:cNvGrpSpPr/>
          <p:nvPr/>
        </p:nvGrpSpPr>
        <p:grpSpPr>
          <a:xfrm>
            <a:off x="521208" y="2287119"/>
            <a:ext cx="6336348" cy="648279"/>
            <a:chOff x="521208" y="1590659"/>
            <a:chExt cx="6336348" cy="648279"/>
          </a:xfrm>
        </p:grpSpPr>
        <p:sp>
          <p:nvSpPr>
            <p:cNvPr id="99" name="AutoShape 15">
              <a:extLst>
                <a:ext uri="{FF2B5EF4-FFF2-40B4-BE49-F238E27FC236}">
                  <a16:creationId xmlns:a16="http://schemas.microsoft.com/office/drawing/2014/main" id="{6672C067-9F49-B0E1-0A73-A68DF2B13A0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743200" y="1815744"/>
              <a:ext cx="646332" cy="200055"/>
            </a:xfrm>
            <a:prstGeom prst="homePlate">
              <a:avLst>
                <a:gd name="adj" fmla="val 9936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outerShdw dist="35921" dir="2700000" algn="ctr" rotWithShape="0">
                <a:schemeClr val="hlink"/>
              </a:outerShdw>
            </a:effectLst>
          </p:spPr>
          <p:txBody>
            <a:bodyPr wrap="square" lIns="0" tIns="0" rIns="0" bIns="0" anchor="ctr">
              <a:spAutoFit/>
            </a:bodyPr>
            <a:lstStyle>
              <a:lvl1pPr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00" name="组合 99">
              <a:extLst>
                <a:ext uri="{FF2B5EF4-FFF2-40B4-BE49-F238E27FC236}">
                  <a16:creationId xmlns:a16="http://schemas.microsoft.com/office/drawing/2014/main" id="{07F00F3D-5817-16A5-D87C-D137BC0C031E}"/>
                </a:ext>
              </a:extLst>
            </p:cNvPr>
            <p:cNvGrpSpPr/>
            <p:nvPr/>
          </p:nvGrpSpPr>
          <p:grpSpPr>
            <a:xfrm>
              <a:off x="521208" y="1590659"/>
              <a:ext cx="6336348" cy="638117"/>
              <a:chOff x="521208" y="1590659"/>
              <a:chExt cx="6336348" cy="638117"/>
            </a:xfrm>
          </p:grpSpPr>
          <p:sp>
            <p:nvSpPr>
              <p:cNvPr id="101" name="五边形 100">
                <a:extLst>
                  <a:ext uri="{FF2B5EF4-FFF2-40B4-BE49-F238E27FC236}">
                    <a16:creationId xmlns:a16="http://schemas.microsoft.com/office/drawing/2014/main" id="{25374A5B-F933-2E48-DC21-BAEF277D2262}"/>
                  </a:ext>
                </a:extLst>
              </p:cNvPr>
              <p:cNvSpPr/>
              <p:nvPr/>
            </p:nvSpPr>
            <p:spPr>
              <a:xfrm>
                <a:off x="521208" y="1590659"/>
                <a:ext cx="6336348" cy="638117"/>
              </a:xfrm>
              <a:prstGeom prst="homePlat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3" name="文本框 102">
                <a:extLst>
                  <a:ext uri="{FF2B5EF4-FFF2-40B4-BE49-F238E27FC236}">
                    <a16:creationId xmlns:a16="http://schemas.microsoft.com/office/drawing/2014/main" id="{273733C2-5C10-6967-177F-39822A459F7D}"/>
                  </a:ext>
                </a:extLst>
              </p:cNvPr>
              <p:cNvSpPr txBox="1"/>
              <p:nvPr/>
            </p:nvSpPr>
            <p:spPr>
              <a:xfrm>
                <a:off x="2491060" y="1726778"/>
                <a:ext cx="115093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zh-CN" b="1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Noto Sans CJK SC" pitchFamily="34" charset="-120"/>
                  </a:rPr>
                  <a:t>浸灰水解</a:t>
                </a:r>
                <a:endPara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104" name="组合 103">
            <a:extLst>
              <a:ext uri="{FF2B5EF4-FFF2-40B4-BE49-F238E27FC236}">
                <a16:creationId xmlns:a16="http://schemas.microsoft.com/office/drawing/2014/main" id="{49A128F7-C6C3-950D-CF8A-D39AB6DDC184}"/>
              </a:ext>
            </a:extLst>
          </p:cNvPr>
          <p:cNvGrpSpPr/>
          <p:nvPr/>
        </p:nvGrpSpPr>
        <p:grpSpPr>
          <a:xfrm>
            <a:off x="521208" y="3001822"/>
            <a:ext cx="6336348" cy="647951"/>
            <a:chOff x="521208" y="1590659"/>
            <a:chExt cx="6336348" cy="647951"/>
          </a:xfrm>
        </p:grpSpPr>
        <p:sp>
          <p:nvSpPr>
            <p:cNvPr id="105" name="AutoShape 15">
              <a:extLst>
                <a:ext uri="{FF2B5EF4-FFF2-40B4-BE49-F238E27FC236}">
                  <a16:creationId xmlns:a16="http://schemas.microsoft.com/office/drawing/2014/main" id="{EF327312-CA62-5AB0-7544-F7CA1884550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743200" y="1815416"/>
              <a:ext cx="646332" cy="200055"/>
            </a:xfrm>
            <a:prstGeom prst="homePlate">
              <a:avLst>
                <a:gd name="adj" fmla="val 9936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outerShdw dist="35921" dir="2700000" algn="ctr" rotWithShape="0">
                <a:schemeClr val="hlink"/>
              </a:outerShdw>
            </a:effectLst>
          </p:spPr>
          <p:txBody>
            <a:bodyPr wrap="square" lIns="0" tIns="0" rIns="0" bIns="0" anchor="ctr">
              <a:spAutoFit/>
            </a:bodyPr>
            <a:lstStyle>
              <a:lvl1pPr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06" name="组合 105">
              <a:extLst>
                <a:ext uri="{FF2B5EF4-FFF2-40B4-BE49-F238E27FC236}">
                  <a16:creationId xmlns:a16="http://schemas.microsoft.com/office/drawing/2014/main" id="{75682A18-777C-8410-3912-02690D0E50E8}"/>
                </a:ext>
              </a:extLst>
            </p:cNvPr>
            <p:cNvGrpSpPr/>
            <p:nvPr/>
          </p:nvGrpSpPr>
          <p:grpSpPr>
            <a:xfrm>
              <a:off x="521208" y="1590659"/>
              <a:ext cx="6336348" cy="638117"/>
              <a:chOff x="521208" y="1590659"/>
              <a:chExt cx="6336348" cy="638117"/>
            </a:xfrm>
          </p:grpSpPr>
          <p:sp>
            <p:nvSpPr>
              <p:cNvPr id="107" name="五边形 106">
                <a:extLst>
                  <a:ext uri="{FF2B5EF4-FFF2-40B4-BE49-F238E27FC236}">
                    <a16:creationId xmlns:a16="http://schemas.microsoft.com/office/drawing/2014/main" id="{F11C9CDA-5C5F-8D42-9A57-A9CF0B6D2C8D}"/>
                  </a:ext>
                </a:extLst>
              </p:cNvPr>
              <p:cNvSpPr/>
              <p:nvPr/>
            </p:nvSpPr>
            <p:spPr>
              <a:xfrm>
                <a:off x="521208" y="1590659"/>
                <a:ext cx="6336348" cy="638117"/>
              </a:xfrm>
              <a:prstGeom prst="homePlat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9" name="文本框 108">
                <a:extLst>
                  <a:ext uri="{FF2B5EF4-FFF2-40B4-BE49-F238E27FC236}">
                    <a16:creationId xmlns:a16="http://schemas.microsoft.com/office/drawing/2014/main" id="{057DA7AA-D4C8-E152-3B5D-B09FF0C9B32B}"/>
                  </a:ext>
                </a:extLst>
              </p:cNvPr>
              <p:cNvSpPr txBox="1"/>
              <p:nvPr/>
            </p:nvSpPr>
            <p:spPr>
              <a:xfrm>
                <a:off x="2491060" y="1727168"/>
                <a:ext cx="115093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b="1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Noto Sans CJK SC" pitchFamily="34" charset="-120"/>
                  </a:rPr>
                  <a:t>中和水洗</a:t>
                </a:r>
                <a:endPara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110" name="组合 109">
            <a:extLst>
              <a:ext uri="{FF2B5EF4-FFF2-40B4-BE49-F238E27FC236}">
                <a16:creationId xmlns:a16="http://schemas.microsoft.com/office/drawing/2014/main" id="{A8B48908-180F-7D76-05F2-3DBA0D92E919}"/>
              </a:ext>
            </a:extLst>
          </p:cNvPr>
          <p:cNvGrpSpPr/>
          <p:nvPr/>
        </p:nvGrpSpPr>
        <p:grpSpPr>
          <a:xfrm>
            <a:off x="521208" y="3716525"/>
            <a:ext cx="6336348" cy="647623"/>
            <a:chOff x="521208" y="1590659"/>
            <a:chExt cx="6336348" cy="647623"/>
          </a:xfrm>
        </p:grpSpPr>
        <p:sp>
          <p:nvSpPr>
            <p:cNvPr id="111" name="AutoShape 15">
              <a:extLst>
                <a:ext uri="{FF2B5EF4-FFF2-40B4-BE49-F238E27FC236}">
                  <a16:creationId xmlns:a16="http://schemas.microsoft.com/office/drawing/2014/main" id="{FBC298F6-2BCB-72FA-8552-4FF7CD13E21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743200" y="1815088"/>
              <a:ext cx="646332" cy="200055"/>
            </a:xfrm>
            <a:prstGeom prst="homePlate">
              <a:avLst>
                <a:gd name="adj" fmla="val 9936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outerShdw dist="35921" dir="2700000" algn="ctr" rotWithShape="0">
                <a:schemeClr val="hlink"/>
              </a:outerShdw>
            </a:effectLst>
          </p:spPr>
          <p:txBody>
            <a:bodyPr wrap="square" lIns="0" tIns="0" rIns="0" bIns="0" anchor="ctr">
              <a:spAutoFit/>
            </a:bodyPr>
            <a:lstStyle>
              <a:lvl1pPr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2" name="组合 111">
              <a:extLst>
                <a:ext uri="{FF2B5EF4-FFF2-40B4-BE49-F238E27FC236}">
                  <a16:creationId xmlns:a16="http://schemas.microsoft.com/office/drawing/2014/main" id="{D078E833-E4D2-8169-3643-263DD52531E3}"/>
                </a:ext>
              </a:extLst>
            </p:cNvPr>
            <p:cNvGrpSpPr/>
            <p:nvPr/>
          </p:nvGrpSpPr>
          <p:grpSpPr>
            <a:xfrm>
              <a:off x="521208" y="1590659"/>
              <a:ext cx="6336348" cy="638117"/>
              <a:chOff x="521208" y="1590659"/>
              <a:chExt cx="6336348" cy="638117"/>
            </a:xfrm>
          </p:grpSpPr>
          <p:sp>
            <p:nvSpPr>
              <p:cNvPr id="113" name="五边形 112">
                <a:extLst>
                  <a:ext uri="{FF2B5EF4-FFF2-40B4-BE49-F238E27FC236}">
                    <a16:creationId xmlns:a16="http://schemas.microsoft.com/office/drawing/2014/main" id="{DB3465D0-AA62-96EA-60B0-0BC9430A8D33}"/>
                  </a:ext>
                </a:extLst>
              </p:cNvPr>
              <p:cNvSpPr/>
              <p:nvPr/>
            </p:nvSpPr>
            <p:spPr>
              <a:xfrm>
                <a:off x="521208" y="1590659"/>
                <a:ext cx="6336348" cy="638117"/>
              </a:xfrm>
              <a:prstGeom prst="homePlat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5" name="文本框 114">
                <a:extLst>
                  <a:ext uri="{FF2B5EF4-FFF2-40B4-BE49-F238E27FC236}">
                    <a16:creationId xmlns:a16="http://schemas.microsoft.com/office/drawing/2014/main" id="{11D30666-C739-3D9C-DAD6-2C0095EF3109}"/>
                  </a:ext>
                </a:extLst>
              </p:cNvPr>
              <p:cNvSpPr txBox="1"/>
              <p:nvPr/>
            </p:nvSpPr>
            <p:spPr>
              <a:xfrm>
                <a:off x="2491060" y="1725051"/>
                <a:ext cx="115093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b="1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Noto Sans CJK SC" pitchFamily="34" charset="-120"/>
                  </a:rPr>
                  <a:t>分段提胶</a:t>
                </a:r>
                <a:endPara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119" name="五边形 118">
            <a:extLst>
              <a:ext uri="{FF2B5EF4-FFF2-40B4-BE49-F238E27FC236}">
                <a16:creationId xmlns:a16="http://schemas.microsoft.com/office/drawing/2014/main" id="{283E5841-E4A7-7143-FB8A-883BC4347CA5}"/>
              </a:ext>
            </a:extLst>
          </p:cNvPr>
          <p:cNvSpPr/>
          <p:nvPr/>
        </p:nvSpPr>
        <p:spPr>
          <a:xfrm>
            <a:off x="521208" y="4431228"/>
            <a:ext cx="6336348" cy="638117"/>
          </a:xfrm>
          <a:prstGeom prst="homePlat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35054027-9531-B33B-49CC-18723E71C519}"/>
              </a:ext>
            </a:extLst>
          </p:cNvPr>
          <p:cNvGrpSpPr/>
          <p:nvPr/>
        </p:nvGrpSpPr>
        <p:grpSpPr>
          <a:xfrm>
            <a:off x="2480891" y="4419491"/>
            <a:ext cx="1150938" cy="646332"/>
            <a:chOff x="2491060" y="4432295"/>
            <a:chExt cx="1150938" cy="646332"/>
          </a:xfrm>
        </p:grpSpPr>
        <p:sp>
          <p:nvSpPr>
            <p:cNvPr id="117" name="AutoShape 15">
              <a:extLst>
                <a:ext uri="{FF2B5EF4-FFF2-40B4-BE49-F238E27FC236}">
                  <a16:creationId xmlns:a16="http://schemas.microsoft.com/office/drawing/2014/main" id="{AA7714FE-EA9C-638C-71BD-F2633404D1E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743844" y="4655433"/>
              <a:ext cx="646332" cy="200055"/>
            </a:xfrm>
            <a:prstGeom prst="homePlate">
              <a:avLst>
                <a:gd name="adj" fmla="val 9936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outerShdw dist="35921" dir="2700000" algn="ctr" rotWithShape="0">
                <a:schemeClr val="hlink"/>
              </a:outerShdw>
            </a:effectLst>
          </p:spPr>
          <p:txBody>
            <a:bodyPr wrap="square" lIns="0" tIns="0" rIns="0" bIns="0" anchor="ctr">
              <a:spAutoFit/>
            </a:bodyPr>
            <a:lstStyle>
              <a:lvl1pPr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" name="文本框 120">
              <a:extLst>
                <a:ext uri="{FF2B5EF4-FFF2-40B4-BE49-F238E27FC236}">
                  <a16:creationId xmlns:a16="http://schemas.microsoft.com/office/drawing/2014/main" id="{D62B21A7-6E35-6515-3053-307A074FCD21}"/>
                </a:ext>
              </a:extLst>
            </p:cNvPr>
            <p:cNvSpPr txBox="1"/>
            <p:nvPr/>
          </p:nvSpPr>
          <p:spPr>
            <a:xfrm>
              <a:off x="2491060" y="4565620"/>
              <a:ext cx="115093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b="1" dirty="0" err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CJK SC" pitchFamily="34" charset="-120"/>
                </a:rPr>
                <a:t>浓缩复配</a:t>
              </a:r>
              <a:endPara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22" name="组合 121">
            <a:extLst>
              <a:ext uri="{FF2B5EF4-FFF2-40B4-BE49-F238E27FC236}">
                <a16:creationId xmlns:a16="http://schemas.microsoft.com/office/drawing/2014/main" id="{6173949E-E236-C339-BC20-109EC930B26F}"/>
              </a:ext>
            </a:extLst>
          </p:cNvPr>
          <p:cNvGrpSpPr/>
          <p:nvPr/>
        </p:nvGrpSpPr>
        <p:grpSpPr>
          <a:xfrm>
            <a:off x="521208" y="5124912"/>
            <a:ext cx="6336348" cy="647348"/>
            <a:chOff x="521208" y="1590659"/>
            <a:chExt cx="6336348" cy="647348"/>
          </a:xfrm>
        </p:grpSpPr>
        <p:sp>
          <p:nvSpPr>
            <p:cNvPr id="123" name="AutoShape 15">
              <a:extLst>
                <a:ext uri="{FF2B5EF4-FFF2-40B4-BE49-F238E27FC236}">
                  <a16:creationId xmlns:a16="http://schemas.microsoft.com/office/drawing/2014/main" id="{A8432183-5D41-D7E6-5E66-8F814EE7907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743200" y="1814813"/>
              <a:ext cx="646332" cy="200055"/>
            </a:xfrm>
            <a:prstGeom prst="homePlate">
              <a:avLst>
                <a:gd name="adj" fmla="val 9936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outerShdw dist="35921" dir="2700000" algn="ctr" rotWithShape="0">
                <a:schemeClr val="hlink"/>
              </a:outerShdw>
            </a:effectLst>
          </p:spPr>
          <p:txBody>
            <a:bodyPr wrap="square" lIns="0" tIns="0" rIns="0" bIns="0" anchor="ctr">
              <a:spAutoFit/>
            </a:bodyPr>
            <a:lstStyle>
              <a:lvl1pPr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24" name="组合 123">
              <a:extLst>
                <a:ext uri="{FF2B5EF4-FFF2-40B4-BE49-F238E27FC236}">
                  <a16:creationId xmlns:a16="http://schemas.microsoft.com/office/drawing/2014/main" id="{11685FFA-BAE9-3800-32BE-5B6E589CC058}"/>
                </a:ext>
              </a:extLst>
            </p:cNvPr>
            <p:cNvGrpSpPr/>
            <p:nvPr/>
          </p:nvGrpSpPr>
          <p:grpSpPr>
            <a:xfrm>
              <a:off x="521208" y="1590659"/>
              <a:ext cx="6336348" cy="638117"/>
              <a:chOff x="521208" y="1590659"/>
              <a:chExt cx="6336348" cy="638117"/>
            </a:xfrm>
          </p:grpSpPr>
          <p:sp>
            <p:nvSpPr>
              <p:cNvPr id="125" name="五边形 124">
                <a:extLst>
                  <a:ext uri="{FF2B5EF4-FFF2-40B4-BE49-F238E27FC236}">
                    <a16:creationId xmlns:a16="http://schemas.microsoft.com/office/drawing/2014/main" id="{D5940B09-3F44-D0F3-FAD1-802860AD4073}"/>
                  </a:ext>
                </a:extLst>
              </p:cNvPr>
              <p:cNvSpPr/>
              <p:nvPr/>
            </p:nvSpPr>
            <p:spPr>
              <a:xfrm>
                <a:off x="521208" y="1590659"/>
                <a:ext cx="6336348" cy="638117"/>
              </a:xfrm>
              <a:prstGeom prst="homePlat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7" name="文本框 126">
                <a:extLst>
                  <a:ext uri="{FF2B5EF4-FFF2-40B4-BE49-F238E27FC236}">
                    <a16:creationId xmlns:a16="http://schemas.microsoft.com/office/drawing/2014/main" id="{5DE64833-DDE2-C310-21B9-A04EDFDD32DC}"/>
                  </a:ext>
                </a:extLst>
              </p:cNvPr>
              <p:cNvSpPr txBox="1"/>
              <p:nvPr/>
            </p:nvSpPr>
            <p:spPr>
              <a:xfrm>
                <a:off x="2491060" y="1725051"/>
                <a:ext cx="115093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b="1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Noto Sans CJK SC" pitchFamily="34" charset="-120"/>
                  </a:rPr>
                  <a:t>凝胶干燥</a:t>
                </a:r>
                <a:endPara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128" name="组合 127">
            <a:extLst>
              <a:ext uri="{FF2B5EF4-FFF2-40B4-BE49-F238E27FC236}">
                <a16:creationId xmlns:a16="http://schemas.microsoft.com/office/drawing/2014/main" id="{0584633D-90E8-CF90-35C9-F75D3BEB67BF}"/>
              </a:ext>
            </a:extLst>
          </p:cNvPr>
          <p:cNvGrpSpPr/>
          <p:nvPr/>
        </p:nvGrpSpPr>
        <p:grpSpPr>
          <a:xfrm>
            <a:off x="521208" y="5860636"/>
            <a:ext cx="6336348" cy="648224"/>
            <a:chOff x="521208" y="1590659"/>
            <a:chExt cx="6336348" cy="648224"/>
          </a:xfrm>
        </p:grpSpPr>
        <p:sp>
          <p:nvSpPr>
            <p:cNvPr id="129" name="AutoShape 15">
              <a:extLst>
                <a:ext uri="{FF2B5EF4-FFF2-40B4-BE49-F238E27FC236}">
                  <a16:creationId xmlns:a16="http://schemas.microsoft.com/office/drawing/2014/main" id="{BE07CE8B-8A3C-F875-418D-9143CA0A0C6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743200" y="1815689"/>
              <a:ext cx="646332" cy="200055"/>
            </a:xfrm>
            <a:prstGeom prst="homePlate">
              <a:avLst>
                <a:gd name="adj" fmla="val 9936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outerShdw dist="35921" dir="2700000" algn="ctr" rotWithShape="0">
                <a:schemeClr val="hlink"/>
              </a:outerShdw>
            </a:effectLst>
          </p:spPr>
          <p:txBody>
            <a:bodyPr wrap="square" lIns="0" tIns="0" rIns="0" bIns="0" anchor="ctr">
              <a:spAutoFit/>
            </a:bodyPr>
            <a:lstStyle>
              <a:lvl1pPr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30" name="组合 129">
              <a:extLst>
                <a:ext uri="{FF2B5EF4-FFF2-40B4-BE49-F238E27FC236}">
                  <a16:creationId xmlns:a16="http://schemas.microsoft.com/office/drawing/2014/main" id="{D14D52D1-3597-C17B-04FE-FCCB12079C3A}"/>
                </a:ext>
              </a:extLst>
            </p:cNvPr>
            <p:cNvGrpSpPr/>
            <p:nvPr/>
          </p:nvGrpSpPr>
          <p:grpSpPr>
            <a:xfrm>
              <a:off x="521208" y="1590659"/>
              <a:ext cx="6336348" cy="638117"/>
              <a:chOff x="521208" y="1590659"/>
              <a:chExt cx="6336348" cy="638117"/>
            </a:xfrm>
          </p:grpSpPr>
          <p:sp>
            <p:nvSpPr>
              <p:cNvPr id="131" name="五边形 130">
                <a:extLst>
                  <a:ext uri="{FF2B5EF4-FFF2-40B4-BE49-F238E27FC236}">
                    <a16:creationId xmlns:a16="http://schemas.microsoft.com/office/drawing/2014/main" id="{05004431-3369-8EB8-09EC-53B7A9501F30}"/>
                  </a:ext>
                </a:extLst>
              </p:cNvPr>
              <p:cNvSpPr/>
              <p:nvPr/>
            </p:nvSpPr>
            <p:spPr>
              <a:xfrm>
                <a:off x="521208" y="1590659"/>
                <a:ext cx="6336348" cy="638117"/>
              </a:xfrm>
              <a:prstGeom prst="homePlat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3" name="文本框 132">
                <a:extLst>
                  <a:ext uri="{FF2B5EF4-FFF2-40B4-BE49-F238E27FC236}">
                    <a16:creationId xmlns:a16="http://schemas.microsoft.com/office/drawing/2014/main" id="{75180A1F-38EC-2C06-8981-B4F6600E0AAD}"/>
                  </a:ext>
                </a:extLst>
              </p:cNvPr>
              <p:cNvSpPr txBox="1"/>
              <p:nvPr/>
            </p:nvSpPr>
            <p:spPr>
              <a:xfrm>
                <a:off x="2491060" y="1725051"/>
                <a:ext cx="115093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b="1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Noto Sans CJK SC" pitchFamily="34" charset="-120"/>
                  </a:rPr>
                  <a:t>粉碎成品</a:t>
                </a:r>
                <a:endPara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136" name="文本框 135">
            <a:extLst>
              <a:ext uri="{FF2B5EF4-FFF2-40B4-BE49-F238E27FC236}">
                <a16:creationId xmlns:a16="http://schemas.microsoft.com/office/drawing/2014/main" id="{F390D7B4-5EE2-E3A1-63C7-A81ABDD1F219}"/>
              </a:ext>
            </a:extLst>
          </p:cNvPr>
          <p:cNvSpPr txBox="1"/>
          <p:nvPr/>
        </p:nvSpPr>
        <p:spPr>
          <a:xfrm>
            <a:off x="563116" y="1616203"/>
            <a:ext cx="18198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纯化胶原骨粒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骨粒规格、脱脂/脱矿程度、杂质控制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7" name="文本框 136">
            <a:extLst>
              <a:ext uri="{FF2B5EF4-FFF2-40B4-BE49-F238E27FC236}">
                <a16:creationId xmlns:a16="http://schemas.microsoft.com/office/drawing/2014/main" id="{470DBA77-D8D2-09DC-EEED-CD063E9B84BC}"/>
              </a:ext>
            </a:extLst>
          </p:cNvPr>
          <p:cNvSpPr txBox="1"/>
          <p:nvPr/>
        </p:nvSpPr>
        <p:spPr>
          <a:xfrm>
            <a:off x="563116" y="2287121"/>
            <a:ext cx="181986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不同断链程度胶原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目标Mw 基础区间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8" name="文本框 137">
            <a:extLst>
              <a:ext uri="{FF2B5EF4-FFF2-40B4-BE49-F238E27FC236}">
                <a16:creationId xmlns:a16="http://schemas.microsoft.com/office/drawing/2014/main" id="{8A461887-01BF-2A65-0CCE-607EDC9037C8}"/>
              </a:ext>
            </a:extLst>
          </p:cNvPr>
          <p:cNvSpPr txBox="1"/>
          <p:nvPr/>
        </p:nvSpPr>
        <p:spPr>
          <a:xfrm>
            <a:off x="563116" y="3030512"/>
            <a:ext cx="18198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pH稳定胶原物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pH、钙/氯离子残留、透明度风险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736C095E-DD25-8AE3-76FA-FFAA5484CB76}"/>
              </a:ext>
            </a:extLst>
          </p:cNvPr>
          <p:cNvSpPr txBox="1"/>
          <p:nvPr/>
        </p:nvSpPr>
        <p:spPr>
          <a:xfrm>
            <a:off x="563116" y="3712417"/>
            <a:ext cx="18198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不同道次胶液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各道次 Mw、重量、黏度、冻力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D76078EC-164F-1603-BEE8-AAF8144E9F35}"/>
              </a:ext>
            </a:extLst>
          </p:cNvPr>
          <p:cNvSpPr txBox="1"/>
          <p:nvPr/>
        </p:nvSpPr>
        <p:spPr>
          <a:xfrm>
            <a:off x="563116" y="4434365"/>
            <a:ext cx="18198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目标 Mw 复配胶液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固含量、黏度、冻力、理论产出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D03E0C29-6B92-9EDC-9ED3-927DDC18524B}"/>
              </a:ext>
            </a:extLst>
          </p:cNvPr>
          <p:cNvSpPr txBox="1"/>
          <p:nvPr/>
        </p:nvSpPr>
        <p:spPr>
          <a:xfrm>
            <a:off x="563116" y="5116698"/>
            <a:ext cx="18198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干燥后成品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水分、损耗率、实际产出、质量偏差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2" name="文本框 141">
            <a:extLst>
              <a:ext uri="{FF2B5EF4-FFF2-40B4-BE49-F238E27FC236}">
                <a16:creationId xmlns:a16="http://schemas.microsoft.com/office/drawing/2014/main" id="{25109486-EF91-8E30-BDF8-53B1ACE8F7C7}"/>
              </a:ext>
            </a:extLst>
          </p:cNvPr>
          <p:cNvSpPr txBox="1"/>
          <p:nvPr/>
        </p:nvSpPr>
        <p:spPr>
          <a:xfrm>
            <a:off x="563116" y="5852422"/>
            <a:ext cx="1819866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入库成品与质检报告</a:t>
            </a:r>
            <a:endParaRPr lang="en-US" altLang="zh-CN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Mn、Mw、Mz、PDI、小分子占比、黏度、冻力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4" name="文本框 143">
            <a:extLst>
              <a:ext uri="{FF2B5EF4-FFF2-40B4-BE49-F238E27FC236}">
                <a16:creationId xmlns:a16="http://schemas.microsoft.com/office/drawing/2014/main" id="{82099359-DB09-D984-5D83-6C3F98131460}"/>
              </a:ext>
            </a:extLst>
          </p:cNvPr>
          <p:cNvSpPr txBox="1"/>
          <p:nvPr/>
        </p:nvSpPr>
        <p:spPr>
          <a:xfrm>
            <a:off x="3817916" y="1616203"/>
            <a:ext cx="22780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原料批次、骨粒规格、残油/灰分/杂质率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5" name="文本框 144">
            <a:extLst>
              <a:ext uri="{FF2B5EF4-FFF2-40B4-BE49-F238E27FC236}">
                <a16:creationId xmlns:a16="http://schemas.microsoft.com/office/drawing/2014/main" id="{9515279D-D91F-6946-FC32-173E6F2F4684}"/>
              </a:ext>
            </a:extLst>
          </p:cNvPr>
          <p:cNvSpPr txBox="1"/>
          <p:nvPr/>
        </p:nvSpPr>
        <p:spPr>
          <a:xfrm>
            <a:off x="3817916" y="2287997"/>
            <a:ext cx="22780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浸灰时间、温度、料液比、石灰乳浓度、Mw区间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6" name="文本框 145">
            <a:extLst>
              <a:ext uri="{FF2B5EF4-FFF2-40B4-BE49-F238E27FC236}">
                <a16:creationId xmlns:a16="http://schemas.microsoft.com/office/drawing/2014/main" id="{DE208BA8-395D-6E12-152E-E6BF13842FC6}"/>
              </a:ext>
            </a:extLst>
          </p:cNvPr>
          <p:cNvSpPr txBox="1"/>
          <p:nvPr/>
        </p:nvSpPr>
        <p:spPr>
          <a:xfrm>
            <a:off x="3817916" y="3001824"/>
            <a:ext cx="22780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pH 6.0–6.5、残留离子、洗涤次数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7" name="文本框 146">
            <a:extLst>
              <a:ext uri="{FF2B5EF4-FFF2-40B4-BE49-F238E27FC236}">
                <a16:creationId xmlns:a16="http://schemas.microsoft.com/office/drawing/2014/main" id="{B75DEFE5-393B-EF28-E9B0-0C826A4F6B68}"/>
              </a:ext>
            </a:extLst>
          </p:cNvPr>
          <p:cNvSpPr txBox="1"/>
          <p:nvPr/>
        </p:nvSpPr>
        <p:spPr>
          <a:xfrm>
            <a:off x="3817916" y="3705174"/>
            <a:ext cx="22780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Mwᵢ、Wᵢ、道次、提胶温度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8" name="文本框 147">
            <a:extLst>
              <a:ext uri="{FF2B5EF4-FFF2-40B4-BE49-F238E27FC236}">
                <a16:creationId xmlns:a16="http://schemas.microsoft.com/office/drawing/2014/main" id="{A0CE0F25-FF34-A1BC-2941-605CE1737FA8}"/>
              </a:ext>
            </a:extLst>
          </p:cNvPr>
          <p:cNvSpPr txBox="1"/>
          <p:nvPr/>
        </p:nvSpPr>
        <p:spPr>
          <a:xfrm>
            <a:off x="3817916" y="4419877"/>
            <a:ext cx="22780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Mw混、Wᵢ、固含量ᵢ、[η]、理论产出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9" name="文本框 148">
            <a:extLst>
              <a:ext uri="{FF2B5EF4-FFF2-40B4-BE49-F238E27FC236}">
                <a16:creationId xmlns:a16="http://schemas.microsoft.com/office/drawing/2014/main" id="{DBC13464-7C0A-95CC-EFA6-52E943C062A5}"/>
              </a:ext>
            </a:extLst>
          </p:cNvPr>
          <p:cNvSpPr txBox="1"/>
          <p:nvPr/>
        </p:nvSpPr>
        <p:spPr>
          <a:xfrm>
            <a:off x="3817916" y="5113561"/>
            <a:ext cx="22780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成品水分 12%–16%、干基重量、损耗率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0" name="文本框 149">
            <a:extLst>
              <a:ext uri="{FF2B5EF4-FFF2-40B4-BE49-F238E27FC236}">
                <a16:creationId xmlns:a16="http://schemas.microsoft.com/office/drawing/2014/main" id="{04D51EA4-BF67-07A8-6989-B5912EE9EA59}"/>
              </a:ext>
            </a:extLst>
          </p:cNvPr>
          <p:cNvSpPr txBox="1"/>
          <p:nvPr/>
        </p:nvSpPr>
        <p:spPr>
          <a:xfrm>
            <a:off x="3817916" y="5851461"/>
            <a:ext cx="22780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GPC公式、PDI公式、小分子占比公式、黏度估算公式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标注 5">
            <a:extLst>
              <a:ext uri="{FF2B5EF4-FFF2-40B4-BE49-F238E27FC236}">
                <a16:creationId xmlns:a16="http://schemas.microsoft.com/office/drawing/2014/main" id="{FCC535D2-EAD0-528B-071F-E49EB2974618}"/>
              </a:ext>
            </a:extLst>
          </p:cNvPr>
          <p:cNvSpPr/>
          <p:nvPr/>
        </p:nvSpPr>
        <p:spPr>
          <a:xfrm>
            <a:off x="7230141" y="1590658"/>
            <a:ext cx="4742120" cy="5224082"/>
          </a:xfrm>
          <a:prstGeom prst="wedgeRectCallout">
            <a:avLst>
              <a:gd name="adj1" fmla="val -56483"/>
              <a:gd name="adj2" fmla="val 11069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6D5C247B-5446-0796-A52D-D75A5ED001AC}"/>
              </a:ext>
            </a:extLst>
          </p:cNvPr>
          <p:cNvGrpSpPr>
            <a:grpSpLocks/>
          </p:cNvGrpSpPr>
          <p:nvPr/>
        </p:nvGrpSpPr>
        <p:grpSpPr bwMode="auto">
          <a:xfrm>
            <a:off x="7352792" y="1786585"/>
            <a:ext cx="4513142" cy="276225"/>
            <a:chOff x="1306" y="1587"/>
            <a:chExt cx="1442" cy="174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9" name="Rectangle 4">
              <a:extLst>
                <a:ext uri="{FF2B5EF4-FFF2-40B4-BE49-F238E27FC236}">
                  <a16:creationId xmlns:a16="http://schemas.microsoft.com/office/drawing/2014/main" id="{499195F9-0977-C473-0DBA-5D97AFAB12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6" y="1613"/>
              <a:ext cx="1442" cy="126"/>
            </a:xfrm>
            <a:prstGeom prst="rect">
              <a:avLst/>
            </a:prstGeom>
            <a:grpFill/>
            <a:ln>
              <a:noFill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63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Text Box 5">
              <a:extLst>
                <a:ext uri="{FF2B5EF4-FFF2-40B4-BE49-F238E27FC236}">
                  <a16:creationId xmlns:a16="http://schemas.microsoft.com/office/drawing/2014/main" id="{F4EC75D3-6D2B-6137-71E9-A68511A957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12" y="1587"/>
              <a:ext cx="1231" cy="174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63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>
              <a:lvl1pPr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zh-CN" altLang="en-US" sz="1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现有工作方式（例）</a:t>
              </a:r>
            </a:p>
          </p:txBody>
        </p:sp>
      </p:grpSp>
      <p:sp>
        <p:nvSpPr>
          <p:cNvPr id="11" name="Rectangle 7">
            <a:extLst>
              <a:ext uri="{FF2B5EF4-FFF2-40B4-BE49-F238E27FC236}">
                <a16:creationId xmlns:a16="http://schemas.microsoft.com/office/drawing/2014/main" id="{114F1FDD-9E16-E243-FBA9-05AC1D5DAF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2790" y="2219973"/>
            <a:ext cx="4513143" cy="583200"/>
          </a:xfrm>
          <a:prstGeom prst="rect">
            <a:avLst/>
          </a:prstGeom>
          <a:noFill/>
          <a:ln w="63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2" name="Group 8">
            <a:extLst>
              <a:ext uri="{FF2B5EF4-FFF2-40B4-BE49-F238E27FC236}">
                <a16:creationId xmlns:a16="http://schemas.microsoft.com/office/drawing/2014/main" id="{B200237C-D32E-4676-69FD-7ADEB1B83B9D}"/>
              </a:ext>
            </a:extLst>
          </p:cNvPr>
          <p:cNvGrpSpPr>
            <a:grpSpLocks/>
          </p:cNvGrpSpPr>
          <p:nvPr/>
        </p:nvGrpSpPr>
        <p:grpSpPr bwMode="auto">
          <a:xfrm>
            <a:off x="7352791" y="3205804"/>
            <a:ext cx="4513143" cy="276225"/>
            <a:chOff x="1306" y="1587"/>
            <a:chExt cx="1442" cy="174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13" name="Rectangle 9">
              <a:extLst>
                <a:ext uri="{FF2B5EF4-FFF2-40B4-BE49-F238E27FC236}">
                  <a16:creationId xmlns:a16="http://schemas.microsoft.com/office/drawing/2014/main" id="{65C9EE6A-7D9D-5A06-F942-D107A93914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6" y="1611"/>
              <a:ext cx="1442" cy="126"/>
            </a:xfrm>
            <a:prstGeom prst="rect">
              <a:avLst/>
            </a:prstGeom>
            <a:grpFill/>
            <a:ln>
              <a:noFill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63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Text Box 10">
              <a:extLst>
                <a:ext uri="{FF2B5EF4-FFF2-40B4-BE49-F238E27FC236}">
                  <a16:creationId xmlns:a16="http://schemas.microsoft.com/office/drawing/2014/main" id="{44F01A00-4147-A299-47A9-B71920347E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12" y="1587"/>
              <a:ext cx="1231" cy="174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63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>
              <a:lvl1pPr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1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标准化公式流程</a:t>
              </a:r>
            </a:p>
          </p:txBody>
        </p:sp>
      </p:grpSp>
      <p:sp>
        <p:nvSpPr>
          <p:cNvPr id="15" name="Rectangle 11">
            <a:extLst>
              <a:ext uri="{FF2B5EF4-FFF2-40B4-BE49-F238E27FC236}">
                <a16:creationId xmlns:a16="http://schemas.microsoft.com/office/drawing/2014/main" id="{95E9E491-3B28-B2DA-992D-77A6A13C7D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73082" y="3636688"/>
            <a:ext cx="4513143" cy="1537888"/>
          </a:xfrm>
          <a:prstGeom prst="rect">
            <a:avLst/>
          </a:prstGeom>
          <a:noFill/>
          <a:ln w="63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AutoShape 18">
            <a:extLst>
              <a:ext uri="{FF2B5EF4-FFF2-40B4-BE49-F238E27FC236}">
                <a16:creationId xmlns:a16="http://schemas.microsoft.com/office/drawing/2014/main" id="{8CB92D6F-F061-488A-BE15-5E81E697EAD8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7450361" y="5229136"/>
            <a:ext cx="4318000" cy="203200"/>
          </a:xfrm>
          <a:prstGeom prst="triangle">
            <a:avLst>
              <a:gd name="adj" fmla="val 50000"/>
            </a:avLst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DD2EF1A-7D5C-9A02-61D2-66B0A83EDF94}"/>
              </a:ext>
            </a:extLst>
          </p:cNvPr>
          <p:cNvSpPr txBox="1"/>
          <p:nvPr/>
        </p:nvSpPr>
        <p:spPr>
          <a:xfrm>
            <a:off x="7352791" y="2289641"/>
            <a:ext cx="4513142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胶液重量、Mw、黏度、固含量等信息由</a:t>
            </a:r>
            <a:r>
              <a:rPr lang="zh-CN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人工判断</a:t>
            </a:r>
            <a:r>
              <a:rPr lang="zh-CN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，复配比例依赖经验</a:t>
            </a:r>
            <a:endParaRPr kumimoji="1"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017FDDCA-16AB-B5C5-7876-E844FD1B4FA0}"/>
                  </a:ext>
                </a:extLst>
              </p:cNvPr>
              <p:cNvSpPr txBox="1"/>
              <p:nvPr/>
            </p:nvSpPr>
            <p:spPr>
              <a:xfrm>
                <a:off x="7373082" y="3654614"/>
                <a:ext cx="4513142" cy="166013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zh-CN" altLang="zh-CN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复配后分子量</a:t>
                </a:r>
                <a:r>
                  <a:rPr lang="zh-CN" altLang="en-US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</a:t>
                </a:r>
                <a:endParaRPr kumimoji="1" lang="en" altLang="zh-CN" sz="1050" i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" altLang="zh-CN" sz="105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" altLang="zh-CN" sz="1050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kumimoji="1" lang="en" altLang="zh-CN" sz="1050" i="1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kumimoji="1" lang="en" altLang="zh-CN" sz="105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" altLang="zh-CN" sz="1050" i="1">
                              <a:latin typeface="Cambria Math" panose="02040503050406030204" pitchFamily="18" charset="0"/>
                            </a:rPr>
                            <m:t>𝑚𝑖𝑥</m:t>
                          </m:r>
                        </m:sub>
                      </m:sSub>
                      <m:r>
                        <a:rPr kumimoji="1" lang="en" altLang="zh-CN" sz="105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" altLang="zh-CN" sz="105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kumimoji="1" lang="en" altLang="zh-CN" sz="105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kumimoji="1" lang="en" altLang="zh-CN" sz="105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kumimoji="1" lang="en" altLang="zh-CN" sz="105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kumimoji="1" lang="en" altLang="zh-CN" sz="105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kumimoji="1" lang="en-US" altLang="zh-CN" sz="105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nary>
                          <m:sSub>
                            <m:sSubPr>
                              <m:ctrlPr>
                                <a:rPr kumimoji="1" lang="en" altLang="zh-CN" sz="105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" altLang="zh-CN" sz="105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kumimoji="1" lang="en" altLang="zh-CN" sz="105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1" lang="en" altLang="zh-CN" sz="105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" altLang="zh-CN" sz="105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kumimoji="1" lang="en" altLang="zh-CN" sz="1050" i="1">
                                  <a:latin typeface="Cambria Math" panose="02040503050406030204" pitchFamily="18" charset="0"/>
                                </a:rPr>
                                <m:t>𝑤𝑖</m:t>
                              </m:r>
                            </m:sub>
                          </m:sSub>
                        </m:num>
                        <m:den>
                          <m:nary>
                            <m:naryPr>
                              <m:chr m:val="∑"/>
                              <m:ctrlPr>
                                <a:rPr kumimoji="1" lang="en" altLang="zh-CN" sz="105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kumimoji="1" lang="en" altLang="zh-CN" sz="105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kumimoji="1" lang="en" altLang="zh-CN" sz="105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kumimoji="1" lang="en" altLang="zh-CN" sz="105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kumimoji="1" lang="en-US" altLang="zh-CN" sz="105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nary>
                          <m:sSub>
                            <m:sSubPr>
                              <m:ctrlPr>
                                <a:rPr kumimoji="1" lang="en" altLang="zh-CN" sz="105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" altLang="zh-CN" sz="105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kumimoji="1" lang="en" altLang="zh-CN" sz="105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kumimoji="1" lang="en-US" altLang="zh-CN" sz="105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zh-CN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黏度法估算 Mw 公式</a:t>
                </a:r>
                <a:r>
                  <a:rPr lang="en-US" altLang="zh-CN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:</a:t>
                </a:r>
              </a:p>
              <a:p>
                <a:endParaRPr kumimoji="1" lang="en-US" altLang="zh-CN" sz="105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kumimoji="1" lang="el-GR" altLang="zh-CN" sz="105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l-GR" altLang="zh-CN" sz="1050" i="1"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</m:d>
                      <m:r>
                        <a:rPr kumimoji="1" lang="el-GR" altLang="zh-CN" sz="105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105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kumimoji="1" lang="en-US" altLang="zh-CN" sz="1050" i="1">
                          <a:latin typeface="Cambria Math" panose="02040503050406030204" pitchFamily="18" charset="0"/>
                        </a:rPr>
                        <m:t>×</m:t>
                      </m:r>
                      <m:sSubSup>
                        <m:sSubSupPr>
                          <m:ctrlPr>
                            <a:rPr kumimoji="1" lang="en-US" altLang="zh-CN" sz="105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sz="1050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kumimoji="1" lang="en-US" altLang="zh-CN" sz="1050" i="1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  <m:sup>
                          <m:r>
                            <a:rPr kumimoji="1" lang="en-US" altLang="zh-CN" sz="1050" i="1"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</m:sSubSup>
                    </m:oMath>
                  </m:oMathPara>
                </a14:m>
                <a:endParaRPr kumimoji="1" lang="en-US" altLang="zh-CN" sz="105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zh-CN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有效干基重量公式</a:t>
                </a:r>
                <a:endPara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0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5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zh-CN" sz="105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sz="105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zh-CN" sz="1050" i="1">
                              <a:latin typeface="Cambria Math" panose="02040503050406030204" pitchFamily="18" charset="0"/>
                            </a:rPr>
                            <m:t>𝑒𝑓𝑓</m:t>
                          </m:r>
                        </m:sub>
                      </m:sSub>
                      <m:r>
                        <a:rPr kumimoji="1" lang="en-US" altLang="zh-CN" sz="105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zh-CN" sz="10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5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zh-CN" sz="105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kumimoji="1" lang="en-US" altLang="zh-CN" sz="1050" i="1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kumimoji="1" lang="en-US" altLang="zh-CN" sz="10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5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kumimoji="1" lang="en-US" altLang="zh-CN" sz="105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kumimoji="1" lang="en-US" altLang="zh-CN" sz="105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endParaRPr kumimoji="1" lang="en-US" altLang="zh-CN" sz="105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017FDDCA-16AB-B5C5-7876-E844FD1B4F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3082" y="3654614"/>
                <a:ext cx="4513142" cy="1660134"/>
              </a:xfrm>
              <a:prstGeom prst="rect">
                <a:avLst/>
              </a:prstGeom>
              <a:blipFill>
                <a:blip r:embed="rId6"/>
                <a:stretch>
                  <a:fillRect l="-2429" t="-5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Group 8">
            <a:extLst>
              <a:ext uri="{FF2B5EF4-FFF2-40B4-BE49-F238E27FC236}">
                <a16:creationId xmlns:a16="http://schemas.microsoft.com/office/drawing/2014/main" id="{D22B80C0-4AB7-668F-26D8-707ED8876E99}"/>
              </a:ext>
            </a:extLst>
          </p:cNvPr>
          <p:cNvGrpSpPr>
            <a:grpSpLocks/>
          </p:cNvGrpSpPr>
          <p:nvPr/>
        </p:nvGrpSpPr>
        <p:grpSpPr bwMode="auto">
          <a:xfrm>
            <a:off x="7352791" y="5544767"/>
            <a:ext cx="4513143" cy="276225"/>
            <a:chOff x="1306" y="1587"/>
            <a:chExt cx="1442" cy="174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18" name="Rectangle 9">
              <a:extLst>
                <a:ext uri="{FF2B5EF4-FFF2-40B4-BE49-F238E27FC236}">
                  <a16:creationId xmlns:a16="http://schemas.microsoft.com/office/drawing/2014/main" id="{D6481C4A-ACFE-A5EE-2910-FDEA8639E3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6" y="1611"/>
              <a:ext cx="1442" cy="126"/>
            </a:xfrm>
            <a:prstGeom prst="rect">
              <a:avLst/>
            </a:prstGeom>
            <a:grpFill/>
            <a:ln>
              <a:noFill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63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Text Box 10">
              <a:extLst>
                <a:ext uri="{FF2B5EF4-FFF2-40B4-BE49-F238E27FC236}">
                  <a16:creationId xmlns:a16="http://schemas.microsoft.com/office/drawing/2014/main" id="{06A777AA-1D99-D85A-DC98-F19C5D1286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12" y="1587"/>
              <a:ext cx="1231" cy="174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63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>
              <a:lvl1pPr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1800" b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AI</a:t>
              </a:r>
              <a:r>
                <a:rPr lang="zh-CN" altLang="en-US" sz="1800" b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赋能</a:t>
              </a:r>
            </a:p>
          </p:txBody>
        </p:sp>
      </p:grpSp>
      <p:sp>
        <p:nvSpPr>
          <p:cNvPr id="21" name="Rectangle 11">
            <a:extLst>
              <a:ext uri="{FF2B5EF4-FFF2-40B4-BE49-F238E27FC236}">
                <a16:creationId xmlns:a16="http://schemas.microsoft.com/office/drawing/2014/main" id="{AFCA055C-6AE2-F3F8-A79D-1D4253C9DC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73082" y="5975651"/>
            <a:ext cx="4513143" cy="753061"/>
          </a:xfrm>
          <a:prstGeom prst="rect">
            <a:avLst/>
          </a:prstGeom>
          <a:noFill/>
          <a:ln w="63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zh-CN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公式后台代码化，AI自动计算复配结果并校正偏差，输出推荐</a:t>
            </a:r>
            <a:endParaRPr lang="en-US" altLang="zh-CN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zh-CN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复配比例、预测Mw、理论产出和质量风险提示。</a:t>
            </a:r>
            <a:endParaRPr lang="zh-CN" altLang="en-US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AutoShape 18">
            <a:extLst>
              <a:ext uri="{FF2B5EF4-FFF2-40B4-BE49-F238E27FC236}">
                <a16:creationId xmlns:a16="http://schemas.microsoft.com/office/drawing/2014/main" id="{052F04A9-644D-FE62-5969-09DC13D9F84B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7450361" y="2878227"/>
            <a:ext cx="4318000" cy="203200"/>
          </a:xfrm>
          <a:prstGeom prst="triangle">
            <a:avLst>
              <a:gd name="adj" fmla="val 50000"/>
            </a:avLst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3774451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A7430E5-F081-B3B1-0543-4D7619C34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9D85C5F8-62AC-8D59-DEDC-2688C2A9D77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1845763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3" progId="TCLayout.ActiveDocument.1">
                  <p:embed/>
                </p:oleObj>
              </mc:Choice>
              <mc:Fallback>
                <p:oleObj name="think-cell Slide" r:id="rId4" imgW="473" imgH="473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D85C5F8-62AC-8D59-DEDC-2688C2A9D77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0">
            <a:extLst>
              <a:ext uri="{FF2B5EF4-FFF2-40B4-BE49-F238E27FC236}">
                <a16:creationId xmlns:a16="http://schemas.microsoft.com/office/drawing/2014/main" id="{90C17403-FF11-F3C1-8FCF-08B9AAEC44A4}"/>
              </a:ext>
            </a:extLst>
          </p:cNvPr>
          <p:cNvSpPr/>
          <p:nvPr/>
        </p:nvSpPr>
        <p:spPr>
          <a:xfrm>
            <a:off x="502920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2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骨明胶生产工艺</a:t>
            </a:r>
            <a:endParaRPr lang="en-US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A61A8C0-FB7E-7B53-B3BA-C9753151FF69}"/>
              </a:ext>
            </a:extLst>
          </p:cNvPr>
          <p:cNvSpPr/>
          <p:nvPr/>
        </p:nvSpPr>
        <p:spPr>
          <a:xfrm>
            <a:off x="521208" y="841248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凝胶是问题显现点，但上游工艺参数共同决定分子量与最终产出</a:t>
            </a:r>
            <a:endParaRPr lang="en-US" sz="88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860ECB4-4EB2-3416-DA8E-21830B6AAC36}"/>
              </a:ext>
            </a:extLst>
          </p:cNvPr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2" name="Text 4">
            <a:extLst>
              <a:ext uri="{FF2B5EF4-FFF2-40B4-BE49-F238E27FC236}">
                <a16:creationId xmlns:a16="http://schemas.microsoft.com/office/drawing/2014/main" id="{CA5B564C-A304-39B7-D3FD-C1FB63B20714}"/>
              </a:ext>
            </a:extLst>
          </p:cNvPr>
          <p:cNvSpPr/>
          <p:nvPr/>
        </p:nvSpPr>
        <p:spPr>
          <a:xfrm>
            <a:off x="2428890" y="1239642"/>
            <a:ext cx="1275278" cy="237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端到端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工艺流程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3" name="Text 4">
            <a:extLst>
              <a:ext uri="{FF2B5EF4-FFF2-40B4-BE49-F238E27FC236}">
                <a16:creationId xmlns:a16="http://schemas.microsoft.com/office/drawing/2014/main" id="{B4835C1E-0308-8ECB-AC59-0D4BD9FA7E65}"/>
              </a:ext>
            </a:extLst>
          </p:cNvPr>
          <p:cNvSpPr/>
          <p:nvPr/>
        </p:nvSpPr>
        <p:spPr>
          <a:xfrm>
            <a:off x="835410" y="1295147"/>
            <a:ext cx="1275278" cy="237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输入</a:t>
            </a:r>
            <a:endParaRPr 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4" name="Text 4">
            <a:extLst>
              <a:ext uri="{FF2B5EF4-FFF2-40B4-BE49-F238E27FC236}">
                <a16:creationId xmlns:a16="http://schemas.microsoft.com/office/drawing/2014/main" id="{617F6C50-A601-959B-787E-4DAA30F7F25F}"/>
              </a:ext>
            </a:extLst>
          </p:cNvPr>
          <p:cNvSpPr/>
          <p:nvPr/>
        </p:nvSpPr>
        <p:spPr>
          <a:xfrm>
            <a:off x="4272689" y="1295147"/>
            <a:ext cx="1275278" cy="237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4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输出</a:t>
            </a: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5" name="Text 4">
            <a:extLst>
              <a:ext uri="{FF2B5EF4-FFF2-40B4-BE49-F238E27FC236}">
                <a16:creationId xmlns:a16="http://schemas.microsoft.com/office/drawing/2014/main" id="{61AC7528-0143-0162-0B5C-8AF07933EB17}"/>
              </a:ext>
            </a:extLst>
          </p:cNvPr>
          <p:cNvSpPr/>
          <p:nvPr/>
        </p:nvSpPr>
        <p:spPr>
          <a:xfrm>
            <a:off x="8661809" y="1295147"/>
            <a:ext cx="1275278" cy="237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现状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  <a:endParaRPr 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五边形 31">
            <a:extLst>
              <a:ext uri="{FF2B5EF4-FFF2-40B4-BE49-F238E27FC236}">
                <a16:creationId xmlns:a16="http://schemas.microsoft.com/office/drawing/2014/main" id="{B64E0508-CB48-474D-B698-FFAEFD951E0A}"/>
              </a:ext>
            </a:extLst>
          </p:cNvPr>
          <p:cNvSpPr/>
          <p:nvPr/>
        </p:nvSpPr>
        <p:spPr>
          <a:xfrm>
            <a:off x="502920" y="1590658"/>
            <a:ext cx="6354636" cy="638117"/>
          </a:xfrm>
          <a:prstGeom prst="homePlat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7AF98478-5F38-EE4F-8465-F628D6E38FEB}"/>
              </a:ext>
            </a:extLst>
          </p:cNvPr>
          <p:cNvGrpSpPr/>
          <p:nvPr/>
        </p:nvGrpSpPr>
        <p:grpSpPr>
          <a:xfrm>
            <a:off x="2491060" y="1595328"/>
            <a:ext cx="1150938" cy="695244"/>
            <a:chOff x="2491060" y="1591876"/>
            <a:chExt cx="1150938" cy="695244"/>
          </a:xfrm>
        </p:grpSpPr>
        <p:sp>
          <p:nvSpPr>
            <p:cNvPr id="65" name="AutoShape 15">
              <a:extLst>
                <a:ext uri="{FF2B5EF4-FFF2-40B4-BE49-F238E27FC236}">
                  <a16:creationId xmlns:a16="http://schemas.microsoft.com/office/drawing/2014/main" id="{AA9A22E3-C5EB-E715-E3DF-C85EB5BF0D0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743200" y="1815014"/>
              <a:ext cx="646332" cy="200055"/>
            </a:xfrm>
            <a:prstGeom prst="homePlate">
              <a:avLst>
                <a:gd name="adj" fmla="val 9936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outerShdw dist="35921" dir="2700000" algn="ctr" rotWithShape="0">
                <a:schemeClr val="hlink"/>
              </a:outerShdw>
            </a:effectLst>
          </p:spPr>
          <p:txBody>
            <a:bodyPr wrap="square" lIns="0" tIns="0" rIns="0" bIns="0" anchor="ctr">
              <a:spAutoFit/>
            </a:bodyPr>
            <a:lstStyle>
              <a:lvl1pPr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7" name="文本框 86">
              <a:extLst>
                <a:ext uri="{FF2B5EF4-FFF2-40B4-BE49-F238E27FC236}">
                  <a16:creationId xmlns:a16="http://schemas.microsoft.com/office/drawing/2014/main" id="{349D104D-C4B5-1D61-FF0D-3097C90C597A}"/>
                </a:ext>
              </a:extLst>
            </p:cNvPr>
            <p:cNvSpPr txBox="1"/>
            <p:nvPr/>
          </p:nvSpPr>
          <p:spPr>
            <a:xfrm>
              <a:off x="2491060" y="1640789"/>
              <a:ext cx="1150938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b="1" dirty="0" err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CJK SC" pitchFamily="34" charset="-120"/>
                </a:rPr>
                <a:t>原料预</a:t>
              </a:r>
              <a:endParaRPr lang="en-US" altLang="zh-CN" sz="1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endParaRPr>
            </a:p>
            <a:p>
              <a:pPr algn="ctr"/>
              <a:r>
                <a:rPr lang="en-US" altLang="zh-CN" sz="1800" b="1" dirty="0" err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CJK SC" pitchFamily="34" charset="-120"/>
                </a:rPr>
                <a:t>处理</a:t>
              </a:r>
              <a:endParaRPr lang="en-US" altLang="zh-CN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98" name="组合 97">
            <a:extLst>
              <a:ext uri="{FF2B5EF4-FFF2-40B4-BE49-F238E27FC236}">
                <a16:creationId xmlns:a16="http://schemas.microsoft.com/office/drawing/2014/main" id="{095DD252-BB05-3BA9-D09F-C640F54234AF}"/>
              </a:ext>
            </a:extLst>
          </p:cNvPr>
          <p:cNvGrpSpPr/>
          <p:nvPr/>
        </p:nvGrpSpPr>
        <p:grpSpPr>
          <a:xfrm>
            <a:off x="521208" y="2287119"/>
            <a:ext cx="6336348" cy="648279"/>
            <a:chOff x="521208" y="1590659"/>
            <a:chExt cx="6336348" cy="648279"/>
          </a:xfrm>
        </p:grpSpPr>
        <p:sp>
          <p:nvSpPr>
            <p:cNvPr id="99" name="AutoShape 15">
              <a:extLst>
                <a:ext uri="{FF2B5EF4-FFF2-40B4-BE49-F238E27FC236}">
                  <a16:creationId xmlns:a16="http://schemas.microsoft.com/office/drawing/2014/main" id="{7D9BF53C-0FCF-2156-D5E7-4B9C7C6B24A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743200" y="1815744"/>
              <a:ext cx="646332" cy="200055"/>
            </a:xfrm>
            <a:prstGeom prst="homePlate">
              <a:avLst>
                <a:gd name="adj" fmla="val 9936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outerShdw dist="35921" dir="2700000" algn="ctr" rotWithShape="0">
                <a:schemeClr val="hlink"/>
              </a:outerShdw>
            </a:effectLst>
          </p:spPr>
          <p:txBody>
            <a:bodyPr wrap="square" lIns="0" tIns="0" rIns="0" bIns="0" anchor="ctr">
              <a:spAutoFit/>
            </a:bodyPr>
            <a:lstStyle>
              <a:lvl1pPr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00" name="组合 99">
              <a:extLst>
                <a:ext uri="{FF2B5EF4-FFF2-40B4-BE49-F238E27FC236}">
                  <a16:creationId xmlns:a16="http://schemas.microsoft.com/office/drawing/2014/main" id="{10BCC173-B55C-5BD9-EA9C-27B591AD4F16}"/>
                </a:ext>
              </a:extLst>
            </p:cNvPr>
            <p:cNvGrpSpPr/>
            <p:nvPr/>
          </p:nvGrpSpPr>
          <p:grpSpPr>
            <a:xfrm>
              <a:off x="521208" y="1590659"/>
              <a:ext cx="6336348" cy="638117"/>
              <a:chOff x="521208" y="1590659"/>
              <a:chExt cx="6336348" cy="638117"/>
            </a:xfrm>
          </p:grpSpPr>
          <p:sp>
            <p:nvSpPr>
              <p:cNvPr id="101" name="五边形 100">
                <a:extLst>
                  <a:ext uri="{FF2B5EF4-FFF2-40B4-BE49-F238E27FC236}">
                    <a16:creationId xmlns:a16="http://schemas.microsoft.com/office/drawing/2014/main" id="{52636A76-E5D3-1C6F-7501-737843EA5D6E}"/>
                  </a:ext>
                </a:extLst>
              </p:cNvPr>
              <p:cNvSpPr/>
              <p:nvPr/>
            </p:nvSpPr>
            <p:spPr>
              <a:xfrm>
                <a:off x="521208" y="1590659"/>
                <a:ext cx="6336348" cy="638117"/>
              </a:xfrm>
              <a:prstGeom prst="homePlat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3" name="文本框 102">
                <a:extLst>
                  <a:ext uri="{FF2B5EF4-FFF2-40B4-BE49-F238E27FC236}">
                    <a16:creationId xmlns:a16="http://schemas.microsoft.com/office/drawing/2014/main" id="{DC192D55-7D9F-F3E8-F132-115418DB2831}"/>
                  </a:ext>
                </a:extLst>
              </p:cNvPr>
              <p:cNvSpPr txBox="1"/>
              <p:nvPr/>
            </p:nvSpPr>
            <p:spPr>
              <a:xfrm>
                <a:off x="2491060" y="1726778"/>
                <a:ext cx="115093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zh-CN" b="1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Noto Sans CJK SC" pitchFamily="34" charset="-120"/>
                  </a:rPr>
                  <a:t>浸灰水解</a:t>
                </a:r>
                <a:endPara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104" name="组合 103">
            <a:extLst>
              <a:ext uri="{FF2B5EF4-FFF2-40B4-BE49-F238E27FC236}">
                <a16:creationId xmlns:a16="http://schemas.microsoft.com/office/drawing/2014/main" id="{58A7EB3F-BCAD-2DE0-3129-083ECCA17E09}"/>
              </a:ext>
            </a:extLst>
          </p:cNvPr>
          <p:cNvGrpSpPr/>
          <p:nvPr/>
        </p:nvGrpSpPr>
        <p:grpSpPr>
          <a:xfrm>
            <a:off x="521208" y="3001822"/>
            <a:ext cx="6336348" cy="647951"/>
            <a:chOff x="521208" y="1590659"/>
            <a:chExt cx="6336348" cy="647951"/>
          </a:xfrm>
        </p:grpSpPr>
        <p:sp>
          <p:nvSpPr>
            <p:cNvPr id="105" name="AutoShape 15">
              <a:extLst>
                <a:ext uri="{FF2B5EF4-FFF2-40B4-BE49-F238E27FC236}">
                  <a16:creationId xmlns:a16="http://schemas.microsoft.com/office/drawing/2014/main" id="{982E7060-35D9-60FC-9F0C-1DBA2DEAAFC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743200" y="1815416"/>
              <a:ext cx="646332" cy="200055"/>
            </a:xfrm>
            <a:prstGeom prst="homePlate">
              <a:avLst>
                <a:gd name="adj" fmla="val 9936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outerShdw dist="35921" dir="2700000" algn="ctr" rotWithShape="0">
                <a:schemeClr val="hlink"/>
              </a:outerShdw>
            </a:effectLst>
          </p:spPr>
          <p:txBody>
            <a:bodyPr wrap="square" lIns="0" tIns="0" rIns="0" bIns="0" anchor="ctr">
              <a:spAutoFit/>
            </a:bodyPr>
            <a:lstStyle>
              <a:lvl1pPr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06" name="组合 105">
              <a:extLst>
                <a:ext uri="{FF2B5EF4-FFF2-40B4-BE49-F238E27FC236}">
                  <a16:creationId xmlns:a16="http://schemas.microsoft.com/office/drawing/2014/main" id="{8EC71A69-B28D-770A-A26E-6D6052AAF0F5}"/>
                </a:ext>
              </a:extLst>
            </p:cNvPr>
            <p:cNvGrpSpPr/>
            <p:nvPr/>
          </p:nvGrpSpPr>
          <p:grpSpPr>
            <a:xfrm>
              <a:off x="521208" y="1590659"/>
              <a:ext cx="6336348" cy="638117"/>
              <a:chOff x="521208" y="1590659"/>
              <a:chExt cx="6336348" cy="638117"/>
            </a:xfrm>
          </p:grpSpPr>
          <p:sp>
            <p:nvSpPr>
              <p:cNvPr id="107" name="五边形 106">
                <a:extLst>
                  <a:ext uri="{FF2B5EF4-FFF2-40B4-BE49-F238E27FC236}">
                    <a16:creationId xmlns:a16="http://schemas.microsoft.com/office/drawing/2014/main" id="{5D913797-9EE5-C861-0D59-A202774E7480}"/>
                  </a:ext>
                </a:extLst>
              </p:cNvPr>
              <p:cNvSpPr/>
              <p:nvPr/>
            </p:nvSpPr>
            <p:spPr>
              <a:xfrm>
                <a:off x="521208" y="1590659"/>
                <a:ext cx="6336348" cy="638117"/>
              </a:xfrm>
              <a:prstGeom prst="homePlat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9" name="文本框 108">
                <a:extLst>
                  <a:ext uri="{FF2B5EF4-FFF2-40B4-BE49-F238E27FC236}">
                    <a16:creationId xmlns:a16="http://schemas.microsoft.com/office/drawing/2014/main" id="{9ACAE52C-79FF-9CF2-82E7-72A531C1F1B9}"/>
                  </a:ext>
                </a:extLst>
              </p:cNvPr>
              <p:cNvSpPr txBox="1"/>
              <p:nvPr/>
            </p:nvSpPr>
            <p:spPr>
              <a:xfrm>
                <a:off x="2491060" y="1727168"/>
                <a:ext cx="115093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b="1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Noto Sans CJK SC" pitchFamily="34" charset="-120"/>
                  </a:rPr>
                  <a:t>中和水洗</a:t>
                </a:r>
                <a:endPara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110" name="组合 109">
            <a:extLst>
              <a:ext uri="{FF2B5EF4-FFF2-40B4-BE49-F238E27FC236}">
                <a16:creationId xmlns:a16="http://schemas.microsoft.com/office/drawing/2014/main" id="{D88141B7-72F7-3256-0B13-118E50B60190}"/>
              </a:ext>
            </a:extLst>
          </p:cNvPr>
          <p:cNvGrpSpPr/>
          <p:nvPr/>
        </p:nvGrpSpPr>
        <p:grpSpPr>
          <a:xfrm>
            <a:off x="521208" y="3716525"/>
            <a:ext cx="6336348" cy="647623"/>
            <a:chOff x="521208" y="1590659"/>
            <a:chExt cx="6336348" cy="647623"/>
          </a:xfrm>
        </p:grpSpPr>
        <p:sp>
          <p:nvSpPr>
            <p:cNvPr id="111" name="AutoShape 15">
              <a:extLst>
                <a:ext uri="{FF2B5EF4-FFF2-40B4-BE49-F238E27FC236}">
                  <a16:creationId xmlns:a16="http://schemas.microsoft.com/office/drawing/2014/main" id="{AD6B1A7A-EBB3-9607-97D9-E279A1296C9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743200" y="1815088"/>
              <a:ext cx="646332" cy="200055"/>
            </a:xfrm>
            <a:prstGeom prst="homePlate">
              <a:avLst>
                <a:gd name="adj" fmla="val 9936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outerShdw dist="35921" dir="2700000" algn="ctr" rotWithShape="0">
                <a:schemeClr val="hlink"/>
              </a:outerShdw>
            </a:effectLst>
          </p:spPr>
          <p:txBody>
            <a:bodyPr wrap="square" lIns="0" tIns="0" rIns="0" bIns="0" anchor="ctr">
              <a:spAutoFit/>
            </a:bodyPr>
            <a:lstStyle>
              <a:lvl1pPr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2" name="组合 111">
              <a:extLst>
                <a:ext uri="{FF2B5EF4-FFF2-40B4-BE49-F238E27FC236}">
                  <a16:creationId xmlns:a16="http://schemas.microsoft.com/office/drawing/2014/main" id="{02E8B9C7-6375-039A-C51E-ABA9F585ADC5}"/>
                </a:ext>
              </a:extLst>
            </p:cNvPr>
            <p:cNvGrpSpPr/>
            <p:nvPr/>
          </p:nvGrpSpPr>
          <p:grpSpPr>
            <a:xfrm>
              <a:off x="521208" y="1590659"/>
              <a:ext cx="6336348" cy="638117"/>
              <a:chOff x="521208" y="1590659"/>
              <a:chExt cx="6336348" cy="638117"/>
            </a:xfrm>
          </p:grpSpPr>
          <p:sp>
            <p:nvSpPr>
              <p:cNvPr id="113" name="五边形 112">
                <a:extLst>
                  <a:ext uri="{FF2B5EF4-FFF2-40B4-BE49-F238E27FC236}">
                    <a16:creationId xmlns:a16="http://schemas.microsoft.com/office/drawing/2014/main" id="{FAFD99D6-4662-A57F-04F5-24B719C7D702}"/>
                  </a:ext>
                </a:extLst>
              </p:cNvPr>
              <p:cNvSpPr/>
              <p:nvPr/>
            </p:nvSpPr>
            <p:spPr>
              <a:xfrm>
                <a:off x="521208" y="1590659"/>
                <a:ext cx="6336348" cy="638117"/>
              </a:xfrm>
              <a:prstGeom prst="homePlat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5" name="文本框 114">
                <a:extLst>
                  <a:ext uri="{FF2B5EF4-FFF2-40B4-BE49-F238E27FC236}">
                    <a16:creationId xmlns:a16="http://schemas.microsoft.com/office/drawing/2014/main" id="{FFD9224F-016B-3859-4EE4-87FC41D501F2}"/>
                  </a:ext>
                </a:extLst>
              </p:cNvPr>
              <p:cNvSpPr txBox="1"/>
              <p:nvPr/>
            </p:nvSpPr>
            <p:spPr>
              <a:xfrm>
                <a:off x="2491060" y="1725051"/>
                <a:ext cx="115093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b="1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Noto Sans CJK SC" pitchFamily="34" charset="-120"/>
                  </a:rPr>
                  <a:t>分段提胶</a:t>
                </a:r>
                <a:endPara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116" name="组合 115">
            <a:extLst>
              <a:ext uri="{FF2B5EF4-FFF2-40B4-BE49-F238E27FC236}">
                <a16:creationId xmlns:a16="http://schemas.microsoft.com/office/drawing/2014/main" id="{593CE574-A4D3-D5A6-6DA4-CDD394DF0DB8}"/>
              </a:ext>
            </a:extLst>
          </p:cNvPr>
          <p:cNvGrpSpPr/>
          <p:nvPr/>
        </p:nvGrpSpPr>
        <p:grpSpPr>
          <a:xfrm>
            <a:off x="521208" y="4431228"/>
            <a:ext cx="6336348" cy="647295"/>
            <a:chOff x="521208" y="1590659"/>
            <a:chExt cx="6336348" cy="647295"/>
          </a:xfrm>
        </p:grpSpPr>
        <p:sp>
          <p:nvSpPr>
            <p:cNvPr id="117" name="AutoShape 15">
              <a:extLst>
                <a:ext uri="{FF2B5EF4-FFF2-40B4-BE49-F238E27FC236}">
                  <a16:creationId xmlns:a16="http://schemas.microsoft.com/office/drawing/2014/main" id="{51A320DE-FBD5-24E1-CB37-E2BA7EE293C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743200" y="1814760"/>
              <a:ext cx="646332" cy="200055"/>
            </a:xfrm>
            <a:prstGeom prst="homePlate">
              <a:avLst>
                <a:gd name="adj" fmla="val 9936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outerShdw dist="35921" dir="2700000" algn="ctr" rotWithShape="0">
                <a:schemeClr val="hlink"/>
              </a:outerShdw>
            </a:effectLst>
          </p:spPr>
          <p:txBody>
            <a:bodyPr wrap="square" lIns="0" tIns="0" rIns="0" bIns="0" anchor="ctr">
              <a:spAutoFit/>
            </a:bodyPr>
            <a:lstStyle>
              <a:lvl1pPr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8" name="组合 117">
              <a:extLst>
                <a:ext uri="{FF2B5EF4-FFF2-40B4-BE49-F238E27FC236}">
                  <a16:creationId xmlns:a16="http://schemas.microsoft.com/office/drawing/2014/main" id="{E3DC0BB1-AF65-E7F8-1639-5E533B811EDD}"/>
                </a:ext>
              </a:extLst>
            </p:cNvPr>
            <p:cNvGrpSpPr/>
            <p:nvPr/>
          </p:nvGrpSpPr>
          <p:grpSpPr>
            <a:xfrm>
              <a:off x="521208" y="1590659"/>
              <a:ext cx="6336348" cy="638117"/>
              <a:chOff x="521208" y="1590659"/>
              <a:chExt cx="6336348" cy="638117"/>
            </a:xfrm>
          </p:grpSpPr>
          <p:sp>
            <p:nvSpPr>
              <p:cNvPr id="119" name="五边形 118">
                <a:extLst>
                  <a:ext uri="{FF2B5EF4-FFF2-40B4-BE49-F238E27FC236}">
                    <a16:creationId xmlns:a16="http://schemas.microsoft.com/office/drawing/2014/main" id="{914BD126-8065-9CA4-642B-58F382943022}"/>
                  </a:ext>
                </a:extLst>
              </p:cNvPr>
              <p:cNvSpPr/>
              <p:nvPr/>
            </p:nvSpPr>
            <p:spPr>
              <a:xfrm>
                <a:off x="521208" y="1590659"/>
                <a:ext cx="6336348" cy="638117"/>
              </a:xfrm>
              <a:prstGeom prst="homePlat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1" name="文本框 120">
                <a:extLst>
                  <a:ext uri="{FF2B5EF4-FFF2-40B4-BE49-F238E27FC236}">
                    <a16:creationId xmlns:a16="http://schemas.microsoft.com/office/drawing/2014/main" id="{C74116F7-D8ED-87B9-C6BF-D3AFEBA5A6E2}"/>
                  </a:ext>
                </a:extLst>
              </p:cNvPr>
              <p:cNvSpPr txBox="1"/>
              <p:nvPr/>
            </p:nvSpPr>
            <p:spPr>
              <a:xfrm>
                <a:off x="2491060" y="1725051"/>
                <a:ext cx="115093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b="1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Noto Sans CJK SC" pitchFamily="34" charset="-120"/>
                  </a:rPr>
                  <a:t>浓缩复配</a:t>
                </a:r>
                <a:endPara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122" name="组合 121">
            <a:extLst>
              <a:ext uri="{FF2B5EF4-FFF2-40B4-BE49-F238E27FC236}">
                <a16:creationId xmlns:a16="http://schemas.microsoft.com/office/drawing/2014/main" id="{FCAE6609-FFC7-E7A0-46DB-3C3E8A80D792}"/>
              </a:ext>
            </a:extLst>
          </p:cNvPr>
          <p:cNvGrpSpPr/>
          <p:nvPr/>
        </p:nvGrpSpPr>
        <p:grpSpPr>
          <a:xfrm>
            <a:off x="521208" y="5124912"/>
            <a:ext cx="6336348" cy="647348"/>
            <a:chOff x="521208" y="1590659"/>
            <a:chExt cx="6336348" cy="647348"/>
          </a:xfrm>
        </p:grpSpPr>
        <p:sp>
          <p:nvSpPr>
            <p:cNvPr id="123" name="AutoShape 15">
              <a:extLst>
                <a:ext uri="{FF2B5EF4-FFF2-40B4-BE49-F238E27FC236}">
                  <a16:creationId xmlns:a16="http://schemas.microsoft.com/office/drawing/2014/main" id="{C4D6E398-77A5-14F6-C4AC-7D4B7067745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743200" y="1814813"/>
              <a:ext cx="646332" cy="200055"/>
            </a:xfrm>
            <a:prstGeom prst="homePlate">
              <a:avLst>
                <a:gd name="adj" fmla="val 9936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outerShdw dist="35921" dir="2700000" algn="ctr" rotWithShape="0">
                <a:schemeClr val="hlink"/>
              </a:outerShdw>
            </a:effectLst>
          </p:spPr>
          <p:txBody>
            <a:bodyPr wrap="square" lIns="0" tIns="0" rIns="0" bIns="0" anchor="ctr">
              <a:spAutoFit/>
            </a:bodyPr>
            <a:lstStyle>
              <a:lvl1pPr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24" name="组合 123">
              <a:extLst>
                <a:ext uri="{FF2B5EF4-FFF2-40B4-BE49-F238E27FC236}">
                  <a16:creationId xmlns:a16="http://schemas.microsoft.com/office/drawing/2014/main" id="{2419E007-68E3-6DDD-66F8-3D2910EC2776}"/>
                </a:ext>
              </a:extLst>
            </p:cNvPr>
            <p:cNvGrpSpPr/>
            <p:nvPr/>
          </p:nvGrpSpPr>
          <p:grpSpPr>
            <a:xfrm>
              <a:off x="521208" y="1590659"/>
              <a:ext cx="6336348" cy="638117"/>
              <a:chOff x="521208" y="1590659"/>
              <a:chExt cx="6336348" cy="638117"/>
            </a:xfrm>
          </p:grpSpPr>
          <p:sp>
            <p:nvSpPr>
              <p:cNvPr id="125" name="五边形 124">
                <a:extLst>
                  <a:ext uri="{FF2B5EF4-FFF2-40B4-BE49-F238E27FC236}">
                    <a16:creationId xmlns:a16="http://schemas.microsoft.com/office/drawing/2014/main" id="{32DFDCF3-4E99-96B3-CE84-973677CF2FA9}"/>
                  </a:ext>
                </a:extLst>
              </p:cNvPr>
              <p:cNvSpPr/>
              <p:nvPr/>
            </p:nvSpPr>
            <p:spPr>
              <a:xfrm>
                <a:off x="521208" y="1590659"/>
                <a:ext cx="6336348" cy="638117"/>
              </a:xfrm>
              <a:prstGeom prst="homePlat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7" name="文本框 126">
                <a:extLst>
                  <a:ext uri="{FF2B5EF4-FFF2-40B4-BE49-F238E27FC236}">
                    <a16:creationId xmlns:a16="http://schemas.microsoft.com/office/drawing/2014/main" id="{DE11BD21-FEE3-2DBD-5063-AB852BA22315}"/>
                  </a:ext>
                </a:extLst>
              </p:cNvPr>
              <p:cNvSpPr txBox="1"/>
              <p:nvPr/>
            </p:nvSpPr>
            <p:spPr>
              <a:xfrm>
                <a:off x="2491060" y="1725051"/>
                <a:ext cx="115093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b="1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Noto Sans CJK SC" pitchFamily="34" charset="-120"/>
                  </a:rPr>
                  <a:t>凝胶干燥</a:t>
                </a:r>
                <a:endPara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128" name="组合 127">
            <a:extLst>
              <a:ext uri="{FF2B5EF4-FFF2-40B4-BE49-F238E27FC236}">
                <a16:creationId xmlns:a16="http://schemas.microsoft.com/office/drawing/2014/main" id="{A8F101BF-C732-8A2C-A306-5FC65054EE93}"/>
              </a:ext>
            </a:extLst>
          </p:cNvPr>
          <p:cNvGrpSpPr/>
          <p:nvPr/>
        </p:nvGrpSpPr>
        <p:grpSpPr>
          <a:xfrm>
            <a:off x="521208" y="5860636"/>
            <a:ext cx="6336348" cy="648224"/>
            <a:chOff x="521208" y="1590659"/>
            <a:chExt cx="6336348" cy="648224"/>
          </a:xfrm>
        </p:grpSpPr>
        <p:sp>
          <p:nvSpPr>
            <p:cNvPr id="129" name="AutoShape 15">
              <a:extLst>
                <a:ext uri="{FF2B5EF4-FFF2-40B4-BE49-F238E27FC236}">
                  <a16:creationId xmlns:a16="http://schemas.microsoft.com/office/drawing/2014/main" id="{CBBC3119-016F-6F12-9E2E-E3232652978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743200" y="1815689"/>
              <a:ext cx="646332" cy="200055"/>
            </a:xfrm>
            <a:prstGeom prst="homePlate">
              <a:avLst>
                <a:gd name="adj" fmla="val 9936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outerShdw dist="35921" dir="2700000" algn="ctr" rotWithShape="0">
                <a:schemeClr val="hlink"/>
              </a:outerShdw>
            </a:effectLst>
          </p:spPr>
          <p:txBody>
            <a:bodyPr wrap="square" lIns="0" tIns="0" rIns="0" bIns="0" anchor="ctr">
              <a:spAutoFit/>
            </a:bodyPr>
            <a:lstStyle>
              <a:lvl1pPr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30" name="组合 129">
              <a:extLst>
                <a:ext uri="{FF2B5EF4-FFF2-40B4-BE49-F238E27FC236}">
                  <a16:creationId xmlns:a16="http://schemas.microsoft.com/office/drawing/2014/main" id="{3F45F542-F0BF-3081-010A-F6D1B661B7AF}"/>
                </a:ext>
              </a:extLst>
            </p:cNvPr>
            <p:cNvGrpSpPr/>
            <p:nvPr/>
          </p:nvGrpSpPr>
          <p:grpSpPr>
            <a:xfrm>
              <a:off x="521208" y="1590659"/>
              <a:ext cx="6336348" cy="638117"/>
              <a:chOff x="521208" y="1590659"/>
              <a:chExt cx="6336348" cy="638117"/>
            </a:xfrm>
          </p:grpSpPr>
          <p:sp>
            <p:nvSpPr>
              <p:cNvPr id="131" name="五边形 130">
                <a:extLst>
                  <a:ext uri="{FF2B5EF4-FFF2-40B4-BE49-F238E27FC236}">
                    <a16:creationId xmlns:a16="http://schemas.microsoft.com/office/drawing/2014/main" id="{7A11058C-1557-3E58-2391-C0330E7A24C4}"/>
                  </a:ext>
                </a:extLst>
              </p:cNvPr>
              <p:cNvSpPr/>
              <p:nvPr/>
            </p:nvSpPr>
            <p:spPr>
              <a:xfrm>
                <a:off x="521208" y="1590659"/>
                <a:ext cx="6336348" cy="638117"/>
              </a:xfrm>
              <a:prstGeom prst="homePlat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3" name="文本框 132">
                <a:extLst>
                  <a:ext uri="{FF2B5EF4-FFF2-40B4-BE49-F238E27FC236}">
                    <a16:creationId xmlns:a16="http://schemas.microsoft.com/office/drawing/2014/main" id="{4CCD9EC9-BF6D-21C8-A29E-705BA626EF42}"/>
                  </a:ext>
                </a:extLst>
              </p:cNvPr>
              <p:cNvSpPr txBox="1"/>
              <p:nvPr/>
            </p:nvSpPr>
            <p:spPr>
              <a:xfrm>
                <a:off x="2491060" y="1725051"/>
                <a:ext cx="115093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b="1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Noto Sans CJK SC" pitchFamily="34" charset="-120"/>
                  </a:rPr>
                  <a:t>粉碎成品</a:t>
                </a:r>
                <a:endPara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136" name="文本框 135">
            <a:extLst>
              <a:ext uri="{FF2B5EF4-FFF2-40B4-BE49-F238E27FC236}">
                <a16:creationId xmlns:a16="http://schemas.microsoft.com/office/drawing/2014/main" id="{BD340E09-984E-ED8C-2DF1-7D6EF18E69D8}"/>
              </a:ext>
            </a:extLst>
          </p:cNvPr>
          <p:cNvSpPr txBox="1"/>
          <p:nvPr/>
        </p:nvSpPr>
        <p:spPr>
          <a:xfrm>
            <a:off x="563116" y="1616203"/>
            <a:ext cx="18198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纯化胶原骨粒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骨粒规格、脱脂/脱矿程度、杂质控制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7" name="文本框 136">
            <a:extLst>
              <a:ext uri="{FF2B5EF4-FFF2-40B4-BE49-F238E27FC236}">
                <a16:creationId xmlns:a16="http://schemas.microsoft.com/office/drawing/2014/main" id="{C639DD8B-E3E1-C139-5DEB-C9CF4B3FAC22}"/>
              </a:ext>
            </a:extLst>
          </p:cNvPr>
          <p:cNvSpPr txBox="1"/>
          <p:nvPr/>
        </p:nvSpPr>
        <p:spPr>
          <a:xfrm>
            <a:off x="563116" y="2287121"/>
            <a:ext cx="181986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不同断链程度胶原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目标Mw 基础区间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8" name="文本框 137">
            <a:extLst>
              <a:ext uri="{FF2B5EF4-FFF2-40B4-BE49-F238E27FC236}">
                <a16:creationId xmlns:a16="http://schemas.microsoft.com/office/drawing/2014/main" id="{74A843CF-005F-63C1-0D5D-760429F09803}"/>
              </a:ext>
            </a:extLst>
          </p:cNvPr>
          <p:cNvSpPr txBox="1"/>
          <p:nvPr/>
        </p:nvSpPr>
        <p:spPr>
          <a:xfrm>
            <a:off x="563116" y="3030512"/>
            <a:ext cx="18198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pH稳定胶原物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pH、钙/氯离子残留、透明度风险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5AE9C322-8ECA-C0CD-D56C-D454F198CB06}"/>
              </a:ext>
            </a:extLst>
          </p:cNvPr>
          <p:cNvSpPr txBox="1"/>
          <p:nvPr/>
        </p:nvSpPr>
        <p:spPr>
          <a:xfrm>
            <a:off x="563116" y="3712417"/>
            <a:ext cx="18198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不同道次胶液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各道次 Mw、重量、黏度、冻力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6721C934-A57C-7550-1BE0-D440F4A453B3}"/>
              </a:ext>
            </a:extLst>
          </p:cNvPr>
          <p:cNvSpPr txBox="1"/>
          <p:nvPr/>
        </p:nvSpPr>
        <p:spPr>
          <a:xfrm>
            <a:off x="563116" y="4434365"/>
            <a:ext cx="18198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目标 Mw 复配胶液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固含量、黏度、冻力、理论产出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1E4572A4-FD3B-439A-CF1A-137CD22F716C}"/>
              </a:ext>
            </a:extLst>
          </p:cNvPr>
          <p:cNvSpPr txBox="1"/>
          <p:nvPr/>
        </p:nvSpPr>
        <p:spPr>
          <a:xfrm>
            <a:off x="563116" y="5116698"/>
            <a:ext cx="18198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干燥后成品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水分、损耗率、实际产出、质量偏差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2" name="文本框 141">
            <a:extLst>
              <a:ext uri="{FF2B5EF4-FFF2-40B4-BE49-F238E27FC236}">
                <a16:creationId xmlns:a16="http://schemas.microsoft.com/office/drawing/2014/main" id="{CBF4AA11-E9F5-F7F6-6F4A-50BDFF111645}"/>
              </a:ext>
            </a:extLst>
          </p:cNvPr>
          <p:cNvSpPr txBox="1"/>
          <p:nvPr/>
        </p:nvSpPr>
        <p:spPr>
          <a:xfrm>
            <a:off x="563116" y="5852422"/>
            <a:ext cx="1819866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入库成品与质检报告</a:t>
            </a:r>
            <a:endParaRPr lang="en-US" altLang="zh-CN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Mn、Mw、Mz、PDI、小分子占比、黏度、冻力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4" name="文本框 143">
            <a:extLst>
              <a:ext uri="{FF2B5EF4-FFF2-40B4-BE49-F238E27FC236}">
                <a16:creationId xmlns:a16="http://schemas.microsoft.com/office/drawing/2014/main" id="{8EA02C0E-A718-07FB-2662-7A7E03303621}"/>
              </a:ext>
            </a:extLst>
          </p:cNvPr>
          <p:cNvSpPr txBox="1"/>
          <p:nvPr/>
        </p:nvSpPr>
        <p:spPr>
          <a:xfrm>
            <a:off x="3817916" y="1616203"/>
            <a:ext cx="22780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原料批次、骨粒规格、残油/灰分/杂质率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5" name="文本框 144">
            <a:extLst>
              <a:ext uri="{FF2B5EF4-FFF2-40B4-BE49-F238E27FC236}">
                <a16:creationId xmlns:a16="http://schemas.microsoft.com/office/drawing/2014/main" id="{327D01AC-46CC-3BE7-D754-1CE177D24B65}"/>
              </a:ext>
            </a:extLst>
          </p:cNvPr>
          <p:cNvSpPr txBox="1"/>
          <p:nvPr/>
        </p:nvSpPr>
        <p:spPr>
          <a:xfrm>
            <a:off x="3817916" y="2287997"/>
            <a:ext cx="22780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浸灰时间、温度、料液比、石灰乳浓度、Mw区间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6" name="文本框 145">
            <a:extLst>
              <a:ext uri="{FF2B5EF4-FFF2-40B4-BE49-F238E27FC236}">
                <a16:creationId xmlns:a16="http://schemas.microsoft.com/office/drawing/2014/main" id="{6F648E7E-98C3-13DC-119F-09963BBF2F35}"/>
              </a:ext>
            </a:extLst>
          </p:cNvPr>
          <p:cNvSpPr txBox="1"/>
          <p:nvPr/>
        </p:nvSpPr>
        <p:spPr>
          <a:xfrm>
            <a:off x="3817916" y="3001824"/>
            <a:ext cx="22780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pH 6.0–6.5、残留离子、洗涤次数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7" name="文本框 146">
            <a:extLst>
              <a:ext uri="{FF2B5EF4-FFF2-40B4-BE49-F238E27FC236}">
                <a16:creationId xmlns:a16="http://schemas.microsoft.com/office/drawing/2014/main" id="{A0498B08-05A3-8DB4-A72A-55431A5CA847}"/>
              </a:ext>
            </a:extLst>
          </p:cNvPr>
          <p:cNvSpPr txBox="1"/>
          <p:nvPr/>
        </p:nvSpPr>
        <p:spPr>
          <a:xfrm>
            <a:off x="3817916" y="3705174"/>
            <a:ext cx="22780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Mwᵢ、Wᵢ、道次、提胶温度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8" name="文本框 147">
            <a:extLst>
              <a:ext uri="{FF2B5EF4-FFF2-40B4-BE49-F238E27FC236}">
                <a16:creationId xmlns:a16="http://schemas.microsoft.com/office/drawing/2014/main" id="{5A6634F9-3197-2D50-19DA-F60450C54B9B}"/>
              </a:ext>
            </a:extLst>
          </p:cNvPr>
          <p:cNvSpPr txBox="1"/>
          <p:nvPr/>
        </p:nvSpPr>
        <p:spPr>
          <a:xfrm>
            <a:off x="3817916" y="4419877"/>
            <a:ext cx="22780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Mw混、Wᵢ、固含量ᵢ、[η]、理论产出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9" name="文本框 148">
            <a:extLst>
              <a:ext uri="{FF2B5EF4-FFF2-40B4-BE49-F238E27FC236}">
                <a16:creationId xmlns:a16="http://schemas.microsoft.com/office/drawing/2014/main" id="{7FBFC57A-7D46-080D-8B92-63025D8BAEAF}"/>
              </a:ext>
            </a:extLst>
          </p:cNvPr>
          <p:cNvSpPr txBox="1"/>
          <p:nvPr/>
        </p:nvSpPr>
        <p:spPr>
          <a:xfrm>
            <a:off x="3817916" y="5113561"/>
            <a:ext cx="22780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成品水分 12%–16%、干基重量、损耗率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0" name="文本框 149">
            <a:extLst>
              <a:ext uri="{FF2B5EF4-FFF2-40B4-BE49-F238E27FC236}">
                <a16:creationId xmlns:a16="http://schemas.microsoft.com/office/drawing/2014/main" id="{34BF5785-A46E-EC87-E794-B18F1C9C09E9}"/>
              </a:ext>
            </a:extLst>
          </p:cNvPr>
          <p:cNvSpPr txBox="1"/>
          <p:nvPr/>
        </p:nvSpPr>
        <p:spPr>
          <a:xfrm>
            <a:off x="3817916" y="5851461"/>
            <a:ext cx="22780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GPC公式、PDI公式、小分子占比公式、黏度估算公式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标注 9">
            <a:extLst>
              <a:ext uri="{FF2B5EF4-FFF2-40B4-BE49-F238E27FC236}">
                <a16:creationId xmlns:a16="http://schemas.microsoft.com/office/drawing/2014/main" id="{2EC5D2C7-2A6A-3338-584B-E1EE1FC7AE8C}"/>
              </a:ext>
            </a:extLst>
          </p:cNvPr>
          <p:cNvSpPr/>
          <p:nvPr/>
        </p:nvSpPr>
        <p:spPr>
          <a:xfrm>
            <a:off x="7230141" y="1590659"/>
            <a:ext cx="4742120" cy="4773696"/>
          </a:xfrm>
          <a:prstGeom prst="wedgeRectCallout">
            <a:avLst>
              <a:gd name="adj1" fmla="val -56707"/>
              <a:gd name="adj2" fmla="val -42597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BDB8AB9-A831-A2C3-B74D-4D710B69F63B}"/>
              </a:ext>
            </a:extLst>
          </p:cNvPr>
          <p:cNvSpPr/>
          <p:nvPr/>
        </p:nvSpPr>
        <p:spPr>
          <a:xfrm>
            <a:off x="6315740" y="384048"/>
            <a:ext cx="3285460" cy="11482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接下来可以一一列举额每一道工序的改造流程</a:t>
            </a:r>
          </a:p>
        </p:txBody>
      </p:sp>
    </p:spTree>
    <p:extLst>
      <p:ext uri="{BB962C8B-B14F-4D97-AF65-F5344CB8AC3E}">
        <p14:creationId xmlns:p14="http://schemas.microsoft.com/office/powerpoint/2010/main" val="223790824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BFE557A-B77E-3424-7B78-14AD48254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A66B79B1-CC14-E072-8603-36FA4B19F76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5163487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3" progId="TCLayout.ActiveDocument.1">
                  <p:embed/>
                </p:oleObj>
              </mc:Choice>
              <mc:Fallback>
                <p:oleObj name="think-cell Slide" r:id="rId4" imgW="473" imgH="473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66B79B1-CC14-E072-8603-36FA4B19F76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0">
            <a:extLst>
              <a:ext uri="{FF2B5EF4-FFF2-40B4-BE49-F238E27FC236}">
                <a16:creationId xmlns:a16="http://schemas.microsoft.com/office/drawing/2014/main" id="{EC59FC35-2B70-368B-6508-E4107A915502}"/>
              </a:ext>
            </a:extLst>
          </p:cNvPr>
          <p:cNvSpPr/>
          <p:nvPr/>
        </p:nvSpPr>
        <p:spPr>
          <a:xfrm>
            <a:off x="502920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2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骨明胶生产工艺</a:t>
            </a:r>
            <a:endParaRPr lang="en-US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A98B56C-9466-EC86-949A-72AB6EC9A112}"/>
              </a:ext>
            </a:extLst>
          </p:cNvPr>
          <p:cNvSpPr/>
          <p:nvPr/>
        </p:nvSpPr>
        <p:spPr>
          <a:xfrm>
            <a:off x="521208" y="841248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凝胶是问题显现点，但上游工艺参数共同决定分子量与最终产出</a:t>
            </a:r>
            <a:endParaRPr lang="en-US" sz="88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6A87869-0E0D-CC37-8D4A-FFE9B6565B63}"/>
              </a:ext>
            </a:extLst>
          </p:cNvPr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Slide Number Placeholder 0">
            <a:extLst>
              <a:ext uri="{FF2B5EF4-FFF2-40B4-BE49-F238E27FC236}">
                <a16:creationId xmlns:a16="http://schemas.microsoft.com/office/drawing/2014/main" id="{138982BF-E446-581E-B040-0A3B8073296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8A8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lang="en-US" b="0">
                <a:latin typeface="微软雅黑" panose="020B0503020204020204" pitchFamily="34" charset="-122"/>
                <a:ea typeface="微软雅黑" panose="020B0503020204020204" pitchFamily="34" charset="-122"/>
              </a:rPr>
              <a:t>34</a:t>
            </a:fld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7D1B9C6-00AD-3A3C-4A1A-B2A4C6351FC4}"/>
              </a:ext>
            </a:extLst>
          </p:cNvPr>
          <p:cNvSpPr txBox="1"/>
          <p:nvPr/>
        </p:nvSpPr>
        <p:spPr>
          <a:xfrm>
            <a:off x="767969" y="1127832"/>
            <a:ext cx="21870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端到端工艺流程</a:t>
            </a:r>
            <a:endParaRPr lang="en-US" sz="14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2" name="Group 20">
            <a:extLst>
              <a:ext uri="{FF2B5EF4-FFF2-40B4-BE49-F238E27FC236}">
                <a16:creationId xmlns:a16="http://schemas.microsoft.com/office/drawing/2014/main" id="{9F421491-04AB-0266-497F-6E81326D78C5}"/>
              </a:ext>
            </a:extLst>
          </p:cNvPr>
          <p:cNvGrpSpPr/>
          <p:nvPr/>
        </p:nvGrpSpPr>
        <p:grpSpPr>
          <a:xfrm>
            <a:off x="1325880" y="1560297"/>
            <a:ext cx="10332720" cy="266602"/>
            <a:chOff x="1866122" y="1378959"/>
            <a:chExt cx="10711540" cy="338872"/>
          </a:xfrm>
          <a:solidFill>
            <a:srgbClr val="002060"/>
          </a:solidFill>
        </p:grpSpPr>
        <p:sp>
          <p:nvSpPr>
            <p:cNvPr id="33" name="Arrow: Chevron 4">
              <a:extLst>
                <a:ext uri="{FF2B5EF4-FFF2-40B4-BE49-F238E27FC236}">
                  <a16:creationId xmlns:a16="http://schemas.microsoft.com/office/drawing/2014/main" id="{9D81EA51-1ED7-B90B-4571-541EAE3C6B0F}"/>
                </a:ext>
              </a:extLst>
            </p:cNvPr>
            <p:cNvSpPr/>
            <p:nvPr/>
          </p:nvSpPr>
          <p:spPr>
            <a:xfrm>
              <a:off x="1866122" y="1379277"/>
              <a:ext cx="1530220" cy="338554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1400" b="1" dirty="0" err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CJK SC" pitchFamily="34" charset="-120"/>
                </a:rPr>
                <a:t>原料预处理</a:t>
              </a:r>
              <a:endPara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Arrow: Chevron 5">
              <a:extLst>
                <a:ext uri="{FF2B5EF4-FFF2-40B4-BE49-F238E27FC236}">
                  <a16:creationId xmlns:a16="http://schemas.microsoft.com/office/drawing/2014/main" id="{3798CF95-07A5-763F-D045-A6ABBC662C92}"/>
                </a:ext>
              </a:extLst>
            </p:cNvPr>
            <p:cNvSpPr/>
            <p:nvPr/>
          </p:nvSpPr>
          <p:spPr>
            <a:xfrm>
              <a:off x="6456782" y="1379277"/>
              <a:ext cx="1530220" cy="338554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1400" b="1" dirty="0" err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CJK SC" pitchFamily="34" charset="-120"/>
                </a:rPr>
                <a:t>分段提胶</a:t>
              </a:r>
              <a:endPara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Arrow: Chevron 6">
              <a:extLst>
                <a:ext uri="{FF2B5EF4-FFF2-40B4-BE49-F238E27FC236}">
                  <a16:creationId xmlns:a16="http://schemas.microsoft.com/office/drawing/2014/main" id="{FBA67FA3-EB98-F1C5-EA7C-C827C4E6B9A4}"/>
                </a:ext>
              </a:extLst>
            </p:cNvPr>
            <p:cNvSpPr/>
            <p:nvPr/>
          </p:nvSpPr>
          <p:spPr>
            <a:xfrm>
              <a:off x="3396342" y="1379277"/>
              <a:ext cx="1530220" cy="338554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1400" b="1" dirty="0" err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CJK SC" pitchFamily="34" charset="-120"/>
                </a:rPr>
                <a:t>浸灰水解</a:t>
              </a:r>
              <a:endPara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Arrow: Chevron 7">
              <a:extLst>
                <a:ext uri="{FF2B5EF4-FFF2-40B4-BE49-F238E27FC236}">
                  <a16:creationId xmlns:a16="http://schemas.microsoft.com/office/drawing/2014/main" id="{A68FBA10-A909-0E78-70D4-247BC4D14A8C}"/>
                </a:ext>
              </a:extLst>
            </p:cNvPr>
            <p:cNvSpPr/>
            <p:nvPr/>
          </p:nvSpPr>
          <p:spPr>
            <a:xfrm>
              <a:off x="4926562" y="1379277"/>
              <a:ext cx="1530220" cy="338554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1400" b="1" dirty="0" err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CJK SC" pitchFamily="34" charset="-120"/>
                </a:rPr>
                <a:t>中和水洗</a:t>
              </a:r>
              <a:endPara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Arrow: Chevron 8">
              <a:extLst>
                <a:ext uri="{FF2B5EF4-FFF2-40B4-BE49-F238E27FC236}">
                  <a16:creationId xmlns:a16="http://schemas.microsoft.com/office/drawing/2014/main" id="{A031AB58-A75D-7692-4C85-9473251F679B}"/>
                </a:ext>
              </a:extLst>
            </p:cNvPr>
            <p:cNvSpPr/>
            <p:nvPr/>
          </p:nvSpPr>
          <p:spPr>
            <a:xfrm>
              <a:off x="9517222" y="1378959"/>
              <a:ext cx="1530220" cy="338554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1400" b="1" dirty="0" err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CJK SC" pitchFamily="34" charset="-120"/>
                </a:rPr>
                <a:t>凝胶干燥</a:t>
              </a:r>
              <a:endPara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" name="Arrow: Chevron 9">
              <a:extLst>
                <a:ext uri="{FF2B5EF4-FFF2-40B4-BE49-F238E27FC236}">
                  <a16:creationId xmlns:a16="http://schemas.microsoft.com/office/drawing/2014/main" id="{EE0FECFC-3346-8881-5E92-E2F5373A59B9}"/>
                </a:ext>
              </a:extLst>
            </p:cNvPr>
            <p:cNvSpPr/>
            <p:nvPr/>
          </p:nvSpPr>
          <p:spPr>
            <a:xfrm>
              <a:off x="11047442" y="1378959"/>
              <a:ext cx="1530220" cy="338554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1400" b="1" dirty="0" err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CJK SC" pitchFamily="34" charset="-120"/>
                </a:rPr>
                <a:t>粉碎成品</a:t>
              </a:r>
              <a:endPara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" name="Arrow: Chevron 19">
              <a:extLst>
                <a:ext uri="{FF2B5EF4-FFF2-40B4-BE49-F238E27FC236}">
                  <a16:creationId xmlns:a16="http://schemas.microsoft.com/office/drawing/2014/main" id="{3ADF69D1-D7F1-1EE5-FA71-26E1BC495EC1}"/>
                </a:ext>
              </a:extLst>
            </p:cNvPr>
            <p:cNvSpPr/>
            <p:nvPr/>
          </p:nvSpPr>
          <p:spPr>
            <a:xfrm>
              <a:off x="7987002" y="1379277"/>
              <a:ext cx="1530220" cy="338554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1400" b="1" dirty="0" err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CJK SC" pitchFamily="34" charset="-120"/>
                </a:rPr>
                <a:t>浓缩复配</a:t>
              </a:r>
              <a:endPara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27B9813B-DABA-9005-76FA-C229C34BB6E2}"/>
              </a:ext>
            </a:extLst>
          </p:cNvPr>
          <p:cNvGrpSpPr/>
          <p:nvPr/>
        </p:nvGrpSpPr>
        <p:grpSpPr>
          <a:xfrm>
            <a:off x="466076" y="1951837"/>
            <a:ext cx="603785" cy="4518599"/>
            <a:chOff x="722095" y="1951837"/>
            <a:chExt cx="603785" cy="4518599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4051A9F1-2135-9C59-7F80-5DC1B23D5E32}"/>
                </a:ext>
              </a:extLst>
            </p:cNvPr>
            <p:cNvSpPr/>
            <p:nvPr/>
          </p:nvSpPr>
          <p:spPr>
            <a:xfrm>
              <a:off x="722095" y="3044809"/>
              <a:ext cx="599271" cy="109651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输入</a:t>
              </a:r>
              <a:endParaRPr lang="en-US" sz="1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49B0B79F-A9E4-96BB-F712-0B321CC807E0}"/>
                </a:ext>
              </a:extLst>
            </p:cNvPr>
            <p:cNvSpPr/>
            <p:nvPr/>
          </p:nvSpPr>
          <p:spPr>
            <a:xfrm>
              <a:off x="722095" y="4201118"/>
              <a:ext cx="599271" cy="108379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输出</a:t>
              </a:r>
              <a:endParaRPr lang="en-US" sz="1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A12F7A16-E3A0-3685-9D6F-7233BFC92EBC}"/>
                </a:ext>
              </a:extLst>
            </p:cNvPr>
            <p:cNvSpPr/>
            <p:nvPr/>
          </p:nvSpPr>
          <p:spPr>
            <a:xfrm>
              <a:off x="726609" y="5373918"/>
              <a:ext cx="599271" cy="109651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现状</a:t>
              </a:r>
              <a:endParaRPr lang="en-US" sz="1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7" name="Rectangle 33">
              <a:extLst>
                <a:ext uri="{FF2B5EF4-FFF2-40B4-BE49-F238E27FC236}">
                  <a16:creationId xmlns:a16="http://schemas.microsoft.com/office/drawing/2014/main" id="{1B34FEB6-8D1D-B8E4-57B4-3E02F354FFB4}"/>
                </a:ext>
              </a:extLst>
            </p:cNvPr>
            <p:cNvSpPr/>
            <p:nvPr/>
          </p:nvSpPr>
          <p:spPr>
            <a:xfrm>
              <a:off x="722095" y="1951837"/>
              <a:ext cx="599271" cy="100396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err="1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概要</a:t>
              </a:r>
              <a:endParaRPr lang="en-US" sz="1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8" name="Group 34">
            <a:extLst>
              <a:ext uri="{FF2B5EF4-FFF2-40B4-BE49-F238E27FC236}">
                <a16:creationId xmlns:a16="http://schemas.microsoft.com/office/drawing/2014/main" id="{53A00AD7-2FDD-0B90-0794-DEC9AFD1BA8F}"/>
              </a:ext>
            </a:extLst>
          </p:cNvPr>
          <p:cNvGrpSpPr/>
          <p:nvPr/>
        </p:nvGrpSpPr>
        <p:grpSpPr>
          <a:xfrm>
            <a:off x="1325880" y="1951587"/>
            <a:ext cx="10332720" cy="1004214"/>
            <a:chOff x="1333500" y="1379854"/>
            <a:chExt cx="10332720" cy="741298"/>
          </a:xfrm>
        </p:grpSpPr>
        <p:sp>
          <p:nvSpPr>
            <p:cNvPr id="49" name="Rectangle 24">
              <a:extLst>
                <a:ext uri="{FF2B5EF4-FFF2-40B4-BE49-F238E27FC236}">
                  <a16:creationId xmlns:a16="http://schemas.microsoft.com/office/drawing/2014/main" id="{A96B738C-A6E2-B7F1-0D0F-CEA268B3137A}"/>
                </a:ext>
              </a:extLst>
            </p:cNvPr>
            <p:cNvSpPr/>
            <p:nvPr/>
          </p:nvSpPr>
          <p:spPr>
            <a:xfrm>
              <a:off x="1333500" y="1379854"/>
              <a:ext cx="1402258" cy="7412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1000" dirty="0" err="1">
                  <a:solidFill>
                    <a:srgbClr val="5E6B7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去除油脂、矿物质与杂质，保留纯胶原基础</a:t>
              </a:r>
              <a:endParaRPr lang="en-US" altLang="zh-CN" sz="100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0" name="Rectangle 25">
              <a:extLst>
                <a:ext uri="{FF2B5EF4-FFF2-40B4-BE49-F238E27FC236}">
                  <a16:creationId xmlns:a16="http://schemas.microsoft.com/office/drawing/2014/main" id="{AEBDA1DA-4B83-291E-EF7D-53D7B1266FE9}"/>
                </a:ext>
              </a:extLst>
            </p:cNvPr>
            <p:cNvSpPr/>
            <p:nvPr/>
          </p:nvSpPr>
          <p:spPr>
            <a:xfrm>
              <a:off x="2809603" y="1379854"/>
              <a:ext cx="1402258" cy="7412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1000" dirty="0" err="1">
                  <a:solidFill>
                    <a:srgbClr val="5E6B7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通过碱浸控制胶原断链程度，决定分子量基础区间</a:t>
              </a:r>
              <a:endParaRPr lang="en-US" altLang="zh-CN" sz="100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" name="Rectangle 27">
              <a:extLst>
                <a:ext uri="{FF2B5EF4-FFF2-40B4-BE49-F238E27FC236}">
                  <a16:creationId xmlns:a16="http://schemas.microsoft.com/office/drawing/2014/main" id="{DC690968-5F2C-8511-6CEB-D810810096F6}"/>
                </a:ext>
              </a:extLst>
            </p:cNvPr>
            <p:cNvSpPr/>
            <p:nvPr/>
          </p:nvSpPr>
          <p:spPr>
            <a:xfrm>
              <a:off x="4306026" y="1379854"/>
              <a:ext cx="1402258" cy="7412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1000" dirty="0" err="1">
                  <a:solidFill>
                    <a:srgbClr val="5E6B7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去除残余碱性与杂质，稳定</a:t>
              </a:r>
              <a:r>
                <a:rPr lang="en-US" altLang="zh-CN" sz="1000" dirty="0">
                  <a:solidFill>
                    <a:srgbClr val="5E6B7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pH </a:t>
              </a:r>
              <a:r>
                <a:rPr lang="en-US" altLang="zh-CN" sz="1000" dirty="0" err="1">
                  <a:solidFill>
                    <a:srgbClr val="5E6B7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与胶液纯净度</a:t>
              </a:r>
              <a:endParaRPr lang="en-US" altLang="zh-CN" sz="100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" name="Rectangle 28">
              <a:extLst>
                <a:ext uri="{FF2B5EF4-FFF2-40B4-BE49-F238E27FC236}">
                  <a16:creationId xmlns:a16="http://schemas.microsoft.com/office/drawing/2014/main" id="{E39FA00B-4C05-B081-0B0B-B836F83F12D9}"/>
                </a:ext>
              </a:extLst>
            </p:cNvPr>
            <p:cNvSpPr/>
            <p:nvPr/>
          </p:nvSpPr>
          <p:spPr>
            <a:xfrm>
              <a:off x="5798731" y="1379854"/>
              <a:ext cx="1402258" cy="7412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1000" dirty="0" err="1">
                  <a:solidFill>
                    <a:srgbClr val="5E6B7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按温度梯度提取不同分子量胶液，实现天然分级</a:t>
              </a:r>
              <a:endParaRPr lang="en-US" altLang="zh-CN" sz="100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" name="Rectangle 31">
              <a:extLst>
                <a:ext uri="{FF2B5EF4-FFF2-40B4-BE49-F238E27FC236}">
                  <a16:creationId xmlns:a16="http://schemas.microsoft.com/office/drawing/2014/main" id="{0A8A367B-125D-42C4-A77B-2894E9EFF348}"/>
                </a:ext>
              </a:extLst>
            </p:cNvPr>
            <p:cNvSpPr/>
            <p:nvPr/>
          </p:nvSpPr>
          <p:spPr>
            <a:xfrm>
              <a:off x="7274834" y="1379854"/>
              <a:ext cx="1402258" cy="7412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1000" dirty="0" err="1">
                  <a:solidFill>
                    <a:srgbClr val="5E6B7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按订单目标调配不同批次胶液，影响目标</a:t>
              </a:r>
              <a:r>
                <a:rPr lang="en-US" altLang="zh-CN" sz="1000" dirty="0">
                  <a:solidFill>
                    <a:srgbClr val="5E6B7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Mw </a:t>
              </a:r>
              <a:r>
                <a:rPr lang="en-US" altLang="zh-CN" sz="1000" dirty="0" err="1">
                  <a:solidFill>
                    <a:srgbClr val="5E6B7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与产出</a:t>
              </a:r>
              <a:endParaRPr lang="en-US" altLang="zh-CN" sz="100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4" name="Rectangle 32">
              <a:extLst>
                <a:ext uri="{FF2B5EF4-FFF2-40B4-BE49-F238E27FC236}">
                  <a16:creationId xmlns:a16="http://schemas.microsoft.com/office/drawing/2014/main" id="{A0AAA913-8F7B-A41E-44AE-211F64445DD3}"/>
                </a:ext>
              </a:extLst>
            </p:cNvPr>
            <p:cNvSpPr/>
            <p:nvPr/>
          </p:nvSpPr>
          <p:spPr>
            <a:xfrm>
              <a:off x="8771257" y="1379854"/>
              <a:ext cx="1402258" cy="7412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1000" dirty="0" err="1">
                  <a:solidFill>
                    <a:srgbClr val="5E6B7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胶液成型并脱水干燥，是质量与产出偏差的集中显现点</a:t>
              </a:r>
              <a:endParaRPr lang="en-US" altLang="zh-CN" sz="100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5" name="Rectangle 33">
              <a:extLst>
                <a:ext uri="{FF2B5EF4-FFF2-40B4-BE49-F238E27FC236}">
                  <a16:creationId xmlns:a16="http://schemas.microsoft.com/office/drawing/2014/main" id="{A2E8A6F6-A14F-E432-31C3-55A3B3E82E70}"/>
                </a:ext>
              </a:extLst>
            </p:cNvPr>
            <p:cNvSpPr/>
            <p:nvPr/>
          </p:nvSpPr>
          <p:spPr>
            <a:xfrm>
              <a:off x="10263962" y="1379854"/>
              <a:ext cx="1402258" cy="7412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1000" dirty="0" err="1">
                  <a:solidFill>
                    <a:srgbClr val="5E6B7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粉碎、筛分、包装入库，完成最终质量检验</a:t>
              </a:r>
              <a:endParaRPr lang="en-US" altLang="zh-CN" sz="100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7" name="Group 36">
            <a:extLst>
              <a:ext uri="{FF2B5EF4-FFF2-40B4-BE49-F238E27FC236}">
                <a16:creationId xmlns:a16="http://schemas.microsoft.com/office/drawing/2014/main" id="{BE6335E0-EE8F-91BF-5E06-8CBF1100AA90}"/>
              </a:ext>
            </a:extLst>
          </p:cNvPr>
          <p:cNvGrpSpPr/>
          <p:nvPr/>
        </p:nvGrpSpPr>
        <p:grpSpPr>
          <a:xfrm>
            <a:off x="1325880" y="4201119"/>
            <a:ext cx="10340338" cy="1083790"/>
            <a:chOff x="1325882" y="1379854"/>
            <a:chExt cx="10340338" cy="741298"/>
          </a:xfrm>
        </p:grpSpPr>
        <p:sp>
          <p:nvSpPr>
            <p:cNvPr id="58" name="Rectangle 37">
              <a:extLst>
                <a:ext uri="{FF2B5EF4-FFF2-40B4-BE49-F238E27FC236}">
                  <a16:creationId xmlns:a16="http://schemas.microsoft.com/office/drawing/2014/main" id="{FDEB24C1-844F-4BA2-53D7-E029BC3EF1A3}"/>
                </a:ext>
              </a:extLst>
            </p:cNvPr>
            <p:cNvSpPr/>
            <p:nvPr/>
          </p:nvSpPr>
          <p:spPr>
            <a:xfrm>
              <a:off x="1325882" y="1379854"/>
              <a:ext cx="1409876" cy="7412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蒸汽调节阀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温度计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压力变送器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相关阀门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DCS</a:t>
              </a: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9" name="Rectangle 38">
              <a:extLst>
                <a:ext uri="{FF2B5EF4-FFF2-40B4-BE49-F238E27FC236}">
                  <a16:creationId xmlns:a16="http://schemas.microsoft.com/office/drawing/2014/main" id="{E963FEB9-A0E8-652E-D053-EBA7486C7EBE}"/>
                </a:ext>
              </a:extLst>
            </p:cNvPr>
            <p:cNvSpPr/>
            <p:nvPr/>
          </p:nvSpPr>
          <p:spPr>
            <a:xfrm>
              <a:off x="2809603" y="1379854"/>
              <a:ext cx="1402258" cy="7412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一级种子罐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二级种子罐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pH/DO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仪表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搅拌电机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空气阀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温度控制阀</a:t>
              </a: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0" name="Rectangle 39">
              <a:extLst>
                <a:ext uri="{FF2B5EF4-FFF2-40B4-BE49-F238E27FC236}">
                  <a16:creationId xmlns:a16="http://schemas.microsoft.com/office/drawing/2014/main" id="{DEE5AB46-0211-734D-A10C-ABD7524833F1}"/>
                </a:ext>
              </a:extLst>
            </p:cNvPr>
            <p:cNvSpPr/>
            <p:nvPr/>
          </p:nvSpPr>
          <p:spPr>
            <a:xfrm>
              <a:off x="4306026" y="1379854"/>
              <a:ext cx="1402258" cy="7412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5×60KL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主发酵罐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温度计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压力变送器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pH/DO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仪表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空气调节阀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搅拌电机</a:t>
              </a:r>
              <a:endPara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1" name="Rectangle 40">
              <a:extLst>
                <a:ext uri="{FF2B5EF4-FFF2-40B4-BE49-F238E27FC236}">
                  <a16:creationId xmlns:a16="http://schemas.microsoft.com/office/drawing/2014/main" id="{04EA0642-9609-4A82-261F-3BF2E87BBD35}"/>
                </a:ext>
              </a:extLst>
            </p:cNvPr>
            <p:cNvSpPr/>
            <p:nvPr/>
          </p:nvSpPr>
          <p:spPr>
            <a:xfrm>
              <a:off x="5798731" y="1379854"/>
              <a:ext cx="1402258" cy="7412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补糖质量流量计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氨水质量流量计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补料调节阀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补料罐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PLC</a:t>
              </a: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2" name="Rectangle 41">
              <a:extLst>
                <a:ext uri="{FF2B5EF4-FFF2-40B4-BE49-F238E27FC236}">
                  <a16:creationId xmlns:a16="http://schemas.microsoft.com/office/drawing/2014/main" id="{958EA91D-B564-A941-FDE6-3CEBA1488E83}"/>
                </a:ext>
              </a:extLst>
            </p:cNvPr>
            <p:cNvSpPr/>
            <p:nvPr/>
          </p:nvSpPr>
          <p:spPr>
            <a:xfrm>
              <a:off x="7274834" y="1379854"/>
              <a:ext cx="1402258" cy="7412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移种隔膜阀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移种分配站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贴壁式温度计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压力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温度监测点</a:t>
              </a:r>
              <a:endPara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3" name="Rectangle 42">
              <a:extLst>
                <a:ext uri="{FF2B5EF4-FFF2-40B4-BE49-F238E27FC236}">
                  <a16:creationId xmlns:a16="http://schemas.microsoft.com/office/drawing/2014/main" id="{96B400FD-EC03-497A-B136-AE939841790A}"/>
                </a:ext>
              </a:extLst>
            </p:cNvPr>
            <p:cNvSpPr/>
            <p:nvPr/>
          </p:nvSpPr>
          <p:spPr>
            <a:xfrm>
              <a:off x="8771257" y="1379854"/>
              <a:ext cx="1402258" cy="7412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放料阀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目标罐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管线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压力变送器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液位信号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DCS</a:t>
              </a: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4" name="Rectangle 43">
              <a:extLst>
                <a:ext uri="{FF2B5EF4-FFF2-40B4-BE49-F238E27FC236}">
                  <a16:creationId xmlns:a16="http://schemas.microsoft.com/office/drawing/2014/main" id="{124CB126-280B-FBFD-4F55-8FEFF5D8CCD8}"/>
                </a:ext>
              </a:extLst>
            </p:cNvPr>
            <p:cNvSpPr/>
            <p:nvPr/>
          </p:nvSpPr>
          <p:spPr>
            <a:xfrm>
              <a:off x="10263962" y="1379854"/>
              <a:ext cx="1402258" cy="7412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清洗阀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清洗泵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温度计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流量计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压力变送器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相关管路</a:t>
              </a:r>
              <a:endPara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5" name="Group 36">
            <a:extLst>
              <a:ext uri="{FF2B5EF4-FFF2-40B4-BE49-F238E27FC236}">
                <a16:creationId xmlns:a16="http://schemas.microsoft.com/office/drawing/2014/main" id="{D4479FCE-0BB4-BD00-59CE-0C5B9310B6DD}"/>
              </a:ext>
            </a:extLst>
          </p:cNvPr>
          <p:cNvGrpSpPr/>
          <p:nvPr/>
        </p:nvGrpSpPr>
        <p:grpSpPr>
          <a:xfrm>
            <a:off x="1325880" y="3014537"/>
            <a:ext cx="10340338" cy="1083790"/>
            <a:chOff x="1325882" y="1379854"/>
            <a:chExt cx="10340338" cy="741298"/>
          </a:xfrm>
        </p:grpSpPr>
        <p:sp>
          <p:nvSpPr>
            <p:cNvPr id="66" name="Rectangle 37">
              <a:extLst>
                <a:ext uri="{FF2B5EF4-FFF2-40B4-BE49-F238E27FC236}">
                  <a16:creationId xmlns:a16="http://schemas.microsoft.com/office/drawing/2014/main" id="{CEF099A4-8D82-A6B7-AFE4-05CB0FCD937E}"/>
                </a:ext>
              </a:extLst>
            </p:cNvPr>
            <p:cNvSpPr/>
            <p:nvPr/>
          </p:nvSpPr>
          <p:spPr>
            <a:xfrm>
              <a:off x="1325882" y="1379854"/>
              <a:ext cx="1389556" cy="7412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zh-CN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SIP 灭菌系统</a:t>
              </a: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7" name="Rectangle 38">
              <a:extLst>
                <a:ext uri="{FF2B5EF4-FFF2-40B4-BE49-F238E27FC236}">
                  <a16:creationId xmlns:a16="http://schemas.microsoft.com/office/drawing/2014/main" id="{7C6DE345-2F74-89D5-62FE-F805F847D01C}"/>
                </a:ext>
              </a:extLst>
            </p:cNvPr>
            <p:cNvSpPr/>
            <p:nvPr/>
          </p:nvSpPr>
          <p:spPr>
            <a:xfrm>
              <a:off x="2809603" y="1379854"/>
              <a:ext cx="1402258" cy="7412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zh-CN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种子培养自动化系统</a:t>
              </a: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8" name="Rectangle 39">
              <a:extLst>
                <a:ext uri="{FF2B5EF4-FFF2-40B4-BE49-F238E27FC236}">
                  <a16:creationId xmlns:a16="http://schemas.microsoft.com/office/drawing/2014/main" id="{710E5F9D-A279-DE7C-5940-9299B58B8553}"/>
                </a:ext>
              </a:extLst>
            </p:cNvPr>
            <p:cNvSpPr/>
            <p:nvPr/>
          </p:nvSpPr>
          <p:spPr>
            <a:xfrm>
              <a:off x="4306026" y="1379854"/>
              <a:ext cx="1402258" cy="7412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zh-CN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主发酵自动化系统</a:t>
              </a:r>
              <a:endPara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9" name="Rectangle 40">
              <a:extLst>
                <a:ext uri="{FF2B5EF4-FFF2-40B4-BE49-F238E27FC236}">
                  <a16:creationId xmlns:a16="http://schemas.microsoft.com/office/drawing/2014/main" id="{65BDEAC3-386A-113A-B0FF-D612877E5F60}"/>
                </a:ext>
              </a:extLst>
            </p:cNvPr>
            <p:cNvSpPr/>
            <p:nvPr/>
          </p:nvSpPr>
          <p:spPr>
            <a:xfrm>
              <a:off x="5798731" y="1379854"/>
              <a:ext cx="1402258" cy="7412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zh-CN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补料自动化系统</a:t>
              </a: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0" name="Rectangle 41">
              <a:extLst>
                <a:ext uri="{FF2B5EF4-FFF2-40B4-BE49-F238E27FC236}">
                  <a16:creationId xmlns:a16="http://schemas.microsoft.com/office/drawing/2014/main" id="{604C1603-E8C9-80C9-94F3-7D5951C53D0E}"/>
                </a:ext>
              </a:extLst>
            </p:cNvPr>
            <p:cNvSpPr/>
            <p:nvPr/>
          </p:nvSpPr>
          <p:spPr>
            <a:xfrm>
              <a:off x="7274834" y="1379854"/>
              <a:ext cx="1402258" cy="7412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zh-CN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移种与物料转移系统</a:t>
              </a:r>
              <a:endPara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1" name="Rectangle 42">
              <a:extLst>
                <a:ext uri="{FF2B5EF4-FFF2-40B4-BE49-F238E27FC236}">
                  <a16:creationId xmlns:a16="http://schemas.microsoft.com/office/drawing/2014/main" id="{F3841EA9-1F3E-1891-720C-C348BDE03653}"/>
                </a:ext>
              </a:extLst>
            </p:cNvPr>
            <p:cNvSpPr/>
            <p:nvPr/>
          </p:nvSpPr>
          <p:spPr>
            <a:xfrm>
              <a:off x="8771257" y="1379854"/>
              <a:ext cx="1402258" cy="7412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zh-CN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放罐 / 放料系统</a:t>
              </a: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2" name="Rectangle 43">
              <a:extLst>
                <a:ext uri="{FF2B5EF4-FFF2-40B4-BE49-F238E27FC236}">
                  <a16:creationId xmlns:a16="http://schemas.microsoft.com/office/drawing/2014/main" id="{DD8FC091-5B37-C2B3-9D92-C5C2E5659F4F}"/>
                </a:ext>
              </a:extLst>
            </p:cNvPr>
            <p:cNvSpPr/>
            <p:nvPr/>
          </p:nvSpPr>
          <p:spPr>
            <a:xfrm>
              <a:off x="10263962" y="1379854"/>
              <a:ext cx="1402258" cy="7412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zh-CN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CIP 清洗系统</a:t>
              </a:r>
              <a:endPara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3" name="Group 36">
            <a:extLst>
              <a:ext uri="{FF2B5EF4-FFF2-40B4-BE49-F238E27FC236}">
                <a16:creationId xmlns:a16="http://schemas.microsoft.com/office/drawing/2014/main" id="{D4730191-1CB0-E7E9-708F-014F07255AC8}"/>
              </a:ext>
            </a:extLst>
          </p:cNvPr>
          <p:cNvGrpSpPr/>
          <p:nvPr/>
        </p:nvGrpSpPr>
        <p:grpSpPr>
          <a:xfrm>
            <a:off x="1318262" y="5388757"/>
            <a:ext cx="10340338" cy="1083790"/>
            <a:chOff x="1325882" y="1379854"/>
            <a:chExt cx="10340338" cy="741298"/>
          </a:xfrm>
        </p:grpSpPr>
        <p:sp>
          <p:nvSpPr>
            <p:cNvPr id="74" name="Rectangle 37">
              <a:extLst>
                <a:ext uri="{FF2B5EF4-FFF2-40B4-BE49-F238E27FC236}">
                  <a16:creationId xmlns:a16="http://schemas.microsoft.com/office/drawing/2014/main" id="{E265ABD3-F0DE-7D1A-63BF-C46CE64766D2}"/>
                </a:ext>
              </a:extLst>
            </p:cNvPr>
            <p:cNvSpPr/>
            <p:nvPr/>
          </p:nvSpPr>
          <p:spPr>
            <a:xfrm>
              <a:off x="1325882" y="1379854"/>
              <a:ext cx="1409876" cy="7412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蒸汽调节阀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温度计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压力变送器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相关阀门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DCS</a:t>
              </a: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5" name="Rectangle 38">
              <a:extLst>
                <a:ext uri="{FF2B5EF4-FFF2-40B4-BE49-F238E27FC236}">
                  <a16:creationId xmlns:a16="http://schemas.microsoft.com/office/drawing/2014/main" id="{57AE8928-FB0C-6F51-239B-F73C9D65691E}"/>
                </a:ext>
              </a:extLst>
            </p:cNvPr>
            <p:cNvSpPr/>
            <p:nvPr/>
          </p:nvSpPr>
          <p:spPr>
            <a:xfrm>
              <a:off x="2809603" y="1379854"/>
              <a:ext cx="1402258" cy="7412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一级种子罐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二级种子罐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pH/DO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仪表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搅拌电机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空气阀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温度控制阀</a:t>
              </a: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6" name="Rectangle 39">
              <a:extLst>
                <a:ext uri="{FF2B5EF4-FFF2-40B4-BE49-F238E27FC236}">
                  <a16:creationId xmlns:a16="http://schemas.microsoft.com/office/drawing/2014/main" id="{96E64B29-2BB7-820A-08A2-E3027E986A16}"/>
                </a:ext>
              </a:extLst>
            </p:cNvPr>
            <p:cNvSpPr/>
            <p:nvPr/>
          </p:nvSpPr>
          <p:spPr>
            <a:xfrm>
              <a:off x="4306026" y="1379854"/>
              <a:ext cx="1402258" cy="7412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5×60KL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主发酵罐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温度计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压力变送器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pH/DO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仪表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空气调节阀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搅拌电机</a:t>
              </a:r>
              <a:endPara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7" name="Rectangle 40">
              <a:extLst>
                <a:ext uri="{FF2B5EF4-FFF2-40B4-BE49-F238E27FC236}">
                  <a16:creationId xmlns:a16="http://schemas.microsoft.com/office/drawing/2014/main" id="{4A45FA25-441D-2C96-EA1B-5799412BA6FE}"/>
                </a:ext>
              </a:extLst>
            </p:cNvPr>
            <p:cNvSpPr/>
            <p:nvPr/>
          </p:nvSpPr>
          <p:spPr>
            <a:xfrm>
              <a:off x="5798731" y="1379854"/>
              <a:ext cx="1402258" cy="7412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补糖质量流量计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氨水质量流量计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补料调节阀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补料罐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PLC</a:t>
              </a: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8" name="Rectangle 41">
              <a:extLst>
                <a:ext uri="{FF2B5EF4-FFF2-40B4-BE49-F238E27FC236}">
                  <a16:creationId xmlns:a16="http://schemas.microsoft.com/office/drawing/2014/main" id="{15963E06-5E0D-60C7-89EF-3BC0FBE5F2FD}"/>
                </a:ext>
              </a:extLst>
            </p:cNvPr>
            <p:cNvSpPr/>
            <p:nvPr/>
          </p:nvSpPr>
          <p:spPr>
            <a:xfrm>
              <a:off x="7274834" y="1379854"/>
              <a:ext cx="1402258" cy="7412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移种隔膜阀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移种分配站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贴壁式温度计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压力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温度监测点</a:t>
              </a:r>
              <a:endPara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9" name="Rectangle 42">
              <a:extLst>
                <a:ext uri="{FF2B5EF4-FFF2-40B4-BE49-F238E27FC236}">
                  <a16:creationId xmlns:a16="http://schemas.microsoft.com/office/drawing/2014/main" id="{C1A700CD-0A43-A7A1-97C7-117CBC194F76}"/>
                </a:ext>
              </a:extLst>
            </p:cNvPr>
            <p:cNvSpPr/>
            <p:nvPr/>
          </p:nvSpPr>
          <p:spPr>
            <a:xfrm>
              <a:off x="8771257" y="1379854"/>
              <a:ext cx="1402258" cy="7412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放料阀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目标罐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管线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压力变送器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液位信号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DCS</a:t>
              </a: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0" name="Rectangle 43">
              <a:extLst>
                <a:ext uri="{FF2B5EF4-FFF2-40B4-BE49-F238E27FC236}">
                  <a16:creationId xmlns:a16="http://schemas.microsoft.com/office/drawing/2014/main" id="{E42A9B76-8EB5-ADA4-2300-8C451685ED99}"/>
                </a:ext>
              </a:extLst>
            </p:cNvPr>
            <p:cNvSpPr/>
            <p:nvPr/>
          </p:nvSpPr>
          <p:spPr>
            <a:xfrm>
              <a:off x="10263962" y="1379854"/>
              <a:ext cx="1402258" cy="7412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清洗阀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清洗泵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温度计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流量计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压力变送器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相关管路</a:t>
              </a:r>
              <a:endPara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6625067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B145B44-5C5D-66C9-3F9C-4D77FD55B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FA81BED8-E33C-375B-B3C4-1FABFB1DA2E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2189120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3" progId="TCLayout.ActiveDocument.1">
                  <p:embed/>
                </p:oleObj>
              </mc:Choice>
              <mc:Fallback>
                <p:oleObj name="think-cell Slide" r:id="rId4" imgW="473" imgH="473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A81BED8-E33C-375B-B3C4-1FABFB1DA2E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0">
            <a:extLst>
              <a:ext uri="{FF2B5EF4-FFF2-40B4-BE49-F238E27FC236}">
                <a16:creationId xmlns:a16="http://schemas.microsoft.com/office/drawing/2014/main" id="{091F0EFF-F5FC-AFB5-8FED-A64718117776}"/>
              </a:ext>
            </a:extLst>
          </p:cNvPr>
          <p:cNvSpPr/>
          <p:nvPr/>
        </p:nvSpPr>
        <p:spPr>
          <a:xfrm>
            <a:off x="502920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2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骨明胶生产工艺</a:t>
            </a:r>
            <a:endParaRPr lang="en-US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5D9170D-DDF0-36EA-328A-95EC5A971F21}"/>
              </a:ext>
            </a:extLst>
          </p:cNvPr>
          <p:cNvSpPr/>
          <p:nvPr/>
        </p:nvSpPr>
        <p:spPr>
          <a:xfrm>
            <a:off x="521208" y="841248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凝胶是问题显现点，但上游工艺参数共同决定分子量与最终产出</a:t>
            </a:r>
            <a:endParaRPr lang="en-US" sz="88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F38DD4A-ABD5-918D-F962-B6735A84526D}"/>
              </a:ext>
            </a:extLst>
          </p:cNvPr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2" name="Text 4">
            <a:extLst>
              <a:ext uri="{FF2B5EF4-FFF2-40B4-BE49-F238E27FC236}">
                <a16:creationId xmlns:a16="http://schemas.microsoft.com/office/drawing/2014/main" id="{27416F10-A4AA-C811-E4B0-9EB42B79C4C3}"/>
              </a:ext>
            </a:extLst>
          </p:cNvPr>
          <p:cNvSpPr/>
          <p:nvPr/>
        </p:nvSpPr>
        <p:spPr>
          <a:xfrm>
            <a:off x="2428890" y="1239642"/>
            <a:ext cx="1275278" cy="237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端到端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工艺流程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3" name="Text 4">
            <a:extLst>
              <a:ext uri="{FF2B5EF4-FFF2-40B4-BE49-F238E27FC236}">
                <a16:creationId xmlns:a16="http://schemas.microsoft.com/office/drawing/2014/main" id="{DF305037-6D5F-65C9-0479-8153C3286BC7}"/>
              </a:ext>
            </a:extLst>
          </p:cNvPr>
          <p:cNvSpPr/>
          <p:nvPr/>
        </p:nvSpPr>
        <p:spPr>
          <a:xfrm>
            <a:off x="835410" y="1295147"/>
            <a:ext cx="1275278" cy="237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输入</a:t>
            </a:r>
            <a:endParaRPr 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4" name="Text 4">
            <a:extLst>
              <a:ext uri="{FF2B5EF4-FFF2-40B4-BE49-F238E27FC236}">
                <a16:creationId xmlns:a16="http://schemas.microsoft.com/office/drawing/2014/main" id="{2B3AFB12-A4B2-38F8-3AA2-765EB409ED31}"/>
              </a:ext>
            </a:extLst>
          </p:cNvPr>
          <p:cNvSpPr/>
          <p:nvPr/>
        </p:nvSpPr>
        <p:spPr>
          <a:xfrm>
            <a:off x="4272689" y="1295147"/>
            <a:ext cx="1275278" cy="237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4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输出</a:t>
            </a: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5" name="Text 4">
            <a:extLst>
              <a:ext uri="{FF2B5EF4-FFF2-40B4-BE49-F238E27FC236}">
                <a16:creationId xmlns:a16="http://schemas.microsoft.com/office/drawing/2014/main" id="{BE08A262-99B4-AEC1-81B7-74813C03AA7C}"/>
              </a:ext>
            </a:extLst>
          </p:cNvPr>
          <p:cNvSpPr/>
          <p:nvPr/>
        </p:nvSpPr>
        <p:spPr>
          <a:xfrm>
            <a:off x="8661809" y="1295147"/>
            <a:ext cx="1275278" cy="237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现状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  <a:endParaRPr 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7" name="组合 96">
            <a:extLst>
              <a:ext uri="{FF2B5EF4-FFF2-40B4-BE49-F238E27FC236}">
                <a16:creationId xmlns:a16="http://schemas.microsoft.com/office/drawing/2014/main" id="{CF86C532-2644-2DED-4B53-8D6B3A29A349}"/>
              </a:ext>
            </a:extLst>
          </p:cNvPr>
          <p:cNvGrpSpPr/>
          <p:nvPr/>
        </p:nvGrpSpPr>
        <p:grpSpPr>
          <a:xfrm>
            <a:off x="502920" y="1590658"/>
            <a:ext cx="11052760" cy="696462"/>
            <a:chOff x="502920" y="1590659"/>
            <a:chExt cx="11052760" cy="696462"/>
          </a:xfrm>
        </p:grpSpPr>
        <p:sp>
          <p:nvSpPr>
            <p:cNvPr id="65" name="AutoShape 15">
              <a:extLst>
                <a:ext uri="{FF2B5EF4-FFF2-40B4-BE49-F238E27FC236}">
                  <a16:creationId xmlns:a16="http://schemas.microsoft.com/office/drawing/2014/main" id="{468F8E88-A22F-1F6F-2BC5-90DFA21604E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743200" y="1815292"/>
              <a:ext cx="646332" cy="200055"/>
            </a:xfrm>
            <a:prstGeom prst="homePlate">
              <a:avLst>
                <a:gd name="adj" fmla="val 9936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outerShdw dist="35921" dir="2700000" algn="ctr" rotWithShape="0">
                <a:schemeClr val="hlink"/>
              </a:outerShdw>
            </a:effectLst>
          </p:spPr>
          <p:txBody>
            <a:bodyPr wrap="square" lIns="0" tIns="0" rIns="0" bIns="0" anchor="ctr">
              <a:spAutoFit/>
            </a:bodyPr>
            <a:lstStyle>
              <a:lvl1pPr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92" name="组合 91">
              <a:extLst>
                <a:ext uri="{FF2B5EF4-FFF2-40B4-BE49-F238E27FC236}">
                  <a16:creationId xmlns:a16="http://schemas.microsoft.com/office/drawing/2014/main" id="{4A67F51C-B833-1863-69A9-5A117CE740AA}"/>
                </a:ext>
              </a:extLst>
            </p:cNvPr>
            <p:cNvGrpSpPr/>
            <p:nvPr/>
          </p:nvGrpSpPr>
          <p:grpSpPr>
            <a:xfrm>
              <a:off x="502920" y="1590659"/>
              <a:ext cx="11052760" cy="696462"/>
              <a:chOff x="502920" y="1590659"/>
              <a:chExt cx="11052760" cy="696462"/>
            </a:xfrm>
          </p:grpSpPr>
          <p:sp>
            <p:nvSpPr>
              <p:cNvPr id="32" name="五边形 31">
                <a:extLst>
                  <a:ext uri="{FF2B5EF4-FFF2-40B4-BE49-F238E27FC236}">
                    <a16:creationId xmlns:a16="http://schemas.microsoft.com/office/drawing/2014/main" id="{4C4D2017-7AA5-55B3-CD32-91B36BA03B3F}"/>
                  </a:ext>
                </a:extLst>
              </p:cNvPr>
              <p:cNvSpPr/>
              <p:nvPr/>
            </p:nvSpPr>
            <p:spPr>
              <a:xfrm>
                <a:off x="502920" y="1590659"/>
                <a:ext cx="6354636" cy="638117"/>
              </a:xfrm>
              <a:prstGeom prst="homePlat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7" name="Rectangle 37">
                <a:extLst>
                  <a:ext uri="{FF2B5EF4-FFF2-40B4-BE49-F238E27FC236}">
                    <a16:creationId xmlns:a16="http://schemas.microsoft.com/office/drawing/2014/main" id="{FC70B574-4134-A1C4-042C-7083BAE39341}"/>
                  </a:ext>
                </a:extLst>
              </p:cNvPr>
              <p:cNvSpPr/>
              <p:nvPr/>
            </p:nvSpPr>
            <p:spPr>
              <a:xfrm>
                <a:off x="6947338" y="1590660"/>
                <a:ext cx="4608342" cy="64633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171450" indent="-17145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Courier New" panose="02070309020205020404" pitchFamily="49" charset="0"/>
                  <a:buChar char="o"/>
                  <a:defRPr/>
                </a:pPr>
                <a:r>
                  <a:rPr lang="zh-CN" altLang="zh-CN" sz="1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原料质量、脱脂/脱矿程度、</a:t>
                </a:r>
                <a:r>
                  <a:rPr lang="zh-CN" altLang="zh-CN" sz="14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骨粒均匀度</a:t>
                </a:r>
                <a:r>
                  <a:rPr lang="zh-CN" altLang="zh-CN" sz="1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会影响后续</a:t>
                </a:r>
                <a:r>
                  <a:rPr lang="zh-CN" altLang="zh-CN" sz="14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浸灰效果</a:t>
                </a:r>
                <a:r>
                  <a:rPr lang="zh-CN" altLang="zh-CN" sz="1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</a:t>
                </a:r>
                <a:r>
                  <a:rPr lang="zh-CN" altLang="zh-CN" sz="14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批次稳定性</a:t>
                </a:r>
                <a:endParaRPr lang="zh-CN" altLang="en-US" sz="14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7" name="文本框 86">
                <a:extLst>
                  <a:ext uri="{FF2B5EF4-FFF2-40B4-BE49-F238E27FC236}">
                    <a16:creationId xmlns:a16="http://schemas.microsoft.com/office/drawing/2014/main" id="{38E9F842-616C-1E0C-2F17-AB3C932872F1}"/>
                  </a:ext>
                </a:extLst>
              </p:cNvPr>
              <p:cNvSpPr txBox="1"/>
              <p:nvPr/>
            </p:nvSpPr>
            <p:spPr>
              <a:xfrm>
                <a:off x="2491060" y="1640790"/>
                <a:ext cx="1150938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800" b="1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Noto Sans CJK SC" pitchFamily="34" charset="-120"/>
                  </a:rPr>
                  <a:t>原料预</a:t>
                </a:r>
                <a:endParaRPr lang="en-US" altLang="zh-CN" sz="1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CJK SC" pitchFamily="34" charset="-120"/>
                </a:endParaRPr>
              </a:p>
              <a:p>
                <a:pPr algn="ctr"/>
                <a:r>
                  <a:rPr lang="en-US" altLang="zh-CN" sz="1800" b="1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Noto Sans CJK SC" pitchFamily="34" charset="-120"/>
                  </a:rPr>
                  <a:t>处理</a:t>
                </a:r>
                <a:endParaRPr lang="en-US" altLang="zh-CN" sz="18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98" name="组合 97">
            <a:extLst>
              <a:ext uri="{FF2B5EF4-FFF2-40B4-BE49-F238E27FC236}">
                <a16:creationId xmlns:a16="http://schemas.microsoft.com/office/drawing/2014/main" id="{CCE8C5C0-640E-5564-2B62-D34EE3173F9A}"/>
              </a:ext>
            </a:extLst>
          </p:cNvPr>
          <p:cNvGrpSpPr/>
          <p:nvPr/>
        </p:nvGrpSpPr>
        <p:grpSpPr>
          <a:xfrm>
            <a:off x="521208" y="2287119"/>
            <a:ext cx="11034472" cy="648279"/>
            <a:chOff x="521208" y="1590659"/>
            <a:chExt cx="11034472" cy="648279"/>
          </a:xfrm>
        </p:grpSpPr>
        <p:sp>
          <p:nvSpPr>
            <p:cNvPr id="99" name="AutoShape 15">
              <a:extLst>
                <a:ext uri="{FF2B5EF4-FFF2-40B4-BE49-F238E27FC236}">
                  <a16:creationId xmlns:a16="http://schemas.microsoft.com/office/drawing/2014/main" id="{8EC92A24-3E27-C09B-145E-ED19DED9003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743200" y="1815744"/>
              <a:ext cx="646332" cy="200055"/>
            </a:xfrm>
            <a:prstGeom prst="homePlate">
              <a:avLst>
                <a:gd name="adj" fmla="val 9936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outerShdw dist="35921" dir="2700000" algn="ctr" rotWithShape="0">
                <a:schemeClr val="hlink"/>
              </a:outerShdw>
            </a:effectLst>
          </p:spPr>
          <p:txBody>
            <a:bodyPr wrap="square" lIns="0" tIns="0" rIns="0" bIns="0" anchor="ctr">
              <a:spAutoFit/>
            </a:bodyPr>
            <a:lstStyle>
              <a:lvl1pPr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00" name="组合 99">
              <a:extLst>
                <a:ext uri="{FF2B5EF4-FFF2-40B4-BE49-F238E27FC236}">
                  <a16:creationId xmlns:a16="http://schemas.microsoft.com/office/drawing/2014/main" id="{F5C4C5A5-F3CE-B002-86CE-EEF2D56EC87C}"/>
                </a:ext>
              </a:extLst>
            </p:cNvPr>
            <p:cNvGrpSpPr/>
            <p:nvPr/>
          </p:nvGrpSpPr>
          <p:grpSpPr>
            <a:xfrm>
              <a:off x="521208" y="1590659"/>
              <a:ext cx="11034472" cy="646333"/>
              <a:chOff x="521208" y="1590659"/>
              <a:chExt cx="11034472" cy="646333"/>
            </a:xfrm>
          </p:grpSpPr>
          <p:sp>
            <p:nvSpPr>
              <p:cNvPr id="101" name="五边形 100">
                <a:extLst>
                  <a:ext uri="{FF2B5EF4-FFF2-40B4-BE49-F238E27FC236}">
                    <a16:creationId xmlns:a16="http://schemas.microsoft.com/office/drawing/2014/main" id="{45BF6BBF-FC63-1DCF-3509-095E27E08409}"/>
                  </a:ext>
                </a:extLst>
              </p:cNvPr>
              <p:cNvSpPr/>
              <p:nvPr/>
            </p:nvSpPr>
            <p:spPr>
              <a:xfrm>
                <a:off x="521208" y="1590659"/>
                <a:ext cx="6336348" cy="638117"/>
              </a:xfrm>
              <a:prstGeom prst="homePlat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2" name="Rectangle 37">
                <a:extLst>
                  <a:ext uri="{FF2B5EF4-FFF2-40B4-BE49-F238E27FC236}">
                    <a16:creationId xmlns:a16="http://schemas.microsoft.com/office/drawing/2014/main" id="{05C562FD-572C-CF68-C282-FD1A20C4C3DB}"/>
                  </a:ext>
                </a:extLst>
              </p:cNvPr>
              <p:cNvSpPr/>
              <p:nvPr/>
            </p:nvSpPr>
            <p:spPr>
              <a:xfrm>
                <a:off x="6947338" y="1590660"/>
                <a:ext cx="4608342" cy="64633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171450" lvl="0" indent="-17145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Courier New" panose="02070309020205020404" pitchFamily="49" charset="0"/>
                  <a:buChar char="o"/>
                  <a:defRPr/>
                </a:pPr>
                <a:r>
                  <a:rPr lang="zh-CN" altLang="zh-CN" sz="1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浸灰是决定</a:t>
                </a:r>
                <a:r>
                  <a:rPr lang="zh-CN" altLang="zh-CN" sz="14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分子量基础区间</a:t>
                </a:r>
                <a:r>
                  <a:rPr lang="zh-CN" altLang="zh-CN" sz="1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的核心环节，但终点判断仍容易</a:t>
                </a:r>
                <a:r>
                  <a:rPr lang="zh-CN" altLang="zh-CN" sz="14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依赖人工经验</a:t>
                </a:r>
                <a:r>
                  <a:rPr lang="zh-CN" altLang="zh-CN" sz="1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；浸灰时间、温度、石灰乳浓度、料液比的变化会直接影响 </a:t>
                </a:r>
                <a:r>
                  <a:rPr lang="zh-CN" altLang="zh-CN" sz="14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Mw 基础区间</a:t>
                </a:r>
                <a:endPara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3" name="文本框 102">
                <a:extLst>
                  <a:ext uri="{FF2B5EF4-FFF2-40B4-BE49-F238E27FC236}">
                    <a16:creationId xmlns:a16="http://schemas.microsoft.com/office/drawing/2014/main" id="{BFBD0899-FB3C-0620-73AC-933D887D52E5}"/>
                  </a:ext>
                </a:extLst>
              </p:cNvPr>
              <p:cNvSpPr txBox="1"/>
              <p:nvPr/>
            </p:nvSpPr>
            <p:spPr>
              <a:xfrm>
                <a:off x="2491060" y="1726778"/>
                <a:ext cx="115093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zh-CN" b="1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Noto Sans CJK SC" pitchFamily="34" charset="-120"/>
                  </a:rPr>
                  <a:t>浸灰水解</a:t>
                </a:r>
                <a:endPara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104" name="组合 103">
            <a:extLst>
              <a:ext uri="{FF2B5EF4-FFF2-40B4-BE49-F238E27FC236}">
                <a16:creationId xmlns:a16="http://schemas.microsoft.com/office/drawing/2014/main" id="{05E03413-7C83-CF4C-0271-E9197B16AA12}"/>
              </a:ext>
            </a:extLst>
          </p:cNvPr>
          <p:cNvGrpSpPr/>
          <p:nvPr/>
        </p:nvGrpSpPr>
        <p:grpSpPr>
          <a:xfrm>
            <a:off x="521208" y="3001822"/>
            <a:ext cx="11034472" cy="647951"/>
            <a:chOff x="521208" y="1590659"/>
            <a:chExt cx="11034472" cy="647951"/>
          </a:xfrm>
        </p:grpSpPr>
        <p:sp>
          <p:nvSpPr>
            <p:cNvPr id="105" name="AutoShape 15">
              <a:extLst>
                <a:ext uri="{FF2B5EF4-FFF2-40B4-BE49-F238E27FC236}">
                  <a16:creationId xmlns:a16="http://schemas.microsoft.com/office/drawing/2014/main" id="{F0DE0BC3-756F-A10E-5213-6BFCE1593CE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743200" y="1815416"/>
              <a:ext cx="646332" cy="200055"/>
            </a:xfrm>
            <a:prstGeom prst="homePlate">
              <a:avLst>
                <a:gd name="adj" fmla="val 9936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outerShdw dist="35921" dir="2700000" algn="ctr" rotWithShape="0">
                <a:schemeClr val="hlink"/>
              </a:outerShdw>
            </a:effectLst>
          </p:spPr>
          <p:txBody>
            <a:bodyPr wrap="square" lIns="0" tIns="0" rIns="0" bIns="0" anchor="ctr">
              <a:spAutoFit/>
            </a:bodyPr>
            <a:lstStyle>
              <a:lvl1pPr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06" name="组合 105">
              <a:extLst>
                <a:ext uri="{FF2B5EF4-FFF2-40B4-BE49-F238E27FC236}">
                  <a16:creationId xmlns:a16="http://schemas.microsoft.com/office/drawing/2014/main" id="{1E49AD45-2FA1-52FB-A8B9-694AD3BB318D}"/>
                </a:ext>
              </a:extLst>
            </p:cNvPr>
            <p:cNvGrpSpPr/>
            <p:nvPr/>
          </p:nvGrpSpPr>
          <p:grpSpPr>
            <a:xfrm>
              <a:off x="521208" y="1590659"/>
              <a:ext cx="11034472" cy="646333"/>
              <a:chOff x="521208" y="1590659"/>
              <a:chExt cx="11034472" cy="646333"/>
            </a:xfrm>
          </p:grpSpPr>
          <p:sp>
            <p:nvSpPr>
              <p:cNvPr id="107" name="五边形 106">
                <a:extLst>
                  <a:ext uri="{FF2B5EF4-FFF2-40B4-BE49-F238E27FC236}">
                    <a16:creationId xmlns:a16="http://schemas.microsoft.com/office/drawing/2014/main" id="{8BA2F66F-C89A-BF46-3E8D-C122A90F4510}"/>
                  </a:ext>
                </a:extLst>
              </p:cNvPr>
              <p:cNvSpPr/>
              <p:nvPr/>
            </p:nvSpPr>
            <p:spPr>
              <a:xfrm>
                <a:off x="521208" y="1590659"/>
                <a:ext cx="6336348" cy="638117"/>
              </a:xfrm>
              <a:prstGeom prst="homePlat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8" name="Rectangle 37">
                <a:extLst>
                  <a:ext uri="{FF2B5EF4-FFF2-40B4-BE49-F238E27FC236}">
                    <a16:creationId xmlns:a16="http://schemas.microsoft.com/office/drawing/2014/main" id="{78ABBE80-EF37-8746-E130-B7D47D3BC30E}"/>
                  </a:ext>
                </a:extLst>
              </p:cNvPr>
              <p:cNvSpPr/>
              <p:nvPr/>
            </p:nvSpPr>
            <p:spPr>
              <a:xfrm>
                <a:off x="6947338" y="1590660"/>
                <a:ext cx="4608342" cy="64633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171450" lvl="0" indent="-17145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Courier New" panose="02070309020205020404" pitchFamily="49" charset="0"/>
                  <a:buChar char="o"/>
                  <a:defRPr/>
                </a:pPr>
                <a:r>
                  <a:rPr lang="zh-CN" altLang="zh-CN" sz="14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pH</a:t>
                </a:r>
                <a:r>
                  <a:rPr lang="zh-CN" altLang="zh-CN" sz="1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、</a:t>
                </a:r>
                <a:r>
                  <a:rPr lang="zh-CN" altLang="zh-CN" sz="14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残余钙/氯离子</a:t>
                </a:r>
                <a:r>
                  <a:rPr lang="zh-CN" altLang="zh-CN" sz="1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、洗涤充分性会影响胶液</a:t>
                </a:r>
                <a:r>
                  <a:rPr lang="zh-CN" altLang="zh-CN" sz="14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透明度、沉淀、色差</a:t>
                </a:r>
                <a:r>
                  <a:rPr lang="zh-CN" altLang="zh-CN" sz="1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等质量表现；若缺少过程数据记录，后续质量异常难以追溯。</a:t>
                </a: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9" name="文本框 108">
                <a:extLst>
                  <a:ext uri="{FF2B5EF4-FFF2-40B4-BE49-F238E27FC236}">
                    <a16:creationId xmlns:a16="http://schemas.microsoft.com/office/drawing/2014/main" id="{65918B42-C526-5759-5D6B-AB225BED85AC}"/>
                  </a:ext>
                </a:extLst>
              </p:cNvPr>
              <p:cNvSpPr txBox="1"/>
              <p:nvPr/>
            </p:nvSpPr>
            <p:spPr>
              <a:xfrm>
                <a:off x="2491060" y="1727168"/>
                <a:ext cx="115093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b="1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Noto Sans CJK SC" pitchFamily="34" charset="-120"/>
                  </a:rPr>
                  <a:t>中和水洗</a:t>
                </a:r>
                <a:endPara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110" name="组合 109">
            <a:extLst>
              <a:ext uri="{FF2B5EF4-FFF2-40B4-BE49-F238E27FC236}">
                <a16:creationId xmlns:a16="http://schemas.microsoft.com/office/drawing/2014/main" id="{B0409D0B-FF01-AE1E-0CD6-2AAE7D35CFDE}"/>
              </a:ext>
            </a:extLst>
          </p:cNvPr>
          <p:cNvGrpSpPr/>
          <p:nvPr/>
        </p:nvGrpSpPr>
        <p:grpSpPr>
          <a:xfrm>
            <a:off x="521208" y="3716525"/>
            <a:ext cx="11034472" cy="647623"/>
            <a:chOff x="521208" y="1590659"/>
            <a:chExt cx="11034472" cy="647623"/>
          </a:xfrm>
        </p:grpSpPr>
        <p:sp>
          <p:nvSpPr>
            <p:cNvPr id="111" name="AutoShape 15">
              <a:extLst>
                <a:ext uri="{FF2B5EF4-FFF2-40B4-BE49-F238E27FC236}">
                  <a16:creationId xmlns:a16="http://schemas.microsoft.com/office/drawing/2014/main" id="{299536C4-B06E-F028-6411-0D6D9DCF5F1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743200" y="1815088"/>
              <a:ext cx="646332" cy="200055"/>
            </a:xfrm>
            <a:prstGeom prst="homePlate">
              <a:avLst>
                <a:gd name="adj" fmla="val 9936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outerShdw dist="35921" dir="2700000" algn="ctr" rotWithShape="0">
                <a:schemeClr val="hlink"/>
              </a:outerShdw>
            </a:effectLst>
          </p:spPr>
          <p:txBody>
            <a:bodyPr wrap="square" lIns="0" tIns="0" rIns="0" bIns="0" anchor="ctr">
              <a:spAutoFit/>
            </a:bodyPr>
            <a:lstStyle>
              <a:lvl1pPr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2" name="组合 111">
              <a:extLst>
                <a:ext uri="{FF2B5EF4-FFF2-40B4-BE49-F238E27FC236}">
                  <a16:creationId xmlns:a16="http://schemas.microsoft.com/office/drawing/2014/main" id="{253BC49B-7FAA-3218-6A4B-72E9A2E125D5}"/>
                </a:ext>
              </a:extLst>
            </p:cNvPr>
            <p:cNvGrpSpPr/>
            <p:nvPr/>
          </p:nvGrpSpPr>
          <p:grpSpPr>
            <a:xfrm>
              <a:off x="521208" y="1590659"/>
              <a:ext cx="11034472" cy="646333"/>
              <a:chOff x="521208" y="1590659"/>
              <a:chExt cx="11034472" cy="646333"/>
            </a:xfrm>
          </p:grpSpPr>
          <p:sp>
            <p:nvSpPr>
              <p:cNvPr id="113" name="五边形 112">
                <a:extLst>
                  <a:ext uri="{FF2B5EF4-FFF2-40B4-BE49-F238E27FC236}">
                    <a16:creationId xmlns:a16="http://schemas.microsoft.com/office/drawing/2014/main" id="{10BDD412-2101-8167-ACBA-C8C026172A6B}"/>
                  </a:ext>
                </a:extLst>
              </p:cNvPr>
              <p:cNvSpPr/>
              <p:nvPr/>
            </p:nvSpPr>
            <p:spPr>
              <a:xfrm>
                <a:off x="521208" y="1590659"/>
                <a:ext cx="6336348" cy="638117"/>
              </a:xfrm>
              <a:prstGeom prst="homePlat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4" name="Rectangle 37">
                <a:extLst>
                  <a:ext uri="{FF2B5EF4-FFF2-40B4-BE49-F238E27FC236}">
                    <a16:creationId xmlns:a16="http://schemas.microsoft.com/office/drawing/2014/main" id="{9444451E-45A5-5749-02E9-FD5FB6D429F6}"/>
                  </a:ext>
                </a:extLst>
              </p:cNvPr>
              <p:cNvSpPr/>
              <p:nvPr/>
            </p:nvSpPr>
            <p:spPr>
              <a:xfrm>
                <a:off x="6947338" y="1590660"/>
                <a:ext cx="4608342" cy="64633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171450" lvl="0" indent="-17145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Courier New" panose="02070309020205020404" pitchFamily="49" charset="0"/>
                  <a:buChar char="o"/>
                  <a:defRPr/>
                </a:pPr>
                <a:r>
                  <a:rPr lang="zh-CN" altLang="zh-CN" sz="1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不同提胶道次对应不同</a:t>
                </a:r>
                <a:r>
                  <a:rPr lang="zh-CN" altLang="zh-CN" sz="14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分子量胶液</a:t>
                </a:r>
                <a:r>
                  <a:rPr lang="zh-CN" altLang="zh-CN" sz="1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，但如果道次、温度、时间、胶液重量、</a:t>
                </a:r>
                <a:r>
                  <a:rPr lang="zh-CN" altLang="zh-CN" sz="14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Mw</a:t>
                </a:r>
                <a:r>
                  <a:rPr lang="zh-CN" altLang="zh-CN" sz="1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、黏度、冻力等数据未统一沉淀，后续复配仍主要依赖经验。</a:t>
                </a: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5" name="文本框 114">
                <a:extLst>
                  <a:ext uri="{FF2B5EF4-FFF2-40B4-BE49-F238E27FC236}">
                    <a16:creationId xmlns:a16="http://schemas.microsoft.com/office/drawing/2014/main" id="{7124BC84-A174-83F9-2E85-776F4169F791}"/>
                  </a:ext>
                </a:extLst>
              </p:cNvPr>
              <p:cNvSpPr txBox="1"/>
              <p:nvPr/>
            </p:nvSpPr>
            <p:spPr>
              <a:xfrm>
                <a:off x="2491060" y="1725051"/>
                <a:ext cx="115093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b="1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Noto Sans CJK SC" pitchFamily="34" charset="-120"/>
                  </a:rPr>
                  <a:t>分段提胶</a:t>
                </a:r>
                <a:endPara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116" name="组合 115">
            <a:extLst>
              <a:ext uri="{FF2B5EF4-FFF2-40B4-BE49-F238E27FC236}">
                <a16:creationId xmlns:a16="http://schemas.microsoft.com/office/drawing/2014/main" id="{3BE839E5-F79C-EB59-BDA1-167683D96052}"/>
              </a:ext>
            </a:extLst>
          </p:cNvPr>
          <p:cNvGrpSpPr/>
          <p:nvPr/>
        </p:nvGrpSpPr>
        <p:grpSpPr>
          <a:xfrm>
            <a:off x="521208" y="4431228"/>
            <a:ext cx="11034472" cy="647295"/>
            <a:chOff x="521208" y="1590659"/>
            <a:chExt cx="11034472" cy="647295"/>
          </a:xfrm>
        </p:grpSpPr>
        <p:sp>
          <p:nvSpPr>
            <p:cNvPr id="117" name="AutoShape 15">
              <a:extLst>
                <a:ext uri="{FF2B5EF4-FFF2-40B4-BE49-F238E27FC236}">
                  <a16:creationId xmlns:a16="http://schemas.microsoft.com/office/drawing/2014/main" id="{EBE6E185-9EF9-0327-4BE2-FF896FE36B8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743200" y="1814760"/>
              <a:ext cx="646332" cy="200055"/>
            </a:xfrm>
            <a:prstGeom prst="homePlate">
              <a:avLst>
                <a:gd name="adj" fmla="val 9936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outerShdw dist="35921" dir="2700000" algn="ctr" rotWithShape="0">
                <a:schemeClr val="hlink"/>
              </a:outerShdw>
            </a:effectLst>
          </p:spPr>
          <p:txBody>
            <a:bodyPr wrap="square" lIns="0" tIns="0" rIns="0" bIns="0" anchor="ctr">
              <a:spAutoFit/>
            </a:bodyPr>
            <a:lstStyle>
              <a:lvl1pPr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8" name="组合 117">
              <a:extLst>
                <a:ext uri="{FF2B5EF4-FFF2-40B4-BE49-F238E27FC236}">
                  <a16:creationId xmlns:a16="http://schemas.microsoft.com/office/drawing/2014/main" id="{E5126242-759D-19C4-16FE-12599BD4DFF5}"/>
                </a:ext>
              </a:extLst>
            </p:cNvPr>
            <p:cNvGrpSpPr/>
            <p:nvPr/>
          </p:nvGrpSpPr>
          <p:grpSpPr>
            <a:xfrm>
              <a:off x="521208" y="1590659"/>
              <a:ext cx="11034472" cy="646333"/>
              <a:chOff x="521208" y="1590659"/>
              <a:chExt cx="11034472" cy="646333"/>
            </a:xfrm>
          </p:grpSpPr>
          <p:sp>
            <p:nvSpPr>
              <p:cNvPr id="119" name="五边形 118">
                <a:extLst>
                  <a:ext uri="{FF2B5EF4-FFF2-40B4-BE49-F238E27FC236}">
                    <a16:creationId xmlns:a16="http://schemas.microsoft.com/office/drawing/2014/main" id="{D3B74A21-D633-FA16-30DB-250A60B10062}"/>
                  </a:ext>
                </a:extLst>
              </p:cNvPr>
              <p:cNvSpPr/>
              <p:nvPr/>
            </p:nvSpPr>
            <p:spPr>
              <a:xfrm>
                <a:off x="521208" y="1590659"/>
                <a:ext cx="6336348" cy="638117"/>
              </a:xfrm>
              <a:prstGeom prst="homePlat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0" name="Rectangle 37">
                <a:extLst>
                  <a:ext uri="{FF2B5EF4-FFF2-40B4-BE49-F238E27FC236}">
                    <a16:creationId xmlns:a16="http://schemas.microsoft.com/office/drawing/2014/main" id="{99FC9EE8-DB0F-28B9-53BC-ED08FFDE3163}"/>
                  </a:ext>
                </a:extLst>
              </p:cNvPr>
              <p:cNvSpPr/>
              <p:nvPr/>
            </p:nvSpPr>
            <p:spPr>
              <a:xfrm>
                <a:off x="6947338" y="1590660"/>
                <a:ext cx="4608342" cy="64633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171450" lvl="0" indent="-17145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Courier New" panose="02070309020205020404" pitchFamily="49" charset="0"/>
                  <a:buChar char="o"/>
                  <a:defRPr/>
                </a:pPr>
                <a:r>
                  <a:rPr lang="zh-CN" altLang="zh-CN" sz="1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复配计算容易只关注胶液重量和目标 </a:t>
                </a:r>
                <a:r>
                  <a:rPr lang="zh-CN" altLang="zh-CN" sz="14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Mw</a:t>
                </a:r>
                <a:r>
                  <a:rPr lang="zh-CN" altLang="zh-CN" sz="1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，未充分纳入</a:t>
                </a:r>
                <a:r>
                  <a:rPr lang="zh-CN" altLang="zh-CN" sz="14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固含量、水分、损耗率、浓缩浓度</a:t>
                </a:r>
                <a:r>
                  <a:rPr lang="zh-CN" altLang="zh-CN" sz="1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等现场变量，导致理论分子量与实际结果存在</a:t>
                </a:r>
                <a:r>
                  <a:rPr lang="zh-CN" altLang="zh-CN" sz="14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偏差</a:t>
                </a:r>
                <a:r>
                  <a:rPr lang="zh-CN" altLang="zh-CN" sz="1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</a:t>
                </a: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1" name="文本框 120">
                <a:extLst>
                  <a:ext uri="{FF2B5EF4-FFF2-40B4-BE49-F238E27FC236}">
                    <a16:creationId xmlns:a16="http://schemas.microsoft.com/office/drawing/2014/main" id="{214701B6-6B53-6AC5-1BAF-0C3FF2AF2975}"/>
                  </a:ext>
                </a:extLst>
              </p:cNvPr>
              <p:cNvSpPr txBox="1"/>
              <p:nvPr/>
            </p:nvSpPr>
            <p:spPr>
              <a:xfrm>
                <a:off x="2491060" y="1725051"/>
                <a:ext cx="115093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b="1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Noto Sans CJK SC" pitchFamily="34" charset="-120"/>
                  </a:rPr>
                  <a:t>浓缩复配</a:t>
                </a:r>
                <a:endPara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122" name="组合 121">
            <a:extLst>
              <a:ext uri="{FF2B5EF4-FFF2-40B4-BE49-F238E27FC236}">
                <a16:creationId xmlns:a16="http://schemas.microsoft.com/office/drawing/2014/main" id="{F21CB8DF-31A1-4D0E-B089-015D25BE2756}"/>
              </a:ext>
            </a:extLst>
          </p:cNvPr>
          <p:cNvGrpSpPr/>
          <p:nvPr/>
        </p:nvGrpSpPr>
        <p:grpSpPr>
          <a:xfrm>
            <a:off x="521208" y="5124912"/>
            <a:ext cx="11034472" cy="647348"/>
            <a:chOff x="521208" y="1590659"/>
            <a:chExt cx="11034472" cy="647348"/>
          </a:xfrm>
        </p:grpSpPr>
        <p:sp>
          <p:nvSpPr>
            <p:cNvPr id="123" name="AutoShape 15">
              <a:extLst>
                <a:ext uri="{FF2B5EF4-FFF2-40B4-BE49-F238E27FC236}">
                  <a16:creationId xmlns:a16="http://schemas.microsoft.com/office/drawing/2014/main" id="{1A8DE20B-5A5E-9C80-8F5C-77220FF3DA5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743200" y="1814813"/>
              <a:ext cx="646332" cy="200055"/>
            </a:xfrm>
            <a:prstGeom prst="homePlate">
              <a:avLst>
                <a:gd name="adj" fmla="val 9936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outerShdw dist="35921" dir="2700000" algn="ctr" rotWithShape="0">
                <a:schemeClr val="hlink"/>
              </a:outerShdw>
            </a:effectLst>
          </p:spPr>
          <p:txBody>
            <a:bodyPr wrap="square" lIns="0" tIns="0" rIns="0" bIns="0" anchor="ctr">
              <a:spAutoFit/>
            </a:bodyPr>
            <a:lstStyle>
              <a:lvl1pPr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24" name="组合 123">
              <a:extLst>
                <a:ext uri="{FF2B5EF4-FFF2-40B4-BE49-F238E27FC236}">
                  <a16:creationId xmlns:a16="http://schemas.microsoft.com/office/drawing/2014/main" id="{A46A5F10-CBC2-250A-8F5E-02ED5F3A0CED}"/>
                </a:ext>
              </a:extLst>
            </p:cNvPr>
            <p:cNvGrpSpPr/>
            <p:nvPr/>
          </p:nvGrpSpPr>
          <p:grpSpPr>
            <a:xfrm>
              <a:off x="521208" y="1590659"/>
              <a:ext cx="11034472" cy="646333"/>
              <a:chOff x="521208" y="1590659"/>
              <a:chExt cx="11034472" cy="646333"/>
            </a:xfrm>
          </p:grpSpPr>
          <p:sp>
            <p:nvSpPr>
              <p:cNvPr id="125" name="五边形 124">
                <a:extLst>
                  <a:ext uri="{FF2B5EF4-FFF2-40B4-BE49-F238E27FC236}">
                    <a16:creationId xmlns:a16="http://schemas.microsoft.com/office/drawing/2014/main" id="{7B09E96C-49DF-0BB8-9408-10EA057B8127}"/>
                  </a:ext>
                </a:extLst>
              </p:cNvPr>
              <p:cNvSpPr/>
              <p:nvPr/>
            </p:nvSpPr>
            <p:spPr>
              <a:xfrm>
                <a:off x="521208" y="1590659"/>
                <a:ext cx="6336348" cy="638117"/>
              </a:xfrm>
              <a:prstGeom prst="homePlat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6" name="Rectangle 37">
                <a:extLst>
                  <a:ext uri="{FF2B5EF4-FFF2-40B4-BE49-F238E27FC236}">
                    <a16:creationId xmlns:a16="http://schemas.microsoft.com/office/drawing/2014/main" id="{B62C6BCF-B287-13F6-105E-F7E2556D56DB}"/>
                  </a:ext>
                </a:extLst>
              </p:cNvPr>
              <p:cNvSpPr/>
              <p:nvPr/>
            </p:nvSpPr>
            <p:spPr>
              <a:xfrm>
                <a:off x="6947338" y="1590660"/>
                <a:ext cx="4608342" cy="64633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171450" lvl="0" indent="-17145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Courier New" panose="02070309020205020404" pitchFamily="49" charset="0"/>
                  <a:buChar char="o"/>
                  <a:defRPr/>
                </a:pPr>
                <a:r>
                  <a:rPr lang="zh-CN" altLang="zh-CN" sz="1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凝胶/干燥是</a:t>
                </a:r>
                <a:r>
                  <a:rPr lang="zh-CN" altLang="zh-CN" sz="14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质量</a:t>
                </a:r>
                <a:r>
                  <a:rPr lang="zh-CN" altLang="zh-CN" sz="1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</a:t>
                </a:r>
                <a:r>
                  <a:rPr lang="zh-CN" altLang="zh-CN" sz="14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产出偏差</a:t>
                </a:r>
                <a:r>
                  <a:rPr lang="zh-CN" altLang="zh-CN" sz="1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的集中显现点；干燥温度、时间、水分、损耗率等参数会影响</a:t>
                </a:r>
                <a:r>
                  <a:rPr lang="zh-CN" altLang="zh-CN" sz="14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实际入库量</a:t>
                </a:r>
                <a:r>
                  <a:rPr lang="zh-CN" altLang="zh-CN" sz="1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和最终质量，但目前可能更多依赖事后判断。</a:t>
                </a: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7" name="文本框 126">
                <a:extLst>
                  <a:ext uri="{FF2B5EF4-FFF2-40B4-BE49-F238E27FC236}">
                    <a16:creationId xmlns:a16="http://schemas.microsoft.com/office/drawing/2014/main" id="{E4D7DCA2-CC0F-2A1B-E70C-F446503979D3}"/>
                  </a:ext>
                </a:extLst>
              </p:cNvPr>
              <p:cNvSpPr txBox="1"/>
              <p:nvPr/>
            </p:nvSpPr>
            <p:spPr>
              <a:xfrm>
                <a:off x="2491060" y="1725051"/>
                <a:ext cx="115093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b="1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Noto Sans CJK SC" pitchFamily="34" charset="-120"/>
                  </a:rPr>
                  <a:t>凝胶干燥</a:t>
                </a:r>
                <a:endPara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128" name="组合 127">
            <a:extLst>
              <a:ext uri="{FF2B5EF4-FFF2-40B4-BE49-F238E27FC236}">
                <a16:creationId xmlns:a16="http://schemas.microsoft.com/office/drawing/2014/main" id="{6F286F89-6976-FB17-7BD1-222594746D27}"/>
              </a:ext>
            </a:extLst>
          </p:cNvPr>
          <p:cNvGrpSpPr/>
          <p:nvPr/>
        </p:nvGrpSpPr>
        <p:grpSpPr>
          <a:xfrm>
            <a:off x="521208" y="5860636"/>
            <a:ext cx="11034472" cy="648224"/>
            <a:chOff x="521208" y="1590659"/>
            <a:chExt cx="11034472" cy="648224"/>
          </a:xfrm>
        </p:grpSpPr>
        <p:sp>
          <p:nvSpPr>
            <p:cNvPr id="129" name="AutoShape 15">
              <a:extLst>
                <a:ext uri="{FF2B5EF4-FFF2-40B4-BE49-F238E27FC236}">
                  <a16:creationId xmlns:a16="http://schemas.microsoft.com/office/drawing/2014/main" id="{5B70EE94-7205-AB16-370E-812127EFA69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743200" y="1815689"/>
              <a:ext cx="646332" cy="200055"/>
            </a:xfrm>
            <a:prstGeom prst="homePlate">
              <a:avLst>
                <a:gd name="adj" fmla="val 9936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outerShdw dist="35921" dir="2700000" algn="ctr" rotWithShape="0">
                <a:schemeClr val="hlink"/>
              </a:outerShdw>
            </a:effectLst>
          </p:spPr>
          <p:txBody>
            <a:bodyPr wrap="square" lIns="0" tIns="0" rIns="0" bIns="0" anchor="ctr">
              <a:spAutoFit/>
            </a:bodyPr>
            <a:lstStyle>
              <a:lvl1pPr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30" name="组合 129">
              <a:extLst>
                <a:ext uri="{FF2B5EF4-FFF2-40B4-BE49-F238E27FC236}">
                  <a16:creationId xmlns:a16="http://schemas.microsoft.com/office/drawing/2014/main" id="{F252FC19-3BF7-3ABF-0304-CDE4738DEB2D}"/>
                </a:ext>
              </a:extLst>
            </p:cNvPr>
            <p:cNvGrpSpPr/>
            <p:nvPr/>
          </p:nvGrpSpPr>
          <p:grpSpPr>
            <a:xfrm>
              <a:off x="521208" y="1590659"/>
              <a:ext cx="11034472" cy="646333"/>
              <a:chOff x="521208" y="1590659"/>
              <a:chExt cx="11034472" cy="646333"/>
            </a:xfrm>
          </p:grpSpPr>
          <p:sp>
            <p:nvSpPr>
              <p:cNvPr id="131" name="五边形 130">
                <a:extLst>
                  <a:ext uri="{FF2B5EF4-FFF2-40B4-BE49-F238E27FC236}">
                    <a16:creationId xmlns:a16="http://schemas.microsoft.com/office/drawing/2014/main" id="{62DF717C-EA9C-BE73-F369-958C2055D5C6}"/>
                  </a:ext>
                </a:extLst>
              </p:cNvPr>
              <p:cNvSpPr/>
              <p:nvPr/>
            </p:nvSpPr>
            <p:spPr>
              <a:xfrm>
                <a:off x="521208" y="1590659"/>
                <a:ext cx="6336348" cy="638117"/>
              </a:xfrm>
              <a:prstGeom prst="homePlat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2" name="Rectangle 37">
                <a:extLst>
                  <a:ext uri="{FF2B5EF4-FFF2-40B4-BE49-F238E27FC236}">
                    <a16:creationId xmlns:a16="http://schemas.microsoft.com/office/drawing/2014/main" id="{BD39BC18-B37E-D35E-736E-F4C0CA6771D6}"/>
                  </a:ext>
                </a:extLst>
              </p:cNvPr>
              <p:cNvSpPr/>
              <p:nvPr/>
            </p:nvSpPr>
            <p:spPr>
              <a:xfrm>
                <a:off x="6947338" y="1590660"/>
                <a:ext cx="4608342" cy="64633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171450" lvl="0" indent="-17145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Courier New" panose="02070309020205020404" pitchFamily="49" charset="0"/>
                  <a:buChar char="o"/>
                  <a:defRPr/>
                </a:pPr>
                <a:r>
                  <a:rPr lang="zh-CN" altLang="zh-CN" sz="14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GPC</a:t>
                </a:r>
                <a:r>
                  <a:rPr lang="zh-CN" altLang="zh-CN" sz="1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、黏度、</a:t>
                </a:r>
                <a:r>
                  <a:rPr lang="zh-CN" altLang="zh-CN" sz="14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PDI</a:t>
                </a:r>
                <a:r>
                  <a:rPr lang="zh-CN" altLang="zh-CN" sz="1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、冻力、水分、入库量等质检数据更多用于</a:t>
                </a:r>
                <a:r>
                  <a:rPr lang="zh-CN" altLang="zh-CN" sz="14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最终检验</a:t>
                </a:r>
                <a:r>
                  <a:rPr lang="zh-CN" altLang="zh-CN" sz="1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，尚未反向校正前端</a:t>
                </a:r>
                <a:r>
                  <a:rPr lang="zh-CN" altLang="zh-CN" sz="14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复配比例</a:t>
                </a:r>
                <a:r>
                  <a:rPr lang="zh-CN" altLang="zh-CN" sz="1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、凝胶干燥参数和生产决策。</a:t>
                </a: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3" name="文本框 132">
                <a:extLst>
                  <a:ext uri="{FF2B5EF4-FFF2-40B4-BE49-F238E27FC236}">
                    <a16:creationId xmlns:a16="http://schemas.microsoft.com/office/drawing/2014/main" id="{F77E6AB2-F45F-BED8-E769-14F1F77D72CC}"/>
                  </a:ext>
                </a:extLst>
              </p:cNvPr>
              <p:cNvSpPr txBox="1"/>
              <p:nvPr/>
            </p:nvSpPr>
            <p:spPr>
              <a:xfrm>
                <a:off x="2491060" y="1725051"/>
                <a:ext cx="115093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b="1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Noto Sans CJK SC" pitchFamily="34" charset="-120"/>
                  </a:rPr>
                  <a:t>粉碎成品</a:t>
                </a:r>
                <a:endPara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136" name="文本框 135">
            <a:extLst>
              <a:ext uri="{FF2B5EF4-FFF2-40B4-BE49-F238E27FC236}">
                <a16:creationId xmlns:a16="http://schemas.microsoft.com/office/drawing/2014/main" id="{75959CF4-D11C-8C34-AD9B-C0E3994FF167}"/>
              </a:ext>
            </a:extLst>
          </p:cNvPr>
          <p:cNvSpPr txBox="1"/>
          <p:nvPr/>
        </p:nvSpPr>
        <p:spPr>
          <a:xfrm>
            <a:off x="563116" y="1616203"/>
            <a:ext cx="18198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纯化胶原骨粒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骨粒规格、脱脂/脱矿程度、杂质控制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7" name="文本框 136">
            <a:extLst>
              <a:ext uri="{FF2B5EF4-FFF2-40B4-BE49-F238E27FC236}">
                <a16:creationId xmlns:a16="http://schemas.microsoft.com/office/drawing/2014/main" id="{5B8920D8-66BF-3771-09ED-453B65EAFE4C}"/>
              </a:ext>
            </a:extLst>
          </p:cNvPr>
          <p:cNvSpPr txBox="1"/>
          <p:nvPr/>
        </p:nvSpPr>
        <p:spPr>
          <a:xfrm>
            <a:off x="563116" y="2287121"/>
            <a:ext cx="181986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不同断链程度胶原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目标Mw 基础区间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8" name="文本框 137">
            <a:extLst>
              <a:ext uri="{FF2B5EF4-FFF2-40B4-BE49-F238E27FC236}">
                <a16:creationId xmlns:a16="http://schemas.microsoft.com/office/drawing/2014/main" id="{AF8E4EA1-C5E6-7C32-4045-4594FBC67973}"/>
              </a:ext>
            </a:extLst>
          </p:cNvPr>
          <p:cNvSpPr txBox="1"/>
          <p:nvPr/>
        </p:nvSpPr>
        <p:spPr>
          <a:xfrm>
            <a:off x="563116" y="3030512"/>
            <a:ext cx="18198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pH稳定胶原物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pH、钙/氯离子残留、透明度风险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F69BB475-37CA-0001-02F6-3B58DFFDB52E}"/>
              </a:ext>
            </a:extLst>
          </p:cNvPr>
          <p:cNvSpPr txBox="1"/>
          <p:nvPr/>
        </p:nvSpPr>
        <p:spPr>
          <a:xfrm>
            <a:off x="563116" y="3712417"/>
            <a:ext cx="18198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不同道次胶液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各道次 Mw、重量、黏度、冻力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6C3DE55E-F68C-3C6E-CA55-82004B160422}"/>
              </a:ext>
            </a:extLst>
          </p:cNvPr>
          <p:cNvSpPr txBox="1"/>
          <p:nvPr/>
        </p:nvSpPr>
        <p:spPr>
          <a:xfrm>
            <a:off x="563116" y="4434365"/>
            <a:ext cx="18198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目标 Mw 复配胶液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固含量、黏度、冻力、理论产出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BF9E9306-7745-6090-5663-F7083134A863}"/>
              </a:ext>
            </a:extLst>
          </p:cNvPr>
          <p:cNvSpPr txBox="1"/>
          <p:nvPr/>
        </p:nvSpPr>
        <p:spPr>
          <a:xfrm>
            <a:off x="563116" y="5116698"/>
            <a:ext cx="18198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干燥后成品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水分、损耗率、实际产出、质量偏差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2" name="文本框 141">
            <a:extLst>
              <a:ext uri="{FF2B5EF4-FFF2-40B4-BE49-F238E27FC236}">
                <a16:creationId xmlns:a16="http://schemas.microsoft.com/office/drawing/2014/main" id="{956B71B9-0B4D-0D3C-1A91-ABA1207A8ED0}"/>
              </a:ext>
            </a:extLst>
          </p:cNvPr>
          <p:cNvSpPr txBox="1"/>
          <p:nvPr/>
        </p:nvSpPr>
        <p:spPr>
          <a:xfrm>
            <a:off x="563116" y="5852422"/>
            <a:ext cx="1819866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入库成品与质检报告</a:t>
            </a:r>
            <a:endParaRPr lang="en-US" altLang="zh-CN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Mn、Mw、Mz、PDI、小分子占比、黏度、冻力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4" name="文本框 143">
            <a:extLst>
              <a:ext uri="{FF2B5EF4-FFF2-40B4-BE49-F238E27FC236}">
                <a16:creationId xmlns:a16="http://schemas.microsoft.com/office/drawing/2014/main" id="{E1E67CF1-EF14-094D-6963-69495BA3B177}"/>
              </a:ext>
            </a:extLst>
          </p:cNvPr>
          <p:cNvSpPr txBox="1"/>
          <p:nvPr/>
        </p:nvSpPr>
        <p:spPr>
          <a:xfrm>
            <a:off x="3817916" y="1616203"/>
            <a:ext cx="22780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原料批次、骨粒规格、残油/灰分/杂质率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5" name="文本框 144">
            <a:extLst>
              <a:ext uri="{FF2B5EF4-FFF2-40B4-BE49-F238E27FC236}">
                <a16:creationId xmlns:a16="http://schemas.microsoft.com/office/drawing/2014/main" id="{67D081E6-BC6E-38B3-0CC5-3125CB373CDF}"/>
              </a:ext>
            </a:extLst>
          </p:cNvPr>
          <p:cNvSpPr txBox="1"/>
          <p:nvPr/>
        </p:nvSpPr>
        <p:spPr>
          <a:xfrm>
            <a:off x="3817916" y="2287997"/>
            <a:ext cx="22780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浸灰时间、温度、料液比、石灰乳浓度、Mw区间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6" name="文本框 145">
            <a:extLst>
              <a:ext uri="{FF2B5EF4-FFF2-40B4-BE49-F238E27FC236}">
                <a16:creationId xmlns:a16="http://schemas.microsoft.com/office/drawing/2014/main" id="{6D627D84-C55B-A7E1-0096-7FB9F443E271}"/>
              </a:ext>
            </a:extLst>
          </p:cNvPr>
          <p:cNvSpPr txBox="1"/>
          <p:nvPr/>
        </p:nvSpPr>
        <p:spPr>
          <a:xfrm>
            <a:off x="3817916" y="3001824"/>
            <a:ext cx="22780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pH 6.0–6.5、残留离子、洗涤次数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7" name="文本框 146">
            <a:extLst>
              <a:ext uri="{FF2B5EF4-FFF2-40B4-BE49-F238E27FC236}">
                <a16:creationId xmlns:a16="http://schemas.microsoft.com/office/drawing/2014/main" id="{70D4AA79-9F03-0992-D1B4-D1E4491F4427}"/>
              </a:ext>
            </a:extLst>
          </p:cNvPr>
          <p:cNvSpPr txBox="1"/>
          <p:nvPr/>
        </p:nvSpPr>
        <p:spPr>
          <a:xfrm>
            <a:off x="3817916" y="3705174"/>
            <a:ext cx="22780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Mwᵢ、Wᵢ、道次、提胶温度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8" name="文本框 147">
            <a:extLst>
              <a:ext uri="{FF2B5EF4-FFF2-40B4-BE49-F238E27FC236}">
                <a16:creationId xmlns:a16="http://schemas.microsoft.com/office/drawing/2014/main" id="{F381D794-A3F7-CCFA-263E-00A2379CFA70}"/>
              </a:ext>
            </a:extLst>
          </p:cNvPr>
          <p:cNvSpPr txBox="1"/>
          <p:nvPr/>
        </p:nvSpPr>
        <p:spPr>
          <a:xfrm>
            <a:off x="3817916" y="4419877"/>
            <a:ext cx="22780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Mw混、Wᵢ、固含量ᵢ、[η]、理论产出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9" name="文本框 148">
            <a:extLst>
              <a:ext uri="{FF2B5EF4-FFF2-40B4-BE49-F238E27FC236}">
                <a16:creationId xmlns:a16="http://schemas.microsoft.com/office/drawing/2014/main" id="{1DF5BE79-C5FD-CC16-1032-177D66F90D1B}"/>
              </a:ext>
            </a:extLst>
          </p:cNvPr>
          <p:cNvSpPr txBox="1"/>
          <p:nvPr/>
        </p:nvSpPr>
        <p:spPr>
          <a:xfrm>
            <a:off x="3817916" y="5113561"/>
            <a:ext cx="22780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成品水分 12%–16%、干基重量、损耗率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0" name="文本框 149">
            <a:extLst>
              <a:ext uri="{FF2B5EF4-FFF2-40B4-BE49-F238E27FC236}">
                <a16:creationId xmlns:a16="http://schemas.microsoft.com/office/drawing/2014/main" id="{40D27879-4C6A-3786-D6C5-04F55E9EAB48}"/>
              </a:ext>
            </a:extLst>
          </p:cNvPr>
          <p:cNvSpPr txBox="1"/>
          <p:nvPr/>
        </p:nvSpPr>
        <p:spPr>
          <a:xfrm>
            <a:off x="3817916" y="5851461"/>
            <a:ext cx="22780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GPC公式、PDI公式、小分子占比公式、黏度估算公式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5639560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7B2CC8B9-9465-D3AC-2C92-A07502200AF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697743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3" progId="TCLayout.ActiveDocument.1">
                  <p:embed/>
                </p:oleObj>
              </mc:Choice>
              <mc:Fallback>
                <p:oleObj name="think-cell Slide" r:id="rId4" imgW="473" imgH="473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B2CC8B9-9465-D3AC-2C92-A07502200AF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0">
            <a:extLst>
              <a:ext uri="{FF2B5EF4-FFF2-40B4-BE49-F238E27FC236}">
                <a16:creationId xmlns:a16="http://schemas.microsoft.com/office/drawing/2014/main" id="{F97ECF82-F92E-1D05-3CD5-9B58D7BCFCF2}"/>
              </a:ext>
            </a:extLst>
          </p:cNvPr>
          <p:cNvSpPr/>
          <p:nvPr/>
        </p:nvSpPr>
        <p:spPr>
          <a:xfrm>
            <a:off x="502920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CN" altLang="en-US" sz="22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选中其中的某个环节进行切入</a:t>
            </a:r>
            <a:endParaRPr lang="en-US" sz="2200" b="1" dirty="0">
              <a:solidFill>
                <a:srgbClr val="1020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43E5027-55A3-A91C-14A1-41698B7575F5}"/>
              </a:ext>
            </a:extLst>
          </p:cNvPr>
          <p:cNvSpPr/>
          <p:nvPr/>
        </p:nvSpPr>
        <p:spPr>
          <a:xfrm>
            <a:off x="856527" y="1886672"/>
            <a:ext cx="3946967" cy="38775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展开凝胶流程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明确输入、输出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当前现状（没有就留空）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与最终产出的偏差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AC8BB39-84EE-D177-9D7A-CC77D214AA9E}"/>
              </a:ext>
            </a:extLst>
          </p:cNvPr>
          <p:cNvSpPr/>
          <p:nvPr/>
        </p:nvSpPr>
        <p:spPr>
          <a:xfrm>
            <a:off x="6667596" y="1886672"/>
            <a:ext cx="3946967" cy="38775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未来图景：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PDF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中涉及到的哪些算法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6989860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think-cell data - do not delete" hidden="1">
            <a:extLst>
              <a:ext uri="{FF2B5EF4-FFF2-40B4-BE49-F238E27FC236}">
                <a16:creationId xmlns:a16="http://schemas.microsoft.com/office/drawing/2014/main" id="{03DA7606-2E48-AA64-9A5A-9254C8112BE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9160990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3" progId="TCLayout.ActiveDocument.1">
                  <p:embed/>
                </p:oleObj>
              </mc:Choice>
              <mc:Fallback>
                <p:oleObj name="think-cell Slide" r:id="rId4" imgW="473" imgH="473" progId="TCLayout.ActiveDocument.1">
                  <p:embed/>
                  <p:pic>
                    <p:nvPicPr>
                      <p:cNvPr id="2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3DA7606-2E48-AA64-9A5A-9254C8112BE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0"/>
          <p:cNvSpPr/>
          <p:nvPr/>
        </p:nvSpPr>
        <p:spPr>
          <a:xfrm>
            <a:off x="502920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项目背景与核心判断</a:t>
            </a:r>
            <a:endParaRPr lang="en-US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521208" y="841248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从“经验调胶”转向“公式计算 + 现场校正 + AI 推荐”的闭环</a:t>
            </a:r>
            <a:endParaRPr lang="en-US" sz="88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1325880" cy="320040"/>
          </a:xfrm>
          <a:prstGeom prst="roundRect">
            <a:avLst>
              <a:gd name="adj" fmla="val 22857"/>
            </a:avLst>
          </a:prstGeom>
          <a:solidFill>
            <a:srgbClr val="FFF2F0"/>
          </a:solidFill>
          <a:ln w="12700">
            <a:solidFill>
              <a:srgbClr val="FFF2F0"/>
            </a:solidFill>
            <a:prstDash val="solid"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 4"/>
          <p:cNvSpPr/>
          <p:nvPr/>
        </p:nvSpPr>
        <p:spPr>
          <a:xfrm>
            <a:off x="758952" y="1495044"/>
            <a:ext cx="1179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645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当前核心卡点</a:t>
            </a:r>
            <a:endParaRPr lang="en-US" sz="8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 5"/>
          <p:cNvSpPr/>
          <p:nvPr/>
        </p:nvSpPr>
        <p:spPr>
          <a:xfrm>
            <a:off x="685800" y="181051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凝胶/复配阶段按照道尔顿分子量计算不准，最终产品产出与质量指标偏差大。</a:t>
            </a:r>
            <a:endParaRPr lang="en-US" sz="19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 6"/>
          <p:cNvSpPr/>
          <p:nvPr/>
        </p:nvSpPr>
        <p:spPr>
          <a:xfrm>
            <a:off x="749808" y="2633472"/>
            <a:ext cx="4617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03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分子量、黏度、冻力、产出之间缺少统一计算口径</a:t>
            </a:r>
            <a:endParaRPr lang="en-US" sz="103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27000" indent="-127000">
              <a:buSzPct val="100000"/>
              <a:buChar char="•"/>
            </a:pPr>
            <a:r>
              <a:rPr lang="en-US" sz="103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标准公式停留在技术文档，未嵌入现场决策流程</a:t>
            </a:r>
            <a:endParaRPr lang="en-US" sz="103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27000" indent="-127000">
              <a:buSzPct val="100000"/>
              <a:buChar char="•"/>
            </a:pPr>
            <a:r>
              <a:rPr lang="en-US" sz="103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复配计算未充分纳入固含量、水分、损耗等现场变量</a:t>
            </a:r>
            <a:endParaRPr lang="en-US" sz="103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27000" indent="-127000">
              <a:buSzPct val="100000"/>
              <a:buChar char="•"/>
            </a:pPr>
            <a:r>
              <a:rPr lang="en-US" sz="103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GPC 终检与中控黏度数据之间未形成闭环校准</a:t>
            </a:r>
            <a:endParaRPr lang="en-US" sz="103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989320" y="1417320"/>
            <a:ext cx="0" cy="4434840"/>
          </a:xfrm>
          <a:prstGeom prst="line">
            <a:avLst/>
          </a:prstGeom>
          <a:noFill/>
          <a:ln w="1524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446520" y="1417320"/>
            <a:ext cx="1417320" cy="320040"/>
          </a:xfrm>
          <a:prstGeom prst="roundRect">
            <a:avLst>
              <a:gd name="adj" fmla="val 22857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519672" y="1495044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6EA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建议项目定义</a:t>
            </a:r>
            <a:endParaRPr lang="en-US" sz="8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46520" y="1810512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明胶生产分子量与产出</a:t>
            </a:r>
            <a:endParaRPr lang="en-US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sz="22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智能控制项目</a:t>
            </a:r>
            <a:endParaRPr lang="en-US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446520" y="2788920"/>
            <a:ext cx="4370832" cy="713232"/>
          </a:xfrm>
          <a:prstGeom prst="roundRect">
            <a:avLst>
              <a:gd name="adj" fmla="val 15385"/>
            </a:avLst>
          </a:prstGeom>
          <a:solidFill>
            <a:srgbClr val="EAF2FF"/>
          </a:solidFill>
          <a:ln w="11430">
            <a:solidFill>
              <a:srgbClr val="EAF2FF"/>
            </a:solidFill>
            <a:prstDash val="solid"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611112" y="2935224"/>
            <a:ext cx="4041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6EA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一期 MVP</a:t>
            </a:r>
            <a:endParaRPr 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611112" y="3300984"/>
            <a:ext cx="4041648" cy="54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400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分子量计算、复配推荐、凝胶/干燥产出预测</a:t>
            </a:r>
            <a:endParaRPr 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446520" y="3730752"/>
            <a:ext cx="4370832" cy="713232"/>
          </a:xfrm>
          <a:prstGeom prst="roundRect">
            <a:avLst>
              <a:gd name="adj" fmla="val 15385"/>
            </a:avLst>
          </a:prstGeom>
          <a:solidFill>
            <a:srgbClr val="EAF7F3"/>
          </a:solidFill>
          <a:ln w="11430">
            <a:solidFill>
              <a:srgbClr val="EAF7F3"/>
            </a:solidFill>
            <a:prstDash val="solid"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611112" y="3877056"/>
            <a:ext cx="4041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B8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二期深化</a:t>
            </a:r>
            <a:endParaRPr 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611112" y="4242816"/>
            <a:ext cx="4041648" cy="54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400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历史批次偏差校正、质量风险预警、工艺参数推荐</a:t>
            </a:r>
            <a:endParaRPr 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446520" y="4672584"/>
            <a:ext cx="4370832" cy="713232"/>
          </a:xfrm>
          <a:prstGeom prst="roundRect">
            <a:avLst>
              <a:gd name="adj" fmla="val 15385"/>
            </a:avLst>
          </a:prstGeom>
          <a:solidFill>
            <a:srgbClr val="FFF7E8"/>
          </a:solidFill>
          <a:ln w="11430">
            <a:solidFill>
              <a:srgbClr val="FFF7E8"/>
            </a:solidFill>
            <a:prstDash val="solid"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611112" y="4818888"/>
            <a:ext cx="4041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长期蓝图</a:t>
            </a:r>
            <a:endParaRPr 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611112" y="5184648"/>
            <a:ext cx="4041648" cy="54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400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E6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浸灰、提胶、浓缩、凝胶、干燥、质检全链路 AI 化</a:t>
            </a:r>
            <a:endParaRPr 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12064" y="6473952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9AA6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Source: 客户提供《添正生物明胶生产工艺及分子量计算技术手册》</a:t>
            </a:r>
            <a:endParaRPr lang="en-US" sz="68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8A8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lang="en-US" b="0">
                <a:latin typeface="微软雅黑" panose="020B0503020204020204" pitchFamily="34" charset="-122"/>
                <a:ea typeface="微软雅黑" panose="020B0503020204020204" pitchFamily="34" charset="-122"/>
              </a:rPr>
              <a:t>37</a:t>
            </a:fld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690885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STYLE_ID" val="a95972d9-9211-461b-9cc1-7eb56a47a51a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SpecialityArrow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DC9F30C-F77C-0349-AAC1-96DEE3A7A9EA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89ac689c-b0c2-4e48-8cc2-b73a5c4067f6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6778</TotalTime>
  <Words>6903</Words>
  <Application>Microsoft Macintosh PowerPoint</Application>
  <PresentationFormat>宽屏</PresentationFormat>
  <Paragraphs>1275</Paragraphs>
  <Slides>37</Slides>
  <Notes>33</Notes>
  <HiddenSlides>17</HiddenSlides>
  <MMClips>0</MMClips>
  <ScaleCrop>false</ScaleCrop>
  <HeadingPairs>
    <vt:vector size="8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43" baseType="lpstr">
      <vt:lpstr>微软雅黑</vt:lpstr>
      <vt:lpstr>Arial</vt:lpstr>
      <vt:lpstr>Cambria Math</vt:lpstr>
      <vt:lpstr>Courier New</vt:lpstr>
      <vt:lpstr>Office Theme</vt:lpstr>
      <vt:lpstr>think-cell Slide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EFESO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明胶生产分子量与产出智能控制项目建议书</dc:title>
  <dc:subject>添正生物明胶生产分子量与产出智能控制项目建议书</dc:subject>
  <dc:creator>OpenAI</dc:creator>
  <cp:lastModifiedBy>奕慷 李</cp:lastModifiedBy>
  <cp:revision>16</cp:revision>
  <dcterms:created xsi:type="dcterms:W3CDTF">2026-06-22T11:36:33Z</dcterms:created>
  <dcterms:modified xsi:type="dcterms:W3CDTF">2026-08-05T15:08:59Z</dcterms:modified>
</cp:coreProperties>
</file>