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3" r:id="rId4"/>
    <p:sldId id="272" r:id="rId5"/>
    <p:sldId id="271" r:id="rId6"/>
    <p:sldId id="277" r:id="rId7"/>
    <p:sldId id="279" r:id="rId8"/>
    <p:sldId id="283" r:id="rId9"/>
    <p:sldId id="281" r:id="rId10"/>
    <p:sldId id="282" r:id="rId11"/>
    <p:sldId id="280" r:id="rId12"/>
    <p:sldId id="278" r:id="rId13"/>
    <p:sldId id="258" r:id="rId14"/>
    <p:sldId id="276" r:id="rId15"/>
    <p:sldId id="269" r:id="rId16"/>
    <p:sldId id="260" r:id="rId17"/>
    <p:sldId id="270" r:id="rId18"/>
    <p:sldId id="274" r:id="rId19"/>
    <p:sldId id="268" r:id="rId20"/>
    <p:sldId id="259" r:id="rId21"/>
    <p:sldId id="261" r:id="rId22"/>
    <p:sldId id="267" r:id="rId23"/>
    <p:sldId id="262" r:id="rId24"/>
    <p:sldId id="263" r:id="rId25"/>
    <p:sldId id="264" r:id="rId26"/>
    <p:sldId id="265" r:id="rId27"/>
    <p:sldId id="26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F4E"/>
    <a:srgbClr val="5E6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4773" autoAdjust="0"/>
  </p:normalViewPr>
  <p:slideViewPr>
    <p:cSldViewPr snapToGrid="0" snapToObjects="1">
      <p:cViewPr>
        <p:scale>
          <a:sx n="120" d="100"/>
          <a:sy n="120" d="100"/>
        </p:scale>
        <p:origin x="48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45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0298-1152-F0F7-E680-07364064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EBE7B-07F4-D839-68BA-A6837A639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9E09A-D924-5F7F-7EAE-B8002DEB2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79F18-F2EE-8050-1F4E-CF2726717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1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1DE3E-4230-AB37-A643-56292E0F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AA7AC-E137-7C24-9591-D6867D816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11407-F3B2-6579-3FB2-F4943207F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ACAE9-E20B-75AF-1F06-CA702EA2D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4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C327-CDF4-CC7B-788A-9CE0B35A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22794-27D1-A41C-E1B5-B625E048D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C1E7A-CDB9-479F-8F58-4527AE0B1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DFFD4-9CDC-E099-95E8-156A66845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94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D37D-5472-9C1A-A131-1EFC4CAE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C47B6-BAA0-D964-03B2-3A2F0C07A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15381-45B6-628D-9F68-B552D4315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84F3B-8FFF-27AD-B569-97A139756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86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103B-279B-FA6B-D8B3-7D4C25B6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5B9AB-D112-F432-623F-711D80429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A3D86-CBBB-95E1-2B18-7284F8AA9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E851E-16A7-81E9-64EA-5DC36AB1D4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81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E849-ABF8-0ED4-F63D-C9A9738C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2FFF9-6057-8633-14A3-653A096D9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DE88B-8D5B-2954-C83D-826A5B0E8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31D94-E538-2241-FEF7-E2BC4D2DA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13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4F2DB-D8D1-37FD-237C-C1A4918D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1C92B-9F2D-9ADC-6B07-BD548C585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35127-4AFA-D06C-9A02-B35A5D0CF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B2728-983A-4C12-BECA-48AA5292B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24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B8C6A-E6C7-C026-F2C4-0A0BF592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D9C96-58E7-1AA2-EEA4-32C654ED5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BB532-633C-877F-B1C4-354D64267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8C780-BC43-06D3-2500-D3675997D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99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F4E"/>
          </a:solidFill>
          <a:ln w="12700">
            <a:solidFill>
              <a:srgbClr val="0B2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8FDC52E-2398-D7F7-6F0C-1A69FC9B556C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30291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B2F4E"/>
          </a:solidFill>
          <a:ln w="12700">
            <a:solidFill>
              <a:srgbClr val="0B2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EF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Proposal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明胶生产分子量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与产出智能控制项目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8D7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以凝胶/复配阶段为切入点，建立标准算法、现场校正与 AI 决策闭环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395935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566928" y="6144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8056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项目主张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371600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不是只做“凝胶阶段 AI 化”，而是以凝胶/复配为 MVP，逐步沉淀为明胶生产全链路的算法化与 AI 决策能力。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480560" y="2395728"/>
            <a:ext cx="603504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6F026D7-26F7-F25E-6851-1B1542CEA366}"/>
              </a:ext>
            </a:extLst>
          </p:cNvPr>
          <p:cNvGrpSpPr/>
          <p:nvPr/>
        </p:nvGrpSpPr>
        <p:grpSpPr>
          <a:xfrm>
            <a:off x="4142232" y="2496311"/>
            <a:ext cx="7923644" cy="2990057"/>
            <a:chOff x="4480560" y="2761488"/>
            <a:chExt cx="6355080" cy="1600200"/>
          </a:xfrm>
        </p:grpSpPr>
        <p:sp>
          <p:nvSpPr>
            <p:cNvPr id="14" name="Shape 12"/>
            <p:cNvSpPr/>
            <p:nvPr/>
          </p:nvSpPr>
          <p:spPr>
            <a:xfrm>
              <a:off x="4480560" y="2761488"/>
              <a:ext cx="1965960" cy="1600200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143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4645152" y="2907792"/>
              <a:ext cx="163677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F6EA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标准算法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645152" y="3273552"/>
              <a:ext cx="1636776" cy="9418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5E6B7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将手册中的 GPC、黏度法、复配加权公式系统固化</a:t>
              </a:r>
              <a:endParaRPr lang="en-US" sz="94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675120" y="2761488"/>
              <a:ext cx="1965960" cy="1600200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143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6839712" y="2907792"/>
              <a:ext cx="163677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4B8A6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现场校正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839712" y="3273552"/>
              <a:ext cx="1636776" cy="9418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5E6B7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引入固含量、水分、损耗率、干燥条件等真实生产变量</a:t>
              </a:r>
              <a:endParaRPr lang="en-US" sz="94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8869680" y="2761488"/>
              <a:ext cx="1965960" cy="1600200"/>
            </a:xfrm>
            <a:prstGeom prst="roundRect">
              <a:avLst>
                <a:gd name="adj" fmla="val 6857"/>
              </a:avLst>
            </a:prstGeom>
            <a:solidFill>
              <a:srgbClr val="FFFFFF"/>
            </a:solidFill>
            <a:ln w="1143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9034272" y="2907792"/>
              <a:ext cx="163677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AI 推荐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034272" y="3273552"/>
              <a:ext cx="1636776" cy="9418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5E6B7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用历史批次数据校准偏差，推荐复配与工艺参数</a:t>
              </a:r>
              <a:endParaRPr lang="en-US" sz="94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项目背景与核心判断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从“经验调胶”转向“公式计算 + 现场校正 + AI 推荐”的闭环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FFF2F0"/>
          </a:solidFill>
          <a:ln w="12700">
            <a:solidFill>
              <a:srgbClr val="FFF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49504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4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当前核心卡点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凝胶/复配阶段按照道尔顿分子量计算不准，最终产品产出与质量指标偏差大。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9808" y="2633472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分子量、黏度、冻力、产出之间缺少统一计算口径</a:t>
            </a:r>
            <a:endParaRPr lang="en-US" sz="1030" dirty="0"/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标准公式停留在技术文档，未嵌入现场决策流程</a:t>
            </a:r>
            <a:endParaRPr lang="en-US" sz="1030" dirty="0"/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复配计算未充分纳入固含量、水分、损耗等现场变量</a:t>
            </a:r>
            <a:endParaRPr lang="en-US" sz="1030" dirty="0"/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GPC 终检与中控黏度数据之间未形成闭环校准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0" cy="4434840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9672" y="14950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建议项目定义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46520" y="18105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明胶生产分子量与产出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智能控制项目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46520" y="2788920"/>
            <a:ext cx="4370832" cy="713232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143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11112" y="293522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 MVP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11112" y="3300984"/>
            <a:ext cx="4041648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分子量计算、复配推荐、凝胶/干燥产出预测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3730752"/>
            <a:ext cx="4370832" cy="713232"/>
          </a:xfrm>
          <a:prstGeom prst="roundRect">
            <a:avLst>
              <a:gd name="adj" fmla="val 15385"/>
            </a:avLst>
          </a:prstGeom>
          <a:solidFill>
            <a:srgbClr val="EAF7F3"/>
          </a:solidFill>
          <a:ln w="1143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11112" y="38770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二期深化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11112" y="4242816"/>
            <a:ext cx="4041648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历史批次偏差校正、质量风险预警、工艺参数推荐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4672584"/>
            <a:ext cx="4370832" cy="713232"/>
          </a:xfrm>
          <a:prstGeom prst="roundRect">
            <a:avLst>
              <a:gd name="adj" fmla="val 15385"/>
            </a:avLst>
          </a:prstGeom>
          <a:solidFill>
            <a:srgbClr val="FFF7E8"/>
          </a:solidFill>
          <a:ln w="11430">
            <a:solidFill>
              <a:srgbClr val="FFF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11112" y="481888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长期蓝图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11112" y="5184648"/>
            <a:ext cx="4041648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浸灰、提胶、浓缩、凝胶、干燥、质检全链路 AI 化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F06D-1242-7F72-D588-F86E5CC3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54754BB-7313-8A59-F2C4-5F0D6E74C023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A997A-CB22-8750-9459-3E517CE93836}"/>
              </a:ext>
            </a:extLst>
          </p:cNvPr>
          <p:cNvSpPr txBox="1"/>
          <p:nvPr/>
        </p:nvSpPr>
        <p:spPr>
          <a:xfrm>
            <a:off x="821802" y="1817225"/>
            <a:ext cx="507742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项目背景与目标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项目方法论</a:t>
            </a:r>
            <a:endParaRPr lang="en-US" altLang="zh-CN" b="1" dirty="0">
              <a:solidFill>
                <a:srgbClr val="0B2F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项目开展思路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项目计划与报价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过往项目分享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5728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B85C76-BB18-57BE-027C-24394E72A344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项目方法论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99016A-DAE7-A5F1-28DF-FCA81DCFA371}"/>
              </a:ext>
            </a:extLst>
          </p:cNvPr>
          <p:cNvSpPr/>
          <p:nvPr/>
        </p:nvSpPr>
        <p:spPr>
          <a:xfrm>
            <a:off x="6096000" y="342672"/>
            <a:ext cx="5993630" cy="905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这一页先空着，后面再补，问题不大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4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E5C3043-E91C-36A1-35CA-8E45C661AFC0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34803-6C7A-389F-B6CB-12E21676A3DB}"/>
              </a:ext>
            </a:extLst>
          </p:cNvPr>
          <p:cNvSpPr txBox="1"/>
          <p:nvPr/>
        </p:nvSpPr>
        <p:spPr>
          <a:xfrm>
            <a:off x="821802" y="1817225"/>
            <a:ext cx="507742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项目背景与目标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项目方法论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项目开展思路</a:t>
            </a:r>
            <a:endParaRPr lang="en-US" altLang="zh-CN" b="1" dirty="0">
              <a:solidFill>
                <a:srgbClr val="0B2F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项目计划与报价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过往项目分享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1308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5B44-5C5D-66C9-3F9C-4D77FD55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1F0EFF-F5FC-AFB5-8FED-A64718117776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D9170D-DDF0-36EA-328A-95EC5A971F21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38DD4A-ABD5-918D-F962-B6735A84526D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27416F10-A4AA-C811-E4B0-9EB42B79C4C3}"/>
              </a:ext>
            </a:extLst>
          </p:cNvPr>
          <p:cNvSpPr/>
          <p:nvPr/>
        </p:nvSpPr>
        <p:spPr>
          <a:xfrm>
            <a:off x="2428890" y="1239642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DF305037-6D5F-65C9-0479-8153C3286BC7}"/>
              </a:ext>
            </a:extLst>
          </p:cNvPr>
          <p:cNvSpPr/>
          <p:nvPr/>
        </p:nvSpPr>
        <p:spPr>
          <a:xfrm>
            <a:off x="835410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2B3AFB12-A4B2-38F8-3AA2-765EB409ED31}"/>
              </a:ext>
            </a:extLst>
          </p:cNvPr>
          <p:cNvSpPr/>
          <p:nvPr/>
        </p:nvSpPr>
        <p:spPr>
          <a:xfrm>
            <a:off x="427268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BE08A262-99B4-AEC1-81B7-74813C03AA7C}"/>
              </a:ext>
            </a:extLst>
          </p:cNvPr>
          <p:cNvSpPr/>
          <p:nvPr/>
        </p:nvSpPr>
        <p:spPr>
          <a:xfrm>
            <a:off x="866180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F86C532-2644-2DED-4B53-8D6B3A29A349}"/>
              </a:ext>
            </a:extLst>
          </p:cNvPr>
          <p:cNvGrpSpPr/>
          <p:nvPr/>
        </p:nvGrpSpPr>
        <p:grpSpPr>
          <a:xfrm>
            <a:off x="502920" y="1590658"/>
            <a:ext cx="11052760" cy="696462"/>
            <a:chOff x="502920" y="1590659"/>
            <a:chExt cx="11052760" cy="696462"/>
          </a:xfrm>
        </p:grpSpPr>
        <p:sp>
          <p:nvSpPr>
            <p:cNvPr id="65" name="AutoShape 15">
              <a:extLst>
                <a:ext uri="{FF2B5EF4-FFF2-40B4-BE49-F238E27FC236}">
                  <a16:creationId xmlns:a16="http://schemas.microsoft.com/office/drawing/2014/main" id="{468F8E88-A22F-1F6F-2BC5-90DFA21604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4A67F51C-B833-1863-69A9-5A117CE740AA}"/>
                </a:ext>
              </a:extLst>
            </p:cNvPr>
            <p:cNvGrpSpPr/>
            <p:nvPr/>
          </p:nvGrpSpPr>
          <p:grpSpPr>
            <a:xfrm>
              <a:off x="502920" y="1590659"/>
              <a:ext cx="11052760" cy="696462"/>
              <a:chOff x="502920" y="1590659"/>
              <a:chExt cx="11052760" cy="696462"/>
            </a:xfrm>
          </p:grpSpPr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4C4D2017-7AA5-55B3-CD32-91B36BA03B3F}"/>
                  </a:ext>
                </a:extLst>
              </p:cNvPr>
              <p:cNvSpPr/>
              <p:nvPr/>
            </p:nvSpPr>
            <p:spPr>
              <a:xfrm>
                <a:off x="502920" y="1590659"/>
                <a:ext cx="6354636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7" name="Rectangle 37">
                <a:extLst>
                  <a:ext uri="{FF2B5EF4-FFF2-40B4-BE49-F238E27FC236}">
                    <a16:creationId xmlns:a16="http://schemas.microsoft.com/office/drawing/2014/main" id="{FC70B574-4134-A1C4-042C-7083BAE39341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</a:rPr>
                  <a:t>原料质量、脱脂/脱矿程度、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骨粒均匀度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会影响后续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浸灰效果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和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批次稳定性</a:t>
                </a:r>
                <a:endParaRPr lang="zh-CN" alt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38E9F842-616C-1E0C-2F17-AB3C932872F1}"/>
                  </a:ext>
                </a:extLst>
              </p:cNvPr>
              <p:cNvSpPr txBox="1"/>
              <p:nvPr/>
            </p:nvSpPr>
            <p:spPr>
              <a:xfrm>
                <a:off x="2491060" y="1640790"/>
                <a:ext cx="115093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原料预</a:t>
                </a:r>
                <a:endPara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endParaRPr>
              </a:p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处理</a:t>
                </a:r>
                <a:endParaRPr lang="en-US" altLang="zh-CN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CCE8C5C0-640E-5564-2B62-D34EE3173F9A}"/>
              </a:ext>
            </a:extLst>
          </p:cNvPr>
          <p:cNvGrpSpPr/>
          <p:nvPr/>
        </p:nvGrpSpPr>
        <p:grpSpPr>
          <a:xfrm>
            <a:off x="521208" y="2287119"/>
            <a:ext cx="11034472" cy="647292"/>
            <a:chOff x="521208" y="1590659"/>
            <a:chExt cx="11034472" cy="647292"/>
          </a:xfrm>
        </p:grpSpPr>
        <p:sp>
          <p:nvSpPr>
            <p:cNvPr id="99" name="AutoShape 15">
              <a:extLst>
                <a:ext uri="{FF2B5EF4-FFF2-40B4-BE49-F238E27FC236}">
                  <a16:creationId xmlns:a16="http://schemas.microsoft.com/office/drawing/2014/main" id="{8EC92A24-3E27-C09B-145E-ED19DED900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F5C4C5A5-F3CE-B002-86CE-EEF2D56EC87C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01" name="五边形 100">
                <a:extLst>
                  <a:ext uri="{FF2B5EF4-FFF2-40B4-BE49-F238E27FC236}">
                    <a16:creationId xmlns:a16="http://schemas.microsoft.com/office/drawing/2014/main" id="{45BF6BBF-FC63-1DCF-3509-095E27E08409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2" name="Rectangle 37">
                <a:extLst>
                  <a:ext uri="{FF2B5EF4-FFF2-40B4-BE49-F238E27FC236}">
                    <a16:creationId xmlns:a16="http://schemas.microsoft.com/office/drawing/2014/main" id="{05C562FD-572C-CF68-C282-FD1A20C4C3DB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</a:rPr>
                  <a:t>浸灰是决定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分子量基础区间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的核心环节，但终点判断仍容易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依赖人工经验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；浸灰时间、温度、石灰乳浓度、料液比的变化会直接影响 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Mw 基础区间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BFBD0899-FB3C-0620-73AC-933D887D52E5}"/>
                  </a:ext>
                </a:extLst>
              </p:cNvPr>
              <p:cNvSpPr txBox="1"/>
              <p:nvPr/>
            </p:nvSpPr>
            <p:spPr>
              <a:xfrm>
                <a:off x="2491060" y="172677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浸灰水解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05E03413-7C83-CF4C-0271-E9197B16AA12}"/>
              </a:ext>
            </a:extLst>
          </p:cNvPr>
          <p:cNvGrpSpPr/>
          <p:nvPr/>
        </p:nvGrpSpPr>
        <p:grpSpPr>
          <a:xfrm>
            <a:off x="521208" y="3001822"/>
            <a:ext cx="11034472" cy="647292"/>
            <a:chOff x="521208" y="1590659"/>
            <a:chExt cx="11034472" cy="647292"/>
          </a:xfrm>
        </p:grpSpPr>
        <p:sp>
          <p:nvSpPr>
            <p:cNvPr id="105" name="AutoShape 15">
              <a:extLst>
                <a:ext uri="{FF2B5EF4-FFF2-40B4-BE49-F238E27FC236}">
                  <a16:creationId xmlns:a16="http://schemas.microsoft.com/office/drawing/2014/main" id="{F0DE0BC3-756F-A10E-5213-6BFCE1593CE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1E49AD45-2FA1-52FB-A8B9-694AD3BB318D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07" name="五边形 106">
                <a:extLst>
                  <a:ext uri="{FF2B5EF4-FFF2-40B4-BE49-F238E27FC236}">
                    <a16:creationId xmlns:a16="http://schemas.microsoft.com/office/drawing/2014/main" id="{8BA2F66F-C89A-BF46-3E8D-C122A90F4510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8" name="Rectangle 37">
                <a:extLst>
                  <a:ext uri="{FF2B5EF4-FFF2-40B4-BE49-F238E27FC236}">
                    <a16:creationId xmlns:a16="http://schemas.microsoft.com/office/drawing/2014/main" id="{78ABBE80-EF37-8746-E130-B7D47D3BC30E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b="1" dirty="0">
                    <a:solidFill>
                      <a:srgbClr val="FF0000"/>
                    </a:solidFill>
                  </a:rPr>
                  <a:t>pH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、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残余钙/氯离子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、洗涤充分性会影响胶液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透明度、沉淀、色差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等质量表现；若缺少过程数据记录，后续质量异常难以追溯。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65918B42-C526-5759-5D6B-AB225BED85AC}"/>
                  </a:ext>
                </a:extLst>
              </p:cNvPr>
              <p:cNvSpPr txBox="1"/>
              <p:nvPr/>
            </p:nvSpPr>
            <p:spPr>
              <a:xfrm>
                <a:off x="2491060" y="172716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中和水洗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B0409D0B-FF01-AE1E-0CD6-2AAE7D35CFDE}"/>
              </a:ext>
            </a:extLst>
          </p:cNvPr>
          <p:cNvGrpSpPr/>
          <p:nvPr/>
        </p:nvGrpSpPr>
        <p:grpSpPr>
          <a:xfrm>
            <a:off x="521208" y="3716525"/>
            <a:ext cx="11034472" cy="647292"/>
            <a:chOff x="521208" y="1590659"/>
            <a:chExt cx="11034472" cy="647292"/>
          </a:xfrm>
        </p:grpSpPr>
        <p:sp>
          <p:nvSpPr>
            <p:cNvPr id="111" name="AutoShape 15">
              <a:extLst>
                <a:ext uri="{FF2B5EF4-FFF2-40B4-BE49-F238E27FC236}">
                  <a16:creationId xmlns:a16="http://schemas.microsoft.com/office/drawing/2014/main" id="{299536C4-B06E-F028-6411-0D6D9DCF5F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253BC49B-7FAA-3218-6A4B-72E9A2E125D5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13" name="五边形 112">
                <a:extLst>
                  <a:ext uri="{FF2B5EF4-FFF2-40B4-BE49-F238E27FC236}">
                    <a16:creationId xmlns:a16="http://schemas.microsoft.com/office/drawing/2014/main" id="{10BDD412-2101-8167-ACBA-C8C026172A6B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4" name="Rectangle 37">
                <a:extLst>
                  <a:ext uri="{FF2B5EF4-FFF2-40B4-BE49-F238E27FC236}">
                    <a16:creationId xmlns:a16="http://schemas.microsoft.com/office/drawing/2014/main" id="{9444451E-45A5-5749-02E9-FD5FB6D429F6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</a:rPr>
                  <a:t>不同提胶道次对应不同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分子量胶液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，但如果道次、温度、时间、胶液重量、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Mw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、黏度、冻力等数据未统一沉淀，后续复配仍主要依赖经验。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7124BC84-A174-83F9-2E85-776F4169F791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分段提胶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3BE839E5-F79C-EB59-BDA1-167683D96052}"/>
              </a:ext>
            </a:extLst>
          </p:cNvPr>
          <p:cNvGrpSpPr/>
          <p:nvPr/>
        </p:nvGrpSpPr>
        <p:grpSpPr>
          <a:xfrm>
            <a:off x="521208" y="4431228"/>
            <a:ext cx="11034472" cy="647292"/>
            <a:chOff x="521208" y="1590659"/>
            <a:chExt cx="11034472" cy="647292"/>
          </a:xfrm>
        </p:grpSpPr>
        <p:sp>
          <p:nvSpPr>
            <p:cNvPr id="117" name="AutoShape 15">
              <a:extLst>
                <a:ext uri="{FF2B5EF4-FFF2-40B4-BE49-F238E27FC236}">
                  <a16:creationId xmlns:a16="http://schemas.microsoft.com/office/drawing/2014/main" id="{EBE6E185-9EF9-0327-4BE2-FF896FE36B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E5126242-759D-19C4-16FE-12599BD4DFF5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19" name="五边形 118">
                <a:extLst>
                  <a:ext uri="{FF2B5EF4-FFF2-40B4-BE49-F238E27FC236}">
                    <a16:creationId xmlns:a16="http://schemas.microsoft.com/office/drawing/2014/main" id="{D3B74A21-D633-FA16-30DB-250A60B10062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0" name="Rectangle 37">
                <a:extLst>
                  <a:ext uri="{FF2B5EF4-FFF2-40B4-BE49-F238E27FC236}">
                    <a16:creationId xmlns:a16="http://schemas.microsoft.com/office/drawing/2014/main" id="{99FC9EE8-DB0F-28B9-53BC-ED08FFDE3163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</a:rPr>
                  <a:t>复配计算容易只关注胶液重量和目标 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Mw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，未充分纳入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固含量、水分、损耗率、浓缩浓度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等现场变量，导致理论分子量与实际结果存在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偏差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214701B6-6B53-6AC5-1BAF-0C3FF2AF2975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浓缩复配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F21CB8DF-31A1-4D0E-B089-015D25BE2756}"/>
              </a:ext>
            </a:extLst>
          </p:cNvPr>
          <p:cNvGrpSpPr/>
          <p:nvPr/>
        </p:nvGrpSpPr>
        <p:grpSpPr>
          <a:xfrm>
            <a:off x="521208" y="5124912"/>
            <a:ext cx="11034472" cy="647292"/>
            <a:chOff x="521208" y="1590659"/>
            <a:chExt cx="11034472" cy="647292"/>
          </a:xfrm>
        </p:grpSpPr>
        <p:sp>
          <p:nvSpPr>
            <p:cNvPr id="123" name="AutoShape 15">
              <a:extLst>
                <a:ext uri="{FF2B5EF4-FFF2-40B4-BE49-F238E27FC236}">
                  <a16:creationId xmlns:a16="http://schemas.microsoft.com/office/drawing/2014/main" id="{1A8DE20B-5A5E-9C80-8F5C-77220FF3DA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A46A5F10-CBC2-250A-8F5E-02ED5F3A0CED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25" name="五边形 124">
                <a:extLst>
                  <a:ext uri="{FF2B5EF4-FFF2-40B4-BE49-F238E27FC236}">
                    <a16:creationId xmlns:a16="http://schemas.microsoft.com/office/drawing/2014/main" id="{7B09E96C-49DF-0BB8-9408-10EA057B8127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6" name="Rectangle 37">
                <a:extLst>
                  <a:ext uri="{FF2B5EF4-FFF2-40B4-BE49-F238E27FC236}">
                    <a16:creationId xmlns:a16="http://schemas.microsoft.com/office/drawing/2014/main" id="{B62C6BCF-B287-13F6-105E-F7E2556D56DB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</a:rPr>
                  <a:t>凝胶/干燥是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质量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和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产出偏差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的集中显现点；干燥温度、时间、水分、损耗率等参数会影响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实际入库量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和最终质量，但目前可能更多依赖事后判断。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4D7DCA2-CC0F-2A1B-E70C-F446503979D3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凝胶干燥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6F286F89-6976-FB17-7BD1-222594746D27}"/>
              </a:ext>
            </a:extLst>
          </p:cNvPr>
          <p:cNvGrpSpPr/>
          <p:nvPr/>
        </p:nvGrpSpPr>
        <p:grpSpPr>
          <a:xfrm>
            <a:off x="521208" y="5860636"/>
            <a:ext cx="11034472" cy="647292"/>
            <a:chOff x="521208" y="1590659"/>
            <a:chExt cx="11034472" cy="647292"/>
          </a:xfrm>
        </p:grpSpPr>
        <p:sp>
          <p:nvSpPr>
            <p:cNvPr id="129" name="AutoShape 15">
              <a:extLst>
                <a:ext uri="{FF2B5EF4-FFF2-40B4-BE49-F238E27FC236}">
                  <a16:creationId xmlns:a16="http://schemas.microsoft.com/office/drawing/2014/main" id="{5B70EE94-7205-AB16-370E-812127EFA6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F252FC19-3BF7-3ABF-0304-CDE4738DEB2D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31" name="五边形 130">
                <a:extLst>
                  <a:ext uri="{FF2B5EF4-FFF2-40B4-BE49-F238E27FC236}">
                    <a16:creationId xmlns:a16="http://schemas.microsoft.com/office/drawing/2014/main" id="{62DF717C-EA9C-BE73-F369-958C2055D5C6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2" name="Rectangle 37">
                <a:extLst>
                  <a:ext uri="{FF2B5EF4-FFF2-40B4-BE49-F238E27FC236}">
                    <a16:creationId xmlns:a16="http://schemas.microsoft.com/office/drawing/2014/main" id="{BD39BC18-B37E-D35E-736E-F4C0CA6771D6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b="1" dirty="0">
                    <a:solidFill>
                      <a:srgbClr val="FF0000"/>
                    </a:solidFill>
                  </a:rPr>
                  <a:t>GPC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、黏度、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PDI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、冻力、水分、入库量等质检数据更多用于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最终检验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，尚未反向校正前端</a:t>
                </a:r>
                <a:r>
                  <a:rPr lang="zh-CN" altLang="zh-CN" sz="1400" b="1" dirty="0">
                    <a:solidFill>
                      <a:srgbClr val="FF0000"/>
                    </a:solidFill>
                  </a:rPr>
                  <a:t>复配比例</a:t>
                </a:r>
                <a:r>
                  <a:rPr lang="zh-CN" altLang="zh-CN" sz="1400" dirty="0">
                    <a:solidFill>
                      <a:schemeClr val="tx1"/>
                    </a:solidFill>
                  </a:rPr>
                  <a:t>、凝胶干燥参数和生产决策。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F77E6AB2-F45F-BED8-E769-14F1F77D72CC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粉碎成品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75959CF4-D11C-8C34-AD9B-C0E3994FF167}"/>
              </a:ext>
            </a:extLst>
          </p:cNvPr>
          <p:cNvSpPr txBox="1"/>
          <p:nvPr/>
        </p:nvSpPr>
        <p:spPr>
          <a:xfrm>
            <a:off x="563116" y="1616203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纯化胶原骨粒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骨粒规格、脱脂/脱矿程度、杂质控制</a:t>
            </a:r>
            <a:endParaRPr lang="zh-CN" altLang="en-US" sz="1200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B8920D8-66BF-3771-09ED-453B65EAFE4C}"/>
              </a:ext>
            </a:extLst>
          </p:cNvPr>
          <p:cNvSpPr txBox="1"/>
          <p:nvPr/>
        </p:nvSpPr>
        <p:spPr>
          <a:xfrm>
            <a:off x="563116" y="2287121"/>
            <a:ext cx="181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不同断链程度胶原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目标Mw 基础区间</a:t>
            </a:r>
            <a:endParaRPr lang="zh-CN" altLang="en-US" sz="1200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AF8E4EA1-C5E6-7C32-4045-4594FBC67973}"/>
              </a:ext>
            </a:extLst>
          </p:cNvPr>
          <p:cNvSpPr txBox="1"/>
          <p:nvPr/>
        </p:nvSpPr>
        <p:spPr>
          <a:xfrm>
            <a:off x="563116" y="3030512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pH稳定胶原物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pH、钙/氯离子残留、透明度风险</a:t>
            </a:r>
            <a:endParaRPr lang="zh-CN" altLang="en-US" sz="1200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69BB475-37CA-0001-02F6-3B58DFFDB52E}"/>
              </a:ext>
            </a:extLst>
          </p:cNvPr>
          <p:cNvSpPr txBox="1"/>
          <p:nvPr/>
        </p:nvSpPr>
        <p:spPr>
          <a:xfrm>
            <a:off x="563116" y="3712417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不同道次胶液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各道次 Mw、重量、黏度、冻力</a:t>
            </a:r>
            <a:endParaRPr lang="en-US" altLang="zh-CN" sz="1200" dirty="0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6C3DE55E-F68C-3C6E-CA55-82004B160422}"/>
              </a:ext>
            </a:extLst>
          </p:cNvPr>
          <p:cNvSpPr txBox="1"/>
          <p:nvPr/>
        </p:nvSpPr>
        <p:spPr>
          <a:xfrm>
            <a:off x="563116" y="4434365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目标 Mw 复配胶液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固含量、黏度、冻力、理论产出</a:t>
            </a:r>
            <a:endParaRPr lang="zh-CN" altLang="en-US" sz="12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F9E9306-7745-6090-5663-F7083134A863}"/>
              </a:ext>
            </a:extLst>
          </p:cNvPr>
          <p:cNvSpPr txBox="1"/>
          <p:nvPr/>
        </p:nvSpPr>
        <p:spPr>
          <a:xfrm>
            <a:off x="563116" y="5116698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干燥后成品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水分、损耗率、实际产出、质量偏差</a:t>
            </a:r>
            <a:endParaRPr lang="zh-CN" altLang="en-US" sz="1200" dirty="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56B71B9-0B4D-0D3C-1A91-ABA1207A8ED0}"/>
              </a:ext>
            </a:extLst>
          </p:cNvPr>
          <p:cNvSpPr txBox="1"/>
          <p:nvPr/>
        </p:nvSpPr>
        <p:spPr>
          <a:xfrm>
            <a:off x="563116" y="5852422"/>
            <a:ext cx="18198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100" b="1" dirty="0"/>
              <a:t>入库成品与质检报告</a:t>
            </a:r>
            <a:endParaRPr lang="en-US" altLang="zh-CN" sz="1100" b="1" dirty="0"/>
          </a:p>
          <a:p>
            <a:pPr algn="ctr"/>
            <a:r>
              <a:rPr lang="zh-CN" altLang="zh-CN" sz="1100" dirty="0"/>
              <a:t>Mn、Mw、Mz、PDI、小分子占比、黏度、冻力</a:t>
            </a:r>
            <a:endParaRPr lang="zh-CN" altLang="en-US" sz="110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E1E67CF1-EF14-094D-6963-69495BA3B177}"/>
              </a:ext>
            </a:extLst>
          </p:cNvPr>
          <p:cNvSpPr txBox="1"/>
          <p:nvPr/>
        </p:nvSpPr>
        <p:spPr>
          <a:xfrm>
            <a:off x="3817916" y="1616203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原料批次、骨粒规格、残油/灰分/杂质率</a:t>
            </a:r>
            <a:endParaRPr lang="zh-CN" altLang="en-US" sz="120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67D081E6-BC6E-38B3-0CC5-3125CB373CDF}"/>
              </a:ext>
            </a:extLst>
          </p:cNvPr>
          <p:cNvSpPr txBox="1"/>
          <p:nvPr/>
        </p:nvSpPr>
        <p:spPr>
          <a:xfrm>
            <a:off x="3817916" y="228799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浸灰时间、温度、料液比、石灰乳浓度、Mw区间</a:t>
            </a:r>
            <a:endParaRPr lang="zh-CN" altLang="en-US" sz="1200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D627D84-C55B-A7E1-0096-7FB9F443E271}"/>
              </a:ext>
            </a:extLst>
          </p:cNvPr>
          <p:cNvSpPr txBox="1"/>
          <p:nvPr/>
        </p:nvSpPr>
        <p:spPr>
          <a:xfrm>
            <a:off x="3817916" y="3001824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pH 6.0–6.5、残留离子、洗涤次数</a:t>
            </a:r>
            <a:endParaRPr lang="zh-CN" altLang="en-US" sz="1200" dirty="0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70D4AA79-9F03-0992-D1B4-D1E4491F4427}"/>
              </a:ext>
            </a:extLst>
          </p:cNvPr>
          <p:cNvSpPr txBox="1"/>
          <p:nvPr/>
        </p:nvSpPr>
        <p:spPr>
          <a:xfrm>
            <a:off x="3817916" y="3705174"/>
            <a:ext cx="2278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Mwᵢ、Wᵢ、道次、提胶温度</a:t>
            </a:r>
            <a:endParaRPr lang="zh-CN" altLang="en-US" sz="1200" dirty="0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F381D794-A3F7-CCFA-263E-00A2379CFA70}"/>
              </a:ext>
            </a:extLst>
          </p:cNvPr>
          <p:cNvSpPr txBox="1"/>
          <p:nvPr/>
        </p:nvSpPr>
        <p:spPr>
          <a:xfrm>
            <a:off x="3817916" y="441987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Mw混、Wᵢ、固含量ᵢ、[η]、理论产出</a:t>
            </a:r>
            <a:endParaRPr lang="zh-CN" altLang="en-US" sz="1200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1DF5BE79-C5FD-CC16-1032-177D66F90D1B}"/>
              </a:ext>
            </a:extLst>
          </p:cNvPr>
          <p:cNvSpPr txBox="1"/>
          <p:nvPr/>
        </p:nvSpPr>
        <p:spPr>
          <a:xfrm>
            <a:off x="3817916" y="51135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成品水分 12%–16%、干基重量、损耗率</a:t>
            </a:r>
            <a:endParaRPr lang="zh-CN" altLang="en-US" sz="1200" dirty="0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40D27879-4C6A-3786-D6C5-04F55E9EAB48}"/>
              </a:ext>
            </a:extLst>
          </p:cNvPr>
          <p:cNvSpPr txBox="1"/>
          <p:nvPr/>
        </p:nvSpPr>
        <p:spPr>
          <a:xfrm>
            <a:off x="3817916" y="58514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GPC公式、PDI公式、小分子占比公式、黏度估算公式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4347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C38BB481-8C53-E969-64CD-535120E88CD1}"/>
              </a:ext>
            </a:extLst>
          </p:cNvPr>
          <p:cNvGrpSpPr/>
          <p:nvPr/>
        </p:nvGrpSpPr>
        <p:grpSpPr>
          <a:xfrm>
            <a:off x="1668761" y="1439917"/>
            <a:ext cx="9041279" cy="4091539"/>
            <a:chOff x="1668762" y="1827818"/>
            <a:chExt cx="8528050" cy="3703638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56715F82-CCD3-3A6B-113F-2B3CE1BE3C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56994" y="739586"/>
              <a:ext cx="571500" cy="2747963"/>
            </a:xfrm>
            <a:prstGeom prst="homePlate">
              <a:avLst>
                <a:gd name="adj" fmla="val 26949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7500544-844D-4B81-6ADB-4B5E6103C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762" y="2343756"/>
              <a:ext cx="2747963" cy="3187700"/>
            </a:xfrm>
            <a:custGeom>
              <a:avLst/>
              <a:gdLst>
                <a:gd name="T0" fmla="*/ 2147483647 w 2551"/>
                <a:gd name="T1" fmla="*/ 2147483647 h 2008"/>
                <a:gd name="T2" fmla="*/ 2147483647 w 2551"/>
                <a:gd name="T3" fmla="*/ 0 h 2008"/>
                <a:gd name="T4" fmla="*/ 2147483647 w 2551"/>
                <a:gd name="T5" fmla="*/ 2147483647 h 2008"/>
                <a:gd name="T6" fmla="*/ 0 w 2551"/>
                <a:gd name="T7" fmla="*/ 0 h 2008"/>
                <a:gd name="T8" fmla="*/ 0 w 2551"/>
                <a:gd name="T9" fmla="*/ 2147483647 h 2008"/>
                <a:gd name="T10" fmla="*/ 2147483647 w 2551"/>
                <a:gd name="T11" fmla="*/ 2147483647 h 20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51" h="2008">
                  <a:moveTo>
                    <a:pt x="2551" y="2008"/>
                  </a:moveTo>
                  <a:lnTo>
                    <a:pt x="2551" y="0"/>
                  </a:lnTo>
                  <a:lnTo>
                    <a:pt x="1274" y="97"/>
                  </a:lnTo>
                  <a:lnTo>
                    <a:pt x="0" y="0"/>
                  </a:lnTo>
                  <a:lnTo>
                    <a:pt x="0" y="2008"/>
                  </a:lnTo>
                  <a:lnTo>
                    <a:pt x="2551" y="2008"/>
                  </a:lnTo>
                </a:path>
              </a:pathLst>
            </a:custGeom>
            <a:noFill/>
            <a:ln w="63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996C6172-E213-7198-0999-0F1CFBBCCE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7500" y="2006640"/>
              <a:ext cx="2632075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关键参数判断依赖老师傅经验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CE64DE6C-BC9F-67D5-3F6F-52DDC16B6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600" y="2637443"/>
              <a:ext cx="2570162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190500" indent="-188913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buFontTx/>
                <a:buChar char="•"/>
              </a:pPr>
              <a:r>
                <a:rPr lang="zh-CN" altLang="zh-CN" dirty="0"/>
                <a:t>经验驱动：关键工艺判断缺少标准化口径</a:t>
              </a:r>
              <a:endParaRPr lang="en-US" altLang="zh-CN" dirty="0"/>
            </a:p>
            <a:p>
              <a:pPr lvl="1">
                <a:buFontTx/>
                <a:buChar char="•"/>
              </a:pPr>
              <a:endParaRPr kumimoji="1" lang="en-US" altLang="zh-CN" b="0" dirty="0"/>
            </a:p>
            <a:p>
              <a:pPr marL="1587" lvl="1" indent="0"/>
              <a:r>
                <a:rPr lang="zh-CN" altLang="zh-CN" b="0" dirty="0"/>
                <a:t>浸灰时间、提胶道次、复配比例、凝胶/干燥状态等关键判断仍较多依赖</a:t>
              </a:r>
              <a:r>
                <a:rPr lang="zh-CN" altLang="zh-CN" dirty="0">
                  <a:solidFill>
                    <a:srgbClr val="FF0000"/>
                  </a:solidFill>
                </a:rPr>
                <a:t>老师傅经验</a:t>
              </a:r>
              <a:r>
                <a:rPr lang="zh-CN" altLang="zh-CN" b="0" dirty="0"/>
                <a:t>，缺少统一的</a:t>
              </a:r>
              <a:r>
                <a:rPr lang="zh-CN" altLang="zh-CN" dirty="0">
                  <a:solidFill>
                    <a:srgbClr val="FF0000"/>
                  </a:solidFill>
                </a:rPr>
                <a:t>计算口径</a:t>
              </a:r>
              <a:r>
                <a:rPr lang="zh-CN" altLang="zh-CN" b="0" dirty="0"/>
                <a:t>，不同人员、不同批次之间容易产生</a:t>
              </a:r>
              <a:r>
                <a:rPr lang="zh-CN" altLang="zh-CN" dirty="0">
                  <a:solidFill>
                    <a:srgbClr val="FF0000"/>
                  </a:solidFill>
                </a:rPr>
                <a:t>判断差异</a:t>
              </a:r>
              <a:endParaRPr kumimoji="1" lang="zh-CN" altLang="de-DE" b="0" dirty="0"/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8107AAB3-2F90-B4F7-2FF4-19DF59E21B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646244" y="739586"/>
              <a:ext cx="571500" cy="2747963"/>
            </a:xfrm>
            <a:prstGeom prst="homePlate">
              <a:avLst>
                <a:gd name="adj" fmla="val 26949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AD65CFD-A0A4-838B-339F-8014DCBAE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012" y="2343756"/>
              <a:ext cx="2747963" cy="3187700"/>
            </a:xfrm>
            <a:custGeom>
              <a:avLst/>
              <a:gdLst>
                <a:gd name="T0" fmla="*/ 2147483647 w 2551"/>
                <a:gd name="T1" fmla="*/ 2147483647 h 2008"/>
                <a:gd name="T2" fmla="*/ 2147483647 w 2551"/>
                <a:gd name="T3" fmla="*/ 0 h 2008"/>
                <a:gd name="T4" fmla="*/ 2147483647 w 2551"/>
                <a:gd name="T5" fmla="*/ 2147483647 h 2008"/>
                <a:gd name="T6" fmla="*/ 0 w 2551"/>
                <a:gd name="T7" fmla="*/ 0 h 2008"/>
                <a:gd name="T8" fmla="*/ 0 w 2551"/>
                <a:gd name="T9" fmla="*/ 2147483647 h 2008"/>
                <a:gd name="T10" fmla="*/ 2147483647 w 2551"/>
                <a:gd name="T11" fmla="*/ 2147483647 h 20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51" h="2008">
                  <a:moveTo>
                    <a:pt x="2551" y="2008"/>
                  </a:moveTo>
                  <a:lnTo>
                    <a:pt x="2551" y="0"/>
                  </a:lnTo>
                  <a:lnTo>
                    <a:pt x="1274" y="97"/>
                  </a:lnTo>
                  <a:lnTo>
                    <a:pt x="0" y="0"/>
                  </a:lnTo>
                  <a:lnTo>
                    <a:pt x="0" y="2008"/>
                  </a:lnTo>
                  <a:lnTo>
                    <a:pt x="2551" y="2008"/>
                  </a:lnTo>
                </a:path>
              </a:pathLst>
            </a:custGeom>
            <a:noFill/>
            <a:ln w="63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8137E6D5-D58A-A711-D55B-6CA3055C8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6750" y="2006640"/>
              <a:ext cx="2632075" cy="21544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凝胶阶段是偏差集中暴露点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3B4C81-9F65-F920-42B6-3845A596F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850" y="2637443"/>
              <a:ext cx="2570162" cy="1400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190500" indent="-188913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buFontTx/>
                <a:buChar char="•"/>
              </a:pPr>
              <a:r>
                <a:rPr lang="zh-CN" altLang="zh-CN" dirty="0"/>
                <a:t>偏差暴露：复配与凝胶结果偏离理论计算</a:t>
              </a:r>
              <a:endParaRPr lang="en-US" altLang="zh-CN" dirty="0"/>
            </a:p>
            <a:p>
              <a:pPr lvl="1">
                <a:buFontTx/>
                <a:buChar char="•"/>
              </a:pPr>
              <a:endParaRPr kumimoji="1" lang="en-US" altLang="zh-CN" b="0" dirty="0"/>
            </a:p>
            <a:p>
              <a:pPr marL="1587" lvl="1" indent="0"/>
              <a:r>
                <a:rPr lang="zh-CN" altLang="zh-CN" b="0" dirty="0"/>
                <a:t>凝胶/干燥后的</a:t>
              </a:r>
              <a:r>
                <a:rPr lang="zh-CN" altLang="zh-CN" dirty="0">
                  <a:solidFill>
                    <a:srgbClr val="FF0000"/>
                  </a:solidFill>
                </a:rPr>
                <a:t>分子量</a:t>
              </a:r>
              <a:r>
                <a:rPr lang="zh-CN" altLang="zh-CN" b="0" dirty="0"/>
                <a:t>、</a:t>
              </a:r>
              <a:r>
                <a:rPr lang="zh-CN" altLang="zh-CN" dirty="0">
                  <a:solidFill>
                    <a:srgbClr val="FF0000"/>
                  </a:solidFill>
                </a:rPr>
                <a:t>质量</a:t>
              </a:r>
              <a:r>
                <a:rPr lang="zh-CN" altLang="zh-CN" b="0" dirty="0"/>
                <a:t>和</a:t>
              </a:r>
              <a:r>
                <a:rPr lang="zh-CN" altLang="zh-CN" dirty="0">
                  <a:solidFill>
                    <a:srgbClr val="FF0000"/>
                  </a:solidFill>
                </a:rPr>
                <a:t>实际产出</a:t>
              </a:r>
              <a:r>
                <a:rPr lang="zh-CN" altLang="zh-CN" b="0" dirty="0"/>
                <a:t>与理论计算存在偏差，偏差来源可能来自浸灰、提胶、浓缩复配、</a:t>
              </a:r>
              <a:r>
                <a:rPr lang="zh-CN" altLang="zh-CN" dirty="0">
                  <a:solidFill>
                    <a:srgbClr val="FF0000"/>
                  </a:solidFill>
                </a:rPr>
                <a:t>固含量</a:t>
              </a:r>
              <a:r>
                <a:rPr lang="zh-CN" altLang="zh-CN" b="0" dirty="0"/>
                <a:t>、</a:t>
              </a:r>
              <a:r>
                <a:rPr lang="zh-CN" altLang="zh-CN" dirty="0">
                  <a:solidFill>
                    <a:srgbClr val="FF0000"/>
                  </a:solidFill>
                </a:rPr>
                <a:t>水分</a:t>
              </a:r>
              <a:r>
                <a:rPr lang="zh-CN" altLang="zh-CN" b="0" dirty="0"/>
                <a:t>、</a:t>
              </a:r>
              <a:r>
                <a:rPr lang="zh-CN" altLang="zh-CN" dirty="0">
                  <a:solidFill>
                    <a:srgbClr val="FF0000"/>
                  </a:solidFill>
                </a:rPr>
                <a:t>损耗率</a:t>
              </a:r>
              <a:r>
                <a:rPr lang="zh-CN" altLang="zh-CN" b="0" dirty="0"/>
                <a:t>等多个环节</a:t>
              </a:r>
              <a:endParaRPr kumimoji="1" lang="zh-CN" altLang="de-DE" b="0" dirty="0"/>
            </a:p>
          </p:txBody>
        </p:sp>
        <p:sp>
          <p:nvSpPr>
            <p:cNvPr id="12" name="AutoShape 11">
              <a:extLst>
                <a:ext uri="{FF2B5EF4-FFF2-40B4-BE49-F238E27FC236}">
                  <a16:creationId xmlns:a16="http://schemas.microsoft.com/office/drawing/2014/main" id="{8B0E2122-DCAC-8CB1-14C3-4785B6BDA9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537081" y="739587"/>
              <a:ext cx="571500" cy="2747962"/>
            </a:xfrm>
            <a:prstGeom prst="homePlate">
              <a:avLst>
                <a:gd name="adj" fmla="val 26949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4AA25CE-128D-D0A8-8671-57AF55215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8850" y="2343756"/>
              <a:ext cx="2747962" cy="3187700"/>
            </a:xfrm>
            <a:custGeom>
              <a:avLst/>
              <a:gdLst>
                <a:gd name="T0" fmla="*/ 2147483647 w 2551"/>
                <a:gd name="T1" fmla="*/ 2147483647 h 2008"/>
                <a:gd name="T2" fmla="*/ 2147483647 w 2551"/>
                <a:gd name="T3" fmla="*/ 0 h 2008"/>
                <a:gd name="T4" fmla="*/ 2147483647 w 2551"/>
                <a:gd name="T5" fmla="*/ 2147483647 h 2008"/>
                <a:gd name="T6" fmla="*/ 0 w 2551"/>
                <a:gd name="T7" fmla="*/ 0 h 2008"/>
                <a:gd name="T8" fmla="*/ 0 w 2551"/>
                <a:gd name="T9" fmla="*/ 2147483647 h 2008"/>
                <a:gd name="T10" fmla="*/ 2147483647 w 2551"/>
                <a:gd name="T11" fmla="*/ 2147483647 h 20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51" h="2008">
                  <a:moveTo>
                    <a:pt x="2551" y="2008"/>
                  </a:moveTo>
                  <a:lnTo>
                    <a:pt x="2551" y="0"/>
                  </a:lnTo>
                  <a:lnTo>
                    <a:pt x="1274" y="97"/>
                  </a:lnTo>
                  <a:lnTo>
                    <a:pt x="0" y="0"/>
                  </a:lnTo>
                  <a:lnTo>
                    <a:pt x="0" y="2008"/>
                  </a:lnTo>
                  <a:lnTo>
                    <a:pt x="2551" y="2008"/>
                  </a:lnTo>
                </a:path>
              </a:pathLst>
            </a:custGeom>
            <a:noFill/>
            <a:ln w="63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6576F0BD-7B00-43EA-51AF-93CCCD526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7587" y="1898919"/>
              <a:ext cx="263207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质量检测与生产调整尚未形成闭环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97B61D-5D57-F93A-7026-731311FED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5687" y="2637443"/>
              <a:ext cx="2570163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190500" indent="-188913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buFontTx/>
                <a:buChar char="•"/>
              </a:pPr>
              <a:r>
                <a:rPr lang="zh-CN" altLang="zh-CN" dirty="0"/>
                <a:t>闭环缺失：质检数据未反向驱动生产优化</a:t>
              </a:r>
              <a:endParaRPr lang="en-US" altLang="zh-CN" dirty="0"/>
            </a:p>
            <a:p>
              <a:pPr lvl="1">
                <a:buFontTx/>
                <a:buChar char="•"/>
              </a:pPr>
              <a:endParaRPr kumimoji="1" lang="en-US" altLang="zh-CN" b="0" dirty="0"/>
            </a:p>
            <a:p>
              <a:pPr marL="1587" lvl="1" indent="0"/>
              <a:r>
                <a:rPr lang="zh-CN" altLang="zh-CN" b="0" dirty="0"/>
                <a:t>GPC、黏度、PDI、冻力、产出和入库检验等数据更多用于</a:t>
              </a:r>
              <a:r>
                <a:rPr lang="zh-CN" altLang="zh-CN" dirty="0">
                  <a:solidFill>
                    <a:srgbClr val="FF0000"/>
                  </a:solidFill>
                </a:rPr>
                <a:t>事后判断</a:t>
              </a:r>
              <a:r>
                <a:rPr lang="zh-CN" altLang="zh-CN" b="0" dirty="0"/>
                <a:t>，尚未反向校正</a:t>
              </a:r>
              <a:r>
                <a:rPr lang="zh-CN" altLang="zh-CN" dirty="0">
                  <a:solidFill>
                    <a:srgbClr val="FF0000"/>
                  </a:solidFill>
                </a:rPr>
                <a:t>复配计算</a:t>
              </a:r>
              <a:r>
                <a:rPr lang="zh-CN" altLang="zh-CN" b="0" dirty="0"/>
                <a:t>和</a:t>
              </a:r>
              <a:r>
                <a:rPr lang="zh-CN" altLang="zh-CN" dirty="0">
                  <a:solidFill>
                    <a:srgbClr val="FF0000"/>
                  </a:solidFill>
                </a:rPr>
                <a:t>工艺参数</a:t>
              </a:r>
              <a:r>
                <a:rPr lang="zh-CN" altLang="zh-CN" b="0" dirty="0"/>
                <a:t>，导致经验难以沉淀、模型难以持续优化。</a:t>
              </a:r>
              <a:endParaRPr kumimoji="1" lang="zh-CN" altLang="de-DE" b="0" dirty="0"/>
            </a:p>
          </p:txBody>
        </p:sp>
      </p:grpSp>
      <p:sp>
        <p:nvSpPr>
          <p:cNvPr id="16" name="Text 0">
            <a:extLst>
              <a:ext uri="{FF2B5EF4-FFF2-40B4-BE49-F238E27FC236}">
                <a16:creationId xmlns:a16="http://schemas.microsoft.com/office/drawing/2014/main" id="{6C6B5A76-51C3-63B4-7C11-A40A47F634CB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当前痛点汇总</a:t>
            </a:r>
            <a:endParaRPr lang="en-US" sz="220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505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76F82C7-E8AB-1E26-FC82-9359E1D17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52" y="903234"/>
            <a:ext cx="11902771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端到端工艺流程自动化现状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91988D-19F5-2A4A-61AF-6D4DBE02F4F6}"/>
              </a:ext>
            </a:extLst>
          </p:cNvPr>
          <p:cNvSpPr/>
          <p:nvPr/>
        </p:nvSpPr>
        <p:spPr>
          <a:xfrm>
            <a:off x="122652" y="1360968"/>
            <a:ext cx="11902770" cy="54226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8EAB4A1-772B-8509-90B3-81BB4A07ECC7}"/>
              </a:ext>
            </a:extLst>
          </p:cNvPr>
          <p:cNvGrpSpPr/>
          <p:nvPr/>
        </p:nvGrpSpPr>
        <p:grpSpPr>
          <a:xfrm>
            <a:off x="275052" y="1513368"/>
            <a:ext cx="11666866" cy="5131981"/>
            <a:chOff x="275052" y="1513368"/>
            <a:chExt cx="6596891" cy="513198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6426D4-FB46-9578-2D0B-A1C0EE33D571}"/>
                </a:ext>
              </a:extLst>
            </p:cNvPr>
            <p:cNvSpPr/>
            <p:nvPr/>
          </p:nvSpPr>
          <p:spPr>
            <a:xfrm>
              <a:off x="275052" y="1513368"/>
              <a:ext cx="5105022" cy="203790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C75BFBE-AA3F-1297-2059-BDC7BB71F65C}"/>
                </a:ext>
              </a:extLst>
            </p:cNvPr>
            <p:cNvSpPr txBox="1"/>
            <p:nvPr/>
          </p:nvSpPr>
          <p:spPr>
            <a:xfrm>
              <a:off x="1967023" y="3639676"/>
              <a:ext cx="14247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复配决策层层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63CBC2C-ECF1-1BAA-F8AA-57D2E5AB1DF1}"/>
                </a:ext>
              </a:extLst>
            </p:cNvPr>
            <p:cNvSpPr/>
            <p:nvPr/>
          </p:nvSpPr>
          <p:spPr>
            <a:xfrm>
              <a:off x="275052" y="3615070"/>
              <a:ext cx="5105022" cy="12440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371DF94-EB2E-C1CD-A081-284AD10982E5}"/>
                </a:ext>
              </a:extLst>
            </p:cNvPr>
            <p:cNvSpPr txBox="1"/>
            <p:nvPr/>
          </p:nvSpPr>
          <p:spPr>
            <a:xfrm>
              <a:off x="1334206" y="4947481"/>
              <a:ext cx="14247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质检闭环层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50D87D6-4144-43D0-79DE-F7B78A187F4D}"/>
                </a:ext>
              </a:extLst>
            </p:cNvPr>
            <p:cNvSpPr/>
            <p:nvPr/>
          </p:nvSpPr>
          <p:spPr>
            <a:xfrm>
              <a:off x="275052" y="4922875"/>
              <a:ext cx="3385575" cy="172247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F812BE0-5EEA-B653-753D-E2098DCE7F35}"/>
                </a:ext>
              </a:extLst>
            </p:cNvPr>
            <p:cNvSpPr txBox="1"/>
            <p:nvPr/>
          </p:nvSpPr>
          <p:spPr>
            <a:xfrm>
              <a:off x="4636566" y="4947481"/>
              <a:ext cx="13337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数据支撑层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9A5F7286-5005-782E-0A79-6973351269FD}"/>
                </a:ext>
              </a:extLst>
            </p:cNvPr>
            <p:cNvSpPr/>
            <p:nvPr/>
          </p:nvSpPr>
          <p:spPr>
            <a:xfrm>
              <a:off x="3702711" y="4922875"/>
              <a:ext cx="3169232" cy="172247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1336C95-D256-47CF-36F6-36949B0A9BDD}"/>
              </a:ext>
            </a:extLst>
          </p:cNvPr>
          <p:cNvGrpSpPr/>
          <p:nvPr/>
        </p:nvGrpSpPr>
        <p:grpSpPr>
          <a:xfrm>
            <a:off x="375257" y="1942767"/>
            <a:ext cx="2144660" cy="566517"/>
            <a:chOff x="739881" y="2832628"/>
            <a:chExt cx="4546093" cy="649224"/>
          </a:xfrm>
        </p:grpSpPr>
        <p:sp>
          <p:nvSpPr>
            <p:cNvPr id="9" name="Rectangle 43">
              <a:extLst>
                <a:ext uri="{FF2B5EF4-FFF2-40B4-BE49-F238E27FC236}">
                  <a16:creationId xmlns:a16="http://schemas.microsoft.com/office/drawing/2014/main" id="{5A983752-5A46-4AD1-86E6-45343D00CB30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原料批次管理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44">
              <a:extLst>
                <a:ext uri="{FF2B5EF4-FFF2-40B4-BE49-F238E27FC236}">
                  <a16:creationId xmlns:a16="http://schemas.microsoft.com/office/drawing/2014/main" id="{D30E702B-700E-6F06-F7B7-C5B2B235EBCC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C2FB44F-710E-C8C0-8050-7D7D40CD57FD}"/>
              </a:ext>
            </a:extLst>
          </p:cNvPr>
          <p:cNvGrpSpPr/>
          <p:nvPr/>
        </p:nvGrpSpPr>
        <p:grpSpPr>
          <a:xfrm>
            <a:off x="2620122" y="1942767"/>
            <a:ext cx="2144660" cy="566517"/>
            <a:chOff x="739881" y="2832628"/>
            <a:chExt cx="4546093" cy="649224"/>
          </a:xfrm>
        </p:grpSpPr>
        <p:sp>
          <p:nvSpPr>
            <p:cNvPr id="13" name="Rectangle 43">
              <a:extLst>
                <a:ext uri="{FF2B5EF4-FFF2-40B4-BE49-F238E27FC236}">
                  <a16:creationId xmlns:a16="http://schemas.microsoft.com/office/drawing/2014/main" id="{F9305212-A833-79B9-E81F-8FD7F7F073CD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浸灰终点判断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44">
              <a:extLst>
                <a:ext uri="{FF2B5EF4-FFF2-40B4-BE49-F238E27FC236}">
                  <a16:creationId xmlns:a16="http://schemas.microsoft.com/office/drawing/2014/main" id="{112873E6-A47D-694B-D71F-DBF64C6E7DCC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7676F74-BA85-4C6B-2A5E-48491F31BC5F}"/>
              </a:ext>
            </a:extLst>
          </p:cNvPr>
          <p:cNvGrpSpPr/>
          <p:nvPr/>
        </p:nvGrpSpPr>
        <p:grpSpPr>
          <a:xfrm>
            <a:off x="4842327" y="1942767"/>
            <a:ext cx="2144660" cy="566517"/>
            <a:chOff x="739881" y="2832628"/>
            <a:chExt cx="4546093" cy="649224"/>
          </a:xfrm>
        </p:grpSpPr>
        <p:sp>
          <p:nvSpPr>
            <p:cNvPr id="16" name="Rectangle 43">
              <a:extLst>
                <a:ext uri="{FF2B5EF4-FFF2-40B4-BE49-F238E27FC236}">
                  <a16:creationId xmlns:a16="http://schemas.microsoft.com/office/drawing/2014/main" id="{A3B255AD-11ED-7C46-4625-E8DD3842527D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中和pH记录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44">
              <a:extLst>
                <a:ext uri="{FF2B5EF4-FFF2-40B4-BE49-F238E27FC236}">
                  <a16:creationId xmlns:a16="http://schemas.microsoft.com/office/drawing/2014/main" id="{2AA45D30-4424-44F9-DE0D-A1D8390C80B6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81F0359-3F15-8ED6-5B98-AC92CB4B0DE2}"/>
              </a:ext>
            </a:extLst>
          </p:cNvPr>
          <p:cNvGrpSpPr/>
          <p:nvPr/>
        </p:nvGrpSpPr>
        <p:grpSpPr>
          <a:xfrm>
            <a:off x="375257" y="2676414"/>
            <a:ext cx="2144660" cy="566517"/>
            <a:chOff x="739881" y="2832628"/>
            <a:chExt cx="4546093" cy="649224"/>
          </a:xfrm>
        </p:grpSpPr>
        <p:sp>
          <p:nvSpPr>
            <p:cNvPr id="20" name="Rectangle 43">
              <a:extLst>
                <a:ext uri="{FF2B5EF4-FFF2-40B4-BE49-F238E27FC236}">
                  <a16:creationId xmlns:a16="http://schemas.microsoft.com/office/drawing/2014/main" id="{914C5A20-A99E-3763-5CBD-F39812585D04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分段提胶道次记录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44">
              <a:extLst>
                <a:ext uri="{FF2B5EF4-FFF2-40B4-BE49-F238E27FC236}">
                  <a16:creationId xmlns:a16="http://schemas.microsoft.com/office/drawing/2014/main" id="{BBA8C04B-D2C2-C59D-A655-3A53B861CB0E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325229-DF92-0511-9A89-6C579E7F6348}"/>
              </a:ext>
            </a:extLst>
          </p:cNvPr>
          <p:cNvGrpSpPr/>
          <p:nvPr/>
        </p:nvGrpSpPr>
        <p:grpSpPr>
          <a:xfrm>
            <a:off x="2620122" y="2676414"/>
            <a:ext cx="2144660" cy="566517"/>
            <a:chOff x="739881" y="2832628"/>
            <a:chExt cx="4546093" cy="649224"/>
          </a:xfrm>
        </p:grpSpPr>
        <p:sp>
          <p:nvSpPr>
            <p:cNvPr id="23" name="Rectangle 43">
              <a:extLst>
                <a:ext uri="{FF2B5EF4-FFF2-40B4-BE49-F238E27FC236}">
                  <a16:creationId xmlns:a16="http://schemas.microsoft.com/office/drawing/2014/main" id="{B30100CB-C53F-E8BE-40B8-2382B20400C3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浓缩复配判断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44">
              <a:extLst>
                <a:ext uri="{FF2B5EF4-FFF2-40B4-BE49-F238E27FC236}">
                  <a16:creationId xmlns:a16="http://schemas.microsoft.com/office/drawing/2014/main" id="{B92BB8D3-6518-4FD4-EA24-8007AF985771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6EBBBFB-1A41-8C8A-A09B-0B9C55CC2BEA}"/>
              </a:ext>
            </a:extLst>
          </p:cNvPr>
          <p:cNvGrpSpPr/>
          <p:nvPr/>
        </p:nvGrpSpPr>
        <p:grpSpPr>
          <a:xfrm>
            <a:off x="4842327" y="2676414"/>
            <a:ext cx="2144660" cy="566517"/>
            <a:chOff x="739881" y="2832628"/>
            <a:chExt cx="4546093" cy="649224"/>
          </a:xfrm>
        </p:grpSpPr>
        <p:sp>
          <p:nvSpPr>
            <p:cNvPr id="26" name="Rectangle 43">
              <a:extLst>
                <a:ext uri="{FF2B5EF4-FFF2-40B4-BE49-F238E27FC236}">
                  <a16:creationId xmlns:a16="http://schemas.microsoft.com/office/drawing/2014/main" id="{B49D9895-202D-3155-B6D4-1133DBF59F52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凝胶干燥状态判断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44">
              <a:extLst>
                <a:ext uri="{FF2B5EF4-FFF2-40B4-BE49-F238E27FC236}">
                  <a16:creationId xmlns:a16="http://schemas.microsoft.com/office/drawing/2014/main" id="{9FF3DAC9-4D7B-200D-CF5C-31978D7F2B6D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8670FE1-FEA8-8D9E-8132-F53A4A021C08}"/>
              </a:ext>
            </a:extLst>
          </p:cNvPr>
          <p:cNvGrpSpPr/>
          <p:nvPr/>
        </p:nvGrpSpPr>
        <p:grpSpPr>
          <a:xfrm>
            <a:off x="7064532" y="2226025"/>
            <a:ext cx="2144660" cy="566517"/>
            <a:chOff x="739881" y="2832628"/>
            <a:chExt cx="4546093" cy="649224"/>
          </a:xfrm>
        </p:grpSpPr>
        <p:sp>
          <p:nvSpPr>
            <p:cNvPr id="29" name="Rectangle 43">
              <a:extLst>
                <a:ext uri="{FF2B5EF4-FFF2-40B4-BE49-F238E27FC236}">
                  <a16:creationId xmlns:a16="http://schemas.microsoft.com/office/drawing/2014/main" id="{5B3EFF7E-144E-3992-8924-C53183359CA0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粉碎入库记录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44">
              <a:extLst>
                <a:ext uri="{FF2B5EF4-FFF2-40B4-BE49-F238E27FC236}">
                  <a16:creationId xmlns:a16="http://schemas.microsoft.com/office/drawing/2014/main" id="{10173D31-7579-E561-236E-87C65CFB1F61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B4EDE6B3-6F84-D9E2-638D-59BE8FF262EB}"/>
              </a:ext>
            </a:extLst>
          </p:cNvPr>
          <p:cNvSpPr/>
          <p:nvPr/>
        </p:nvSpPr>
        <p:spPr>
          <a:xfrm>
            <a:off x="9343065" y="1513368"/>
            <a:ext cx="2560405" cy="334571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F1BEF8-0DFB-78E7-48C3-E9D408F8C9D9}"/>
              </a:ext>
            </a:extLst>
          </p:cNvPr>
          <p:cNvSpPr txBox="1"/>
          <p:nvPr/>
        </p:nvSpPr>
        <p:spPr>
          <a:xfrm>
            <a:off x="9363392" y="1551134"/>
            <a:ext cx="2519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算法计算层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56F73D3-9629-5CD3-F9F4-2629E2804FB9}"/>
              </a:ext>
            </a:extLst>
          </p:cNvPr>
          <p:cNvGrpSpPr/>
          <p:nvPr/>
        </p:nvGrpSpPr>
        <p:grpSpPr>
          <a:xfrm>
            <a:off x="9589541" y="1767676"/>
            <a:ext cx="2144660" cy="566517"/>
            <a:chOff x="739881" y="2832628"/>
            <a:chExt cx="4546093" cy="649224"/>
          </a:xfrm>
        </p:grpSpPr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713E3B53-1EDB-EF1F-8777-CD54B139F96D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GPC计算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44">
              <a:extLst>
                <a:ext uri="{FF2B5EF4-FFF2-40B4-BE49-F238E27FC236}">
                  <a16:creationId xmlns:a16="http://schemas.microsoft.com/office/drawing/2014/main" id="{DC291749-09FD-54C2-F175-5DAA6FD3A4BF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8867C14-4E37-5213-B64C-0E197C4C7F20}"/>
              </a:ext>
            </a:extLst>
          </p:cNvPr>
          <p:cNvGrpSpPr/>
          <p:nvPr/>
        </p:nvGrpSpPr>
        <p:grpSpPr>
          <a:xfrm>
            <a:off x="9589541" y="2360424"/>
            <a:ext cx="2144660" cy="566517"/>
            <a:chOff x="739881" y="2832628"/>
            <a:chExt cx="4546093" cy="649224"/>
          </a:xfrm>
        </p:grpSpPr>
        <p:sp>
          <p:nvSpPr>
            <p:cNvPr id="37" name="Rectangle 43">
              <a:extLst>
                <a:ext uri="{FF2B5EF4-FFF2-40B4-BE49-F238E27FC236}">
                  <a16:creationId xmlns:a16="http://schemas.microsoft.com/office/drawing/2014/main" id="{3CCEE4FE-CB7E-A7BF-4E18-FA9C987C4F99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粘度法估算Mw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44">
              <a:extLst>
                <a:ext uri="{FF2B5EF4-FFF2-40B4-BE49-F238E27FC236}">
                  <a16:creationId xmlns:a16="http://schemas.microsoft.com/office/drawing/2014/main" id="{7B8EE9A1-EB30-0DC1-17D2-81A5042DA333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48EB6D2-4183-9EDD-BC6E-76C804BE3C28}"/>
              </a:ext>
            </a:extLst>
          </p:cNvPr>
          <p:cNvGrpSpPr/>
          <p:nvPr/>
        </p:nvGrpSpPr>
        <p:grpSpPr>
          <a:xfrm>
            <a:off x="9589541" y="2970797"/>
            <a:ext cx="2144660" cy="566517"/>
            <a:chOff x="739881" y="2832628"/>
            <a:chExt cx="4546093" cy="649224"/>
          </a:xfrm>
        </p:grpSpPr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BF478667-B687-68F3-E1E7-AE2CEAFB77CB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复配Mw计算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4">
              <a:extLst>
                <a:ext uri="{FF2B5EF4-FFF2-40B4-BE49-F238E27FC236}">
                  <a16:creationId xmlns:a16="http://schemas.microsoft.com/office/drawing/2014/main" id="{479B8985-F812-D951-1223-0B9B7019E8ED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29B3E48-8B00-601B-E297-159DB5F9F612}"/>
              </a:ext>
            </a:extLst>
          </p:cNvPr>
          <p:cNvGrpSpPr/>
          <p:nvPr/>
        </p:nvGrpSpPr>
        <p:grpSpPr>
          <a:xfrm>
            <a:off x="9589541" y="3577796"/>
            <a:ext cx="2144660" cy="566517"/>
            <a:chOff x="739881" y="2832628"/>
            <a:chExt cx="4546093" cy="649224"/>
          </a:xfrm>
        </p:grpSpPr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39935A8A-6622-E732-13ED-BC273472E152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有效干基重量修正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29143267-C291-5776-E9A1-5860FA288BC2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59C117F-1D00-0054-8F8D-0341F0C3D586}"/>
              </a:ext>
            </a:extLst>
          </p:cNvPr>
          <p:cNvGrpSpPr/>
          <p:nvPr/>
        </p:nvGrpSpPr>
        <p:grpSpPr>
          <a:xfrm>
            <a:off x="9589541" y="4232417"/>
            <a:ext cx="2144660" cy="566517"/>
            <a:chOff x="739881" y="2832628"/>
            <a:chExt cx="4546093" cy="649224"/>
          </a:xfrm>
        </p:grpSpPr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4682C8E1-64CF-2C54-B838-FC4E713538AA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理论产出预测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746821C0-1F59-AB1C-4B77-B5E8399F0B90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D9D5977-E9DF-5AFF-397D-D70A7743D231}"/>
              </a:ext>
            </a:extLst>
          </p:cNvPr>
          <p:cNvGrpSpPr/>
          <p:nvPr/>
        </p:nvGrpSpPr>
        <p:grpSpPr>
          <a:xfrm>
            <a:off x="1034476" y="4098017"/>
            <a:ext cx="2144660" cy="566517"/>
            <a:chOff x="739881" y="2832628"/>
            <a:chExt cx="4546093" cy="649224"/>
          </a:xfrm>
        </p:grpSpPr>
        <p:sp>
          <p:nvSpPr>
            <p:cNvPr id="50" name="Rectangle 43">
              <a:extLst>
                <a:ext uri="{FF2B5EF4-FFF2-40B4-BE49-F238E27FC236}">
                  <a16:creationId xmlns:a16="http://schemas.microsoft.com/office/drawing/2014/main" id="{51BB7A71-3522-CD02-D723-D233C08E5CCB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推荐复配比例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44">
              <a:extLst>
                <a:ext uri="{FF2B5EF4-FFF2-40B4-BE49-F238E27FC236}">
                  <a16:creationId xmlns:a16="http://schemas.microsoft.com/office/drawing/2014/main" id="{8FF4127A-09A3-5984-4C18-427A70B7FDD0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6BD3049-5FFB-CCEF-3DB9-E03D3F0FAD53}"/>
              </a:ext>
            </a:extLst>
          </p:cNvPr>
          <p:cNvGrpSpPr/>
          <p:nvPr/>
        </p:nvGrpSpPr>
        <p:grpSpPr>
          <a:xfrm>
            <a:off x="3408083" y="4098017"/>
            <a:ext cx="2144660" cy="566517"/>
            <a:chOff x="739881" y="2832628"/>
            <a:chExt cx="4546093" cy="649224"/>
          </a:xfrm>
        </p:grpSpPr>
        <p:sp>
          <p:nvSpPr>
            <p:cNvPr id="53" name="Rectangle 43">
              <a:extLst>
                <a:ext uri="{FF2B5EF4-FFF2-40B4-BE49-F238E27FC236}">
                  <a16:creationId xmlns:a16="http://schemas.microsoft.com/office/drawing/2014/main" id="{34090DD8-A643-F9DA-C900-E750118BBDCE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目标Mw预测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44">
              <a:extLst>
                <a:ext uri="{FF2B5EF4-FFF2-40B4-BE49-F238E27FC236}">
                  <a16:creationId xmlns:a16="http://schemas.microsoft.com/office/drawing/2014/main" id="{F513D612-8AD3-D8DE-B202-0E9CA98C166A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ED37A5D-0CBE-43DC-85A3-37C73F97A538}"/>
              </a:ext>
            </a:extLst>
          </p:cNvPr>
          <p:cNvGrpSpPr/>
          <p:nvPr/>
        </p:nvGrpSpPr>
        <p:grpSpPr>
          <a:xfrm>
            <a:off x="5682889" y="4098017"/>
            <a:ext cx="2144660" cy="566517"/>
            <a:chOff x="739881" y="2832628"/>
            <a:chExt cx="4546093" cy="649224"/>
          </a:xfrm>
        </p:grpSpPr>
        <p:sp>
          <p:nvSpPr>
            <p:cNvPr id="56" name="Rectangle 43">
              <a:extLst>
                <a:ext uri="{FF2B5EF4-FFF2-40B4-BE49-F238E27FC236}">
                  <a16:creationId xmlns:a16="http://schemas.microsoft.com/office/drawing/2014/main" id="{7E99E999-3D31-3B45-46D5-97B2AA9E4040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质量风险提醒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44">
              <a:extLst>
                <a:ext uri="{FF2B5EF4-FFF2-40B4-BE49-F238E27FC236}">
                  <a16:creationId xmlns:a16="http://schemas.microsoft.com/office/drawing/2014/main" id="{5CBCC71D-C30A-5DC0-B6D0-AC61683571E0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95374D14-B923-10B5-0B4A-22361D1F230A}"/>
              </a:ext>
            </a:extLst>
          </p:cNvPr>
          <p:cNvGrpSpPr/>
          <p:nvPr/>
        </p:nvGrpSpPr>
        <p:grpSpPr>
          <a:xfrm>
            <a:off x="375257" y="5224480"/>
            <a:ext cx="2144660" cy="566517"/>
            <a:chOff x="739881" y="2832628"/>
            <a:chExt cx="4546093" cy="649224"/>
          </a:xfrm>
        </p:grpSpPr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A963D171-E3C7-E53A-44CE-FDB2F3D12CD1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GPC结果回写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4" name="Rectangle 44">
              <a:extLst>
                <a:ext uri="{FF2B5EF4-FFF2-40B4-BE49-F238E27FC236}">
                  <a16:creationId xmlns:a16="http://schemas.microsoft.com/office/drawing/2014/main" id="{4B1F86EE-B1BA-03CE-CF6B-046898FB84B9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DAFBE73-48ED-9223-7BA5-B991B90FD62F}"/>
              </a:ext>
            </a:extLst>
          </p:cNvPr>
          <p:cNvGrpSpPr/>
          <p:nvPr/>
        </p:nvGrpSpPr>
        <p:grpSpPr>
          <a:xfrm>
            <a:off x="3510477" y="5213773"/>
            <a:ext cx="2144660" cy="566517"/>
            <a:chOff x="739881" y="2832628"/>
            <a:chExt cx="4546093" cy="649224"/>
          </a:xfrm>
        </p:grpSpPr>
        <p:sp>
          <p:nvSpPr>
            <p:cNvPr id="66" name="Rectangle 43">
              <a:extLst>
                <a:ext uri="{FF2B5EF4-FFF2-40B4-BE49-F238E27FC236}">
                  <a16:creationId xmlns:a16="http://schemas.microsoft.com/office/drawing/2014/main" id="{8EE1FC52-097F-724E-B9E2-58666C26774D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理论值vs实际值对比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44">
              <a:extLst>
                <a:ext uri="{FF2B5EF4-FFF2-40B4-BE49-F238E27FC236}">
                  <a16:creationId xmlns:a16="http://schemas.microsoft.com/office/drawing/2014/main" id="{BE4B6DA5-4F14-0EDF-A4E4-78DA5BE3F796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6DD9F98-9E16-D504-8B40-9D5A5F962F0C}"/>
              </a:ext>
            </a:extLst>
          </p:cNvPr>
          <p:cNvGrpSpPr/>
          <p:nvPr/>
        </p:nvGrpSpPr>
        <p:grpSpPr>
          <a:xfrm>
            <a:off x="375257" y="5954766"/>
            <a:ext cx="2144660" cy="566517"/>
            <a:chOff x="739881" y="2832628"/>
            <a:chExt cx="4546093" cy="649224"/>
          </a:xfrm>
        </p:grpSpPr>
        <p:sp>
          <p:nvSpPr>
            <p:cNvPr id="69" name="Rectangle 43">
              <a:extLst>
                <a:ext uri="{FF2B5EF4-FFF2-40B4-BE49-F238E27FC236}">
                  <a16:creationId xmlns:a16="http://schemas.microsoft.com/office/drawing/2014/main" id="{D2588385-5EF6-0B89-9FFC-E3A914C25B3E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偏差原因分析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44">
              <a:extLst>
                <a:ext uri="{FF2B5EF4-FFF2-40B4-BE49-F238E27FC236}">
                  <a16:creationId xmlns:a16="http://schemas.microsoft.com/office/drawing/2014/main" id="{DEDA615A-9A42-DC37-44FA-77F3188601B4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5BF02E3E-5055-E250-439A-E38922D6A7AE}"/>
              </a:ext>
            </a:extLst>
          </p:cNvPr>
          <p:cNvGrpSpPr/>
          <p:nvPr/>
        </p:nvGrpSpPr>
        <p:grpSpPr>
          <a:xfrm>
            <a:off x="3510477" y="5954766"/>
            <a:ext cx="2144660" cy="566517"/>
            <a:chOff x="739881" y="2832628"/>
            <a:chExt cx="4546093" cy="649224"/>
          </a:xfrm>
        </p:grpSpPr>
        <p:sp>
          <p:nvSpPr>
            <p:cNvPr id="72" name="Rectangle 43">
              <a:extLst>
                <a:ext uri="{FF2B5EF4-FFF2-40B4-BE49-F238E27FC236}">
                  <a16:creationId xmlns:a16="http://schemas.microsoft.com/office/drawing/2014/main" id="{7C2B59C1-4C06-3122-5206-C7C0C233695E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参数反响校对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44">
              <a:extLst>
                <a:ext uri="{FF2B5EF4-FFF2-40B4-BE49-F238E27FC236}">
                  <a16:creationId xmlns:a16="http://schemas.microsoft.com/office/drawing/2014/main" id="{D7D0AE4D-82CB-373A-7D3B-8E0794FF8444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DED29B1F-0CFA-16C2-ACA4-B0DA709E5927}"/>
              </a:ext>
            </a:extLst>
          </p:cNvPr>
          <p:cNvGrpSpPr/>
          <p:nvPr/>
        </p:nvGrpSpPr>
        <p:grpSpPr>
          <a:xfrm>
            <a:off x="6678979" y="5213773"/>
            <a:ext cx="2144660" cy="566517"/>
            <a:chOff x="739881" y="2832628"/>
            <a:chExt cx="4546093" cy="649224"/>
          </a:xfrm>
        </p:grpSpPr>
        <p:sp>
          <p:nvSpPr>
            <p:cNvPr id="75" name="Rectangle 43">
              <a:extLst>
                <a:ext uri="{FF2B5EF4-FFF2-40B4-BE49-F238E27FC236}">
                  <a16:creationId xmlns:a16="http://schemas.microsoft.com/office/drawing/2014/main" id="{3F3640F9-16B9-A461-5330-504578D339EC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历史批次数据库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44">
              <a:extLst>
                <a:ext uri="{FF2B5EF4-FFF2-40B4-BE49-F238E27FC236}">
                  <a16:creationId xmlns:a16="http://schemas.microsoft.com/office/drawing/2014/main" id="{6EFDEF1A-26E7-EC9C-EDD2-B4F271E319BD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3939622-2DB0-309A-1E89-CB844535FB1C}"/>
              </a:ext>
            </a:extLst>
          </p:cNvPr>
          <p:cNvGrpSpPr/>
          <p:nvPr/>
        </p:nvGrpSpPr>
        <p:grpSpPr>
          <a:xfrm>
            <a:off x="9550937" y="5213773"/>
            <a:ext cx="2144660" cy="566517"/>
            <a:chOff x="739881" y="2832628"/>
            <a:chExt cx="4546093" cy="649224"/>
          </a:xfrm>
        </p:grpSpPr>
        <p:sp>
          <p:nvSpPr>
            <p:cNvPr id="78" name="Rectangle 43">
              <a:extLst>
                <a:ext uri="{FF2B5EF4-FFF2-40B4-BE49-F238E27FC236}">
                  <a16:creationId xmlns:a16="http://schemas.microsoft.com/office/drawing/2014/main" id="{C9E1D130-B28D-C146-42D9-E268FFB84898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把表看板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44">
              <a:extLst>
                <a:ext uri="{FF2B5EF4-FFF2-40B4-BE49-F238E27FC236}">
                  <a16:creationId xmlns:a16="http://schemas.microsoft.com/office/drawing/2014/main" id="{F6BDF216-DB68-F7BE-B58D-86EB8CD33AEB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44AE7A0-8248-0293-7937-B407A5BD5E5F}"/>
              </a:ext>
            </a:extLst>
          </p:cNvPr>
          <p:cNvGrpSpPr/>
          <p:nvPr/>
        </p:nvGrpSpPr>
        <p:grpSpPr>
          <a:xfrm>
            <a:off x="8136862" y="5954766"/>
            <a:ext cx="2144660" cy="566517"/>
            <a:chOff x="739881" y="2832628"/>
            <a:chExt cx="4546093" cy="649224"/>
          </a:xfrm>
        </p:grpSpPr>
        <p:sp>
          <p:nvSpPr>
            <p:cNvPr id="81" name="Rectangle 43">
              <a:extLst>
                <a:ext uri="{FF2B5EF4-FFF2-40B4-BE49-F238E27FC236}">
                  <a16:creationId xmlns:a16="http://schemas.microsoft.com/office/drawing/2014/main" id="{A2932487-F003-5A4E-4229-B0D681975294}"/>
                </a:ext>
              </a:extLst>
            </p:cNvPr>
            <p:cNvSpPr/>
            <p:nvPr/>
          </p:nvSpPr>
          <p:spPr>
            <a:xfrm>
              <a:off x="739881" y="2832628"/>
              <a:ext cx="4546093" cy="6492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系统接口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44">
              <a:extLst>
                <a:ext uri="{FF2B5EF4-FFF2-40B4-BE49-F238E27FC236}">
                  <a16:creationId xmlns:a16="http://schemas.microsoft.com/office/drawing/2014/main" id="{F5766F69-3590-A42D-76F1-7CA1090ED2B1}"/>
                </a:ext>
              </a:extLst>
            </p:cNvPr>
            <p:cNvSpPr/>
            <p:nvPr/>
          </p:nvSpPr>
          <p:spPr>
            <a:xfrm>
              <a:off x="739882" y="2832628"/>
              <a:ext cx="217048" cy="649224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561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44C8C-4E53-20A4-B3B8-05734537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46F54B-052C-236D-7900-ACA81712FE76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切入点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8458AD-8C12-F3A5-489F-7E338E0FB62E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36BCA3-0DC4-B6BA-AB2E-885F870F35EB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A6A4A2FA-E238-EF85-4FFE-600444F1AFFC}"/>
              </a:ext>
            </a:extLst>
          </p:cNvPr>
          <p:cNvSpPr/>
          <p:nvPr/>
        </p:nvSpPr>
        <p:spPr>
          <a:xfrm>
            <a:off x="2428890" y="1239642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DC7B5A7A-4CE8-DEF5-E276-66FC6018A0E3}"/>
              </a:ext>
            </a:extLst>
          </p:cNvPr>
          <p:cNvSpPr/>
          <p:nvPr/>
        </p:nvSpPr>
        <p:spPr>
          <a:xfrm>
            <a:off x="835410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4AC51B39-798C-C456-10F3-AB5C44E96F5B}"/>
              </a:ext>
            </a:extLst>
          </p:cNvPr>
          <p:cNvSpPr/>
          <p:nvPr/>
        </p:nvSpPr>
        <p:spPr>
          <a:xfrm>
            <a:off x="427268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C4B706D1-FE77-7B4F-EEC9-EF4BF2AF3420}"/>
              </a:ext>
            </a:extLst>
          </p:cNvPr>
          <p:cNvSpPr/>
          <p:nvPr/>
        </p:nvSpPr>
        <p:spPr>
          <a:xfrm>
            <a:off x="866180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AI改善点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F266813C-6E0D-051B-D671-8019B6D3132C}"/>
              </a:ext>
            </a:extLst>
          </p:cNvPr>
          <p:cNvGrpSpPr/>
          <p:nvPr/>
        </p:nvGrpSpPr>
        <p:grpSpPr>
          <a:xfrm>
            <a:off x="502920" y="1590658"/>
            <a:ext cx="6354636" cy="696462"/>
            <a:chOff x="502920" y="1590659"/>
            <a:chExt cx="6354636" cy="696462"/>
          </a:xfrm>
        </p:grpSpPr>
        <p:sp>
          <p:nvSpPr>
            <p:cNvPr id="65" name="AutoShape 15">
              <a:extLst>
                <a:ext uri="{FF2B5EF4-FFF2-40B4-BE49-F238E27FC236}">
                  <a16:creationId xmlns:a16="http://schemas.microsoft.com/office/drawing/2014/main" id="{B3489FE5-01C8-C3E1-2D0B-39443E9D29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A265287E-B275-5F98-7FCF-83F14088AD2F}"/>
                </a:ext>
              </a:extLst>
            </p:cNvPr>
            <p:cNvGrpSpPr/>
            <p:nvPr/>
          </p:nvGrpSpPr>
          <p:grpSpPr>
            <a:xfrm>
              <a:off x="502920" y="1590659"/>
              <a:ext cx="6354636" cy="696462"/>
              <a:chOff x="502920" y="1590659"/>
              <a:chExt cx="6354636" cy="696462"/>
            </a:xfrm>
          </p:grpSpPr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2AD23AF0-27BA-2650-232D-33E86D92741C}"/>
                  </a:ext>
                </a:extLst>
              </p:cNvPr>
              <p:cNvSpPr/>
              <p:nvPr/>
            </p:nvSpPr>
            <p:spPr>
              <a:xfrm>
                <a:off x="502920" y="1590659"/>
                <a:ext cx="6354636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45F0C51A-E895-6EF2-3827-0D35BCF790BA}"/>
                  </a:ext>
                </a:extLst>
              </p:cNvPr>
              <p:cNvSpPr txBox="1"/>
              <p:nvPr/>
            </p:nvSpPr>
            <p:spPr>
              <a:xfrm>
                <a:off x="2491060" y="1640790"/>
                <a:ext cx="115093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原料预</a:t>
                </a:r>
                <a:endPara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endParaRPr>
              </a:p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处理</a:t>
                </a:r>
                <a:endParaRPr lang="en-US" altLang="zh-CN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0D9F692E-8EF3-E47A-11E1-0D551196DC02}"/>
              </a:ext>
            </a:extLst>
          </p:cNvPr>
          <p:cNvGrpSpPr/>
          <p:nvPr/>
        </p:nvGrpSpPr>
        <p:grpSpPr>
          <a:xfrm>
            <a:off x="521208" y="2287119"/>
            <a:ext cx="6336348" cy="647292"/>
            <a:chOff x="521208" y="1590659"/>
            <a:chExt cx="6336348" cy="647292"/>
          </a:xfrm>
        </p:grpSpPr>
        <p:sp>
          <p:nvSpPr>
            <p:cNvPr id="99" name="AutoShape 15">
              <a:extLst>
                <a:ext uri="{FF2B5EF4-FFF2-40B4-BE49-F238E27FC236}">
                  <a16:creationId xmlns:a16="http://schemas.microsoft.com/office/drawing/2014/main" id="{0EE89383-399D-7C18-4876-5C6B8E6F25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D09F5B6B-6836-3775-0AAE-FC7ACE8E84C6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1" name="五边形 100">
                <a:extLst>
                  <a:ext uri="{FF2B5EF4-FFF2-40B4-BE49-F238E27FC236}">
                    <a16:creationId xmlns:a16="http://schemas.microsoft.com/office/drawing/2014/main" id="{941BCC50-0964-6306-D5ED-0B28310CE8CC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C53462A1-3C73-46E7-F38A-F39033348AC5}"/>
                  </a:ext>
                </a:extLst>
              </p:cNvPr>
              <p:cNvSpPr txBox="1"/>
              <p:nvPr/>
            </p:nvSpPr>
            <p:spPr>
              <a:xfrm>
                <a:off x="2491060" y="172677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浸灰水解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347B2A30-F590-03AB-2F4D-BDF2E9C5F48F}"/>
              </a:ext>
            </a:extLst>
          </p:cNvPr>
          <p:cNvGrpSpPr/>
          <p:nvPr/>
        </p:nvGrpSpPr>
        <p:grpSpPr>
          <a:xfrm>
            <a:off x="521208" y="3001822"/>
            <a:ext cx="6336348" cy="647292"/>
            <a:chOff x="521208" y="1590659"/>
            <a:chExt cx="6336348" cy="647292"/>
          </a:xfrm>
        </p:grpSpPr>
        <p:sp>
          <p:nvSpPr>
            <p:cNvPr id="105" name="AutoShape 15">
              <a:extLst>
                <a:ext uri="{FF2B5EF4-FFF2-40B4-BE49-F238E27FC236}">
                  <a16:creationId xmlns:a16="http://schemas.microsoft.com/office/drawing/2014/main" id="{2CA0A830-FB0D-7ED5-7040-40431A9E3E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3B912841-F39D-8757-52D4-DC617B6B3285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7" name="五边形 106">
                <a:extLst>
                  <a:ext uri="{FF2B5EF4-FFF2-40B4-BE49-F238E27FC236}">
                    <a16:creationId xmlns:a16="http://schemas.microsoft.com/office/drawing/2014/main" id="{43BDC940-5FC7-6809-7BC1-CD2CCFA4361A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E8544CD9-0D44-4872-8D57-542264832BDE}"/>
                  </a:ext>
                </a:extLst>
              </p:cNvPr>
              <p:cNvSpPr txBox="1"/>
              <p:nvPr/>
            </p:nvSpPr>
            <p:spPr>
              <a:xfrm>
                <a:off x="2491060" y="172716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中和水洗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E38CA9DA-22D2-B133-1268-025431F4C397}"/>
              </a:ext>
            </a:extLst>
          </p:cNvPr>
          <p:cNvGrpSpPr/>
          <p:nvPr/>
        </p:nvGrpSpPr>
        <p:grpSpPr>
          <a:xfrm>
            <a:off x="521208" y="3716525"/>
            <a:ext cx="6336348" cy="647292"/>
            <a:chOff x="521208" y="1590659"/>
            <a:chExt cx="6336348" cy="647292"/>
          </a:xfrm>
        </p:grpSpPr>
        <p:sp>
          <p:nvSpPr>
            <p:cNvPr id="111" name="AutoShape 15">
              <a:extLst>
                <a:ext uri="{FF2B5EF4-FFF2-40B4-BE49-F238E27FC236}">
                  <a16:creationId xmlns:a16="http://schemas.microsoft.com/office/drawing/2014/main" id="{D83B9C26-8CCD-0FFA-3999-6D67CF5C0C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E8AFF9F3-51FF-9AE3-5FEC-5EA21C3836D7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13" name="五边形 112">
                <a:extLst>
                  <a:ext uri="{FF2B5EF4-FFF2-40B4-BE49-F238E27FC236}">
                    <a16:creationId xmlns:a16="http://schemas.microsoft.com/office/drawing/2014/main" id="{AB8F62C2-3CFA-5F9D-5941-A120FDE1498A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8945878E-21F0-53D4-98A8-9293ED2A7BA4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分段提胶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19" name="五边形 118">
            <a:extLst>
              <a:ext uri="{FF2B5EF4-FFF2-40B4-BE49-F238E27FC236}">
                <a16:creationId xmlns:a16="http://schemas.microsoft.com/office/drawing/2014/main" id="{42ED8FA1-B586-B102-86A5-B4E9D58C9779}"/>
              </a:ext>
            </a:extLst>
          </p:cNvPr>
          <p:cNvSpPr/>
          <p:nvPr/>
        </p:nvSpPr>
        <p:spPr>
          <a:xfrm>
            <a:off x="521208" y="4431228"/>
            <a:ext cx="6336348" cy="638117"/>
          </a:xfrm>
          <a:prstGeom prst="homePlat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365866E-7DD3-2347-57AB-600E47323E65}"/>
              </a:ext>
            </a:extLst>
          </p:cNvPr>
          <p:cNvGrpSpPr/>
          <p:nvPr/>
        </p:nvGrpSpPr>
        <p:grpSpPr>
          <a:xfrm>
            <a:off x="2480891" y="4419384"/>
            <a:ext cx="1150938" cy="646332"/>
            <a:chOff x="2491060" y="4432188"/>
            <a:chExt cx="1150938" cy="646332"/>
          </a:xfrm>
        </p:grpSpPr>
        <p:sp>
          <p:nvSpPr>
            <p:cNvPr id="117" name="AutoShape 15">
              <a:extLst>
                <a:ext uri="{FF2B5EF4-FFF2-40B4-BE49-F238E27FC236}">
                  <a16:creationId xmlns:a16="http://schemas.microsoft.com/office/drawing/2014/main" id="{EEE1B730-EAEB-A85B-AFA8-4698D5F9A3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4179885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A10E26E2-13C2-F020-27F2-59F51F2196AE}"/>
                </a:ext>
              </a:extLst>
            </p:cNvPr>
            <p:cNvSpPr txBox="1"/>
            <p:nvPr/>
          </p:nvSpPr>
          <p:spPr>
            <a:xfrm>
              <a:off x="2491060" y="4565620"/>
              <a:ext cx="1150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DE3717F1-6CA2-6B59-2350-6FC42B872841}"/>
              </a:ext>
            </a:extLst>
          </p:cNvPr>
          <p:cNvGrpSpPr/>
          <p:nvPr/>
        </p:nvGrpSpPr>
        <p:grpSpPr>
          <a:xfrm>
            <a:off x="521208" y="5124912"/>
            <a:ext cx="6336348" cy="647292"/>
            <a:chOff x="521208" y="1590659"/>
            <a:chExt cx="6336348" cy="647292"/>
          </a:xfrm>
        </p:grpSpPr>
        <p:sp>
          <p:nvSpPr>
            <p:cNvPr id="123" name="AutoShape 15">
              <a:extLst>
                <a:ext uri="{FF2B5EF4-FFF2-40B4-BE49-F238E27FC236}">
                  <a16:creationId xmlns:a16="http://schemas.microsoft.com/office/drawing/2014/main" id="{97692F11-BC14-BA9C-27AF-CFB077ADE7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31235E78-5950-DE0F-B1FC-6ABAD976CA59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25" name="五边形 124">
                <a:extLst>
                  <a:ext uri="{FF2B5EF4-FFF2-40B4-BE49-F238E27FC236}">
                    <a16:creationId xmlns:a16="http://schemas.microsoft.com/office/drawing/2014/main" id="{8CB4C991-BD41-DE02-E334-54056885EEDC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B568D108-0351-32C3-9E77-886B3825ABC5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凝胶干燥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EFC72020-8EA6-E6D7-FCF5-69E458A134B2}"/>
              </a:ext>
            </a:extLst>
          </p:cNvPr>
          <p:cNvGrpSpPr/>
          <p:nvPr/>
        </p:nvGrpSpPr>
        <p:grpSpPr>
          <a:xfrm>
            <a:off x="521208" y="5860636"/>
            <a:ext cx="6336348" cy="647292"/>
            <a:chOff x="521208" y="1590659"/>
            <a:chExt cx="6336348" cy="647292"/>
          </a:xfrm>
        </p:grpSpPr>
        <p:sp>
          <p:nvSpPr>
            <p:cNvPr id="129" name="AutoShape 15">
              <a:extLst>
                <a:ext uri="{FF2B5EF4-FFF2-40B4-BE49-F238E27FC236}">
                  <a16:creationId xmlns:a16="http://schemas.microsoft.com/office/drawing/2014/main" id="{217E5E01-45EA-479B-F721-A2DE14B795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93F6164B-1D1E-F950-51B2-DB1CCE4DD2A2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31" name="五边形 130">
                <a:extLst>
                  <a:ext uri="{FF2B5EF4-FFF2-40B4-BE49-F238E27FC236}">
                    <a16:creationId xmlns:a16="http://schemas.microsoft.com/office/drawing/2014/main" id="{A6FE851F-D835-0E42-4000-F96FA6BB5519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8844E2C4-A1BD-5FDC-430E-BD3F424D2ABA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粉碎成品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D24A5FDF-7E27-5EFB-114F-598DE65AB38B}"/>
              </a:ext>
            </a:extLst>
          </p:cNvPr>
          <p:cNvSpPr txBox="1"/>
          <p:nvPr/>
        </p:nvSpPr>
        <p:spPr>
          <a:xfrm>
            <a:off x="563116" y="1616203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纯化胶原骨粒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骨粒规格、脱脂/脱矿程度、杂质控制</a:t>
            </a:r>
            <a:endParaRPr lang="zh-CN" altLang="en-US" sz="1200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185DDF3-7279-7113-6819-129F81C92CF1}"/>
              </a:ext>
            </a:extLst>
          </p:cNvPr>
          <p:cNvSpPr txBox="1"/>
          <p:nvPr/>
        </p:nvSpPr>
        <p:spPr>
          <a:xfrm>
            <a:off x="563116" y="2287121"/>
            <a:ext cx="181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不同断链程度胶原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目标Mw 基础区间</a:t>
            </a:r>
            <a:endParaRPr lang="zh-CN" altLang="en-US" sz="1200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1C8FDC-B2A2-436F-A0A1-3218D31233B7}"/>
              </a:ext>
            </a:extLst>
          </p:cNvPr>
          <p:cNvSpPr txBox="1"/>
          <p:nvPr/>
        </p:nvSpPr>
        <p:spPr>
          <a:xfrm>
            <a:off x="563116" y="3030512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pH稳定胶原物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pH、钙/氯离子残留、透明度风险</a:t>
            </a:r>
            <a:endParaRPr lang="zh-CN" altLang="en-US" sz="1200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127C8B4-BAF2-88A7-1268-DA9D2C495FEB}"/>
              </a:ext>
            </a:extLst>
          </p:cNvPr>
          <p:cNvSpPr txBox="1"/>
          <p:nvPr/>
        </p:nvSpPr>
        <p:spPr>
          <a:xfrm>
            <a:off x="563116" y="3712417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不同道次胶液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各道次 Mw、重量、黏度、冻力</a:t>
            </a:r>
            <a:endParaRPr lang="en-US" altLang="zh-CN" sz="1200" dirty="0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D68FC11-F46B-1F5D-A442-BD6C2CC27C3F}"/>
              </a:ext>
            </a:extLst>
          </p:cNvPr>
          <p:cNvSpPr txBox="1"/>
          <p:nvPr/>
        </p:nvSpPr>
        <p:spPr>
          <a:xfrm>
            <a:off x="563116" y="4434365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目标 Mw 复配胶液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固含量、黏度、冻力、理论产出</a:t>
            </a:r>
            <a:endParaRPr lang="zh-CN" altLang="en-US" sz="12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710CE97E-6D7E-0395-C900-7FBA18DF450B}"/>
              </a:ext>
            </a:extLst>
          </p:cNvPr>
          <p:cNvSpPr txBox="1"/>
          <p:nvPr/>
        </p:nvSpPr>
        <p:spPr>
          <a:xfrm>
            <a:off x="563116" y="5116698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干燥后成品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水分、损耗率、实际产出、质量偏差</a:t>
            </a:r>
            <a:endParaRPr lang="zh-CN" altLang="en-US" sz="1200" dirty="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324036C4-686F-2675-2D77-A9B9DF041343}"/>
              </a:ext>
            </a:extLst>
          </p:cNvPr>
          <p:cNvSpPr txBox="1"/>
          <p:nvPr/>
        </p:nvSpPr>
        <p:spPr>
          <a:xfrm>
            <a:off x="563116" y="5852422"/>
            <a:ext cx="18198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100" b="1" dirty="0"/>
              <a:t>入库成品与质检报告</a:t>
            </a:r>
            <a:endParaRPr lang="en-US" altLang="zh-CN" sz="1100" b="1" dirty="0"/>
          </a:p>
          <a:p>
            <a:pPr algn="ctr"/>
            <a:r>
              <a:rPr lang="zh-CN" altLang="zh-CN" sz="1100" dirty="0"/>
              <a:t>Mn、Mw、Mz、PDI、小分子占比、黏度、冻力</a:t>
            </a:r>
            <a:endParaRPr lang="zh-CN" altLang="en-US" sz="110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055FBB5-D36A-C96A-0938-1ECBF38B27E9}"/>
              </a:ext>
            </a:extLst>
          </p:cNvPr>
          <p:cNvSpPr txBox="1"/>
          <p:nvPr/>
        </p:nvSpPr>
        <p:spPr>
          <a:xfrm>
            <a:off x="3817916" y="1616203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原料批次、骨粒规格、残油/灰分/杂质率</a:t>
            </a:r>
            <a:endParaRPr lang="zh-CN" altLang="en-US" sz="120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256EE56B-CE1D-A239-0831-A413CCF01475}"/>
              </a:ext>
            </a:extLst>
          </p:cNvPr>
          <p:cNvSpPr txBox="1"/>
          <p:nvPr/>
        </p:nvSpPr>
        <p:spPr>
          <a:xfrm>
            <a:off x="3817916" y="228799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浸灰时间、温度、料液比、石灰乳浓度、Mw区间</a:t>
            </a:r>
            <a:endParaRPr lang="zh-CN" altLang="en-US" sz="1200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38489A9-801B-D7D4-3755-F14F8D5386A9}"/>
              </a:ext>
            </a:extLst>
          </p:cNvPr>
          <p:cNvSpPr txBox="1"/>
          <p:nvPr/>
        </p:nvSpPr>
        <p:spPr>
          <a:xfrm>
            <a:off x="3817916" y="3001824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pH 6.0–6.5、残留离子、洗涤次数</a:t>
            </a:r>
            <a:endParaRPr lang="zh-CN" altLang="en-US" sz="1200" dirty="0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AF364BA3-EA29-30AF-A6BE-555FF5C3EB80}"/>
              </a:ext>
            </a:extLst>
          </p:cNvPr>
          <p:cNvSpPr txBox="1"/>
          <p:nvPr/>
        </p:nvSpPr>
        <p:spPr>
          <a:xfrm>
            <a:off x="3817916" y="3705174"/>
            <a:ext cx="2278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Mwᵢ、Wᵢ、道次、提胶温度</a:t>
            </a:r>
            <a:endParaRPr lang="zh-CN" altLang="en-US" sz="1200" dirty="0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F4BF2867-954B-5814-3ABF-94629D8BF7E3}"/>
              </a:ext>
            </a:extLst>
          </p:cNvPr>
          <p:cNvSpPr txBox="1"/>
          <p:nvPr/>
        </p:nvSpPr>
        <p:spPr>
          <a:xfrm>
            <a:off x="3817916" y="441987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Mw混、Wᵢ、固含量ᵢ、[η]、理论产出</a:t>
            </a:r>
            <a:endParaRPr lang="zh-CN" altLang="en-US" sz="1200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C1EB80B8-BA13-DDAA-214D-84A2E483D402}"/>
              </a:ext>
            </a:extLst>
          </p:cNvPr>
          <p:cNvSpPr txBox="1"/>
          <p:nvPr/>
        </p:nvSpPr>
        <p:spPr>
          <a:xfrm>
            <a:off x="3817916" y="51135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成品水分 12%–16%、干基重量、损耗率</a:t>
            </a:r>
            <a:endParaRPr lang="zh-CN" altLang="en-US" sz="1200" dirty="0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49E8BF38-7D45-4E88-2918-EB3D78B7F707}"/>
              </a:ext>
            </a:extLst>
          </p:cNvPr>
          <p:cNvSpPr txBox="1"/>
          <p:nvPr/>
        </p:nvSpPr>
        <p:spPr>
          <a:xfrm>
            <a:off x="3817916" y="58514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GPC公式、PDI公式、小分子占比公式、黏度估算公式</a:t>
            </a:r>
            <a:endParaRPr lang="zh-CN" altLang="en-US" sz="1200" dirty="0"/>
          </a:p>
        </p:txBody>
      </p:sp>
      <p:sp>
        <p:nvSpPr>
          <p:cNvPr id="6" name="矩形标注 5">
            <a:extLst>
              <a:ext uri="{FF2B5EF4-FFF2-40B4-BE49-F238E27FC236}">
                <a16:creationId xmlns:a16="http://schemas.microsoft.com/office/drawing/2014/main" id="{174004C5-5C01-0F21-5CFD-BE0B5F68B05C}"/>
              </a:ext>
            </a:extLst>
          </p:cNvPr>
          <p:cNvSpPr/>
          <p:nvPr/>
        </p:nvSpPr>
        <p:spPr>
          <a:xfrm>
            <a:off x="7230141" y="1590658"/>
            <a:ext cx="4742120" cy="5224082"/>
          </a:xfrm>
          <a:prstGeom prst="wedgeRectCallout">
            <a:avLst>
              <a:gd name="adj1" fmla="val -56483"/>
              <a:gd name="adj2" fmla="val 1106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3901A28B-B4A3-3FA5-0F6F-470B389D9445}"/>
              </a:ext>
            </a:extLst>
          </p:cNvPr>
          <p:cNvGrpSpPr>
            <a:grpSpLocks/>
          </p:cNvGrpSpPr>
          <p:nvPr/>
        </p:nvGrpSpPr>
        <p:grpSpPr bwMode="auto">
          <a:xfrm>
            <a:off x="7352792" y="1708797"/>
            <a:ext cx="4513142" cy="438150"/>
            <a:chOff x="1306" y="1538"/>
            <a:chExt cx="1442" cy="27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85F6939D-D9C3-3AC3-2043-EF88B59EE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538"/>
              <a:ext cx="1442" cy="27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98BC4212-EB60-1AAA-3985-B1CC676B1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800" dirty="0"/>
                <a:t>现有流程公式（例）</a:t>
              </a:r>
            </a:p>
          </p:txBody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4C7A10D-58E4-BF50-EDD3-8BAD3D347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790" y="2219972"/>
            <a:ext cx="4513143" cy="1296491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938BC654-24DB-CE67-7039-1947F2DB80E4}"/>
              </a:ext>
            </a:extLst>
          </p:cNvPr>
          <p:cNvGrpSpPr>
            <a:grpSpLocks/>
          </p:cNvGrpSpPr>
          <p:nvPr/>
        </p:nvGrpSpPr>
        <p:grpSpPr bwMode="auto">
          <a:xfrm>
            <a:off x="7352791" y="3784596"/>
            <a:ext cx="4513143" cy="438150"/>
            <a:chOff x="1306" y="1536"/>
            <a:chExt cx="1442" cy="27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2CFFFDA9-498A-851C-6656-655500587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536"/>
              <a:ext cx="1442" cy="27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13216FE9-95FC-8FA7-F728-4159278A7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sz="1800" dirty="0"/>
                <a:t>公式后台代码化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Rectangle 11">
            <a:extLst>
              <a:ext uri="{FF2B5EF4-FFF2-40B4-BE49-F238E27FC236}">
                <a16:creationId xmlns:a16="http://schemas.microsoft.com/office/drawing/2014/main" id="{42CE18CC-A03A-A2CB-39D2-EA33D6A3E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790" y="4305488"/>
            <a:ext cx="4513143" cy="2467451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78B2B55E-E777-A19A-E9C7-B4B138C06E4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0361" y="3578222"/>
            <a:ext cx="4318000" cy="2032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456E4E0-8630-4566-209C-AB9621A03E09}"/>
                  </a:ext>
                </a:extLst>
              </p:cNvPr>
              <p:cNvSpPr txBox="1"/>
              <p:nvPr/>
            </p:nvSpPr>
            <p:spPr>
              <a:xfrm>
                <a:off x="7352791" y="2300168"/>
                <a:ext cx="4513142" cy="12162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zh-CN" sz="1400" dirty="0"/>
                  <a:t>复配后分子量</a:t>
                </a:r>
                <a:r>
                  <a:rPr lang="zh-CN" altLang="en-US" sz="1400" dirty="0"/>
                  <a:t>：</a:t>
                </a:r>
                <a:endParaRPr kumimoji="1" lang="en" altLang="zh-CN" sz="105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zh-CN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kumimoji="1" lang="en" altLang="zh-CN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𝑤𝑖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" altLang="zh-CN" sz="105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1050" dirty="0"/>
              </a:p>
              <a:p>
                <a:endParaRPr lang="en-US" altLang="zh-CN" sz="1400" dirty="0"/>
              </a:p>
              <a:p>
                <a:r>
                  <a:rPr lang="zh-CN" altLang="zh-CN" sz="1400" dirty="0"/>
                  <a:t>胶液重量、Mw、黏度、固含量等信息由</a:t>
                </a:r>
                <a:r>
                  <a:rPr lang="zh-CN" altLang="zh-CN" sz="1400" b="1" dirty="0"/>
                  <a:t>人工判断</a:t>
                </a:r>
                <a:r>
                  <a:rPr lang="zh-CN" altLang="zh-CN" sz="1400" dirty="0"/>
                  <a:t>，复配比例依赖经验</a:t>
                </a:r>
                <a:endParaRPr kumimoji="1" lang="zh-CN" altLang="en-US" sz="1400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456E4E0-8630-4566-209C-AB9621A03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791" y="2300168"/>
                <a:ext cx="4513142" cy="1216295"/>
              </a:xfrm>
              <a:prstGeom prst="rect">
                <a:avLst/>
              </a:prstGeom>
              <a:blipFill>
                <a:blip r:embed="rId3"/>
                <a:stretch>
                  <a:fillRect l="-2241" t="-7216" b="-8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A7098EF7-248E-0FD3-508E-A326C7CC3F0B}"/>
              </a:ext>
            </a:extLst>
          </p:cNvPr>
          <p:cNvGrpSpPr/>
          <p:nvPr/>
        </p:nvGrpSpPr>
        <p:grpSpPr>
          <a:xfrm>
            <a:off x="7648925" y="4419343"/>
            <a:ext cx="3888382" cy="1766486"/>
            <a:chOff x="688975" y="2358233"/>
            <a:chExt cx="8550275" cy="3129755"/>
          </a:xfrm>
        </p:grpSpPr>
        <p:sp>
          <p:nvSpPr>
            <p:cNvPr id="39" name="Freeform 2">
              <a:extLst>
                <a:ext uri="{FF2B5EF4-FFF2-40B4-BE49-F238E27FC236}">
                  <a16:creationId xmlns:a16="http://schemas.microsoft.com/office/drawing/2014/main" id="{FC175E01-F4B6-1F48-9CE4-0BC362B5F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3" y="3243263"/>
              <a:ext cx="1743075" cy="1701800"/>
            </a:xfrm>
            <a:custGeom>
              <a:avLst/>
              <a:gdLst>
                <a:gd name="T0" fmla="*/ 2147483647 w 984"/>
                <a:gd name="T1" fmla="*/ 2147483647 h 960"/>
                <a:gd name="T2" fmla="*/ 0 w 984"/>
                <a:gd name="T3" fmla="*/ 2147483647 h 960"/>
                <a:gd name="T4" fmla="*/ 2147483647 w 984"/>
                <a:gd name="T5" fmla="*/ 2147483647 h 960"/>
                <a:gd name="T6" fmla="*/ 2147483647 w 984"/>
                <a:gd name="T7" fmla="*/ 0 h 960"/>
                <a:gd name="T8" fmla="*/ 2147483647 w 984"/>
                <a:gd name="T9" fmla="*/ 2147483647 h 960"/>
                <a:gd name="T10" fmla="*/ 2147483647 w 984"/>
                <a:gd name="T11" fmla="*/ 2147483647 h 960"/>
                <a:gd name="T12" fmla="*/ 2147483647 w 984"/>
                <a:gd name="T13" fmla="*/ 2147483647 h 960"/>
                <a:gd name="T14" fmla="*/ 2147483647 w 984"/>
                <a:gd name="T15" fmla="*/ 2147483647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4" h="960">
                  <a:moveTo>
                    <a:pt x="273" y="960"/>
                  </a:moveTo>
                  <a:lnTo>
                    <a:pt x="0" y="617"/>
                  </a:lnTo>
                  <a:lnTo>
                    <a:pt x="97" y="190"/>
                  </a:lnTo>
                  <a:lnTo>
                    <a:pt x="492" y="0"/>
                  </a:lnTo>
                  <a:lnTo>
                    <a:pt x="886" y="190"/>
                  </a:lnTo>
                  <a:lnTo>
                    <a:pt x="984" y="618"/>
                  </a:lnTo>
                  <a:lnTo>
                    <a:pt x="710" y="960"/>
                  </a:lnTo>
                  <a:lnTo>
                    <a:pt x="273" y="96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chemeClr val="hlink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A4200FB9-AEA1-4D97-188B-9047F16D8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975" y="3402013"/>
              <a:ext cx="3546475" cy="169862"/>
            </a:xfrm>
            <a:custGeom>
              <a:avLst/>
              <a:gdLst>
                <a:gd name="T0" fmla="*/ 2147483647 w 2234"/>
                <a:gd name="T1" fmla="*/ 2147483647 h 107"/>
                <a:gd name="T2" fmla="*/ 2147483647 w 2234"/>
                <a:gd name="T3" fmla="*/ 2147483647 h 107"/>
                <a:gd name="T4" fmla="*/ 0 w 2234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34" h="107">
                  <a:moveTo>
                    <a:pt x="2234" y="107"/>
                  </a:moveTo>
                  <a:lnTo>
                    <a:pt x="2014" y="5"/>
                  </a:lnTo>
                  <a:lnTo>
                    <a:pt x="0" y="0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Rectangle 5">
              <a:extLst>
                <a:ext uri="{FF2B5EF4-FFF2-40B4-BE49-F238E27FC236}">
                  <a16:creationId xmlns:a16="http://schemas.microsoft.com/office/drawing/2014/main" id="{ED9CB0B5-2443-D5EC-230D-320EBB4F7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863" y="3953198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/>
                <a:t>各批次 Mwᵢ </a:t>
              </a:r>
              <a:endParaRPr kumimoji="1" lang="en-US" altLang="de-DE" sz="1600" dirty="0"/>
            </a:p>
          </p:txBody>
        </p:sp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9A2EDF43-DA10-C8CA-74E2-69A2FA251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864" y="3683321"/>
              <a:ext cx="1458912" cy="872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sz="1600" dirty="0">
                  <a:solidFill>
                    <a:schemeClr val="bg1"/>
                  </a:solidFill>
                </a:rPr>
                <a:t>复配后分子量</a:t>
              </a:r>
              <a:endParaRPr kumimoji="1" lang="en-US" altLang="de-DE" sz="1600" dirty="0">
                <a:solidFill>
                  <a:schemeClr val="bg1"/>
                </a:solidFill>
              </a:endParaRPr>
            </a:p>
          </p:txBody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99ADC7B4-3B63-9C05-FCAB-1BA625677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863" y="2886400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/>
                <a:t>目标 Mw</a:t>
              </a:r>
              <a:endParaRPr kumimoji="1" lang="en-US" altLang="de-DE" sz="1600" dirty="0"/>
            </a:p>
          </p:txBody>
        </p:sp>
        <p:sp>
          <p:nvSpPr>
            <p:cNvPr id="44" name="Rectangle 8">
              <a:extLst>
                <a:ext uri="{FF2B5EF4-FFF2-40B4-BE49-F238E27FC236}">
                  <a16:creationId xmlns:a16="http://schemas.microsoft.com/office/drawing/2014/main" id="{C0BCE036-9762-82C6-46B3-17B91639A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87" y="3953198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/>
                <a:t>胶液重量 Wi</a:t>
              </a:r>
              <a:endParaRPr kumimoji="1" lang="en-US" altLang="de-DE" sz="1600" dirty="0"/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145E2181-D2BF-1ECB-7009-E31F4E18E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875" y="4959350"/>
              <a:ext cx="3889375" cy="528638"/>
            </a:xfrm>
            <a:custGeom>
              <a:avLst/>
              <a:gdLst>
                <a:gd name="T0" fmla="*/ 0 w 2450"/>
                <a:gd name="T1" fmla="*/ 0 h 275"/>
                <a:gd name="T2" fmla="*/ 2147483647 w 2450"/>
                <a:gd name="T3" fmla="*/ 2147483647 h 275"/>
                <a:gd name="T4" fmla="*/ 2147483647 w 2450"/>
                <a:gd name="T5" fmla="*/ 2147483647 h 2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0" h="275">
                  <a:moveTo>
                    <a:pt x="0" y="0"/>
                  </a:moveTo>
                  <a:lnTo>
                    <a:pt x="128" y="274"/>
                  </a:lnTo>
                  <a:lnTo>
                    <a:pt x="2450" y="275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5946E785-8FC4-3619-1891-066E82DA0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00" y="4949825"/>
              <a:ext cx="3859213" cy="538163"/>
            </a:xfrm>
            <a:custGeom>
              <a:avLst/>
              <a:gdLst>
                <a:gd name="T0" fmla="*/ 2147483647 w 2431"/>
                <a:gd name="T1" fmla="*/ 0 h 280"/>
                <a:gd name="T2" fmla="*/ 2147483647 w 2431"/>
                <a:gd name="T3" fmla="*/ 2147483647 h 280"/>
                <a:gd name="T4" fmla="*/ 0 w 2431"/>
                <a:gd name="T5" fmla="*/ 2147483647 h 2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31" h="280">
                  <a:moveTo>
                    <a:pt x="2431" y="0"/>
                  </a:moveTo>
                  <a:lnTo>
                    <a:pt x="2303" y="279"/>
                  </a:lnTo>
                  <a:lnTo>
                    <a:pt x="0" y="280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Rectangle 11">
              <a:extLst>
                <a:ext uri="{FF2B5EF4-FFF2-40B4-BE49-F238E27FC236}">
                  <a16:creationId xmlns:a16="http://schemas.microsoft.com/office/drawing/2014/main" id="{5AD40177-A0F7-C7CC-5CBC-71D39A817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863" y="4943798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/>
                <a:t>黏度 /</a:t>
              </a:r>
              <a:r>
                <a:rPr lang="en-US" altLang="zh-CN" sz="1600" dirty="0" err="1"/>
                <a:t>ph</a:t>
              </a:r>
              <a:endParaRPr kumimoji="1" lang="en-US" altLang="de-DE" sz="1600" dirty="0"/>
            </a:p>
          </p:txBody>
        </p:sp>
        <p:sp>
          <p:nvSpPr>
            <p:cNvPr id="48" name="Rectangle 12">
              <a:extLst>
                <a:ext uri="{FF2B5EF4-FFF2-40B4-BE49-F238E27FC236}">
                  <a16:creationId xmlns:a16="http://schemas.microsoft.com/office/drawing/2014/main" id="{CF896F24-5432-9071-0893-3B2E803ED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87" y="4943798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/>
                <a:t>固含量 Si</a:t>
              </a:r>
              <a:endParaRPr kumimoji="1" lang="en-US" altLang="de-DE" sz="1600" dirty="0"/>
            </a:p>
          </p:txBody>
        </p:sp>
        <p:sp>
          <p:nvSpPr>
            <p:cNvPr id="49" name="Rectangle 13">
              <a:extLst>
                <a:ext uri="{FF2B5EF4-FFF2-40B4-BE49-F238E27FC236}">
                  <a16:creationId xmlns:a16="http://schemas.microsoft.com/office/drawing/2014/main" id="{4F809F75-2580-30AE-9EB1-A9797DDA3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87" y="2892749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/>
                <a:t>可用胶液批次</a:t>
              </a:r>
              <a:endParaRPr kumimoji="1" lang="en-US" altLang="de-DE" sz="1600" dirty="0"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BFAA958A-1E7A-426A-C73A-2277C6ADD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005" y="2358233"/>
              <a:ext cx="3201988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sz="1600" dirty="0"/>
                <a:t>公式计算引擎</a:t>
              </a:r>
              <a:endParaRPr kumimoji="1" lang="en-US" altLang="de-DE" sz="1600" dirty="0"/>
            </a:p>
          </p:txBody>
        </p:sp>
        <p:sp>
          <p:nvSpPr>
            <p:cNvPr id="51" name="Line 16">
              <a:extLst>
                <a:ext uri="{FF2B5EF4-FFF2-40B4-BE49-F238E27FC236}">
                  <a16:creationId xmlns:a16="http://schemas.microsoft.com/office/drawing/2014/main" id="{8FC24242-23C2-1D62-1C06-696A55D97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612" y="2796716"/>
              <a:ext cx="3406774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11C8967D-C4CD-879A-F1C9-B752CD591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063" y="4346575"/>
              <a:ext cx="3392487" cy="119063"/>
            </a:xfrm>
            <a:custGeom>
              <a:avLst/>
              <a:gdLst>
                <a:gd name="T0" fmla="*/ 0 w 2137"/>
                <a:gd name="T1" fmla="*/ 0 h 75"/>
                <a:gd name="T2" fmla="*/ 2147483647 w 2137"/>
                <a:gd name="T3" fmla="*/ 2147483647 h 75"/>
                <a:gd name="T4" fmla="*/ 2147483647 w 2137"/>
                <a:gd name="T5" fmla="*/ 2147483647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7" h="75">
                  <a:moveTo>
                    <a:pt x="0" y="0"/>
                  </a:moveTo>
                  <a:lnTo>
                    <a:pt x="273" y="75"/>
                  </a:lnTo>
                  <a:lnTo>
                    <a:pt x="2137" y="74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DC5FD469-5CD3-39D9-192A-179C514E6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200" y="4346575"/>
              <a:ext cx="3368675" cy="119063"/>
            </a:xfrm>
            <a:custGeom>
              <a:avLst/>
              <a:gdLst>
                <a:gd name="T0" fmla="*/ 2147483647 w 2122"/>
                <a:gd name="T1" fmla="*/ 0 h 75"/>
                <a:gd name="T2" fmla="*/ 2147483647 w 2122"/>
                <a:gd name="T3" fmla="*/ 2147483647 h 75"/>
                <a:gd name="T4" fmla="*/ 0 w 2122"/>
                <a:gd name="T5" fmla="*/ 2147483647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2" h="75">
                  <a:moveTo>
                    <a:pt x="2122" y="0"/>
                  </a:moveTo>
                  <a:lnTo>
                    <a:pt x="1865" y="75"/>
                  </a:lnTo>
                  <a:lnTo>
                    <a:pt x="0" y="74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5EAAF9C0-6A77-02C7-4A3B-A2F83379E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402013"/>
              <a:ext cx="3575050" cy="169862"/>
            </a:xfrm>
            <a:custGeom>
              <a:avLst/>
              <a:gdLst>
                <a:gd name="T0" fmla="*/ 0 w 2252"/>
                <a:gd name="T1" fmla="*/ 2147483647 h 107"/>
                <a:gd name="T2" fmla="*/ 2147483647 w 2252"/>
                <a:gd name="T3" fmla="*/ 2147483647 h 107"/>
                <a:gd name="T4" fmla="*/ 2147483647 w 2252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52" h="107">
                  <a:moveTo>
                    <a:pt x="0" y="107"/>
                  </a:moveTo>
                  <a:lnTo>
                    <a:pt x="238" y="5"/>
                  </a:lnTo>
                  <a:lnTo>
                    <a:pt x="2252" y="0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6767C4C3-24E4-A511-B174-E834E0487506}"/>
              </a:ext>
            </a:extLst>
          </p:cNvPr>
          <p:cNvSpPr txBox="1"/>
          <p:nvPr/>
        </p:nvSpPr>
        <p:spPr>
          <a:xfrm>
            <a:off x="7352790" y="6291522"/>
            <a:ext cx="44155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自动输出</a:t>
            </a:r>
            <a:r>
              <a:rPr lang="zh-CN" altLang="zh-CN" sz="1400" b="1" dirty="0">
                <a:solidFill>
                  <a:srgbClr val="FF0000"/>
                </a:solidFill>
              </a:rPr>
              <a:t>复配比例</a:t>
            </a:r>
            <a:r>
              <a:rPr lang="zh-CN" altLang="zh-CN" sz="1400" dirty="0"/>
              <a:t>、</a:t>
            </a:r>
            <a:r>
              <a:rPr lang="zh-CN" altLang="zh-CN" sz="1400" dirty="0">
                <a:solidFill>
                  <a:srgbClr val="FF0000"/>
                </a:solidFill>
              </a:rPr>
              <a:t>目标 Mw</a:t>
            </a:r>
            <a:r>
              <a:rPr lang="zh-CN" altLang="zh-CN" sz="1400" dirty="0"/>
              <a:t>、</a:t>
            </a:r>
            <a:r>
              <a:rPr lang="zh-CN" altLang="zh-CN" sz="1400" dirty="0">
                <a:solidFill>
                  <a:srgbClr val="FF0000"/>
                </a:solidFill>
              </a:rPr>
              <a:t>产出预测</a:t>
            </a:r>
            <a:r>
              <a:rPr lang="zh-CN" altLang="zh-CN" sz="1400" dirty="0"/>
              <a:t>和偏差风险，减少对老师傅经验的依赖并提升批次稳定性。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034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1B08-E214-7A3F-1337-2E4DDAD7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611B27-982C-B055-1545-0599B2224A50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切入点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9BB62B-000E-CCD4-9AB3-777E3DA60559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0CBBBB-BC40-FAF6-8526-A439ABB8C30E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EDE613CB-0A8F-2C5A-C9E9-44E8122ACB71}"/>
              </a:ext>
            </a:extLst>
          </p:cNvPr>
          <p:cNvSpPr/>
          <p:nvPr/>
        </p:nvSpPr>
        <p:spPr>
          <a:xfrm>
            <a:off x="2428890" y="1239642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53756E1A-B021-80DB-AC00-BB8BAEC396C9}"/>
              </a:ext>
            </a:extLst>
          </p:cNvPr>
          <p:cNvSpPr/>
          <p:nvPr/>
        </p:nvSpPr>
        <p:spPr>
          <a:xfrm>
            <a:off x="835410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88E0BC27-00BD-E33A-0AF8-DC1ED1425069}"/>
              </a:ext>
            </a:extLst>
          </p:cNvPr>
          <p:cNvSpPr/>
          <p:nvPr/>
        </p:nvSpPr>
        <p:spPr>
          <a:xfrm>
            <a:off x="427268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A00624CE-E312-0F69-C18B-2A2FF7844F4D}"/>
              </a:ext>
            </a:extLst>
          </p:cNvPr>
          <p:cNvSpPr/>
          <p:nvPr/>
        </p:nvSpPr>
        <p:spPr>
          <a:xfrm>
            <a:off x="866180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AI改善点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39007FC-34E1-F3B6-AFE9-592B16183E0F}"/>
              </a:ext>
            </a:extLst>
          </p:cNvPr>
          <p:cNvGrpSpPr/>
          <p:nvPr/>
        </p:nvGrpSpPr>
        <p:grpSpPr>
          <a:xfrm>
            <a:off x="502920" y="1590658"/>
            <a:ext cx="6354636" cy="696462"/>
            <a:chOff x="502920" y="1590659"/>
            <a:chExt cx="6354636" cy="696462"/>
          </a:xfrm>
        </p:grpSpPr>
        <p:sp>
          <p:nvSpPr>
            <p:cNvPr id="65" name="AutoShape 15">
              <a:extLst>
                <a:ext uri="{FF2B5EF4-FFF2-40B4-BE49-F238E27FC236}">
                  <a16:creationId xmlns:a16="http://schemas.microsoft.com/office/drawing/2014/main" id="{CAA1C4AC-22AC-2D3F-485F-400A26B338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2EFB5415-4939-CB99-3AF3-88EB8A8EC269}"/>
                </a:ext>
              </a:extLst>
            </p:cNvPr>
            <p:cNvGrpSpPr/>
            <p:nvPr/>
          </p:nvGrpSpPr>
          <p:grpSpPr>
            <a:xfrm>
              <a:off x="502920" y="1590659"/>
              <a:ext cx="6354636" cy="696462"/>
              <a:chOff x="502920" y="1590659"/>
              <a:chExt cx="6354636" cy="696462"/>
            </a:xfrm>
          </p:grpSpPr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B8252E8A-26CB-7A1A-9964-7C879F8580D4}"/>
                  </a:ext>
                </a:extLst>
              </p:cNvPr>
              <p:cNvSpPr/>
              <p:nvPr/>
            </p:nvSpPr>
            <p:spPr>
              <a:xfrm>
                <a:off x="502920" y="1590659"/>
                <a:ext cx="6354636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5E0A937-9771-150D-8831-A91AFA0936A9}"/>
                  </a:ext>
                </a:extLst>
              </p:cNvPr>
              <p:cNvSpPr txBox="1"/>
              <p:nvPr/>
            </p:nvSpPr>
            <p:spPr>
              <a:xfrm>
                <a:off x="2491060" y="1640790"/>
                <a:ext cx="115093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原料预</a:t>
                </a:r>
                <a:endPara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endParaRPr>
              </a:p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处理</a:t>
                </a:r>
                <a:endParaRPr lang="en-US" altLang="zh-CN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8C54094-608C-8FCA-341F-40FA95E1D472}"/>
              </a:ext>
            </a:extLst>
          </p:cNvPr>
          <p:cNvGrpSpPr/>
          <p:nvPr/>
        </p:nvGrpSpPr>
        <p:grpSpPr>
          <a:xfrm>
            <a:off x="521208" y="2287119"/>
            <a:ext cx="6336348" cy="647292"/>
            <a:chOff x="521208" y="1590659"/>
            <a:chExt cx="6336348" cy="647292"/>
          </a:xfrm>
        </p:grpSpPr>
        <p:sp>
          <p:nvSpPr>
            <p:cNvPr id="99" name="AutoShape 15">
              <a:extLst>
                <a:ext uri="{FF2B5EF4-FFF2-40B4-BE49-F238E27FC236}">
                  <a16:creationId xmlns:a16="http://schemas.microsoft.com/office/drawing/2014/main" id="{6672C067-9F49-B0E1-0A73-A68DF2B13A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07F00F3D-5817-16A5-D87C-D137BC0C031E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1" name="五边形 100">
                <a:extLst>
                  <a:ext uri="{FF2B5EF4-FFF2-40B4-BE49-F238E27FC236}">
                    <a16:creationId xmlns:a16="http://schemas.microsoft.com/office/drawing/2014/main" id="{25374A5B-F933-2E48-DC21-BAEF277D2262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73733C2-5C10-6967-177F-39822A459F7D}"/>
                  </a:ext>
                </a:extLst>
              </p:cNvPr>
              <p:cNvSpPr txBox="1"/>
              <p:nvPr/>
            </p:nvSpPr>
            <p:spPr>
              <a:xfrm>
                <a:off x="2491060" y="172677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浸灰水解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49A128F7-C6C3-950D-CF8A-D39AB6DDC184}"/>
              </a:ext>
            </a:extLst>
          </p:cNvPr>
          <p:cNvGrpSpPr/>
          <p:nvPr/>
        </p:nvGrpSpPr>
        <p:grpSpPr>
          <a:xfrm>
            <a:off x="521208" y="3001822"/>
            <a:ext cx="6336348" cy="647292"/>
            <a:chOff x="521208" y="1590659"/>
            <a:chExt cx="6336348" cy="647292"/>
          </a:xfrm>
        </p:grpSpPr>
        <p:sp>
          <p:nvSpPr>
            <p:cNvPr id="105" name="AutoShape 15">
              <a:extLst>
                <a:ext uri="{FF2B5EF4-FFF2-40B4-BE49-F238E27FC236}">
                  <a16:creationId xmlns:a16="http://schemas.microsoft.com/office/drawing/2014/main" id="{EF327312-CA62-5AB0-7544-F7CA188455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75682A18-777C-8410-3912-02690D0E50E8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7" name="五边形 106">
                <a:extLst>
                  <a:ext uri="{FF2B5EF4-FFF2-40B4-BE49-F238E27FC236}">
                    <a16:creationId xmlns:a16="http://schemas.microsoft.com/office/drawing/2014/main" id="{F11C9CDA-5C5F-8D42-9A57-A9CF0B6D2C8D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57DA7AA-D4C8-E152-3B5D-B09FF0C9B32B}"/>
                  </a:ext>
                </a:extLst>
              </p:cNvPr>
              <p:cNvSpPr txBox="1"/>
              <p:nvPr/>
            </p:nvSpPr>
            <p:spPr>
              <a:xfrm>
                <a:off x="2491060" y="172716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中和水洗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A8B48908-180F-7D76-05F2-3DBA0D92E919}"/>
              </a:ext>
            </a:extLst>
          </p:cNvPr>
          <p:cNvGrpSpPr/>
          <p:nvPr/>
        </p:nvGrpSpPr>
        <p:grpSpPr>
          <a:xfrm>
            <a:off x="521208" y="3716525"/>
            <a:ext cx="6336348" cy="647292"/>
            <a:chOff x="521208" y="1590659"/>
            <a:chExt cx="6336348" cy="647292"/>
          </a:xfrm>
        </p:grpSpPr>
        <p:sp>
          <p:nvSpPr>
            <p:cNvPr id="111" name="AutoShape 15">
              <a:extLst>
                <a:ext uri="{FF2B5EF4-FFF2-40B4-BE49-F238E27FC236}">
                  <a16:creationId xmlns:a16="http://schemas.microsoft.com/office/drawing/2014/main" id="{FBC298F6-2BCB-72FA-8552-4FF7CD13E2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D078E833-E4D2-8169-3643-263DD52531E3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13" name="五边形 112">
                <a:extLst>
                  <a:ext uri="{FF2B5EF4-FFF2-40B4-BE49-F238E27FC236}">
                    <a16:creationId xmlns:a16="http://schemas.microsoft.com/office/drawing/2014/main" id="{DB3465D0-AA62-96EA-60B0-0BC9430A8D33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11D30666-C739-3D9C-DAD6-2C0095EF3109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分段提胶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19" name="五边形 118">
            <a:extLst>
              <a:ext uri="{FF2B5EF4-FFF2-40B4-BE49-F238E27FC236}">
                <a16:creationId xmlns:a16="http://schemas.microsoft.com/office/drawing/2014/main" id="{283E5841-E4A7-7143-FB8A-883BC4347CA5}"/>
              </a:ext>
            </a:extLst>
          </p:cNvPr>
          <p:cNvSpPr/>
          <p:nvPr/>
        </p:nvSpPr>
        <p:spPr>
          <a:xfrm>
            <a:off x="521208" y="4431228"/>
            <a:ext cx="6336348" cy="638117"/>
          </a:xfrm>
          <a:prstGeom prst="homePlat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5054027-9531-B33B-49CC-18723E71C519}"/>
              </a:ext>
            </a:extLst>
          </p:cNvPr>
          <p:cNvGrpSpPr/>
          <p:nvPr/>
        </p:nvGrpSpPr>
        <p:grpSpPr>
          <a:xfrm>
            <a:off x="2480891" y="4419384"/>
            <a:ext cx="1150938" cy="646332"/>
            <a:chOff x="2491060" y="4432188"/>
            <a:chExt cx="1150938" cy="646332"/>
          </a:xfrm>
        </p:grpSpPr>
        <p:sp>
          <p:nvSpPr>
            <p:cNvPr id="117" name="AutoShape 15">
              <a:extLst>
                <a:ext uri="{FF2B5EF4-FFF2-40B4-BE49-F238E27FC236}">
                  <a16:creationId xmlns:a16="http://schemas.microsoft.com/office/drawing/2014/main" id="{AA7714FE-EA9C-638C-71BD-F2633404D1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4179885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D62B21A7-6E35-6515-3053-307A074FCD21}"/>
                </a:ext>
              </a:extLst>
            </p:cNvPr>
            <p:cNvSpPr txBox="1"/>
            <p:nvPr/>
          </p:nvSpPr>
          <p:spPr>
            <a:xfrm>
              <a:off x="2491060" y="4565620"/>
              <a:ext cx="1150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6173949E-E236-C339-BC20-109EC930B26F}"/>
              </a:ext>
            </a:extLst>
          </p:cNvPr>
          <p:cNvGrpSpPr/>
          <p:nvPr/>
        </p:nvGrpSpPr>
        <p:grpSpPr>
          <a:xfrm>
            <a:off x="521208" y="5124912"/>
            <a:ext cx="6336348" cy="647292"/>
            <a:chOff x="521208" y="1590659"/>
            <a:chExt cx="6336348" cy="647292"/>
          </a:xfrm>
        </p:grpSpPr>
        <p:sp>
          <p:nvSpPr>
            <p:cNvPr id="123" name="AutoShape 15">
              <a:extLst>
                <a:ext uri="{FF2B5EF4-FFF2-40B4-BE49-F238E27FC236}">
                  <a16:creationId xmlns:a16="http://schemas.microsoft.com/office/drawing/2014/main" id="{A8432183-5D41-D7E6-5E66-8F814EE790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11685FFA-BAE9-3800-32BE-5B6E589CC058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25" name="五边形 124">
                <a:extLst>
                  <a:ext uri="{FF2B5EF4-FFF2-40B4-BE49-F238E27FC236}">
                    <a16:creationId xmlns:a16="http://schemas.microsoft.com/office/drawing/2014/main" id="{D5940B09-3F44-D0F3-FAD1-802860AD4073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5DE64833-DDE2-C310-21B9-A04EDFDD32DC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凝胶干燥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584633D-90E8-CF90-35C9-F75D3BEB67BF}"/>
              </a:ext>
            </a:extLst>
          </p:cNvPr>
          <p:cNvGrpSpPr/>
          <p:nvPr/>
        </p:nvGrpSpPr>
        <p:grpSpPr>
          <a:xfrm>
            <a:off x="521208" y="5860636"/>
            <a:ext cx="6336348" cy="647292"/>
            <a:chOff x="521208" y="1590659"/>
            <a:chExt cx="6336348" cy="647292"/>
          </a:xfrm>
        </p:grpSpPr>
        <p:sp>
          <p:nvSpPr>
            <p:cNvPr id="129" name="AutoShape 15">
              <a:extLst>
                <a:ext uri="{FF2B5EF4-FFF2-40B4-BE49-F238E27FC236}">
                  <a16:creationId xmlns:a16="http://schemas.microsoft.com/office/drawing/2014/main" id="{BE07CE8B-8A3C-F875-418D-9143CA0A0C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D14D52D1-3597-C17B-04FE-FCCB12079C3A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31" name="五边形 130">
                <a:extLst>
                  <a:ext uri="{FF2B5EF4-FFF2-40B4-BE49-F238E27FC236}">
                    <a16:creationId xmlns:a16="http://schemas.microsoft.com/office/drawing/2014/main" id="{05004431-3369-8EB8-09EC-53B7A9501F30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5180A1F-38EC-2C06-8981-B4F6600E0AAD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粉碎成品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F390D7B4-5EE2-E3A1-63C7-A81ABDD1F219}"/>
              </a:ext>
            </a:extLst>
          </p:cNvPr>
          <p:cNvSpPr txBox="1"/>
          <p:nvPr/>
        </p:nvSpPr>
        <p:spPr>
          <a:xfrm>
            <a:off x="563116" y="1616203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纯化胶原骨粒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骨粒规格、脱脂/脱矿程度、杂质控制</a:t>
            </a:r>
            <a:endParaRPr lang="zh-CN" altLang="en-US" sz="1200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470DBA77-D8D2-09DC-EEED-CD063E9B84BC}"/>
              </a:ext>
            </a:extLst>
          </p:cNvPr>
          <p:cNvSpPr txBox="1"/>
          <p:nvPr/>
        </p:nvSpPr>
        <p:spPr>
          <a:xfrm>
            <a:off x="563116" y="2287121"/>
            <a:ext cx="181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不同断链程度胶原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目标Mw 基础区间</a:t>
            </a:r>
            <a:endParaRPr lang="zh-CN" altLang="en-US" sz="1200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8A461887-01BF-2A65-0CCE-607EDC9037C8}"/>
              </a:ext>
            </a:extLst>
          </p:cNvPr>
          <p:cNvSpPr txBox="1"/>
          <p:nvPr/>
        </p:nvSpPr>
        <p:spPr>
          <a:xfrm>
            <a:off x="563116" y="3030512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pH稳定胶原物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pH、钙/氯离子残留、透明度风险</a:t>
            </a:r>
            <a:endParaRPr lang="zh-CN" altLang="en-US" sz="1200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736C095E-DD25-8AE3-76FA-FFAA5484CB76}"/>
              </a:ext>
            </a:extLst>
          </p:cNvPr>
          <p:cNvSpPr txBox="1"/>
          <p:nvPr/>
        </p:nvSpPr>
        <p:spPr>
          <a:xfrm>
            <a:off x="563116" y="3712417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不同道次胶液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各道次 Mw、重量、黏度、冻力</a:t>
            </a:r>
            <a:endParaRPr lang="en-US" altLang="zh-CN" sz="1200" dirty="0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D76078EC-164F-1603-BEE8-AAF8144E9F35}"/>
              </a:ext>
            </a:extLst>
          </p:cNvPr>
          <p:cNvSpPr txBox="1"/>
          <p:nvPr/>
        </p:nvSpPr>
        <p:spPr>
          <a:xfrm>
            <a:off x="563116" y="4434365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目标 Mw 复配胶液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固含量、黏度、冻力、理论产出</a:t>
            </a:r>
            <a:endParaRPr lang="zh-CN" altLang="en-US" sz="12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03E0C29-6B92-9EDC-9ED3-927DDC18524B}"/>
              </a:ext>
            </a:extLst>
          </p:cNvPr>
          <p:cNvSpPr txBox="1"/>
          <p:nvPr/>
        </p:nvSpPr>
        <p:spPr>
          <a:xfrm>
            <a:off x="563116" y="5116698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干燥后成品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水分、损耗率、实际产出、质量偏差</a:t>
            </a:r>
            <a:endParaRPr lang="zh-CN" altLang="en-US" sz="1200" dirty="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25109486-EF91-8E30-BDF8-53B1ACE8F7C7}"/>
              </a:ext>
            </a:extLst>
          </p:cNvPr>
          <p:cNvSpPr txBox="1"/>
          <p:nvPr/>
        </p:nvSpPr>
        <p:spPr>
          <a:xfrm>
            <a:off x="563116" y="5852422"/>
            <a:ext cx="18198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100" b="1" dirty="0"/>
              <a:t>入库成品与质检报告</a:t>
            </a:r>
            <a:endParaRPr lang="en-US" altLang="zh-CN" sz="1100" b="1" dirty="0"/>
          </a:p>
          <a:p>
            <a:pPr algn="ctr"/>
            <a:r>
              <a:rPr lang="zh-CN" altLang="zh-CN" sz="1100" dirty="0"/>
              <a:t>Mn、Mw、Mz、PDI、小分子占比、黏度、冻力</a:t>
            </a:r>
            <a:endParaRPr lang="zh-CN" altLang="en-US" sz="110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82099359-DB09-D984-5D83-6C3F98131460}"/>
              </a:ext>
            </a:extLst>
          </p:cNvPr>
          <p:cNvSpPr txBox="1"/>
          <p:nvPr/>
        </p:nvSpPr>
        <p:spPr>
          <a:xfrm>
            <a:off x="3817916" y="1616203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原料批次、骨粒规格、残油/灰分/杂质率</a:t>
            </a:r>
            <a:endParaRPr lang="zh-CN" altLang="en-US" sz="120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9515279D-D91F-6946-FC32-173E6F2F4684}"/>
              </a:ext>
            </a:extLst>
          </p:cNvPr>
          <p:cNvSpPr txBox="1"/>
          <p:nvPr/>
        </p:nvSpPr>
        <p:spPr>
          <a:xfrm>
            <a:off x="3817916" y="228799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浸灰时间、温度、料液比、石灰乳浓度、Mw区间</a:t>
            </a:r>
            <a:endParaRPr lang="zh-CN" altLang="en-US" sz="1200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E208BA8-395D-6E12-152E-E6BF13842FC6}"/>
              </a:ext>
            </a:extLst>
          </p:cNvPr>
          <p:cNvSpPr txBox="1"/>
          <p:nvPr/>
        </p:nvSpPr>
        <p:spPr>
          <a:xfrm>
            <a:off x="3817916" y="3001824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pH 6.0–6.5、残留离子、洗涤次数</a:t>
            </a:r>
            <a:endParaRPr lang="zh-CN" altLang="en-US" sz="1200" dirty="0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B75DEFE5-393B-EF28-E9B0-0C826A4F6B68}"/>
              </a:ext>
            </a:extLst>
          </p:cNvPr>
          <p:cNvSpPr txBox="1"/>
          <p:nvPr/>
        </p:nvSpPr>
        <p:spPr>
          <a:xfrm>
            <a:off x="3817916" y="3705174"/>
            <a:ext cx="2278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Mwᵢ、Wᵢ、道次、提胶温度</a:t>
            </a:r>
            <a:endParaRPr lang="zh-CN" altLang="en-US" sz="1200" dirty="0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A0CE0F25-FF34-A1BC-2941-605CE1737FA8}"/>
              </a:ext>
            </a:extLst>
          </p:cNvPr>
          <p:cNvSpPr txBox="1"/>
          <p:nvPr/>
        </p:nvSpPr>
        <p:spPr>
          <a:xfrm>
            <a:off x="3817916" y="441987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Mw混、Wᵢ、固含量ᵢ、[η]、理论产出</a:t>
            </a:r>
            <a:endParaRPr lang="zh-CN" altLang="en-US" sz="1200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DBC13464-7C0A-95CC-EFA6-52E943C062A5}"/>
              </a:ext>
            </a:extLst>
          </p:cNvPr>
          <p:cNvSpPr txBox="1"/>
          <p:nvPr/>
        </p:nvSpPr>
        <p:spPr>
          <a:xfrm>
            <a:off x="3817916" y="51135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成品水分 12%–16%、干基重量、损耗率</a:t>
            </a:r>
            <a:endParaRPr lang="zh-CN" altLang="en-US" sz="1200" dirty="0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04D51EA4-BF67-07A8-6989-B5912EE9EA59}"/>
              </a:ext>
            </a:extLst>
          </p:cNvPr>
          <p:cNvSpPr txBox="1"/>
          <p:nvPr/>
        </p:nvSpPr>
        <p:spPr>
          <a:xfrm>
            <a:off x="3817916" y="58514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GPC公式、PDI公式、小分子占比公式、黏度估算公式</a:t>
            </a:r>
            <a:endParaRPr lang="zh-CN" altLang="en-US" sz="1200" dirty="0"/>
          </a:p>
        </p:txBody>
      </p:sp>
      <p:sp>
        <p:nvSpPr>
          <p:cNvPr id="6" name="矩形标注 5">
            <a:extLst>
              <a:ext uri="{FF2B5EF4-FFF2-40B4-BE49-F238E27FC236}">
                <a16:creationId xmlns:a16="http://schemas.microsoft.com/office/drawing/2014/main" id="{FCC535D2-EAD0-528B-071F-E49EB2974618}"/>
              </a:ext>
            </a:extLst>
          </p:cNvPr>
          <p:cNvSpPr/>
          <p:nvPr/>
        </p:nvSpPr>
        <p:spPr>
          <a:xfrm>
            <a:off x="7230141" y="1590658"/>
            <a:ext cx="4742120" cy="5224082"/>
          </a:xfrm>
          <a:prstGeom prst="wedgeRectCallout">
            <a:avLst>
              <a:gd name="adj1" fmla="val -56483"/>
              <a:gd name="adj2" fmla="val 1106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6D5C247B-5446-0796-A52D-D75A5ED001AC}"/>
              </a:ext>
            </a:extLst>
          </p:cNvPr>
          <p:cNvGrpSpPr>
            <a:grpSpLocks/>
          </p:cNvGrpSpPr>
          <p:nvPr/>
        </p:nvGrpSpPr>
        <p:grpSpPr bwMode="auto">
          <a:xfrm>
            <a:off x="7352792" y="1708797"/>
            <a:ext cx="4513142" cy="438150"/>
            <a:chOff x="1306" y="1538"/>
            <a:chExt cx="1442" cy="27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499195F9-0977-C473-0DBA-5D97AFAB1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538"/>
              <a:ext cx="1442" cy="27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F4EC75D3-6D2B-6137-71E9-A68511A95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800" dirty="0"/>
                <a:t>现有工作方式（例）</a:t>
              </a:r>
            </a:p>
          </p:txBody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114F1FDD-9E16-E243-FBA9-05AC1D5DA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790" y="2219973"/>
            <a:ext cx="4513143" cy="5832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B200237C-D32E-4676-69FD-7ADEB1B83B9D}"/>
              </a:ext>
            </a:extLst>
          </p:cNvPr>
          <p:cNvGrpSpPr>
            <a:grpSpLocks/>
          </p:cNvGrpSpPr>
          <p:nvPr/>
        </p:nvGrpSpPr>
        <p:grpSpPr bwMode="auto">
          <a:xfrm>
            <a:off x="7352791" y="3124841"/>
            <a:ext cx="4513143" cy="438150"/>
            <a:chOff x="1306" y="1536"/>
            <a:chExt cx="1442" cy="27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65C9EE6A-7D9D-5A06-F942-D107A9391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536"/>
              <a:ext cx="1442" cy="27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44F01A00-4147-A299-47A9-B71920347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dirty="0">
                  <a:solidFill>
                    <a:schemeClr val="tx1"/>
                  </a:solidFill>
                </a:rPr>
                <a:t>标准化公式流程</a:t>
              </a:r>
            </a:p>
          </p:txBody>
        </p:sp>
      </p:grpSp>
      <p:sp>
        <p:nvSpPr>
          <p:cNvPr id="15" name="Rectangle 11">
            <a:extLst>
              <a:ext uri="{FF2B5EF4-FFF2-40B4-BE49-F238E27FC236}">
                <a16:creationId xmlns:a16="http://schemas.microsoft.com/office/drawing/2014/main" id="{95E9E491-3B28-B2DA-992D-77A6A13C7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3082" y="3636688"/>
            <a:ext cx="4513143" cy="1537888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/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8CB92D6F-F061-488A-BE15-5E81E697EAD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0361" y="5229136"/>
            <a:ext cx="4318000" cy="2032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D2EF1A-7D5C-9A02-61D2-66B0A83EDF94}"/>
              </a:ext>
            </a:extLst>
          </p:cNvPr>
          <p:cNvSpPr txBox="1"/>
          <p:nvPr/>
        </p:nvSpPr>
        <p:spPr>
          <a:xfrm>
            <a:off x="7352791" y="2289641"/>
            <a:ext cx="451314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zh-CN" sz="1400" dirty="0"/>
              <a:t>胶液重量、Mw、黏度、固含量等信息由</a:t>
            </a:r>
            <a:r>
              <a:rPr lang="zh-CN" altLang="zh-CN" sz="1400" b="1" dirty="0"/>
              <a:t>人工判断</a:t>
            </a:r>
            <a:r>
              <a:rPr lang="zh-CN" altLang="zh-CN" sz="1400" dirty="0"/>
              <a:t>，复配比例依赖经验</a:t>
            </a:r>
            <a:endParaRPr kumimoji="1"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7FDDCA-16AB-B5C5-7876-E844FD1B4FA0}"/>
                  </a:ext>
                </a:extLst>
              </p:cNvPr>
              <p:cNvSpPr txBox="1"/>
              <p:nvPr/>
            </p:nvSpPr>
            <p:spPr>
              <a:xfrm>
                <a:off x="7373082" y="3654614"/>
                <a:ext cx="4513142" cy="16601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zh-CN" sz="1400" dirty="0"/>
                  <a:t>复配后分子量</a:t>
                </a:r>
                <a:r>
                  <a:rPr lang="zh-CN" altLang="en-US" sz="1400" dirty="0"/>
                  <a:t>：</a:t>
                </a:r>
                <a:endParaRPr kumimoji="1" lang="en" altLang="zh-CN" sz="105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zh-CN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kumimoji="1" lang="en" altLang="zh-CN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𝑤𝑖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" altLang="zh-CN" sz="105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1050" dirty="0"/>
              </a:p>
              <a:p>
                <a:r>
                  <a:rPr lang="zh-CN" altLang="zh-CN" sz="1400" dirty="0"/>
                  <a:t>黏度法估算 Mw 公式</a:t>
                </a:r>
                <a:r>
                  <a:rPr lang="en-US" altLang="zh-CN" sz="1400" dirty="0"/>
                  <a:t>:</a:t>
                </a:r>
              </a:p>
              <a:p>
                <a:endParaRPr kumimoji="1" lang="en-US" altLang="zh-CN" sz="105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l-GR" altLang="zh-CN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l-GR" altLang="zh-CN" sz="105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kumimoji="1" lang="el-GR" altLang="zh-CN" sz="105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kumimoji="1" lang="en-US" altLang="zh-CN" sz="1050" dirty="0"/>
              </a:p>
              <a:p>
                <a:r>
                  <a:rPr lang="zh-CN" altLang="zh-CN" sz="1400" dirty="0"/>
                  <a:t>有效干基重量公式</a:t>
                </a:r>
                <a:endParaRPr lang="en-US" altLang="zh-CN" sz="1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en-US" altLang="zh-CN" sz="1050" dirty="0"/>
              </a:p>
              <a:p>
                <a:endParaRPr kumimoji="1" lang="en-US" altLang="zh-CN" sz="105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7FDDCA-16AB-B5C5-7876-E844FD1B4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082" y="3654614"/>
                <a:ext cx="4513142" cy="1660134"/>
              </a:xfrm>
              <a:prstGeom prst="rect">
                <a:avLst/>
              </a:prstGeom>
              <a:blipFill>
                <a:blip r:embed="rId3"/>
                <a:stretch>
                  <a:fillRect l="-2521" t="-6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8">
            <a:extLst>
              <a:ext uri="{FF2B5EF4-FFF2-40B4-BE49-F238E27FC236}">
                <a16:creationId xmlns:a16="http://schemas.microsoft.com/office/drawing/2014/main" id="{D22B80C0-4AB7-668F-26D8-707ED8876E99}"/>
              </a:ext>
            </a:extLst>
          </p:cNvPr>
          <p:cNvGrpSpPr>
            <a:grpSpLocks/>
          </p:cNvGrpSpPr>
          <p:nvPr/>
        </p:nvGrpSpPr>
        <p:grpSpPr bwMode="auto">
          <a:xfrm>
            <a:off x="7352791" y="5463804"/>
            <a:ext cx="4513143" cy="438150"/>
            <a:chOff x="1306" y="1536"/>
            <a:chExt cx="1442" cy="27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D6481C4A-ACFE-A5EE-2910-FDEA8639E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536"/>
              <a:ext cx="1442" cy="27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06A777AA-1D99-D85A-DC98-F19C5D128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 b="0" dirty="0">
                  <a:solidFill>
                    <a:schemeClr val="tx1"/>
                  </a:solidFill>
                </a:rPr>
                <a:t>AI</a:t>
              </a:r>
              <a:r>
                <a:rPr lang="zh-CN" altLang="en-US" sz="1800" b="0" dirty="0">
                  <a:solidFill>
                    <a:schemeClr val="tx1"/>
                  </a:solidFill>
                </a:rPr>
                <a:t>赋能</a:t>
              </a:r>
            </a:p>
          </p:txBody>
        </p:sp>
      </p:grpSp>
      <p:sp>
        <p:nvSpPr>
          <p:cNvPr id="21" name="Rectangle 11">
            <a:extLst>
              <a:ext uri="{FF2B5EF4-FFF2-40B4-BE49-F238E27FC236}">
                <a16:creationId xmlns:a16="http://schemas.microsoft.com/office/drawing/2014/main" id="{AFCA055C-6AE2-F3F8-A79D-1D4253C9D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3082" y="5975651"/>
            <a:ext cx="4513143" cy="753061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b="0" dirty="0"/>
              <a:t>公式后台代码化，AI自动计算复配结果并校正偏差，输出推荐</a:t>
            </a:r>
            <a:endParaRPr lang="en-US" altLang="zh-CN" b="0" dirty="0"/>
          </a:p>
          <a:p>
            <a:r>
              <a:rPr lang="zh-CN" altLang="zh-CN" b="0" dirty="0"/>
              <a:t>复配比例、预测Mw、理论产出和质量风险提示。</a:t>
            </a:r>
            <a:endParaRPr lang="zh-CN" altLang="en-US" b="0" dirty="0"/>
          </a:p>
        </p:txBody>
      </p:sp>
      <p:sp>
        <p:nvSpPr>
          <p:cNvPr id="23" name="AutoShape 18">
            <a:extLst>
              <a:ext uri="{FF2B5EF4-FFF2-40B4-BE49-F238E27FC236}">
                <a16:creationId xmlns:a16="http://schemas.microsoft.com/office/drawing/2014/main" id="{052F04A9-644D-FE62-5969-09DC13D9F8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0361" y="2878227"/>
            <a:ext cx="4318000" cy="2032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350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430E5-F081-B3B1-0543-4D7619C3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C17403-FF11-F3C1-8FCF-08B9AAEC44A4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61A8C0-FB7E-7B53-B3BA-C9753151FF69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60ECB4-4EB2-3416-DA8E-21830B6AAC36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CA5B564C-A304-39B7-D3FD-C1FB63B20714}"/>
              </a:ext>
            </a:extLst>
          </p:cNvPr>
          <p:cNvSpPr/>
          <p:nvPr/>
        </p:nvSpPr>
        <p:spPr>
          <a:xfrm>
            <a:off x="2428890" y="1239642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B4835C1E-0308-8ECB-AC59-0D4BD9FA7E65}"/>
              </a:ext>
            </a:extLst>
          </p:cNvPr>
          <p:cNvSpPr/>
          <p:nvPr/>
        </p:nvSpPr>
        <p:spPr>
          <a:xfrm>
            <a:off x="835410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617F6C50-A601-959B-787E-4DAA30F7F25F}"/>
              </a:ext>
            </a:extLst>
          </p:cNvPr>
          <p:cNvSpPr/>
          <p:nvPr/>
        </p:nvSpPr>
        <p:spPr>
          <a:xfrm>
            <a:off x="427268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61AC7528-0143-0162-0B5C-8AF07933EB17}"/>
              </a:ext>
            </a:extLst>
          </p:cNvPr>
          <p:cNvSpPr/>
          <p:nvPr/>
        </p:nvSpPr>
        <p:spPr>
          <a:xfrm>
            <a:off x="866180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五边形 31">
            <a:extLst>
              <a:ext uri="{FF2B5EF4-FFF2-40B4-BE49-F238E27FC236}">
                <a16:creationId xmlns:a16="http://schemas.microsoft.com/office/drawing/2014/main" id="{B64E0508-CB48-474D-B698-FFAEFD951E0A}"/>
              </a:ext>
            </a:extLst>
          </p:cNvPr>
          <p:cNvSpPr/>
          <p:nvPr/>
        </p:nvSpPr>
        <p:spPr>
          <a:xfrm>
            <a:off x="502920" y="1590658"/>
            <a:ext cx="6354636" cy="638117"/>
          </a:xfrm>
          <a:prstGeom prst="homePlat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AF98478-5F38-EE4F-8465-F628D6E38FEB}"/>
              </a:ext>
            </a:extLst>
          </p:cNvPr>
          <p:cNvGrpSpPr/>
          <p:nvPr/>
        </p:nvGrpSpPr>
        <p:grpSpPr>
          <a:xfrm>
            <a:off x="2491060" y="1595070"/>
            <a:ext cx="1150938" cy="695502"/>
            <a:chOff x="2491060" y="1591618"/>
            <a:chExt cx="1150938" cy="695502"/>
          </a:xfrm>
        </p:grpSpPr>
        <p:sp>
          <p:nvSpPr>
            <p:cNvPr id="65" name="AutoShape 15">
              <a:extLst>
                <a:ext uri="{FF2B5EF4-FFF2-40B4-BE49-F238E27FC236}">
                  <a16:creationId xmlns:a16="http://schemas.microsoft.com/office/drawing/2014/main" id="{AA9A22E3-C5EB-E715-E3DF-C85EB5BF0D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5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349D104D-C4B5-1D61-FF0D-3097C90C597A}"/>
                </a:ext>
              </a:extLst>
            </p:cNvPr>
            <p:cNvSpPr txBox="1"/>
            <p:nvPr/>
          </p:nvSpPr>
          <p:spPr>
            <a:xfrm>
              <a:off x="2491060" y="1640789"/>
              <a:ext cx="115093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</a:t>
              </a:r>
              <a:endPara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endParaRPr>
            </a:p>
            <a:p>
              <a:pPr algn="ctr"/>
              <a:r>
                <a:rPr lang="en-US" altLang="zh-CN" sz="18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处理</a:t>
              </a:r>
              <a:endPara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095DD252-BB05-3BA9-D09F-C640F54234AF}"/>
              </a:ext>
            </a:extLst>
          </p:cNvPr>
          <p:cNvGrpSpPr/>
          <p:nvPr/>
        </p:nvGrpSpPr>
        <p:grpSpPr>
          <a:xfrm>
            <a:off x="521208" y="2287119"/>
            <a:ext cx="6336348" cy="647292"/>
            <a:chOff x="521208" y="1590659"/>
            <a:chExt cx="6336348" cy="647292"/>
          </a:xfrm>
        </p:grpSpPr>
        <p:sp>
          <p:nvSpPr>
            <p:cNvPr id="99" name="AutoShape 15">
              <a:extLst>
                <a:ext uri="{FF2B5EF4-FFF2-40B4-BE49-F238E27FC236}">
                  <a16:creationId xmlns:a16="http://schemas.microsoft.com/office/drawing/2014/main" id="{7D9BF53C-0FCF-2156-D5E7-4B9C7C6B24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10BCC173-B55C-5BD9-EA9C-27B591AD4F16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1" name="五边形 100">
                <a:extLst>
                  <a:ext uri="{FF2B5EF4-FFF2-40B4-BE49-F238E27FC236}">
                    <a16:creationId xmlns:a16="http://schemas.microsoft.com/office/drawing/2014/main" id="{52636A76-E5D3-1C6F-7501-737843EA5D6E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DC192D55-7D9F-F3E8-F132-115418DB2831}"/>
                  </a:ext>
                </a:extLst>
              </p:cNvPr>
              <p:cNvSpPr txBox="1"/>
              <p:nvPr/>
            </p:nvSpPr>
            <p:spPr>
              <a:xfrm>
                <a:off x="2491060" y="172677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浸灰水解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58A7EB3F-BCAD-2DE0-3129-083ECCA17E09}"/>
              </a:ext>
            </a:extLst>
          </p:cNvPr>
          <p:cNvGrpSpPr/>
          <p:nvPr/>
        </p:nvGrpSpPr>
        <p:grpSpPr>
          <a:xfrm>
            <a:off x="521208" y="3001822"/>
            <a:ext cx="6336348" cy="647292"/>
            <a:chOff x="521208" y="1590659"/>
            <a:chExt cx="6336348" cy="647292"/>
          </a:xfrm>
        </p:grpSpPr>
        <p:sp>
          <p:nvSpPr>
            <p:cNvPr id="105" name="AutoShape 15">
              <a:extLst>
                <a:ext uri="{FF2B5EF4-FFF2-40B4-BE49-F238E27FC236}">
                  <a16:creationId xmlns:a16="http://schemas.microsoft.com/office/drawing/2014/main" id="{982E7060-35D9-60FC-9F0C-1DBA2DEAAF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8EC71A69-B28D-770A-A26E-6D6052AAF0F5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7" name="五边形 106">
                <a:extLst>
                  <a:ext uri="{FF2B5EF4-FFF2-40B4-BE49-F238E27FC236}">
                    <a16:creationId xmlns:a16="http://schemas.microsoft.com/office/drawing/2014/main" id="{5D913797-9EE5-C861-0D59-A202774E7480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9ACAE52C-79FF-9CF2-82E7-72A531C1F1B9}"/>
                  </a:ext>
                </a:extLst>
              </p:cNvPr>
              <p:cNvSpPr txBox="1"/>
              <p:nvPr/>
            </p:nvSpPr>
            <p:spPr>
              <a:xfrm>
                <a:off x="2491060" y="172716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中和水洗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D88141B7-72F7-3256-0B13-118E50B60190}"/>
              </a:ext>
            </a:extLst>
          </p:cNvPr>
          <p:cNvGrpSpPr/>
          <p:nvPr/>
        </p:nvGrpSpPr>
        <p:grpSpPr>
          <a:xfrm>
            <a:off x="521208" y="3716525"/>
            <a:ext cx="6336348" cy="647292"/>
            <a:chOff x="521208" y="1590659"/>
            <a:chExt cx="6336348" cy="647292"/>
          </a:xfrm>
        </p:grpSpPr>
        <p:sp>
          <p:nvSpPr>
            <p:cNvPr id="111" name="AutoShape 15">
              <a:extLst>
                <a:ext uri="{FF2B5EF4-FFF2-40B4-BE49-F238E27FC236}">
                  <a16:creationId xmlns:a16="http://schemas.microsoft.com/office/drawing/2014/main" id="{AD6B1A7A-EBB3-9607-97D9-E279A1296C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02E8B9C7-6375-039A-C51E-ABA9F585ADC5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13" name="五边形 112">
                <a:extLst>
                  <a:ext uri="{FF2B5EF4-FFF2-40B4-BE49-F238E27FC236}">
                    <a16:creationId xmlns:a16="http://schemas.microsoft.com/office/drawing/2014/main" id="{FAFD99D6-4662-A57F-04F5-24B719C7D702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FFD9224F-016B-3859-4EE4-87FC41D501F2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分段提胶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593CE574-A4D3-D5A6-6DA4-CDD394DF0DB8}"/>
              </a:ext>
            </a:extLst>
          </p:cNvPr>
          <p:cNvGrpSpPr/>
          <p:nvPr/>
        </p:nvGrpSpPr>
        <p:grpSpPr>
          <a:xfrm>
            <a:off x="521208" y="4431228"/>
            <a:ext cx="6336348" cy="647292"/>
            <a:chOff x="521208" y="1590659"/>
            <a:chExt cx="6336348" cy="647292"/>
          </a:xfrm>
        </p:grpSpPr>
        <p:sp>
          <p:nvSpPr>
            <p:cNvPr id="117" name="AutoShape 15">
              <a:extLst>
                <a:ext uri="{FF2B5EF4-FFF2-40B4-BE49-F238E27FC236}">
                  <a16:creationId xmlns:a16="http://schemas.microsoft.com/office/drawing/2014/main" id="{51A320DE-FBD5-24E1-CB37-E2BA7EE293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E3DC0BB1-AF65-E7F8-1639-5E533B811EDD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19" name="五边形 118">
                <a:extLst>
                  <a:ext uri="{FF2B5EF4-FFF2-40B4-BE49-F238E27FC236}">
                    <a16:creationId xmlns:a16="http://schemas.microsoft.com/office/drawing/2014/main" id="{914BD126-8065-9CA4-642B-58F382943022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C74116F7-D8ED-87B9-C6BF-D3AFEBA5A6E2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浓缩复配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FCAE6609-FFC7-E7A0-46DB-3C3E8A80D792}"/>
              </a:ext>
            </a:extLst>
          </p:cNvPr>
          <p:cNvGrpSpPr/>
          <p:nvPr/>
        </p:nvGrpSpPr>
        <p:grpSpPr>
          <a:xfrm>
            <a:off x="521208" y="5124912"/>
            <a:ext cx="6336348" cy="647292"/>
            <a:chOff x="521208" y="1590659"/>
            <a:chExt cx="6336348" cy="647292"/>
          </a:xfrm>
        </p:grpSpPr>
        <p:sp>
          <p:nvSpPr>
            <p:cNvPr id="123" name="AutoShape 15">
              <a:extLst>
                <a:ext uri="{FF2B5EF4-FFF2-40B4-BE49-F238E27FC236}">
                  <a16:creationId xmlns:a16="http://schemas.microsoft.com/office/drawing/2014/main" id="{C4D6E398-77A5-14F6-C4AC-7D4B706774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2419E007-68E3-6DDD-66F8-3D2910EC2776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25" name="五边形 124">
                <a:extLst>
                  <a:ext uri="{FF2B5EF4-FFF2-40B4-BE49-F238E27FC236}">
                    <a16:creationId xmlns:a16="http://schemas.microsoft.com/office/drawing/2014/main" id="{32DFDCF3-4E99-96B3-CE84-973677CF2FA9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E11BD21-FEE3-2DBD-5063-AB852BA22315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凝胶干燥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A8F101BF-C732-8A2C-A306-5FC65054EE93}"/>
              </a:ext>
            </a:extLst>
          </p:cNvPr>
          <p:cNvGrpSpPr/>
          <p:nvPr/>
        </p:nvGrpSpPr>
        <p:grpSpPr>
          <a:xfrm>
            <a:off x="521208" y="5860636"/>
            <a:ext cx="6336348" cy="647292"/>
            <a:chOff x="521208" y="1590659"/>
            <a:chExt cx="6336348" cy="647292"/>
          </a:xfrm>
        </p:grpSpPr>
        <p:sp>
          <p:nvSpPr>
            <p:cNvPr id="129" name="AutoShape 15">
              <a:extLst>
                <a:ext uri="{FF2B5EF4-FFF2-40B4-BE49-F238E27FC236}">
                  <a16:creationId xmlns:a16="http://schemas.microsoft.com/office/drawing/2014/main" id="{CBBC3119-016F-6F12-9E2E-E323265297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363" y="1339316"/>
              <a:ext cx="646332" cy="1150938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3F45F542-F0BF-3081-010A-F6D1B661B7AF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31" name="五边形 130">
                <a:extLst>
                  <a:ext uri="{FF2B5EF4-FFF2-40B4-BE49-F238E27FC236}">
                    <a16:creationId xmlns:a16="http://schemas.microsoft.com/office/drawing/2014/main" id="{7A11058C-1557-3E58-2391-C0330E7A24C4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4CCD9EC9-BF6D-21C8-A29E-705BA626EF42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粉碎成品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BD340E09-984E-ED8C-2DF1-7D6EF18E69D8}"/>
              </a:ext>
            </a:extLst>
          </p:cNvPr>
          <p:cNvSpPr txBox="1"/>
          <p:nvPr/>
        </p:nvSpPr>
        <p:spPr>
          <a:xfrm>
            <a:off x="563116" y="1616203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纯化胶原骨粒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骨粒规格、脱脂/脱矿程度、杂质控制</a:t>
            </a:r>
            <a:endParaRPr lang="zh-CN" altLang="en-US" sz="1200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639DD8B-E3E1-C139-5DEB-C9CF4B3FAC22}"/>
              </a:ext>
            </a:extLst>
          </p:cNvPr>
          <p:cNvSpPr txBox="1"/>
          <p:nvPr/>
        </p:nvSpPr>
        <p:spPr>
          <a:xfrm>
            <a:off x="563116" y="2287121"/>
            <a:ext cx="181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不同断链程度胶原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目标Mw 基础区间</a:t>
            </a:r>
            <a:endParaRPr lang="zh-CN" altLang="en-US" sz="1200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74A843CF-005F-63C1-0D5D-760429F09803}"/>
              </a:ext>
            </a:extLst>
          </p:cNvPr>
          <p:cNvSpPr txBox="1"/>
          <p:nvPr/>
        </p:nvSpPr>
        <p:spPr>
          <a:xfrm>
            <a:off x="563116" y="3030512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pH稳定胶原物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pH、钙/氯离子残留、透明度风险</a:t>
            </a:r>
            <a:endParaRPr lang="zh-CN" altLang="en-US" sz="1200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5AE9C322-8ECA-C0CD-D56C-D454F198CB06}"/>
              </a:ext>
            </a:extLst>
          </p:cNvPr>
          <p:cNvSpPr txBox="1"/>
          <p:nvPr/>
        </p:nvSpPr>
        <p:spPr>
          <a:xfrm>
            <a:off x="563116" y="3712417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不同道次胶液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各道次 Mw、重量、黏度、冻力</a:t>
            </a:r>
            <a:endParaRPr lang="en-US" altLang="zh-CN" sz="1200" dirty="0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6721C934-A57C-7550-1BE0-D440F4A453B3}"/>
              </a:ext>
            </a:extLst>
          </p:cNvPr>
          <p:cNvSpPr txBox="1"/>
          <p:nvPr/>
        </p:nvSpPr>
        <p:spPr>
          <a:xfrm>
            <a:off x="563116" y="4434365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目标 Mw 复配胶液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固含量、黏度、冻力、理论产出</a:t>
            </a:r>
            <a:endParaRPr lang="zh-CN" altLang="en-US" sz="12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1E4572A4-FD3B-439A-CF1A-137CD22F716C}"/>
              </a:ext>
            </a:extLst>
          </p:cNvPr>
          <p:cNvSpPr txBox="1"/>
          <p:nvPr/>
        </p:nvSpPr>
        <p:spPr>
          <a:xfrm>
            <a:off x="563116" y="5116698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/>
              <a:t>干燥后成品</a:t>
            </a:r>
            <a:endParaRPr lang="en-US" altLang="zh-CN" sz="1200" b="1" dirty="0"/>
          </a:p>
          <a:p>
            <a:pPr algn="ctr"/>
            <a:r>
              <a:rPr lang="zh-CN" altLang="zh-CN" sz="1200" dirty="0"/>
              <a:t>水分、损耗率、实际产出、质量偏差</a:t>
            </a:r>
            <a:endParaRPr lang="zh-CN" altLang="en-US" sz="1200" dirty="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CBF4AA11-E9F5-F7F6-6F4A-50BDFF111645}"/>
              </a:ext>
            </a:extLst>
          </p:cNvPr>
          <p:cNvSpPr txBox="1"/>
          <p:nvPr/>
        </p:nvSpPr>
        <p:spPr>
          <a:xfrm>
            <a:off x="563116" y="5852422"/>
            <a:ext cx="18198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100" b="1" dirty="0"/>
              <a:t>入库成品与质检报告</a:t>
            </a:r>
            <a:endParaRPr lang="en-US" altLang="zh-CN" sz="1100" b="1" dirty="0"/>
          </a:p>
          <a:p>
            <a:pPr algn="ctr"/>
            <a:r>
              <a:rPr lang="zh-CN" altLang="zh-CN" sz="1100" dirty="0"/>
              <a:t>Mn、Mw、Mz、PDI、小分子占比、黏度、冻力</a:t>
            </a:r>
            <a:endParaRPr lang="zh-CN" altLang="en-US" sz="110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8EA02C0E-A718-07FB-2662-7A7E03303621}"/>
              </a:ext>
            </a:extLst>
          </p:cNvPr>
          <p:cNvSpPr txBox="1"/>
          <p:nvPr/>
        </p:nvSpPr>
        <p:spPr>
          <a:xfrm>
            <a:off x="3817916" y="1616203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原料批次、骨粒规格、残油/灰分/杂质率</a:t>
            </a:r>
            <a:endParaRPr lang="zh-CN" altLang="en-US" sz="120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327D01AC-46CC-3BE7-D754-1CE177D24B65}"/>
              </a:ext>
            </a:extLst>
          </p:cNvPr>
          <p:cNvSpPr txBox="1"/>
          <p:nvPr/>
        </p:nvSpPr>
        <p:spPr>
          <a:xfrm>
            <a:off x="3817916" y="228799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浸灰时间、温度、料液比、石灰乳浓度、Mw区间</a:t>
            </a:r>
            <a:endParaRPr lang="zh-CN" altLang="en-US" sz="1200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F648E7E-98C3-13DC-119F-09963BBF2F35}"/>
              </a:ext>
            </a:extLst>
          </p:cNvPr>
          <p:cNvSpPr txBox="1"/>
          <p:nvPr/>
        </p:nvSpPr>
        <p:spPr>
          <a:xfrm>
            <a:off x="3817916" y="3001824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pH 6.0–6.5、残留离子、洗涤次数</a:t>
            </a:r>
            <a:endParaRPr lang="zh-CN" altLang="en-US" sz="1200" dirty="0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A0498B08-05A3-8DB4-A72A-55431A5CA847}"/>
              </a:ext>
            </a:extLst>
          </p:cNvPr>
          <p:cNvSpPr txBox="1"/>
          <p:nvPr/>
        </p:nvSpPr>
        <p:spPr>
          <a:xfrm>
            <a:off x="3817916" y="3705174"/>
            <a:ext cx="2278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Mwᵢ、Wᵢ、道次、提胶温度</a:t>
            </a:r>
            <a:endParaRPr lang="zh-CN" altLang="en-US" sz="1200" dirty="0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5A6634F9-3197-2D50-19DA-F60450C54B9B}"/>
              </a:ext>
            </a:extLst>
          </p:cNvPr>
          <p:cNvSpPr txBox="1"/>
          <p:nvPr/>
        </p:nvSpPr>
        <p:spPr>
          <a:xfrm>
            <a:off x="3817916" y="441987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Mw混、Wᵢ、固含量ᵢ、[η]、理论产出</a:t>
            </a:r>
            <a:endParaRPr lang="zh-CN" altLang="en-US" sz="1200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7FBFC57A-7D46-080D-8B92-63025D8BAEAF}"/>
              </a:ext>
            </a:extLst>
          </p:cNvPr>
          <p:cNvSpPr txBox="1"/>
          <p:nvPr/>
        </p:nvSpPr>
        <p:spPr>
          <a:xfrm>
            <a:off x="3817916" y="51135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成品水分 12%–16%、干基重量、损耗率</a:t>
            </a:r>
            <a:endParaRPr lang="zh-CN" altLang="en-US" sz="1200" dirty="0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34BF5785-A46E-EC87-E794-B18F1C9C09E9}"/>
              </a:ext>
            </a:extLst>
          </p:cNvPr>
          <p:cNvSpPr txBox="1"/>
          <p:nvPr/>
        </p:nvSpPr>
        <p:spPr>
          <a:xfrm>
            <a:off x="3817916" y="58514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GPC公式、PDI公式、小分子占比公式、黏度估算公式</a:t>
            </a:r>
            <a:endParaRPr lang="zh-CN" altLang="en-US" sz="1200" dirty="0"/>
          </a:p>
        </p:txBody>
      </p:sp>
      <p:sp>
        <p:nvSpPr>
          <p:cNvPr id="10" name="矩形标注 9">
            <a:extLst>
              <a:ext uri="{FF2B5EF4-FFF2-40B4-BE49-F238E27FC236}">
                <a16:creationId xmlns:a16="http://schemas.microsoft.com/office/drawing/2014/main" id="{2EC5D2C7-2A6A-3338-584B-E1EE1FC7AE8C}"/>
              </a:ext>
            </a:extLst>
          </p:cNvPr>
          <p:cNvSpPr/>
          <p:nvPr/>
        </p:nvSpPr>
        <p:spPr>
          <a:xfrm>
            <a:off x="7230141" y="1590659"/>
            <a:ext cx="4742120" cy="4773696"/>
          </a:xfrm>
          <a:prstGeom prst="wedgeRectCallout">
            <a:avLst>
              <a:gd name="adj1" fmla="val -56707"/>
              <a:gd name="adj2" fmla="val -42597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DB8AB9-A831-A2C3-B74D-4D710B69F63B}"/>
              </a:ext>
            </a:extLst>
          </p:cNvPr>
          <p:cNvSpPr/>
          <p:nvPr/>
        </p:nvSpPr>
        <p:spPr>
          <a:xfrm>
            <a:off x="6315740" y="384048"/>
            <a:ext cx="3285460" cy="1148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接下来可以一一列举额每一道工序的改造流程</a:t>
            </a:r>
          </a:p>
        </p:txBody>
      </p:sp>
    </p:spTree>
    <p:extLst>
      <p:ext uri="{BB962C8B-B14F-4D97-AF65-F5344CB8AC3E}">
        <p14:creationId xmlns:p14="http://schemas.microsoft.com/office/powerpoint/2010/main" val="438924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FE557A-B77E-3424-7B78-14AD4825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59FC35-2B70-368B-6508-E4107A915502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98B56C-9466-EC86-949A-72AB6EC9A112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A87869-0E0D-CC37-8D4A-FFE9B6565B63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Slide Number Placeholder 0">
            <a:extLst>
              <a:ext uri="{FF2B5EF4-FFF2-40B4-BE49-F238E27FC236}">
                <a16:creationId xmlns:a16="http://schemas.microsoft.com/office/drawing/2014/main" id="{138982BF-E446-581E-B040-0A3B807329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D1B9C6-00AD-3A3C-4A1A-B2A4C6351FC4}"/>
              </a:ext>
            </a:extLst>
          </p:cNvPr>
          <p:cNvSpPr txBox="1"/>
          <p:nvPr/>
        </p:nvSpPr>
        <p:spPr>
          <a:xfrm>
            <a:off x="767969" y="1127832"/>
            <a:ext cx="218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</a:t>
            </a:r>
            <a:endParaRPr lang="en-US" sz="1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Group 20">
            <a:extLst>
              <a:ext uri="{FF2B5EF4-FFF2-40B4-BE49-F238E27FC236}">
                <a16:creationId xmlns:a16="http://schemas.microsoft.com/office/drawing/2014/main" id="{9F421491-04AB-0266-497F-6E81326D78C5}"/>
              </a:ext>
            </a:extLst>
          </p:cNvPr>
          <p:cNvGrpSpPr/>
          <p:nvPr/>
        </p:nvGrpSpPr>
        <p:grpSpPr>
          <a:xfrm>
            <a:off x="1325880" y="1560297"/>
            <a:ext cx="10332720" cy="266602"/>
            <a:chOff x="1866122" y="1378959"/>
            <a:chExt cx="10711540" cy="338872"/>
          </a:xfrm>
          <a:solidFill>
            <a:srgbClr val="002060"/>
          </a:solidFill>
        </p:grpSpPr>
        <p:sp>
          <p:nvSpPr>
            <p:cNvPr id="33" name="Arrow: Chevron 4">
              <a:extLst>
                <a:ext uri="{FF2B5EF4-FFF2-40B4-BE49-F238E27FC236}">
                  <a16:creationId xmlns:a16="http://schemas.microsoft.com/office/drawing/2014/main" id="{9D81EA51-1ED7-B90B-4571-541EAE3C6B0F}"/>
                </a:ext>
              </a:extLst>
            </p:cNvPr>
            <p:cNvSpPr/>
            <p:nvPr/>
          </p:nvSpPr>
          <p:spPr>
            <a:xfrm>
              <a:off x="186612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原料预处理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Arrow: Chevron 5">
              <a:extLst>
                <a:ext uri="{FF2B5EF4-FFF2-40B4-BE49-F238E27FC236}">
                  <a16:creationId xmlns:a16="http://schemas.microsoft.com/office/drawing/2014/main" id="{3798CF95-07A5-763F-D045-A6ABBC662C92}"/>
                </a:ext>
              </a:extLst>
            </p:cNvPr>
            <p:cNvSpPr/>
            <p:nvPr/>
          </p:nvSpPr>
          <p:spPr>
            <a:xfrm>
              <a:off x="645678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分段提胶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rrow: Chevron 6">
              <a:extLst>
                <a:ext uri="{FF2B5EF4-FFF2-40B4-BE49-F238E27FC236}">
                  <a16:creationId xmlns:a16="http://schemas.microsoft.com/office/drawing/2014/main" id="{FBA67FA3-EB98-F1C5-EA7C-C827C4E6B9A4}"/>
                </a:ext>
              </a:extLst>
            </p:cNvPr>
            <p:cNvSpPr/>
            <p:nvPr/>
          </p:nvSpPr>
          <p:spPr>
            <a:xfrm>
              <a:off x="339634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浸灰水解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rrow: Chevron 7">
              <a:extLst>
                <a:ext uri="{FF2B5EF4-FFF2-40B4-BE49-F238E27FC236}">
                  <a16:creationId xmlns:a16="http://schemas.microsoft.com/office/drawing/2014/main" id="{A68FBA10-A909-0E78-70D4-247BC4D14A8C}"/>
                </a:ext>
              </a:extLst>
            </p:cNvPr>
            <p:cNvSpPr/>
            <p:nvPr/>
          </p:nvSpPr>
          <p:spPr>
            <a:xfrm>
              <a:off x="492656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中和水洗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Arrow: Chevron 8">
              <a:extLst>
                <a:ext uri="{FF2B5EF4-FFF2-40B4-BE49-F238E27FC236}">
                  <a16:creationId xmlns:a16="http://schemas.microsoft.com/office/drawing/2014/main" id="{A031AB58-A75D-7692-4C85-9473251F679B}"/>
                </a:ext>
              </a:extLst>
            </p:cNvPr>
            <p:cNvSpPr/>
            <p:nvPr/>
          </p:nvSpPr>
          <p:spPr>
            <a:xfrm>
              <a:off x="9517222" y="1378959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凝胶干燥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Arrow: Chevron 9">
              <a:extLst>
                <a:ext uri="{FF2B5EF4-FFF2-40B4-BE49-F238E27FC236}">
                  <a16:creationId xmlns:a16="http://schemas.microsoft.com/office/drawing/2014/main" id="{EE0FECFC-3346-8881-5E92-E2F5373A59B9}"/>
                </a:ext>
              </a:extLst>
            </p:cNvPr>
            <p:cNvSpPr/>
            <p:nvPr/>
          </p:nvSpPr>
          <p:spPr>
            <a:xfrm>
              <a:off x="11047442" y="1378959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粉碎成品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Arrow: Chevron 19">
              <a:extLst>
                <a:ext uri="{FF2B5EF4-FFF2-40B4-BE49-F238E27FC236}">
                  <a16:creationId xmlns:a16="http://schemas.microsoft.com/office/drawing/2014/main" id="{3ADF69D1-D7F1-1EE5-FA71-26E1BC495EC1}"/>
                </a:ext>
              </a:extLst>
            </p:cNvPr>
            <p:cNvSpPr/>
            <p:nvPr/>
          </p:nvSpPr>
          <p:spPr>
            <a:xfrm>
              <a:off x="798700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7B9813B-DABA-9005-76FA-C229C34BB6E2}"/>
              </a:ext>
            </a:extLst>
          </p:cNvPr>
          <p:cNvGrpSpPr/>
          <p:nvPr/>
        </p:nvGrpSpPr>
        <p:grpSpPr>
          <a:xfrm>
            <a:off x="466076" y="1951837"/>
            <a:ext cx="603785" cy="4518599"/>
            <a:chOff x="722095" y="1951837"/>
            <a:chExt cx="603785" cy="45185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051A9F1-2135-9C59-7F80-5DC1B23D5E32}"/>
                </a:ext>
              </a:extLst>
            </p:cNvPr>
            <p:cNvSpPr/>
            <p:nvPr/>
          </p:nvSpPr>
          <p:spPr>
            <a:xfrm>
              <a:off x="722095" y="3044809"/>
              <a:ext cx="599271" cy="10965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002060"/>
                  </a:solidFill>
                </a:rPr>
                <a:t>输入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9B0B79F-A9E4-96BB-F712-0B321CC807E0}"/>
                </a:ext>
              </a:extLst>
            </p:cNvPr>
            <p:cNvSpPr/>
            <p:nvPr/>
          </p:nvSpPr>
          <p:spPr>
            <a:xfrm>
              <a:off x="722095" y="4201118"/>
              <a:ext cx="599271" cy="10837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002060"/>
                  </a:solidFill>
                </a:rPr>
                <a:t>输出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12F7A16-E3A0-3685-9D6F-7233BFC92EBC}"/>
                </a:ext>
              </a:extLst>
            </p:cNvPr>
            <p:cNvSpPr/>
            <p:nvPr/>
          </p:nvSpPr>
          <p:spPr>
            <a:xfrm>
              <a:off x="726609" y="5373918"/>
              <a:ext cx="599271" cy="10965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002060"/>
                  </a:solidFill>
                </a:rPr>
                <a:t>现状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1B34FEB6-8D1D-B8E4-57B4-3E02F354FFB4}"/>
                </a:ext>
              </a:extLst>
            </p:cNvPr>
            <p:cNvSpPr/>
            <p:nvPr/>
          </p:nvSpPr>
          <p:spPr>
            <a:xfrm>
              <a:off x="722095" y="1951837"/>
              <a:ext cx="599271" cy="10039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rgbClr val="002060"/>
                  </a:solidFill>
                </a:rPr>
                <a:t>概要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48" name="Group 34">
            <a:extLst>
              <a:ext uri="{FF2B5EF4-FFF2-40B4-BE49-F238E27FC236}">
                <a16:creationId xmlns:a16="http://schemas.microsoft.com/office/drawing/2014/main" id="{53A00AD7-2FDD-0B90-0794-DEC9AFD1BA8F}"/>
              </a:ext>
            </a:extLst>
          </p:cNvPr>
          <p:cNvGrpSpPr/>
          <p:nvPr/>
        </p:nvGrpSpPr>
        <p:grpSpPr>
          <a:xfrm>
            <a:off x="1325880" y="1951587"/>
            <a:ext cx="10332720" cy="1004214"/>
            <a:chOff x="1333500" y="1379854"/>
            <a:chExt cx="10332720" cy="741298"/>
          </a:xfrm>
        </p:grpSpPr>
        <p:sp>
          <p:nvSpPr>
            <p:cNvPr id="49" name="Rectangle 24">
              <a:extLst>
                <a:ext uri="{FF2B5EF4-FFF2-40B4-BE49-F238E27FC236}">
                  <a16:creationId xmlns:a16="http://schemas.microsoft.com/office/drawing/2014/main" id="{A96B738C-A6E2-B7F1-0D0F-CEA268B3137A}"/>
                </a:ext>
              </a:extLst>
            </p:cNvPr>
            <p:cNvSpPr/>
            <p:nvPr/>
          </p:nvSpPr>
          <p:spPr>
            <a:xfrm>
              <a:off x="1333500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去除油脂、矿物质与杂质，保留纯胶原基础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AEBDA1DA-4B83-291E-EF7D-53D7B1266FE9}"/>
                </a:ext>
              </a:extLst>
            </p:cNvPr>
            <p:cNvSpPr/>
            <p:nvPr/>
          </p:nvSpPr>
          <p:spPr>
            <a:xfrm>
              <a:off x="2809603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通过碱浸控制胶原断链程度，决定分子量基础区间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Rectangle 27">
              <a:extLst>
                <a:ext uri="{FF2B5EF4-FFF2-40B4-BE49-F238E27FC236}">
                  <a16:creationId xmlns:a16="http://schemas.microsoft.com/office/drawing/2014/main" id="{DC690968-5F2C-8511-6CEB-D810810096F6}"/>
                </a:ext>
              </a:extLst>
            </p:cNvPr>
            <p:cNvSpPr/>
            <p:nvPr/>
          </p:nvSpPr>
          <p:spPr>
            <a:xfrm>
              <a:off x="4306026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去除残余碱性与杂质，稳定</a:t>
              </a:r>
              <a:r>
                <a:rPr lang="en-US" altLang="zh-CN" sz="1000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pH </a:t>
              </a:r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与胶液纯净度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Rectangle 28">
              <a:extLst>
                <a:ext uri="{FF2B5EF4-FFF2-40B4-BE49-F238E27FC236}">
                  <a16:creationId xmlns:a16="http://schemas.microsoft.com/office/drawing/2014/main" id="{E39FA00B-4C05-B081-0B0B-B836F83F12D9}"/>
                </a:ext>
              </a:extLst>
            </p:cNvPr>
            <p:cNvSpPr/>
            <p:nvPr/>
          </p:nvSpPr>
          <p:spPr>
            <a:xfrm>
              <a:off x="5798731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按温度梯度提取不同分子量胶液，实现天然分级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Rectangle 31">
              <a:extLst>
                <a:ext uri="{FF2B5EF4-FFF2-40B4-BE49-F238E27FC236}">
                  <a16:creationId xmlns:a16="http://schemas.microsoft.com/office/drawing/2014/main" id="{0A8A367B-125D-42C4-A77B-2894E9EFF348}"/>
                </a:ext>
              </a:extLst>
            </p:cNvPr>
            <p:cNvSpPr/>
            <p:nvPr/>
          </p:nvSpPr>
          <p:spPr>
            <a:xfrm>
              <a:off x="7274834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按订单目标调配不同批次胶液，影响目标</a:t>
              </a:r>
              <a:r>
                <a:rPr lang="en-US" altLang="zh-CN" sz="1000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Mw </a:t>
              </a:r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与产出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32">
              <a:extLst>
                <a:ext uri="{FF2B5EF4-FFF2-40B4-BE49-F238E27FC236}">
                  <a16:creationId xmlns:a16="http://schemas.microsoft.com/office/drawing/2014/main" id="{A0AAA913-8F7B-A41E-44AE-211F64445DD3}"/>
                </a:ext>
              </a:extLst>
            </p:cNvPr>
            <p:cNvSpPr/>
            <p:nvPr/>
          </p:nvSpPr>
          <p:spPr>
            <a:xfrm>
              <a:off x="8771257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胶液成型并脱水干燥，是质量与产出偏差的集中显现点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33">
              <a:extLst>
                <a:ext uri="{FF2B5EF4-FFF2-40B4-BE49-F238E27FC236}">
                  <a16:creationId xmlns:a16="http://schemas.microsoft.com/office/drawing/2014/main" id="{A2E8A6F6-A14F-E432-31C3-55A3B3E82E70}"/>
                </a:ext>
              </a:extLst>
            </p:cNvPr>
            <p:cNvSpPr/>
            <p:nvPr/>
          </p:nvSpPr>
          <p:spPr>
            <a:xfrm>
              <a:off x="10263962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粉碎、筛分、包装入库，完成最终质量检验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Group 36">
            <a:extLst>
              <a:ext uri="{FF2B5EF4-FFF2-40B4-BE49-F238E27FC236}">
                <a16:creationId xmlns:a16="http://schemas.microsoft.com/office/drawing/2014/main" id="{BE6335E0-EE8F-91BF-5E06-8CBF1100AA90}"/>
              </a:ext>
            </a:extLst>
          </p:cNvPr>
          <p:cNvGrpSpPr/>
          <p:nvPr/>
        </p:nvGrpSpPr>
        <p:grpSpPr>
          <a:xfrm>
            <a:off x="1325880" y="4201119"/>
            <a:ext cx="10340338" cy="1083790"/>
            <a:chOff x="1325882" y="1379854"/>
            <a:chExt cx="10340338" cy="741298"/>
          </a:xfrm>
        </p:grpSpPr>
        <p:sp>
          <p:nvSpPr>
            <p:cNvPr id="58" name="Rectangle 37">
              <a:extLst>
                <a:ext uri="{FF2B5EF4-FFF2-40B4-BE49-F238E27FC236}">
                  <a16:creationId xmlns:a16="http://schemas.microsoft.com/office/drawing/2014/main" id="{FDEB24C1-844F-4BA2-53D7-E029BC3EF1A3}"/>
                </a:ext>
              </a:extLst>
            </p:cNvPr>
            <p:cNvSpPr/>
            <p:nvPr/>
          </p:nvSpPr>
          <p:spPr>
            <a:xfrm>
              <a:off x="1325882" y="1379854"/>
              <a:ext cx="1409876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蒸汽调节阀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相关阀门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DCS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9" name="Rectangle 38">
              <a:extLst>
                <a:ext uri="{FF2B5EF4-FFF2-40B4-BE49-F238E27FC236}">
                  <a16:creationId xmlns:a16="http://schemas.microsoft.com/office/drawing/2014/main" id="{E963FEB9-A0E8-652E-D053-EBA7486C7EBE}"/>
                </a:ext>
              </a:extLst>
            </p:cNvPr>
            <p:cNvSpPr/>
            <p:nvPr/>
          </p:nvSpPr>
          <p:spPr>
            <a:xfrm>
              <a:off x="2809603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一级种子罐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二级种子罐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pH/DO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仪表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搅拌电机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空气阀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温度控制阀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0" name="Rectangle 39">
              <a:extLst>
                <a:ext uri="{FF2B5EF4-FFF2-40B4-BE49-F238E27FC236}">
                  <a16:creationId xmlns:a16="http://schemas.microsoft.com/office/drawing/2014/main" id="{DEE5AB46-0211-734D-A10C-ABD7524833F1}"/>
                </a:ext>
              </a:extLst>
            </p:cNvPr>
            <p:cNvSpPr/>
            <p:nvPr/>
          </p:nvSpPr>
          <p:spPr>
            <a:xfrm>
              <a:off x="4306026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5×60KL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主发酵罐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pH/DO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仪表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空气调节阀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搅拌电机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1" name="Rectangle 40">
              <a:extLst>
                <a:ext uri="{FF2B5EF4-FFF2-40B4-BE49-F238E27FC236}">
                  <a16:creationId xmlns:a16="http://schemas.microsoft.com/office/drawing/2014/main" id="{04EA0642-9609-4A82-261F-3BF2E87BBD35}"/>
                </a:ext>
              </a:extLst>
            </p:cNvPr>
            <p:cNvSpPr/>
            <p:nvPr/>
          </p:nvSpPr>
          <p:spPr>
            <a:xfrm>
              <a:off x="5798731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补糖质量流量计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氨水质量流量计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补料调节阀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补料罐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PLC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2" name="Rectangle 41">
              <a:extLst>
                <a:ext uri="{FF2B5EF4-FFF2-40B4-BE49-F238E27FC236}">
                  <a16:creationId xmlns:a16="http://schemas.microsoft.com/office/drawing/2014/main" id="{958EA91D-B564-A941-FDE6-3CEBA1488E83}"/>
                </a:ext>
              </a:extLst>
            </p:cNvPr>
            <p:cNvSpPr/>
            <p:nvPr/>
          </p:nvSpPr>
          <p:spPr>
            <a:xfrm>
              <a:off x="7274834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移种隔膜阀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移种分配站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贴壁式温度计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温度监测点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3" name="Rectangle 42">
              <a:extLst>
                <a:ext uri="{FF2B5EF4-FFF2-40B4-BE49-F238E27FC236}">
                  <a16:creationId xmlns:a16="http://schemas.microsoft.com/office/drawing/2014/main" id="{96B400FD-EC03-497A-B136-AE939841790A}"/>
                </a:ext>
              </a:extLst>
            </p:cNvPr>
            <p:cNvSpPr/>
            <p:nvPr/>
          </p:nvSpPr>
          <p:spPr>
            <a:xfrm>
              <a:off x="8771257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放料阀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目标罐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管线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液位信号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DCS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Rectangle 43">
              <a:extLst>
                <a:ext uri="{FF2B5EF4-FFF2-40B4-BE49-F238E27FC236}">
                  <a16:creationId xmlns:a16="http://schemas.microsoft.com/office/drawing/2014/main" id="{124CB126-280B-FBFD-4F55-8FEFF5D8CCD8}"/>
                </a:ext>
              </a:extLst>
            </p:cNvPr>
            <p:cNvSpPr/>
            <p:nvPr/>
          </p:nvSpPr>
          <p:spPr>
            <a:xfrm>
              <a:off x="10263962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清洗阀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清洗泵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相关管路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5" name="Group 36">
            <a:extLst>
              <a:ext uri="{FF2B5EF4-FFF2-40B4-BE49-F238E27FC236}">
                <a16:creationId xmlns:a16="http://schemas.microsoft.com/office/drawing/2014/main" id="{D4479FCE-0BB4-BD00-59CE-0C5B9310B6DD}"/>
              </a:ext>
            </a:extLst>
          </p:cNvPr>
          <p:cNvGrpSpPr/>
          <p:nvPr/>
        </p:nvGrpSpPr>
        <p:grpSpPr>
          <a:xfrm>
            <a:off x="1325880" y="3014537"/>
            <a:ext cx="10340338" cy="1083790"/>
            <a:chOff x="1325882" y="1379854"/>
            <a:chExt cx="10340338" cy="741298"/>
          </a:xfrm>
        </p:grpSpPr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CEF099A4-8D82-A6B7-AFE4-05CB0FCD937E}"/>
                </a:ext>
              </a:extLst>
            </p:cNvPr>
            <p:cNvSpPr/>
            <p:nvPr/>
          </p:nvSpPr>
          <p:spPr>
            <a:xfrm>
              <a:off x="1325882" y="1379854"/>
              <a:ext cx="1389556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SIP 灭菌系统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7" name="Rectangle 38">
              <a:extLst>
                <a:ext uri="{FF2B5EF4-FFF2-40B4-BE49-F238E27FC236}">
                  <a16:creationId xmlns:a16="http://schemas.microsoft.com/office/drawing/2014/main" id="{7C6DE345-2F74-89D5-62FE-F805F847D01C}"/>
                </a:ext>
              </a:extLst>
            </p:cNvPr>
            <p:cNvSpPr/>
            <p:nvPr/>
          </p:nvSpPr>
          <p:spPr>
            <a:xfrm>
              <a:off x="2809603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种子培养自动化系统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8" name="Rectangle 39">
              <a:extLst>
                <a:ext uri="{FF2B5EF4-FFF2-40B4-BE49-F238E27FC236}">
                  <a16:creationId xmlns:a16="http://schemas.microsoft.com/office/drawing/2014/main" id="{710E5F9D-A279-DE7C-5940-9299B58B8553}"/>
                </a:ext>
              </a:extLst>
            </p:cNvPr>
            <p:cNvSpPr/>
            <p:nvPr/>
          </p:nvSpPr>
          <p:spPr>
            <a:xfrm>
              <a:off x="4306026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主发酵自动化系统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Rectangle 40">
              <a:extLst>
                <a:ext uri="{FF2B5EF4-FFF2-40B4-BE49-F238E27FC236}">
                  <a16:creationId xmlns:a16="http://schemas.microsoft.com/office/drawing/2014/main" id="{65BDEAC3-386A-113A-B0FF-D612877E5F60}"/>
                </a:ext>
              </a:extLst>
            </p:cNvPr>
            <p:cNvSpPr/>
            <p:nvPr/>
          </p:nvSpPr>
          <p:spPr>
            <a:xfrm>
              <a:off x="5798731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补料自动化系统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Rectangle 41">
              <a:extLst>
                <a:ext uri="{FF2B5EF4-FFF2-40B4-BE49-F238E27FC236}">
                  <a16:creationId xmlns:a16="http://schemas.microsoft.com/office/drawing/2014/main" id="{604C1603-E8C9-80C9-94F3-7D5951C53D0E}"/>
                </a:ext>
              </a:extLst>
            </p:cNvPr>
            <p:cNvSpPr/>
            <p:nvPr/>
          </p:nvSpPr>
          <p:spPr>
            <a:xfrm>
              <a:off x="7274834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移种与物料转移系统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Rectangle 42">
              <a:extLst>
                <a:ext uri="{FF2B5EF4-FFF2-40B4-BE49-F238E27FC236}">
                  <a16:creationId xmlns:a16="http://schemas.microsoft.com/office/drawing/2014/main" id="{F3841EA9-1F3E-1891-720C-C348BDE03653}"/>
                </a:ext>
              </a:extLst>
            </p:cNvPr>
            <p:cNvSpPr/>
            <p:nvPr/>
          </p:nvSpPr>
          <p:spPr>
            <a:xfrm>
              <a:off x="8771257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放罐 / 放料系统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2" name="Rectangle 43">
              <a:extLst>
                <a:ext uri="{FF2B5EF4-FFF2-40B4-BE49-F238E27FC236}">
                  <a16:creationId xmlns:a16="http://schemas.microsoft.com/office/drawing/2014/main" id="{DD8FC091-5B37-C2B3-9D92-C5C2E5659F4F}"/>
                </a:ext>
              </a:extLst>
            </p:cNvPr>
            <p:cNvSpPr/>
            <p:nvPr/>
          </p:nvSpPr>
          <p:spPr>
            <a:xfrm>
              <a:off x="10263962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CIP 清洗系统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3" name="Group 36">
            <a:extLst>
              <a:ext uri="{FF2B5EF4-FFF2-40B4-BE49-F238E27FC236}">
                <a16:creationId xmlns:a16="http://schemas.microsoft.com/office/drawing/2014/main" id="{D4730191-1CB0-E7E9-708F-014F07255AC8}"/>
              </a:ext>
            </a:extLst>
          </p:cNvPr>
          <p:cNvGrpSpPr/>
          <p:nvPr/>
        </p:nvGrpSpPr>
        <p:grpSpPr>
          <a:xfrm>
            <a:off x="1318262" y="5388757"/>
            <a:ext cx="10340338" cy="1083790"/>
            <a:chOff x="1325882" y="1379854"/>
            <a:chExt cx="10340338" cy="741298"/>
          </a:xfrm>
        </p:grpSpPr>
        <p:sp>
          <p:nvSpPr>
            <p:cNvPr id="74" name="Rectangle 37">
              <a:extLst>
                <a:ext uri="{FF2B5EF4-FFF2-40B4-BE49-F238E27FC236}">
                  <a16:creationId xmlns:a16="http://schemas.microsoft.com/office/drawing/2014/main" id="{E265ABD3-F0DE-7D1A-63BF-C46CE64766D2}"/>
                </a:ext>
              </a:extLst>
            </p:cNvPr>
            <p:cNvSpPr/>
            <p:nvPr/>
          </p:nvSpPr>
          <p:spPr>
            <a:xfrm>
              <a:off x="1325882" y="1379854"/>
              <a:ext cx="1409876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蒸汽调节阀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相关阀门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DCS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Rectangle 38">
              <a:extLst>
                <a:ext uri="{FF2B5EF4-FFF2-40B4-BE49-F238E27FC236}">
                  <a16:creationId xmlns:a16="http://schemas.microsoft.com/office/drawing/2014/main" id="{57AE8928-FB0C-6F51-239B-F73C9D65691E}"/>
                </a:ext>
              </a:extLst>
            </p:cNvPr>
            <p:cNvSpPr/>
            <p:nvPr/>
          </p:nvSpPr>
          <p:spPr>
            <a:xfrm>
              <a:off x="2809603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一级种子罐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二级种子罐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pH/DO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仪表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搅拌电机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空气阀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温度控制阀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Rectangle 39">
              <a:extLst>
                <a:ext uri="{FF2B5EF4-FFF2-40B4-BE49-F238E27FC236}">
                  <a16:creationId xmlns:a16="http://schemas.microsoft.com/office/drawing/2014/main" id="{96E64B29-2BB7-820A-08A2-E3027E986A16}"/>
                </a:ext>
              </a:extLst>
            </p:cNvPr>
            <p:cNvSpPr/>
            <p:nvPr/>
          </p:nvSpPr>
          <p:spPr>
            <a:xfrm>
              <a:off x="4306026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5×60KL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主发酵罐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pH/DO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仪表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空气调节阀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搅拌电机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7" name="Rectangle 40">
              <a:extLst>
                <a:ext uri="{FF2B5EF4-FFF2-40B4-BE49-F238E27FC236}">
                  <a16:creationId xmlns:a16="http://schemas.microsoft.com/office/drawing/2014/main" id="{4A45FA25-441D-2C96-EA1B-5799412BA6FE}"/>
                </a:ext>
              </a:extLst>
            </p:cNvPr>
            <p:cNvSpPr/>
            <p:nvPr/>
          </p:nvSpPr>
          <p:spPr>
            <a:xfrm>
              <a:off x="5798731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补糖质量流量计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氨水质量流量计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补料调节阀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补料罐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PLC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8" name="Rectangle 41">
              <a:extLst>
                <a:ext uri="{FF2B5EF4-FFF2-40B4-BE49-F238E27FC236}">
                  <a16:creationId xmlns:a16="http://schemas.microsoft.com/office/drawing/2014/main" id="{15963E06-5E0D-60C7-89EF-3BC0FBE5F2FD}"/>
                </a:ext>
              </a:extLst>
            </p:cNvPr>
            <p:cNvSpPr/>
            <p:nvPr/>
          </p:nvSpPr>
          <p:spPr>
            <a:xfrm>
              <a:off x="7274834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移种隔膜阀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移种分配站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贴壁式温度计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温度监测点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Rectangle 42">
              <a:extLst>
                <a:ext uri="{FF2B5EF4-FFF2-40B4-BE49-F238E27FC236}">
                  <a16:creationId xmlns:a16="http://schemas.microsoft.com/office/drawing/2014/main" id="{C1A700CD-0A43-A7A1-97C7-117CBC194F76}"/>
                </a:ext>
              </a:extLst>
            </p:cNvPr>
            <p:cNvSpPr/>
            <p:nvPr/>
          </p:nvSpPr>
          <p:spPr>
            <a:xfrm>
              <a:off x="8771257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放料阀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目标罐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管线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液位信号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DCS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Rectangle 43">
              <a:extLst>
                <a:ext uri="{FF2B5EF4-FFF2-40B4-BE49-F238E27FC236}">
                  <a16:creationId xmlns:a16="http://schemas.microsoft.com/office/drawing/2014/main" id="{E42A9B76-8EB5-ADA4-2300-8C451685ED99}"/>
                </a:ext>
              </a:extLst>
            </p:cNvPr>
            <p:cNvSpPr/>
            <p:nvPr/>
          </p:nvSpPr>
          <p:spPr>
            <a:xfrm>
              <a:off x="10263962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清洗阀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清洗泵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相关管路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9376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EF65BB8-623E-B89A-5DAD-5BDDC9347B7B}"/>
              </a:ext>
            </a:extLst>
          </p:cNvPr>
          <p:cNvGrpSpPr/>
          <p:nvPr/>
        </p:nvGrpSpPr>
        <p:grpSpPr>
          <a:xfrm>
            <a:off x="783082" y="1953437"/>
            <a:ext cx="10595356" cy="1251713"/>
            <a:chOff x="502920" y="1874520"/>
            <a:chExt cx="10104120" cy="868680"/>
          </a:xfrm>
        </p:grpSpPr>
        <p:sp>
          <p:nvSpPr>
            <p:cNvPr id="5" name="Shape 3"/>
            <p:cNvSpPr/>
            <p:nvPr/>
          </p:nvSpPr>
          <p:spPr>
            <a:xfrm>
              <a:off x="50292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5778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原料预处理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57784" y="2215432"/>
              <a:ext cx="1216152" cy="3444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去除油脂、矿物质与杂质，保留纯胶原基础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185623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196596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B9D3FF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02082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浸灰水解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020824" y="2313432"/>
              <a:ext cx="12161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通过碱浸控制胶原断链程度，决定分子量基础区间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31927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42900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48386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中和水洗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462167" y="2248620"/>
              <a:ext cx="1237849" cy="28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去除残余碱性与杂质，稳定</a:t>
              </a:r>
              <a:r>
                <a:rPr lang="en-US" sz="1000" b="1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pH </a:t>
              </a:r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与胶液纯净度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478231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89204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494690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分段提胶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4892039" y="2247436"/>
              <a:ext cx="1335025" cy="28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按温度梯度提取不同分子量胶液，实现天然分级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24535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635508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B9D3FF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40994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373368" y="2282952"/>
              <a:ext cx="1316737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按订单目标调配不同批次胶液，影响目标</a:t>
              </a:r>
              <a:r>
                <a:rPr lang="en-US" sz="1000" b="1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Mw </a:t>
              </a:r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与产出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770839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781812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F6B4AD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787298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凝胶干燥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872984" y="2313431"/>
              <a:ext cx="1271016" cy="2804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胶液成型并脱水干燥，是质量与产出偏差的集中显现点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917143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928116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933602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粉碎成品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9336024" y="2313432"/>
              <a:ext cx="12161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粉碎、筛分、包装入库，完成最终质量检验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6BBA81-A4F1-EF7E-0251-23C8827173ED}"/>
              </a:ext>
            </a:extLst>
          </p:cNvPr>
          <p:cNvSpPr txBox="1"/>
          <p:nvPr/>
        </p:nvSpPr>
        <p:spPr>
          <a:xfrm>
            <a:off x="775589" y="1546931"/>
            <a:ext cx="218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</a:t>
            </a:r>
            <a:endParaRPr lang="en-US" sz="1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6D1DAE-666E-DA2B-76BE-5503051B571D}"/>
              </a:ext>
            </a:extLst>
          </p:cNvPr>
          <p:cNvSpPr/>
          <p:nvPr/>
        </p:nvSpPr>
        <p:spPr>
          <a:xfrm>
            <a:off x="176318" y="3376428"/>
            <a:ext cx="599271" cy="925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输入</a:t>
            </a:r>
            <a:endParaRPr lang="en-US" sz="16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5DF256-5BB6-6279-FB75-5EA9B9821428}"/>
              </a:ext>
            </a:extLst>
          </p:cNvPr>
          <p:cNvSpPr/>
          <p:nvPr/>
        </p:nvSpPr>
        <p:spPr>
          <a:xfrm>
            <a:off x="176318" y="4435608"/>
            <a:ext cx="599271" cy="925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输出</a:t>
            </a:r>
            <a:endParaRPr lang="en-US" sz="16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410F0B-26DB-CAF6-D964-8ABB0325ED5E}"/>
              </a:ext>
            </a:extLst>
          </p:cNvPr>
          <p:cNvSpPr/>
          <p:nvPr/>
        </p:nvSpPr>
        <p:spPr>
          <a:xfrm>
            <a:off x="180832" y="5513835"/>
            <a:ext cx="599271" cy="925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现状</a:t>
            </a:r>
            <a:endParaRPr lang="en-US" sz="16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DAF2E2-0609-AED6-B60E-38F1F65BE13F}"/>
              </a:ext>
            </a:extLst>
          </p:cNvPr>
          <p:cNvSpPr/>
          <p:nvPr/>
        </p:nvSpPr>
        <p:spPr>
          <a:xfrm>
            <a:off x="2601990" y="5785370"/>
            <a:ext cx="6957540" cy="404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【</a:t>
            </a:r>
            <a:r>
              <a:rPr lang="zh-CN" altLang="en-US" dirty="0"/>
              <a:t>现状</a:t>
            </a:r>
            <a:r>
              <a:rPr lang="en-US" altLang="zh-CN" dirty="0"/>
              <a:t>】</a:t>
            </a:r>
            <a:r>
              <a:rPr lang="zh-CN" altLang="en-US" dirty="0"/>
              <a:t>这个维度我随便想的，</a:t>
            </a:r>
            <a:r>
              <a:rPr lang="en-US" altLang="zh-CN" dirty="0" err="1"/>
              <a:t>yikang</a:t>
            </a:r>
            <a:r>
              <a:rPr lang="zh-CN" altLang="en-US" dirty="0"/>
              <a:t>你觉得呢</a:t>
            </a:r>
            <a:endParaRPr lang="en-US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5A6A3746-F5D5-EBE1-41AE-C5339B3B019C}"/>
              </a:ext>
            </a:extLst>
          </p:cNvPr>
          <p:cNvCxnSpPr/>
          <p:nvPr/>
        </p:nvCxnSpPr>
        <p:spPr>
          <a:xfrm flipV="1">
            <a:off x="420414" y="2541962"/>
            <a:ext cx="11140965" cy="43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289156F6-873B-6BF0-19DA-2FDD287076BD}"/>
              </a:ext>
            </a:extLst>
          </p:cNvPr>
          <p:cNvCxnSpPr>
            <a:cxnSpLocks/>
            <a:stCxn id="34" idx="3"/>
            <a:endCxn id="7" idx="1"/>
          </p:cNvCxnSpPr>
          <p:nvPr/>
        </p:nvCxnSpPr>
        <p:spPr>
          <a:xfrm flipV="1">
            <a:off x="775589" y="2692817"/>
            <a:ext cx="65024" cy="1146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313C57A9-1778-C345-5092-70E91BC1F4B2}"/>
              </a:ext>
            </a:extLst>
          </p:cNvPr>
          <p:cNvCxnSpPr>
            <a:cxnSpLocks/>
            <a:stCxn id="7" idx="3"/>
            <a:endCxn id="35" idx="3"/>
          </p:cNvCxnSpPr>
          <p:nvPr/>
        </p:nvCxnSpPr>
        <p:spPr>
          <a:xfrm flipH="1">
            <a:off x="775589" y="2692817"/>
            <a:ext cx="1340302" cy="2205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C64BD9-9B32-9E41-F636-60BBA9E9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9D1C34-2977-BABA-9383-BDEA08A7512C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D471E4-8245-DCAA-C8A9-3E54C0E5054E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409EC0-2B14-3790-9B2C-2EEE2AF7F421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Group 20">
            <a:extLst>
              <a:ext uri="{FF2B5EF4-FFF2-40B4-BE49-F238E27FC236}">
                <a16:creationId xmlns:a16="http://schemas.microsoft.com/office/drawing/2014/main" id="{79A4D6B4-D8EE-CAAD-AD6C-40A36933AE4C}"/>
              </a:ext>
            </a:extLst>
          </p:cNvPr>
          <p:cNvGrpSpPr/>
          <p:nvPr/>
        </p:nvGrpSpPr>
        <p:grpSpPr>
          <a:xfrm>
            <a:off x="929640" y="3260834"/>
            <a:ext cx="10332720" cy="804768"/>
            <a:chOff x="1866122" y="1378959"/>
            <a:chExt cx="10711540" cy="338872"/>
          </a:xfrm>
          <a:solidFill>
            <a:srgbClr val="002060"/>
          </a:solidFill>
        </p:grpSpPr>
        <p:sp>
          <p:nvSpPr>
            <p:cNvPr id="33" name="Arrow: Chevron 4">
              <a:extLst>
                <a:ext uri="{FF2B5EF4-FFF2-40B4-BE49-F238E27FC236}">
                  <a16:creationId xmlns:a16="http://schemas.microsoft.com/office/drawing/2014/main" id="{81F1AF48-8F08-2BE7-B2A6-33048A7AC7C9}"/>
                </a:ext>
              </a:extLst>
            </p:cNvPr>
            <p:cNvSpPr/>
            <p:nvPr/>
          </p:nvSpPr>
          <p:spPr>
            <a:xfrm>
              <a:off x="186612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原料预处理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Arrow: Chevron 5">
              <a:extLst>
                <a:ext uri="{FF2B5EF4-FFF2-40B4-BE49-F238E27FC236}">
                  <a16:creationId xmlns:a16="http://schemas.microsoft.com/office/drawing/2014/main" id="{ED7C46A6-8BA0-1524-37B9-87A98649A1CA}"/>
                </a:ext>
              </a:extLst>
            </p:cNvPr>
            <p:cNvSpPr/>
            <p:nvPr/>
          </p:nvSpPr>
          <p:spPr>
            <a:xfrm>
              <a:off x="645678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分段提胶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rrow: Chevron 6">
              <a:extLst>
                <a:ext uri="{FF2B5EF4-FFF2-40B4-BE49-F238E27FC236}">
                  <a16:creationId xmlns:a16="http://schemas.microsoft.com/office/drawing/2014/main" id="{E0EBF48B-3EC0-3A6F-94C2-D1763754D8E9}"/>
                </a:ext>
              </a:extLst>
            </p:cNvPr>
            <p:cNvSpPr/>
            <p:nvPr/>
          </p:nvSpPr>
          <p:spPr>
            <a:xfrm>
              <a:off x="339634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浸灰水解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rrow: Chevron 7">
              <a:extLst>
                <a:ext uri="{FF2B5EF4-FFF2-40B4-BE49-F238E27FC236}">
                  <a16:creationId xmlns:a16="http://schemas.microsoft.com/office/drawing/2014/main" id="{6347818C-24D8-B992-8EFE-F54B65C3581E}"/>
                </a:ext>
              </a:extLst>
            </p:cNvPr>
            <p:cNvSpPr/>
            <p:nvPr/>
          </p:nvSpPr>
          <p:spPr>
            <a:xfrm>
              <a:off x="492656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中和水洗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Arrow: Chevron 8">
              <a:extLst>
                <a:ext uri="{FF2B5EF4-FFF2-40B4-BE49-F238E27FC236}">
                  <a16:creationId xmlns:a16="http://schemas.microsoft.com/office/drawing/2014/main" id="{911E08C0-C4F2-2127-2204-649C7B1098FC}"/>
                </a:ext>
              </a:extLst>
            </p:cNvPr>
            <p:cNvSpPr/>
            <p:nvPr/>
          </p:nvSpPr>
          <p:spPr>
            <a:xfrm>
              <a:off x="9517222" y="1378959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凝胶干燥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Arrow: Chevron 9">
              <a:extLst>
                <a:ext uri="{FF2B5EF4-FFF2-40B4-BE49-F238E27FC236}">
                  <a16:creationId xmlns:a16="http://schemas.microsoft.com/office/drawing/2014/main" id="{DD4EB1C0-44ED-56CA-3955-F12D2B00D4EE}"/>
                </a:ext>
              </a:extLst>
            </p:cNvPr>
            <p:cNvSpPr/>
            <p:nvPr/>
          </p:nvSpPr>
          <p:spPr>
            <a:xfrm>
              <a:off x="11047442" y="1378959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粉碎成品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Arrow: Chevron 19">
              <a:extLst>
                <a:ext uri="{FF2B5EF4-FFF2-40B4-BE49-F238E27FC236}">
                  <a16:creationId xmlns:a16="http://schemas.microsoft.com/office/drawing/2014/main" id="{651C1529-A3C6-5926-5194-CA87D48E2F6A}"/>
                </a:ext>
              </a:extLst>
            </p:cNvPr>
            <p:cNvSpPr/>
            <p:nvPr/>
          </p:nvSpPr>
          <p:spPr>
            <a:xfrm>
              <a:off x="798700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五边形 80">
            <a:extLst>
              <a:ext uri="{FF2B5EF4-FFF2-40B4-BE49-F238E27FC236}">
                <a16:creationId xmlns:a16="http://schemas.microsoft.com/office/drawing/2014/main" id="{A0901DD7-1D87-5B0F-8F72-BBCF319D4E68}"/>
              </a:ext>
            </a:extLst>
          </p:cNvPr>
          <p:cNvSpPr/>
          <p:nvPr/>
        </p:nvSpPr>
        <p:spPr>
          <a:xfrm rot="5400000">
            <a:off x="-719505" y="3319728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五边形 81">
            <a:extLst>
              <a:ext uri="{FF2B5EF4-FFF2-40B4-BE49-F238E27FC236}">
                <a16:creationId xmlns:a16="http://schemas.microsoft.com/office/drawing/2014/main" id="{0F2C4CFA-8F85-137F-B029-C145EE62E3C1}"/>
              </a:ext>
            </a:extLst>
          </p:cNvPr>
          <p:cNvSpPr/>
          <p:nvPr/>
        </p:nvSpPr>
        <p:spPr>
          <a:xfrm rot="5400000">
            <a:off x="813805" y="3319728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五边形 82">
            <a:extLst>
              <a:ext uri="{FF2B5EF4-FFF2-40B4-BE49-F238E27FC236}">
                <a16:creationId xmlns:a16="http://schemas.microsoft.com/office/drawing/2014/main" id="{EEE5277F-DF20-5AF3-300C-627D079C02B7}"/>
              </a:ext>
            </a:extLst>
          </p:cNvPr>
          <p:cNvSpPr/>
          <p:nvPr/>
        </p:nvSpPr>
        <p:spPr>
          <a:xfrm rot="5400000">
            <a:off x="2347940" y="3319729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五边形 83">
            <a:extLst>
              <a:ext uri="{FF2B5EF4-FFF2-40B4-BE49-F238E27FC236}">
                <a16:creationId xmlns:a16="http://schemas.microsoft.com/office/drawing/2014/main" id="{7822C335-A517-4C2D-E95A-EE5047EE10F6}"/>
              </a:ext>
            </a:extLst>
          </p:cNvPr>
          <p:cNvSpPr/>
          <p:nvPr/>
        </p:nvSpPr>
        <p:spPr>
          <a:xfrm rot="5400000">
            <a:off x="3766010" y="3319730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五边形 84">
            <a:extLst>
              <a:ext uri="{FF2B5EF4-FFF2-40B4-BE49-F238E27FC236}">
                <a16:creationId xmlns:a16="http://schemas.microsoft.com/office/drawing/2014/main" id="{EFB855E0-89B2-DDBD-882C-7BF9B1FD98F8}"/>
              </a:ext>
            </a:extLst>
          </p:cNvPr>
          <p:cNvSpPr/>
          <p:nvPr/>
        </p:nvSpPr>
        <p:spPr>
          <a:xfrm rot="5400000">
            <a:off x="5300145" y="3319731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五边形 85">
            <a:extLst>
              <a:ext uri="{FF2B5EF4-FFF2-40B4-BE49-F238E27FC236}">
                <a16:creationId xmlns:a16="http://schemas.microsoft.com/office/drawing/2014/main" id="{742B6C16-72BE-C456-21A8-0D86BE3DFA92}"/>
              </a:ext>
            </a:extLst>
          </p:cNvPr>
          <p:cNvSpPr/>
          <p:nvPr/>
        </p:nvSpPr>
        <p:spPr>
          <a:xfrm rot="5400000">
            <a:off x="6718215" y="3319732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五边形 86">
            <a:extLst>
              <a:ext uri="{FF2B5EF4-FFF2-40B4-BE49-F238E27FC236}">
                <a16:creationId xmlns:a16="http://schemas.microsoft.com/office/drawing/2014/main" id="{292DA70A-D308-EE1D-194D-9ADE5388490F}"/>
              </a:ext>
            </a:extLst>
          </p:cNvPr>
          <p:cNvSpPr/>
          <p:nvPr/>
        </p:nvSpPr>
        <p:spPr>
          <a:xfrm rot="5400000">
            <a:off x="8251525" y="3319733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2523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14CBF36-84CC-47C9-D17F-A4DAB342F8B7}"/>
              </a:ext>
            </a:extLst>
          </p:cNvPr>
          <p:cNvGrpSpPr/>
          <p:nvPr/>
        </p:nvGrpSpPr>
        <p:grpSpPr>
          <a:xfrm>
            <a:off x="1000958" y="2521477"/>
            <a:ext cx="3115120" cy="1683511"/>
            <a:chOff x="835514" y="4248020"/>
            <a:chExt cx="2298842" cy="16835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76E2A58-F079-D167-42F2-6CEFF5BAD815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279194-F32E-6BEF-FD9C-F9CB6FB9E492}"/>
                </a:ext>
              </a:extLst>
            </p:cNvPr>
            <p:cNvSpPr txBox="1"/>
            <p:nvPr/>
          </p:nvSpPr>
          <p:spPr>
            <a:xfrm>
              <a:off x="1045914" y="4398100"/>
              <a:ext cx="20884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关键参数判断依赖老师傅经验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DD0BD7-AF9F-5D9C-DC15-06014F13D70A}"/>
                </a:ext>
              </a:extLst>
            </p:cNvPr>
            <p:cNvSpPr txBox="1"/>
            <p:nvPr/>
          </p:nvSpPr>
          <p:spPr>
            <a:xfrm>
              <a:off x="913846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浸灰时间、提胶道次、复配比例、凝胶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干燥状态等关键判断缺少统一计算口径，不同人员、不同批次之间存在经验差异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9104252-428E-2A35-29B1-D08EB61BCDE2}"/>
              </a:ext>
            </a:extLst>
          </p:cNvPr>
          <p:cNvGrpSpPr/>
          <p:nvPr/>
        </p:nvGrpSpPr>
        <p:grpSpPr>
          <a:xfrm>
            <a:off x="4756702" y="2521477"/>
            <a:ext cx="3115120" cy="1683511"/>
            <a:chOff x="835514" y="4248020"/>
            <a:chExt cx="2298842" cy="168351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AE0B8A-9164-261A-9C0D-DFCF95A2EF45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6246A-AF45-0138-3EEE-1D10FE71835A}"/>
                </a:ext>
              </a:extLst>
            </p:cNvPr>
            <p:cNvSpPr txBox="1"/>
            <p:nvPr/>
          </p:nvSpPr>
          <p:spPr>
            <a:xfrm>
              <a:off x="1045914" y="4398100"/>
              <a:ext cx="20884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凝胶阶段是偏差集中暴露点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DAB3D1-1D78-E982-A3B7-2E70EA07DD78}"/>
                </a:ext>
              </a:extLst>
            </p:cNvPr>
            <p:cNvSpPr txBox="1"/>
            <p:nvPr/>
          </p:nvSpPr>
          <p:spPr>
            <a:xfrm>
              <a:off x="921552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当前最突出的痛点表现为凝胶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干燥后的分子量、质量和实际产出与理论计算存在偏差，但偏差来源可能来自前序浸灰、提胶、浓缩复配等多个环节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14BF39-A09A-4EDC-3C2F-262BE4E04C36}"/>
              </a:ext>
            </a:extLst>
          </p:cNvPr>
          <p:cNvGrpSpPr/>
          <p:nvPr/>
        </p:nvGrpSpPr>
        <p:grpSpPr>
          <a:xfrm>
            <a:off x="8406037" y="2521477"/>
            <a:ext cx="3115120" cy="1683511"/>
            <a:chOff x="835514" y="4248020"/>
            <a:chExt cx="2298842" cy="168351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B1D467-9621-225D-84BA-6B8673855C06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A28285-F9C7-F7DE-6F7C-1DC92F795352}"/>
                </a:ext>
              </a:extLst>
            </p:cNvPr>
            <p:cNvSpPr txBox="1"/>
            <p:nvPr/>
          </p:nvSpPr>
          <p:spPr>
            <a:xfrm>
              <a:off x="914040" y="4398100"/>
              <a:ext cx="22203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质量检测与生产调整尚未形成闭环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AB734B-3728-6636-ABFD-75C55E2F7EC6}"/>
                </a:ext>
              </a:extLst>
            </p:cNvPr>
            <p:cNvSpPr txBox="1"/>
            <p:nvPr/>
          </p:nvSpPr>
          <p:spPr>
            <a:xfrm>
              <a:off x="921552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GPC、黏度、PDI、产出、入库检验等数据更多用于事后判断，尚未反向校正复配计算和工艺参数，导致经验难以沉淀、模型难以持续优化。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 0">
            <a:extLst>
              <a:ext uri="{FF2B5EF4-FFF2-40B4-BE49-F238E27FC236}">
                <a16:creationId xmlns:a16="http://schemas.microsoft.com/office/drawing/2014/main" id="{C3A7E023-F050-7DA2-8F27-0EE5E6DD7546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当前痛点汇总</a:t>
            </a:r>
            <a:endParaRPr lang="en-US" sz="220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BA418-E525-C403-0B45-A403C4E36CEA}"/>
              </a:ext>
            </a:extLst>
          </p:cNvPr>
          <p:cNvSpPr/>
          <p:nvPr/>
        </p:nvSpPr>
        <p:spPr>
          <a:xfrm>
            <a:off x="7396224" y="795528"/>
            <a:ext cx="4253568" cy="743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我的初步想法，</a:t>
            </a:r>
            <a:r>
              <a:rPr lang="en-US" altLang="zh-CN" dirty="0" err="1"/>
              <a:t>yikang</a:t>
            </a:r>
            <a:r>
              <a:rPr lang="zh-CN" altLang="en-US" dirty="0"/>
              <a:t>帮忙完善一下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110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方案展开：</a:t>
            </a:r>
            <a:r>
              <a:rPr lang="en-US" sz="2200" b="1" dirty="0" err="1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凝胶</a:t>
            </a: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/复配智能计算与产出预测</a:t>
            </a:r>
            <a:endParaRPr lang="en-US" sz="2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2EC7C1-0DBB-B58B-1BA0-06CB2AF1901A}"/>
              </a:ext>
            </a:extLst>
          </p:cNvPr>
          <p:cNvGrpSpPr/>
          <p:nvPr/>
        </p:nvGrpSpPr>
        <p:grpSpPr>
          <a:xfrm>
            <a:off x="524872" y="1204159"/>
            <a:ext cx="4761103" cy="707886"/>
            <a:chOff x="402209" y="1378844"/>
            <a:chExt cx="4761103" cy="70788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289527-8427-5F48-1DEA-5E3643FE9457}"/>
                </a:ext>
              </a:extLst>
            </p:cNvPr>
            <p:cNvSpPr txBox="1"/>
            <p:nvPr/>
          </p:nvSpPr>
          <p:spPr>
            <a:xfrm>
              <a:off x="402209" y="1378844"/>
              <a:ext cx="474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0E033C-0439-00C9-91C2-B29721A178AF}"/>
                </a:ext>
              </a:extLst>
            </p:cNvPr>
            <p:cNvSpPr txBox="1"/>
            <p:nvPr/>
          </p:nvSpPr>
          <p:spPr>
            <a:xfrm>
              <a:off x="783969" y="1473923"/>
              <a:ext cx="36722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输入：</a:t>
              </a:r>
              <a:r>
                <a:rPr lang="en-US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建立凝胶</a:t>
              </a:r>
              <a:r>
                <a:rPr 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复配计算的数据基础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3A79FB-4A42-6708-7F20-148ED9B7E300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0" y="1796682"/>
              <a:ext cx="4286632" cy="0"/>
            </a:xfrm>
            <a:prstGeom prst="line">
              <a:avLst/>
            </a:prstGeom>
            <a:ln w="444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9DD1977-5096-9F06-CEBA-2B9840D5281D}"/>
              </a:ext>
            </a:extLst>
          </p:cNvPr>
          <p:cNvGrpSpPr/>
          <p:nvPr/>
        </p:nvGrpSpPr>
        <p:grpSpPr>
          <a:xfrm>
            <a:off x="739882" y="1846139"/>
            <a:ext cx="4546093" cy="813813"/>
            <a:chOff x="617219" y="2020825"/>
            <a:chExt cx="4546093" cy="60350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332D1DF-9833-CD57-AB1A-72D3DC028BDE}"/>
                </a:ext>
              </a:extLst>
            </p:cNvPr>
            <p:cNvSpPr/>
            <p:nvPr/>
          </p:nvSpPr>
          <p:spPr>
            <a:xfrm>
              <a:off x="617219" y="2020825"/>
              <a:ext cx="4546093" cy="60350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23715FC-7412-5215-CF55-DC87F537B296}"/>
                </a:ext>
              </a:extLst>
            </p:cNvPr>
            <p:cNvSpPr/>
            <p:nvPr/>
          </p:nvSpPr>
          <p:spPr>
            <a:xfrm>
              <a:off x="617220" y="2020825"/>
              <a:ext cx="624840" cy="60350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关键动作</a:t>
              </a:r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A2F5738-6A97-9EB8-BF6A-0BF8DC18DD7B}"/>
              </a:ext>
            </a:extLst>
          </p:cNvPr>
          <p:cNvSpPr txBox="1"/>
          <p:nvPr/>
        </p:nvSpPr>
        <p:spPr>
          <a:xfrm>
            <a:off x="1429803" y="1921288"/>
            <a:ext cx="38561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err="1"/>
              <a:t>采集批次胶液重量、道次、固含量、黏度、pH、GPC</a:t>
            </a:r>
            <a:r>
              <a:rPr lang="en-US" sz="1400" dirty="0"/>
              <a:t> </a:t>
            </a:r>
            <a:r>
              <a:rPr lang="en-US" sz="1400" dirty="0" err="1"/>
              <a:t>分子量、提胶</a:t>
            </a:r>
            <a:r>
              <a:rPr lang="en-US" sz="1400" dirty="0"/>
              <a:t>/</a:t>
            </a:r>
            <a:r>
              <a:rPr lang="en-US" sz="1400" dirty="0" err="1"/>
              <a:t>浓缩</a:t>
            </a:r>
            <a:r>
              <a:rPr lang="en-US" sz="1400" dirty="0"/>
              <a:t>/</a:t>
            </a:r>
            <a:r>
              <a:rPr lang="en-US" sz="1400" dirty="0" err="1"/>
              <a:t>干燥参数等数据，并统一批次口径</a:t>
            </a:r>
            <a:endParaRPr lang="en-US" sz="14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3F50AD4-0E1A-6F8D-1197-D4FC8F7953D4}"/>
              </a:ext>
            </a:extLst>
          </p:cNvPr>
          <p:cNvGrpSpPr/>
          <p:nvPr/>
        </p:nvGrpSpPr>
        <p:grpSpPr>
          <a:xfrm>
            <a:off x="739881" y="2832628"/>
            <a:ext cx="4546093" cy="649224"/>
            <a:chOff x="739884" y="3007427"/>
            <a:chExt cx="4546093" cy="64922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84A750C-B5A6-6C9D-3A1A-F3C49C65EAC7}"/>
                </a:ext>
              </a:extLst>
            </p:cNvPr>
            <p:cNvGrpSpPr/>
            <p:nvPr/>
          </p:nvGrpSpPr>
          <p:grpSpPr>
            <a:xfrm>
              <a:off x="739884" y="3007427"/>
              <a:ext cx="4546093" cy="649224"/>
              <a:chOff x="617219" y="2020825"/>
              <a:chExt cx="4546093" cy="603502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AF8E014-43FE-35DF-53D0-ABD5FB7C061B}"/>
                  </a:ext>
                </a:extLst>
              </p:cNvPr>
              <p:cNvSpPr/>
              <p:nvPr/>
            </p:nvSpPr>
            <p:spPr>
              <a:xfrm>
                <a:off x="617219" y="2020825"/>
                <a:ext cx="4546093" cy="60350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6D5BDE0-B887-A967-7CB0-472852A30319}"/>
                  </a:ext>
                </a:extLst>
              </p:cNvPr>
              <p:cNvSpPr/>
              <p:nvPr/>
            </p:nvSpPr>
            <p:spPr>
              <a:xfrm>
                <a:off x="617220" y="2020825"/>
                <a:ext cx="624840" cy="60350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DC0FA98-8277-5F7C-A69A-D31A10581A93}"/>
                </a:ext>
              </a:extLst>
            </p:cNvPr>
            <p:cNvSpPr txBox="1"/>
            <p:nvPr/>
          </p:nvSpPr>
          <p:spPr>
            <a:xfrm>
              <a:off x="1429806" y="3070429"/>
              <a:ext cx="38561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dirty="0"/>
                <a:t>形成“</a:t>
              </a:r>
              <a:r>
                <a:rPr lang="en-US" sz="1400" dirty="0" err="1"/>
                <a:t>批次胶液档案</a:t>
              </a:r>
              <a:r>
                <a:rPr lang="en-US" sz="1400" dirty="0"/>
                <a:t>”，</a:t>
              </a:r>
              <a:r>
                <a:rPr lang="en-US" sz="1400" dirty="0" err="1"/>
                <a:t>明确每批胶液的质量属性、工艺状态和可复配能力</a:t>
              </a:r>
              <a:endParaRPr lang="en-US" sz="14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DC0DFC6-0001-6BDC-19A9-011CC5383F6A}"/>
              </a:ext>
            </a:extLst>
          </p:cNvPr>
          <p:cNvGrpSpPr/>
          <p:nvPr/>
        </p:nvGrpSpPr>
        <p:grpSpPr>
          <a:xfrm>
            <a:off x="524871" y="3725563"/>
            <a:ext cx="4761103" cy="707886"/>
            <a:chOff x="402209" y="1378844"/>
            <a:chExt cx="4761103" cy="70788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552A6FF-3969-03BD-2768-00ABD9C7013B}"/>
                </a:ext>
              </a:extLst>
            </p:cNvPr>
            <p:cNvSpPr txBox="1"/>
            <p:nvPr/>
          </p:nvSpPr>
          <p:spPr>
            <a:xfrm>
              <a:off x="402209" y="1378844"/>
              <a:ext cx="474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95D584D-479E-C444-A0ED-25BD2C9B21D5}"/>
                </a:ext>
              </a:extLst>
            </p:cNvPr>
            <p:cNvSpPr txBox="1"/>
            <p:nvPr/>
          </p:nvSpPr>
          <p:spPr>
            <a:xfrm>
              <a:off x="783969" y="1473923"/>
              <a:ext cx="36722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计算：</a:t>
              </a:r>
              <a:r>
                <a:rPr lang="en-US" sz="1600" dirty="0" err="1"/>
                <a:t>将人工经验转化为标准算法计算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4AE86DF-6CCA-85E8-C69F-43427B5BC3CB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0" y="1796682"/>
              <a:ext cx="4286632" cy="0"/>
            </a:xfrm>
            <a:prstGeom prst="line">
              <a:avLst/>
            </a:prstGeom>
            <a:ln w="444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2316B08-3E2A-7295-F621-F0B45EE0184F}"/>
              </a:ext>
            </a:extLst>
          </p:cNvPr>
          <p:cNvGrpSpPr/>
          <p:nvPr/>
        </p:nvGrpSpPr>
        <p:grpSpPr>
          <a:xfrm>
            <a:off x="739881" y="4367543"/>
            <a:ext cx="4546093" cy="1036848"/>
            <a:chOff x="617219" y="2020825"/>
            <a:chExt cx="4546093" cy="603502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C759400-52DE-9475-600E-4C3EB1EC1941}"/>
                </a:ext>
              </a:extLst>
            </p:cNvPr>
            <p:cNvSpPr/>
            <p:nvPr/>
          </p:nvSpPr>
          <p:spPr>
            <a:xfrm>
              <a:off x="617219" y="2020825"/>
              <a:ext cx="4546093" cy="60350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E9BAE43-6680-B52A-5DFF-3D04A8063D7E}"/>
                </a:ext>
              </a:extLst>
            </p:cNvPr>
            <p:cNvSpPr/>
            <p:nvPr/>
          </p:nvSpPr>
          <p:spPr>
            <a:xfrm>
              <a:off x="617220" y="2020825"/>
              <a:ext cx="624840" cy="60350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关键动作</a:t>
              </a:r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FCF9881-AD1D-E059-F276-943514BD85F9}"/>
              </a:ext>
            </a:extLst>
          </p:cNvPr>
          <p:cNvSpPr txBox="1"/>
          <p:nvPr/>
        </p:nvSpPr>
        <p:spPr>
          <a:xfrm>
            <a:off x="1429802" y="4442692"/>
            <a:ext cx="38561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err="1"/>
              <a:t>调用</a:t>
            </a:r>
            <a:r>
              <a:rPr lang="en-US" sz="1400" dirty="0"/>
              <a:t> GPC </a:t>
            </a:r>
            <a:r>
              <a:rPr lang="en-US" sz="1400" dirty="0" err="1"/>
              <a:t>标准算法计算</a:t>
            </a:r>
            <a:r>
              <a:rPr lang="en-US" sz="1400" dirty="0"/>
              <a:t> </a:t>
            </a:r>
            <a:r>
              <a:rPr lang="en-US" sz="1400" dirty="0" err="1"/>
              <a:t>Mn、Mw、Mz、PDI；调用黏度法估算</a:t>
            </a:r>
            <a:r>
              <a:rPr lang="en-US" sz="1400" dirty="0"/>
              <a:t> </a:t>
            </a:r>
            <a:r>
              <a:rPr lang="en-US" sz="1400" dirty="0" err="1"/>
              <a:t>Mw；基于复配加权公式计算目标分子量；结合固含量、水分、损耗率预测理论产出</a:t>
            </a:r>
            <a:endParaRPr lang="en-US" sz="1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4447AB7-45DF-AA7F-F7B7-8973B631F3E4}"/>
              </a:ext>
            </a:extLst>
          </p:cNvPr>
          <p:cNvGrpSpPr/>
          <p:nvPr/>
        </p:nvGrpSpPr>
        <p:grpSpPr>
          <a:xfrm>
            <a:off x="739884" y="5589101"/>
            <a:ext cx="4546093" cy="649224"/>
            <a:chOff x="717932" y="5886839"/>
            <a:chExt cx="4546093" cy="64922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6AFB721-47D5-8630-3EB8-DF00C05DE606}"/>
                </a:ext>
              </a:extLst>
            </p:cNvPr>
            <p:cNvGrpSpPr/>
            <p:nvPr/>
          </p:nvGrpSpPr>
          <p:grpSpPr>
            <a:xfrm>
              <a:off x="717932" y="5886839"/>
              <a:ext cx="4546093" cy="649224"/>
              <a:chOff x="617219" y="2020825"/>
              <a:chExt cx="4546093" cy="603502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00410B2-1A7C-89C3-F159-56A89E67758B}"/>
                  </a:ext>
                </a:extLst>
              </p:cNvPr>
              <p:cNvSpPr/>
              <p:nvPr/>
            </p:nvSpPr>
            <p:spPr>
              <a:xfrm>
                <a:off x="617219" y="2020825"/>
                <a:ext cx="4546093" cy="60350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2A8F687-4131-AD75-798F-D302566CAC51}"/>
                  </a:ext>
                </a:extLst>
              </p:cNvPr>
              <p:cNvSpPr/>
              <p:nvPr/>
            </p:nvSpPr>
            <p:spPr>
              <a:xfrm>
                <a:off x="617220" y="2020825"/>
                <a:ext cx="624840" cy="60350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8A9E38C-8F38-73E7-50B6-9ECCCC86AADF}"/>
                </a:ext>
              </a:extLst>
            </p:cNvPr>
            <p:cNvSpPr txBox="1"/>
            <p:nvPr/>
          </p:nvSpPr>
          <p:spPr>
            <a:xfrm>
              <a:off x="1407854" y="5949841"/>
              <a:ext cx="38561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dirty="0" err="1"/>
                <a:t>输出理论</a:t>
              </a:r>
              <a:r>
                <a:rPr lang="en-US" sz="1400" dirty="0"/>
                <a:t> </a:t>
              </a:r>
              <a:r>
                <a:rPr lang="en-US" sz="1400" dirty="0" err="1"/>
                <a:t>Mw、PDI、复配后目标分子量、理论成品产出和初步复配方案</a:t>
              </a:r>
              <a:endParaRPr lang="en-US" sz="14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07953F4-E252-51B3-4982-106DABFED102}"/>
              </a:ext>
            </a:extLst>
          </p:cNvPr>
          <p:cNvGrpSpPr/>
          <p:nvPr/>
        </p:nvGrpSpPr>
        <p:grpSpPr>
          <a:xfrm>
            <a:off x="6524265" y="1214221"/>
            <a:ext cx="4927852" cy="707886"/>
            <a:chOff x="402209" y="1378844"/>
            <a:chExt cx="4927852" cy="70788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71D40F9-DE8B-0C63-7012-A235BD6753AD}"/>
                </a:ext>
              </a:extLst>
            </p:cNvPr>
            <p:cNvSpPr txBox="1"/>
            <p:nvPr/>
          </p:nvSpPr>
          <p:spPr>
            <a:xfrm>
              <a:off x="402209" y="1378844"/>
              <a:ext cx="474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5675DA2-7E23-AED2-38CA-692933FC6E5C}"/>
                </a:ext>
              </a:extLst>
            </p:cNvPr>
            <p:cNvSpPr txBox="1"/>
            <p:nvPr/>
          </p:nvSpPr>
          <p:spPr>
            <a:xfrm>
              <a:off x="783969" y="1473923"/>
              <a:ext cx="45460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校正：</a:t>
              </a:r>
              <a:r>
                <a:rPr lang="en-US" sz="1600" dirty="0" err="1"/>
                <a:t>修正理论计算与现场实际之间的偏差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1C1CA38-4FEF-F092-7D78-F63E8846B9DC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0" y="1796682"/>
              <a:ext cx="4286632" cy="0"/>
            </a:xfrm>
            <a:prstGeom prst="line">
              <a:avLst/>
            </a:prstGeom>
            <a:ln w="444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5B8D612-4CA3-77EE-2263-11646A4F8BE1}"/>
              </a:ext>
            </a:extLst>
          </p:cNvPr>
          <p:cNvGrpSpPr/>
          <p:nvPr/>
        </p:nvGrpSpPr>
        <p:grpSpPr>
          <a:xfrm>
            <a:off x="6739275" y="1856201"/>
            <a:ext cx="4546093" cy="813813"/>
            <a:chOff x="617219" y="2020825"/>
            <a:chExt cx="4546093" cy="60350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5679C65-B07C-E624-8427-D95250CAE272}"/>
                </a:ext>
              </a:extLst>
            </p:cNvPr>
            <p:cNvSpPr/>
            <p:nvPr/>
          </p:nvSpPr>
          <p:spPr>
            <a:xfrm>
              <a:off x="617219" y="2020825"/>
              <a:ext cx="4546093" cy="60350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B53F04C-E43A-5AC6-ABF7-B33435C10532}"/>
                </a:ext>
              </a:extLst>
            </p:cNvPr>
            <p:cNvSpPr/>
            <p:nvPr/>
          </p:nvSpPr>
          <p:spPr>
            <a:xfrm>
              <a:off x="617220" y="2020825"/>
              <a:ext cx="624840" cy="60350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关键动作</a:t>
              </a:r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00BCDE7A-201F-54C1-8DF4-077F40F21D39}"/>
              </a:ext>
            </a:extLst>
          </p:cNvPr>
          <p:cNvSpPr txBox="1"/>
          <p:nvPr/>
        </p:nvSpPr>
        <p:spPr>
          <a:xfrm>
            <a:off x="7364116" y="1923155"/>
            <a:ext cx="39550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err="1"/>
              <a:t>对比理论</a:t>
            </a:r>
            <a:r>
              <a:rPr lang="en-US" sz="1400" dirty="0"/>
              <a:t> Mw </a:t>
            </a:r>
            <a:r>
              <a:rPr lang="en-US" sz="1400" dirty="0" err="1"/>
              <a:t>与实际</a:t>
            </a:r>
            <a:r>
              <a:rPr lang="en-US" sz="1400" dirty="0"/>
              <a:t> GPC </a:t>
            </a:r>
            <a:r>
              <a:rPr lang="en-US" sz="1400" dirty="0" err="1"/>
              <a:t>检测结果、理论产出与实际入库量，识别偏差来源</a:t>
            </a:r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err="1"/>
              <a:t>结合历史批次数据建立修正系数</a:t>
            </a:r>
            <a:r>
              <a:rPr lang="en-US" sz="1400" dirty="0"/>
              <a:t>/AI </a:t>
            </a:r>
            <a:r>
              <a:rPr lang="en-US" sz="1400" dirty="0" err="1"/>
              <a:t>校正模型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19A6E47-8B54-87E3-6A64-C5641BC4B212}"/>
              </a:ext>
            </a:extLst>
          </p:cNvPr>
          <p:cNvGrpSpPr/>
          <p:nvPr/>
        </p:nvGrpSpPr>
        <p:grpSpPr>
          <a:xfrm>
            <a:off x="6739274" y="2842690"/>
            <a:ext cx="4546093" cy="649224"/>
            <a:chOff x="739884" y="3007427"/>
            <a:chExt cx="4546093" cy="64922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76FABD7-9E84-6379-ED8D-935E7FDF2947}"/>
                </a:ext>
              </a:extLst>
            </p:cNvPr>
            <p:cNvGrpSpPr/>
            <p:nvPr/>
          </p:nvGrpSpPr>
          <p:grpSpPr>
            <a:xfrm>
              <a:off x="739884" y="3007427"/>
              <a:ext cx="4546093" cy="649224"/>
              <a:chOff x="617219" y="2020825"/>
              <a:chExt cx="4546093" cy="603502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41FED19-6B40-314C-9EED-A394ACEA8055}"/>
                  </a:ext>
                </a:extLst>
              </p:cNvPr>
              <p:cNvSpPr/>
              <p:nvPr/>
            </p:nvSpPr>
            <p:spPr>
              <a:xfrm>
                <a:off x="617219" y="2020825"/>
                <a:ext cx="4546093" cy="60350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1C8FBAF-7642-553A-C981-C866169D2EC8}"/>
                  </a:ext>
                </a:extLst>
              </p:cNvPr>
              <p:cNvSpPr/>
              <p:nvPr/>
            </p:nvSpPr>
            <p:spPr>
              <a:xfrm>
                <a:off x="617220" y="2020825"/>
                <a:ext cx="624840" cy="60350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21DDB68-B7AC-C97C-3F02-AF91E88B9AA9}"/>
                </a:ext>
              </a:extLst>
            </p:cNvPr>
            <p:cNvSpPr txBox="1"/>
            <p:nvPr/>
          </p:nvSpPr>
          <p:spPr>
            <a:xfrm>
              <a:off x="1429806" y="3070429"/>
              <a:ext cx="38561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dirty="0" err="1"/>
                <a:t>输出校正后的</a:t>
              </a:r>
              <a:r>
                <a:rPr lang="en-US" sz="1400" dirty="0"/>
                <a:t> Mw </a:t>
              </a:r>
              <a:r>
                <a:rPr lang="en-US" sz="1400" dirty="0" err="1"/>
                <a:t>预测、产出预测、偏差原因判断和模型置信度</a:t>
              </a:r>
              <a:endParaRPr lang="en-US" sz="1400" dirty="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1D8FCF2-EC45-1F9C-B4EB-FE3476E48DC4}"/>
              </a:ext>
            </a:extLst>
          </p:cNvPr>
          <p:cNvGrpSpPr/>
          <p:nvPr/>
        </p:nvGrpSpPr>
        <p:grpSpPr>
          <a:xfrm>
            <a:off x="6558097" y="3716320"/>
            <a:ext cx="4761103" cy="707886"/>
            <a:chOff x="402209" y="1378844"/>
            <a:chExt cx="4761103" cy="707886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87AB86E-B38D-098F-2619-453C7D5E250F}"/>
                </a:ext>
              </a:extLst>
            </p:cNvPr>
            <p:cNvSpPr txBox="1"/>
            <p:nvPr/>
          </p:nvSpPr>
          <p:spPr>
            <a:xfrm>
              <a:off x="402209" y="1378844"/>
              <a:ext cx="474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CA8B63C-793C-0499-323A-AA0385F907E7}"/>
                </a:ext>
              </a:extLst>
            </p:cNvPr>
            <p:cNvSpPr txBox="1"/>
            <p:nvPr/>
          </p:nvSpPr>
          <p:spPr>
            <a:xfrm>
              <a:off x="783969" y="1473923"/>
              <a:ext cx="36722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输出：</a:t>
              </a:r>
              <a:r>
                <a:rPr lang="en-US" sz="1600" dirty="0" err="1"/>
                <a:t>给现场可执行的复配与生产建议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6429DC0-AFAA-C8F3-3F5C-265E734F35DA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0" y="1796682"/>
              <a:ext cx="4286632" cy="0"/>
            </a:xfrm>
            <a:prstGeom prst="line">
              <a:avLst/>
            </a:prstGeom>
            <a:ln w="444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CDB3AB-6557-E38C-2154-42F02EF6509B}"/>
              </a:ext>
            </a:extLst>
          </p:cNvPr>
          <p:cNvGrpSpPr/>
          <p:nvPr/>
        </p:nvGrpSpPr>
        <p:grpSpPr>
          <a:xfrm>
            <a:off x="6773107" y="4358300"/>
            <a:ext cx="4546093" cy="1036848"/>
            <a:chOff x="617219" y="2020825"/>
            <a:chExt cx="4546093" cy="603502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2BC3051-7EAC-987A-1D0A-D7F6AE069593}"/>
                </a:ext>
              </a:extLst>
            </p:cNvPr>
            <p:cNvSpPr/>
            <p:nvPr/>
          </p:nvSpPr>
          <p:spPr>
            <a:xfrm>
              <a:off x="617219" y="2020825"/>
              <a:ext cx="4546093" cy="60350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58FAEA7-6AF7-E238-DB50-5BDDDEE3FE23}"/>
                </a:ext>
              </a:extLst>
            </p:cNvPr>
            <p:cNvSpPr/>
            <p:nvPr/>
          </p:nvSpPr>
          <p:spPr>
            <a:xfrm>
              <a:off x="617220" y="2020825"/>
              <a:ext cx="624840" cy="60350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关键动作</a:t>
              </a:r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A380E1F2-A2D4-871C-8569-6D2267F86E7B}"/>
              </a:ext>
            </a:extLst>
          </p:cNvPr>
          <p:cNvSpPr txBox="1"/>
          <p:nvPr/>
        </p:nvSpPr>
        <p:spPr>
          <a:xfrm>
            <a:off x="7463028" y="4531919"/>
            <a:ext cx="38561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Agent </a:t>
            </a:r>
            <a:r>
              <a:rPr lang="en-US" sz="1400" dirty="0" err="1"/>
              <a:t>根据目标产品要求、可用胶液批次、质量风险和产出目标，生成复配比例建议、参数调整建议和异常风险提示</a:t>
            </a:r>
            <a:endParaRPr lang="en-US" sz="1400" dirty="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CB8D34B-D978-34B3-2386-F0E514796ECC}"/>
              </a:ext>
            </a:extLst>
          </p:cNvPr>
          <p:cNvGrpSpPr/>
          <p:nvPr/>
        </p:nvGrpSpPr>
        <p:grpSpPr>
          <a:xfrm>
            <a:off x="6773110" y="5579858"/>
            <a:ext cx="4546093" cy="649224"/>
            <a:chOff x="717932" y="5886839"/>
            <a:chExt cx="4546093" cy="649224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3FAF1DF-09ED-FDDD-C12E-1B7D0D33B836}"/>
                </a:ext>
              </a:extLst>
            </p:cNvPr>
            <p:cNvGrpSpPr/>
            <p:nvPr/>
          </p:nvGrpSpPr>
          <p:grpSpPr>
            <a:xfrm>
              <a:off x="717932" y="5886839"/>
              <a:ext cx="4546093" cy="649224"/>
              <a:chOff x="617219" y="2020825"/>
              <a:chExt cx="4546093" cy="603502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47DCEA3B-DE24-3BD0-2A50-3B78E07C5169}"/>
                  </a:ext>
                </a:extLst>
              </p:cNvPr>
              <p:cNvSpPr/>
              <p:nvPr/>
            </p:nvSpPr>
            <p:spPr>
              <a:xfrm>
                <a:off x="617219" y="2020825"/>
                <a:ext cx="4546093" cy="60350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C505281E-15ED-200C-B356-92D8750AA68D}"/>
                  </a:ext>
                </a:extLst>
              </p:cNvPr>
              <p:cNvSpPr/>
              <p:nvPr/>
            </p:nvSpPr>
            <p:spPr>
              <a:xfrm>
                <a:off x="617220" y="2020825"/>
                <a:ext cx="624840" cy="60350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C0B87F2-B9C3-F9A3-5565-A0F731415FBB}"/>
                </a:ext>
              </a:extLst>
            </p:cNvPr>
            <p:cNvSpPr txBox="1"/>
            <p:nvPr/>
          </p:nvSpPr>
          <p:spPr>
            <a:xfrm>
              <a:off x="1407854" y="5949841"/>
              <a:ext cx="38561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dirty="0" err="1"/>
                <a:t>输出推荐复配方案、目标分子量预测、凝胶</a:t>
              </a:r>
              <a:r>
                <a:rPr lang="en-US" sz="1400" dirty="0"/>
                <a:t>/</a:t>
              </a:r>
              <a:r>
                <a:rPr lang="en-US" sz="1400" dirty="0" err="1"/>
                <a:t>干燥产出预测、质量风险提示和操作建议</a:t>
              </a:r>
              <a:endParaRPr lang="en-US" sz="1400" dirty="0"/>
            </a:p>
          </p:txBody>
        </p:sp>
      </p:grp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1D4C524-D1D2-D30D-4CB0-03C901CCD130}"/>
              </a:ext>
            </a:extLst>
          </p:cNvPr>
          <p:cNvCxnSpPr/>
          <p:nvPr/>
        </p:nvCxnSpPr>
        <p:spPr>
          <a:xfrm>
            <a:off x="5980253" y="1672512"/>
            <a:ext cx="0" cy="461632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9893442-01F5-B1B4-A306-65965F4045E6}"/>
              </a:ext>
            </a:extLst>
          </p:cNvPr>
          <p:cNvSpPr/>
          <p:nvPr/>
        </p:nvSpPr>
        <p:spPr>
          <a:xfrm>
            <a:off x="6096000" y="308509"/>
            <a:ext cx="5993630" cy="905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我的初步想法，</a:t>
            </a:r>
            <a:r>
              <a:rPr lang="en-US" altLang="zh-CN" dirty="0" err="1"/>
              <a:t>yikang</a:t>
            </a:r>
            <a:r>
              <a:rPr lang="zh-CN" altLang="en-US" dirty="0"/>
              <a:t>帮忙从</a:t>
            </a:r>
            <a:r>
              <a:rPr lang="en-US" altLang="zh-CN" dirty="0"/>
              <a:t>Agent</a:t>
            </a:r>
            <a:r>
              <a:rPr lang="zh-CN" altLang="en-US" dirty="0"/>
              <a:t>的角度去给点输入，优化一下？我理解主要是在第四点作补充？如果篇幅不够描绘</a:t>
            </a:r>
            <a:r>
              <a:rPr lang="en-US" altLang="zh-CN" dirty="0"/>
              <a:t>Agent</a:t>
            </a:r>
            <a:r>
              <a:rPr lang="zh-CN" altLang="en-US" dirty="0"/>
              <a:t>的功能，就放到下一页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7ECF82-F92E-1D05-3CD5-9B58D7BCFCF2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选中其中的某个环节进行切入</a:t>
            </a:r>
            <a:endParaRPr lang="en-US" sz="220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E5027-55A3-A91C-14A1-41698B7575F5}"/>
              </a:ext>
            </a:extLst>
          </p:cNvPr>
          <p:cNvSpPr/>
          <p:nvPr/>
        </p:nvSpPr>
        <p:spPr>
          <a:xfrm>
            <a:off x="856527" y="1886672"/>
            <a:ext cx="3946967" cy="38775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展开凝胶流程</a:t>
            </a:r>
            <a:endParaRPr lang="en-US" altLang="zh-CN" dirty="0"/>
          </a:p>
          <a:p>
            <a:pPr algn="ctr"/>
            <a:r>
              <a:rPr lang="zh-CN" altLang="en-US" dirty="0"/>
              <a:t>明确输入、输出</a:t>
            </a:r>
            <a:endParaRPr lang="en-US" altLang="zh-CN" dirty="0"/>
          </a:p>
          <a:p>
            <a:pPr algn="ctr"/>
            <a:r>
              <a:rPr lang="zh-CN" altLang="en-US" dirty="0"/>
              <a:t>当前现状（没有就留空）</a:t>
            </a:r>
            <a:endParaRPr lang="en-US" altLang="zh-CN" dirty="0"/>
          </a:p>
          <a:p>
            <a:pPr algn="ctr"/>
            <a:r>
              <a:rPr lang="zh-CN" altLang="en-US" dirty="0"/>
              <a:t>与最终产出的偏差</a:t>
            </a:r>
            <a:endParaRPr lang="en-US" altLang="zh-C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C8BB39-84EE-D177-9D7A-CC77D214AA9E}"/>
              </a:ext>
            </a:extLst>
          </p:cNvPr>
          <p:cNvSpPr/>
          <p:nvPr/>
        </p:nvSpPr>
        <p:spPr>
          <a:xfrm>
            <a:off x="6667596" y="1886672"/>
            <a:ext cx="3946967" cy="38775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未来图景：</a:t>
            </a:r>
            <a:r>
              <a:rPr lang="en-US" altLang="zh-CN" dirty="0"/>
              <a:t>PDF</a:t>
            </a:r>
            <a:r>
              <a:rPr lang="zh-CN" altLang="en-US" dirty="0"/>
              <a:t>中涉及到的哪些算法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7262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58B3A0-4A3E-9358-93A2-44DC38EBD6DE}"/>
              </a:ext>
            </a:extLst>
          </p:cNvPr>
          <p:cNvSpPr/>
          <p:nvPr/>
        </p:nvSpPr>
        <p:spPr>
          <a:xfrm>
            <a:off x="502920" y="384048"/>
            <a:ext cx="111875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这一页是不是可以展开端到端</a:t>
            </a: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，长什么样？产出什么？</a:t>
            </a:r>
            <a:endParaRPr lang="en-US" sz="220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6304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222270-5C9C-E0E7-0FD3-3178FDE3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A2A36C-7727-87ED-EEED-EF105CD1AD55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059927-AECD-00BA-7521-225034D1C3AF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811EEB-2747-CC55-7B8D-78FF7A936F36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7AA557F-16DA-247B-81C0-DD4098CBAA75}"/>
              </a:ext>
            </a:extLst>
          </p:cNvPr>
          <p:cNvGrpSpPr/>
          <p:nvPr/>
        </p:nvGrpSpPr>
        <p:grpSpPr>
          <a:xfrm>
            <a:off x="783082" y="1953437"/>
            <a:ext cx="10595356" cy="1251713"/>
            <a:chOff x="502920" y="1874520"/>
            <a:chExt cx="10104120" cy="86868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E10001E4-CEE4-8835-5CA8-CAEB9BA2DEE7}"/>
                </a:ext>
              </a:extLst>
            </p:cNvPr>
            <p:cNvSpPr/>
            <p:nvPr/>
          </p:nvSpPr>
          <p:spPr>
            <a:xfrm>
              <a:off x="50292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A3B9E732-E5CC-BC02-35C4-FD50BE69913C}"/>
                </a:ext>
              </a:extLst>
            </p:cNvPr>
            <p:cNvSpPr/>
            <p:nvPr/>
          </p:nvSpPr>
          <p:spPr>
            <a:xfrm>
              <a:off x="55778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原料预处理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AB21009-26F8-5E99-FBEF-ECAA1DCA58BD}"/>
                </a:ext>
              </a:extLst>
            </p:cNvPr>
            <p:cNvSpPr/>
            <p:nvPr/>
          </p:nvSpPr>
          <p:spPr>
            <a:xfrm>
              <a:off x="557784" y="2215432"/>
              <a:ext cx="1216152" cy="3444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去除油脂、矿物质与杂质，保留纯胶原基础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30936FB8-2250-1C4D-6E4E-C053D93D819E}"/>
                </a:ext>
              </a:extLst>
            </p:cNvPr>
            <p:cNvSpPr/>
            <p:nvPr/>
          </p:nvSpPr>
          <p:spPr>
            <a:xfrm>
              <a:off x="185623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A1E94A5E-DDC7-721F-75E0-84D0CDDEB80C}"/>
                </a:ext>
              </a:extLst>
            </p:cNvPr>
            <p:cNvSpPr/>
            <p:nvPr/>
          </p:nvSpPr>
          <p:spPr>
            <a:xfrm>
              <a:off x="196596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EAF2FF"/>
            </a:solidFill>
            <a:ln w="12700">
              <a:solidFill>
                <a:srgbClr val="B9D3FF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016FDF8-A149-3A40-E06E-B0E6CCE1CC72}"/>
                </a:ext>
              </a:extLst>
            </p:cNvPr>
            <p:cNvSpPr/>
            <p:nvPr/>
          </p:nvSpPr>
          <p:spPr>
            <a:xfrm>
              <a:off x="202082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浸灰水解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15D7F06-EFAB-DC51-70D0-867CF5C13A81}"/>
                </a:ext>
              </a:extLst>
            </p:cNvPr>
            <p:cNvSpPr/>
            <p:nvPr/>
          </p:nvSpPr>
          <p:spPr>
            <a:xfrm>
              <a:off x="2020824" y="2313432"/>
              <a:ext cx="12161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通过碱浸控制胶原断链程度，决定分子量基础区间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BAA94846-D5F5-1B53-D3FD-5B5572CF80DD}"/>
                </a:ext>
              </a:extLst>
            </p:cNvPr>
            <p:cNvSpPr/>
            <p:nvPr/>
          </p:nvSpPr>
          <p:spPr>
            <a:xfrm>
              <a:off x="331927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7E1A0330-48AC-71D4-9E7E-68610DFBF79A}"/>
                </a:ext>
              </a:extLst>
            </p:cNvPr>
            <p:cNvSpPr/>
            <p:nvPr/>
          </p:nvSpPr>
          <p:spPr>
            <a:xfrm>
              <a:off x="342900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1811F5FB-7B13-1E0D-C5D5-B86366EF2C5F}"/>
                </a:ext>
              </a:extLst>
            </p:cNvPr>
            <p:cNvSpPr/>
            <p:nvPr/>
          </p:nvSpPr>
          <p:spPr>
            <a:xfrm>
              <a:off x="348386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中和水洗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2BC259D-F413-29DD-0000-0244282BC5A0}"/>
                </a:ext>
              </a:extLst>
            </p:cNvPr>
            <p:cNvSpPr/>
            <p:nvPr/>
          </p:nvSpPr>
          <p:spPr>
            <a:xfrm>
              <a:off x="3462167" y="2248620"/>
              <a:ext cx="1237849" cy="28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去除残余碱性与杂质，稳定</a:t>
              </a:r>
              <a:r>
                <a:rPr lang="en-US" sz="1000" b="1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pH </a:t>
              </a:r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与胶液纯净度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80B631E8-8518-C01E-E027-B5A0DBD05A0C}"/>
                </a:ext>
              </a:extLst>
            </p:cNvPr>
            <p:cNvSpPr/>
            <p:nvPr/>
          </p:nvSpPr>
          <p:spPr>
            <a:xfrm>
              <a:off x="478231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D2A44D60-F737-1A7D-F34D-A2E65DF03649}"/>
                </a:ext>
              </a:extLst>
            </p:cNvPr>
            <p:cNvSpPr/>
            <p:nvPr/>
          </p:nvSpPr>
          <p:spPr>
            <a:xfrm>
              <a:off x="489204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0F2F338-BAA2-793A-D24E-A044989B2E67}"/>
                </a:ext>
              </a:extLst>
            </p:cNvPr>
            <p:cNvSpPr/>
            <p:nvPr/>
          </p:nvSpPr>
          <p:spPr>
            <a:xfrm>
              <a:off x="494690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分段提胶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F3832C4C-17E8-0D21-64DA-4BDFE5776D4B}"/>
                </a:ext>
              </a:extLst>
            </p:cNvPr>
            <p:cNvSpPr/>
            <p:nvPr/>
          </p:nvSpPr>
          <p:spPr>
            <a:xfrm>
              <a:off x="4892039" y="2247436"/>
              <a:ext cx="1335025" cy="28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按温度梯度提取不同分子量胶液，实现天然分级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85B7BCC6-57D9-2A69-D7E6-C8158CED4BD0}"/>
                </a:ext>
              </a:extLst>
            </p:cNvPr>
            <p:cNvSpPr/>
            <p:nvPr/>
          </p:nvSpPr>
          <p:spPr>
            <a:xfrm>
              <a:off x="624535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A46644AA-B40B-6CD1-539E-AB8A371FEB4D}"/>
                </a:ext>
              </a:extLst>
            </p:cNvPr>
            <p:cNvSpPr/>
            <p:nvPr/>
          </p:nvSpPr>
          <p:spPr>
            <a:xfrm>
              <a:off x="635508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EAF2FF"/>
            </a:solidFill>
            <a:ln w="12700">
              <a:solidFill>
                <a:srgbClr val="B9D3FF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CAC621F9-66E1-609D-5949-16A7DDC83A56}"/>
                </a:ext>
              </a:extLst>
            </p:cNvPr>
            <p:cNvSpPr/>
            <p:nvPr/>
          </p:nvSpPr>
          <p:spPr>
            <a:xfrm>
              <a:off x="640994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EF853749-70C6-26F5-CA17-5EE02B77E8A3}"/>
                </a:ext>
              </a:extLst>
            </p:cNvPr>
            <p:cNvSpPr/>
            <p:nvPr/>
          </p:nvSpPr>
          <p:spPr>
            <a:xfrm>
              <a:off x="6373368" y="2282952"/>
              <a:ext cx="1316737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按订单目标调配不同批次胶液，影响目标</a:t>
              </a:r>
              <a:r>
                <a:rPr lang="en-US" sz="1000" b="1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Mw </a:t>
              </a:r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与产出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10D13E0C-7CBF-27E4-CC70-A081143F4528}"/>
                </a:ext>
              </a:extLst>
            </p:cNvPr>
            <p:cNvSpPr/>
            <p:nvPr/>
          </p:nvSpPr>
          <p:spPr>
            <a:xfrm>
              <a:off x="770839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D15C6E3-BF83-EBB4-19B1-9BB8FEE13FA5}"/>
                </a:ext>
              </a:extLst>
            </p:cNvPr>
            <p:cNvSpPr/>
            <p:nvPr/>
          </p:nvSpPr>
          <p:spPr>
            <a:xfrm>
              <a:off x="781812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2F0"/>
            </a:solidFill>
            <a:ln w="12700">
              <a:solidFill>
                <a:srgbClr val="F6B4AD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C8D29C9E-6AB0-1ACD-2845-C5427408842C}"/>
                </a:ext>
              </a:extLst>
            </p:cNvPr>
            <p:cNvSpPr/>
            <p:nvPr/>
          </p:nvSpPr>
          <p:spPr>
            <a:xfrm>
              <a:off x="787298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凝胶干燥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33E95BC-B186-8B0C-82CE-FF360BAC7058}"/>
                </a:ext>
              </a:extLst>
            </p:cNvPr>
            <p:cNvSpPr/>
            <p:nvPr/>
          </p:nvSpPr>
          <p:spPr>
            <a:xfrm>
              <a:off x="7872984" y="2313431"/>
              <a:ext cx="1271016" cy="2804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胶液成型并脱水干燥，是质量与产出偏差的集中显现点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60C24EF1-5602-1EB0-02FF-2BA492CCFEB2}"/>
                </a:ext>
              </a:extLst>
            </p:cNvPr>
            <p:cNvSpPr/>
            <p:nvPr/>
          </p:nvSpPr>
          <p:spPr>
            <a:xfrm>
              <a:off x="917143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2518443D-B2C9-C285-8749-006C8B40CF0B}"/>
                </a:ext>
              </a:extLst>
            </p:cNvPr>
            <p:cNvSpPr/>
            <p:nvPr/>
          </p:nvSpPr>
          <p:spPr>
            <a:xfrm>
              <a:off x="928116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46A260AB-E993-7748-34E5-D7051D781FA6}"/>
                </a:ext>
              </a:extLst>
            </p:cNvPr>
            <p:cNvSpPr/>
            <p:nvPr/>
          </p:nvSpPr>
          <p:spPr>
            <a:xfrm>
              <a:off x="933602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粉碎成品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3E55A49E-BF19-A428-5302-5DE6EA3BA5FC}"/>
                </a:ext>
              </a:extLst>
            </p:cNvPr>
            <p:cNvSpPr/>
            <p:nvPr/>
          </p:nvSpPr>
          <p:spPr>
            <a:xfrm>
              <a:off x="9336024" y="2313432"/>
              <a:ext cx="12161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粉碎、筛分、包装入库，完成最终质量检验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Shape 30">
            <a:extLst>
              <a:ext uri="{FF2B5EF4-FFF2-40B4-BE49-F238E27FC236}">
                <a16:creationId xmlns:a16="http://schemas.microsoft.com/office/drawing/2014/main" id="{EA964791-D78D-B1A1-B16C-31135A6F5D8F}"/>
              </a:ext>
            </a:extLst>
          </p:cNvPr>
          <p:cNvSpPr/>
          <p:nvPr/>
        </p:nvSpPr>
        <p:spPr>
          <a:xfrm>
            <a:off x="775589" y="3566346"/>
            <a:ext cx="10595356" cy="1412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Slide Number Placeholder 0">
            <a:extLst>
              <a:ext uri="{FF2B5EF4-FFF2-40B4-BE49-F238E27FC236}">
                <a16:creationId xmlns:a16="http://schemas.microsoft.com/office/drawing/2014/main" id="{1AFD8693-B71D-5BEF-7315-98946B70F7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81E6F6-FB2D-885F-BECC-9BBB1BE3FB76}"/>
              </a:ext>
            </a:extLst>
          </p:cNvPr>
          <p:cNvSpPr txBox="1"/>
          <p:nvPr/>
        </p:nvSpPr>
        <p:spPr>
          <a:xfrm>
            <a:off x="775589" y="1546931"/>
            <a:ext cx="218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</a:t>
            </a:r>
            <a:endParaRPr lang="en-US" sz="1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96A890-FFE7-CFA5-BA55-E679BC5D5C6C}"/>
              </a:ext>
            </a:extLst>
          </p:cNvPr>
          <p:cNvSpPr txBox="1"/>
          <p:nvPr/>
        </p:nvSpPr>
        <p:spPr>
          <a:xfrm>
            <a:off x="775588" y="3822647"/>
            <a:ext cx="218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主要问题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0317622-5DF0-FD51-BA92-D2EAFFA6A502}"/>
              </a:ext>
            </a:extLst>
          </p:cNvPr>
          <p:cNvGrpSpPr/>
          <p:nvPr/>
        </p:nvGrpSpPr>
        <p:grpSpPr>
          <a:xfrm>
            <a:off x="835514" y="4248020"/>
            <a:ext cx="3115120" cy="1683511"/>
            <a:chOff x="835514" y="4248020"/>
            <a:chExt cx="2298842" cy="168351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8575720-52CC-9233-C3A0-F98531059F37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CE9C1F2-7C0B-02F8-C6A7-B49E5197E76A}"/>
                </a:ext>
              </a:extLst>
            </p:cNvPr>
            <p:cNvSpPr txBox="1"/>
            <p:nvPr/>
          </p:nvSpPr>
          <p:spPr>
            <a:xfrm>
              <a:off x="1045914" y="4398100"/>
              <a:ext cx="20884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关键参数判断依赖老师傅经验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8A1CF5F-F2EA-AFEB-21F6-DBCFACF1510B}"/>
                </a:ext>
              </a:extLst>
            </p:cNvPr>
            <p:cNvSpPr txBox="1"/>
            <p:nvPr/>
          </p:nvSpPr>
          <p:spPr>
            <a:xfrm>
              <a:off x="913846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浸灰时间、提胶道次、复配比例、凝胶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干燥状态等关键判断缺少统一计算口径，不同人员、不同批次之间存在经验差异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6929CE-AA02-D72C-5C1D-8144526C6BC7}"/>
              </a:ext>
            </a:extLst>
          </p:cNvPr>
          <p:cNvGrpSpPr/>
          <p:nvPr/>
        </p:nvGrpSpPr>
        <p:grpSpPr>
          <a:xfrm>
            <a:off x="4591258" y="4248020"/>
            <a:ext cx="3115120" cy="1683511"/>
            <a:chOff x="835514" y="4248020"/>
            <a:chExt cx="2298842" cy="168351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9AFA2DE-1BF5-C696-0267-B68B042B61CB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2E02E2-CFAB-1970-8EF1-FA0A09C961EB}"/>
                </a:ext>
              </a:extLst>
            </p:cNvPr>
            <p:cNvSpPr txBox="1"/>
            <p:nvPr/>
          </p:nvSpPr>
          <p:spPr>
            <a:xfrm>
              <a:off x="1045914" y="4398100"/>
              <a:ext cx="20884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凝胶阶段是偏差集中暴露点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9DF2080-DF07-07EB-1AA8-A859DA2EE07D}"/>
                </a:ext>
              </a:extLst>
            </p:cNvPr>
            <p:cNvSpPr txBox="1"/>
            <p:nvPr/>
          </p:nvSpPr>
          <p:spPr>
            <a:xfrm>
              <a:off x="921552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当前最突出的痛点表现为凝胶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干燥后的分子量、质量和实际产出与理论计算存在偏差，但偏差来源可能来自前序浸灰、提胶、浓缩复配等多个环节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D85E04B-7E66-A1E0-5E71-A9039DAE2561}"/>
              </a:ext>
            </a:extLst>
          </p:cNvPr>
          <p:cNvGrpSpPr/>
          <p:nvPr/>
        </p:nvGrpSpPr>
        <p:grpSpPr>
          <a:xfrm>
            <a:off x="8240593" y="4248020"/>
            <a:ext cx="3115120" cy="1683511"/>
            <a:chOff x="835514" y="4248020"/>
            <a:chExt cx="2298842" cy="1683511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F64E1B2-9798-0EA6-4B0F-0DD7F1FE7B77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EA0D5DF-AA7D-1D3C-4B6D-412403D5B849}"/>
                </a:ext>
              </a:extLst>
            </p:cNvPr>
            <p:cNvSpPr txBox="1"/>
            <p:nvPr/>
          </p:nvSpPr>
          <p:spPr>
            <a:xfrm>
              <a:off x="914040" y="4398100"/>
              <a:ext cx="22203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质量检测与生产调整尚未形成闭环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7DBD583-9596-E460-0F6E-05C9A8ABFE4D}"/>
                </a:ext>
              </a:extLst>
            </p:cNvPr>
            <p:cNvSpPr txBox="1"/>
            <p:nvPr/>
          </p:nvSpPr>
          <p:spPr>
            <a:xfrm>
              <a:off x="921552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GPC、黏度、PDI、产出、入库检验等数据更多用于事后判断，尚未反向校正复配计算和工艺参数，导致经验难以沉淀、模型难以持续优化。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5E71C98D-5362-D107-3C28-AF31902339AE}"/>
              </a:ext>
            </a:extLst>
          </p:cNvPr>
          <p:cNvSpPr/>
          <p:nvPr/>
        </p:nvSpPr>
        <p:spPr>
          <a:xfrm>
            <a:off x="4591258" y="3566346"/>
            <a:ext cx="3862670" cy="17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80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DE81DE1-53D2-DD84-DA6C-14EF6F9E8C3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5761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GB" sz="2200" b="1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</a:rPr>
              <a:t>部分关键算法与参数</a:t>
            </a:r>
            <a:endParaRPr lang="en-GB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918208"/>
            <a:ext cx="233172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/>
          </a:p>
        </p:txBody>
      </p:sp>
      <p:sp>
        <p:nvSpPr>
          <p:cNvPr id="6" name="Text 4"/>
          <p:cNvSpPr/>
          <p:nvPr/>
        </p:nvSpPr>
        <p:spPr>
          <a:xfrm>
            <a:off x="850392" y="20645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GPC 标准核算</a:t>
            </a:r>
            <a:endParaRPr lang="en-GB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430272"/>
            <a:ext cx="20025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Mn = ΣNiMi / ΣNi</a:t>
            </a: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Mw = ΣNiMi² / ΣNiMi</a:t>
            </a: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Mz = ΣNiMi³ / ΣNiMi²</a:t>
            </a: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PDI = Mw / Mn</a:t>
            </a:r>
            <a:endParaRPr lang="en-GB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701288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39116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05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自动计算 Mn / Mw / Mz / PDI，统一质检核算口径</a:t>
            </a:r>
            <a:endParaRPr lang="en-GB" sz="1050" dirty="0"/>
          </a:p>
        </p:txBody>
      </p:sp>
      <p:sp>
        <p:nvSpPr>
          <p:cNvPr id="10" name="Shape 8"/>
          <p:cNvSpPr/>
          <p:nvPr/>
        </p:nvSpPr>
        <p:spPr>
          <a:xfrm>
            <a:off x="3611880" y="1918208"/>
            <a:ext cx="233172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/>
          </a:p>
        </p:txBody>
      </p:sp>
      <p:sp>
        <p:nvSpPr>
          <p:cNvPr id="11" name="Text 9"/>
          <p:cNvSpPr/>
          <p:nvPr/>
        </p:nvSpPr>
        <p:spPr>
          <a:xfrm>
            <a:off x="3776472" y="20645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小分子占比</a:t>
            </a:r>
            <a:endParaRPr lang="en-GB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2430272"/>
            <a:ext cx="20025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&lt;10000Da 峰面积</a:t>
            </a: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—————————— ×100%</a:t>
            </a: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全部峰面积</a:t>
            </a:r>
            <a:endParaRPr lang="en-GB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3701288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/>
          </a:p>
        </p:txBody>
      </p:sp>
      <p:sp>
        <p:nvSpPr>
          <p:cNvPr id="14" name="Text 12"/>
          <p:cNvSpPr/>
          <p:nvPr/>
        </p:nvSpPr>
        <p:spPr>
          <a:xfrm>
            <a:off x="3794760" y="39116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05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自动判断低分子产品是否满足目标区间与客户要求</a:t>
            </a:r>
            <a:endParaRPr lang="en-GB" sz="1050" dirty="0"/>
          </a:p>
        </p:txBody>
      </p:sp>
      <p:sp>
        <p:nvSpPr>
          <p:cNvPr id="15" name="Shape 13"/>
          <p:cNvSpPr/>
          <p:nvPr/>
        </p:nvSpPr>
        <p:spPr>
          <a:xfrm>
            <a:off x="6537960" y="1918208"/>
            <a:ext cx="233172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/>
          </a:p>
        </p:txBody>
      </p:sp>
      <p:sp>
        <p:nvSpPr>
          <p:cNvPr id="16" name="Text 14"/>
          <p:cNvSpPr/>
          <p:nvPr/>
        </p:nvSpPr>
        <p:spPr>
          <a:xfrm>
            <a:off x="6702552" y="20645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黏度快速估算</a:t>
            </a:r>
            <a:endParaRPr lang="en-GB" sz="1600" dirty="0"/>
          </a:p>
        </p:txBody>
      </p:sp>
      <p:sp>
        <p:nvSpPr>
          <p:cNvPr id="17" name="Text 15"/>
          <p:cNvSpPr/>
          <p:nvPr/>
        </p:nvSpPr>
        <p:spPr>
          <a:xfrm>
            <a:off x="6702552" y="2430272"/>
            <a:ext cx="20025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[η] = K · Mwᵃ</a:t>
            </a: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= 1.7×10⁻⁵</a:t>
            </a: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= 0.86</a:t>
            </a:r>
            <a:endParaRPr lang="en-GB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3701288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/>
          </a:p>
        </p:txBody>
      </p:sp>
      <p:sp>
        <p:nvSpPr>
          <p:cNvPr id="19" name="Text 17"/>
          <p:cNvSpPr/>
          <p:nvPr/>
        </p:nvSpPr>
        <p:spPr>
          <a:xfrm>
            <a:off x="6720840" y="39116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05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车间中控快速估 Mw，再用 GPC 结果做终检校准</a:t>
            </a:r>
            <a:endParaRPr lang="en-GB" sz="1050" dirty="0"/>
          </a:p>
        </p:txBody>
      </p:sp>
      <p:sp>
        <p:nvSpPr>
          <p:cNvPr id="20" name="Shape 18"/>
          <p:cNvSpPr/>
          <p:nvPr/>
        </p:nvSpPr>
        <p:spPr>
          <a:xfrm>
            <a:off x="9464040" y="1918208"/>
            <a:ext cx="233172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/>
          </a:p>
        </p:txBody>
      </p:sp>
      <p:sp>
        <p:nvSpPr>
          <p:cNvPr id="21" name="Text 19"/>
          <p:cNvSpPr/>
          <p:nvPr/>
        </p:nvSpPr>
        <p:spPr>
          <a:xfrm>
            <a:off x="9628632" y="20645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复配分子量</a:t>
            </a:r>
            <a:endParaRPr lang="en-GB" sz="1600" dirty="0"/>
          </a:p>
        </p:txBody>
      </p:sp>
      <p:sp>
        <p:nvSpPr>
          <p:cNvPr id="22" name="Text 20"/>
          <p:cNvSpPr/>
          <p:nvPr/>
        </p:nvSpPr>
        <p:spPr>
          <a:xfrm>
            <a:off x="9628632" y="2430272"/>
            <a:ext cx="20025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Mw混 = Σ(Wi · Mwi) / ΣWi</a:t>
            </a:r>
            <a:endParaRPr lang="en-GB" sz="1600"/>
          </a:p>
          <a:p>
            <a:pPr marL="0" indent="0">
              <a:buNone/>
            </a:pP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建议升级：</a:t>
            </a:r>
            <a:endParaRPr lang="en-GB" sz="1600"/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Wi有效 = Wi × 固含量i</a:t>
            </a:r>
            <a:endParaRPr lang="en-GB" sz="1600" dirty="0"/>
          </a:p>
        </p:txBody>
      </p:sp>
      <p:sp>
        <p:nvSpPr>
          <p:cNvPr id="23" name="Shape 21"/>
          <p:cNvSpPr/>
          <p:nvPr/>
        </p:nvSpPr>
        <p:spPr>
          <a:xfrm>
            <a:off x="9692640" y="3701288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/>
          </a:p>
        </p:txBody>
      </p:sp>
      <p:sp>
        <p:nvSpPr>
          <p:cNvPr id="24" name="Text 22"/>
          <p:cNvSpPr/>
          <p:nvPr/>
        </p:nvSpPr>
        <p:spPr>
          <a:xfrm>
            <a:off x="9646920" y="39116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05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推荐复配比例，并用干基重量修正现场偏差</a:t>
            </a:r>
            <a:endParaRPr lang="en-GB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GB" b="0" smtClean="0"/>
              <a:pPr algn="l"/>
              <a:t>20</a:t>
            </a:fld>
            <a:endParaRPr lang="en-GB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算法闭环设计：标准公式 + 现场变量 + 历史校准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先用公式保证口径统一，再用现场数据解释“为什么公式算不准”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063240" cy="356616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5636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标准公式层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929384"/>
            <a:ext cx="27340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Mn / Mw / Mz / PDI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小分子占比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Mark-Houwink 黏度估算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复配 Mw 加权计算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063240" cy="356616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36592" y="15636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现场校正层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6592" y="1929384"/>
            <a:ext cx="27340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有效干基重量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固含量 / 浓缩浓度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 / 干燥损耗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/ 黏度 / 温度 / 道次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58200" y="1417320"/>
            <a:ext cx="3063240" cy="356616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22792" y="15636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校准层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22792" y="1929384"/>
            <a:ext cx="27340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理论值 vs 实测值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历史批次偏差学习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质量风险预测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复配与参数推荐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3182112"/>
            <a:ext cx="50292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0" y="3182112"/>
            <a:ext cx="50292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17320" y="5486400"/>
            <a:ext cx="9372600" cy="502920"/>
          </a:xfrm>
          <a:prstGeom prst="roundRect">
            <a:avLst>
              <a:gd name="adj" fmla="val 2181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00200" y="5641848"/>
            <a:ext cx="9006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最终输出：更接近实际生产的 Mw 预测、复配比例、凝胶/干燥产出、质量风险与参数调整建议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9F3FCA-ED05-F612-A6E4-5B68E72B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598F59-BD2F-557E-668A-9DE96BA68BDE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 MVP：凝胶/复配智能计算与产出预测</a:t>
            </a: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160CB2-9784-14E5-988C-36ACE47FBFBF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范围建议从“复配”延伸到“凝胶干燥结果”，避免只算分子量不算产出</a:t>
            </a:r>
            <a:endParaRPr lang="en-US" sz="88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3734C2-AC7B-2EA2-94F6-E999562570E1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21F6B6-5C26-3397-8303-EC4204D2E5B2}"/>
              </a:ext>
            </a:extLst>
          </p:cNvPr>
          <p:cNvSpPr/>
          <p:nvPr/>
        </p:nvSpPr>
        <p:spPr>
          <a:xfrm>
            <a:off x="658368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MVP 不应只是分子量计算器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BBFD606-1B24-7DF7-FBD7-4D8863EC2069}"/>
              </a:ext>
            </a:extLst>
          </p:cNvPr>
          <p:cNvSpPr/>
          <p:nvPr/>
        </p:nvSpPr>
        <p:spPr>
          <a:xfrm>
            <a:off x="685800" y="171907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客户现在的偏差来自两个维度：质量指标偏差与实际产出偏差。前者需要 Mw / PDI / 黏度 / 冻力闭环，后者需要固含量、水分、损耗率、干燥参数闭环。</a:t>
            </a:r>
            <a:endParaRPr lang="en-US" sz="108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DC665E4-C1A9-85F2-ABD4-B96D1C373A89}"/>
              </a:ext>
            </a:extLst>
          </p:cNvPr>
          <p:cNvSpPr/>
          <p:nvPr/>
        </p:nvSpPr>
        <p:spPr>
          <a:xfrm>
            <a:off x="5742432" y="1298448"/>
            <a:ext cx="0" cy="4526280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229161-1F6C-70BB-8981-D84D957B82CB}"/>
              </a:ext>
            </a:extLst>
          </p:cNvPr>
          <p:cNvSpPr/>
          <p:nvPr/>
        </p:nvSpPr>
        <p:spPr>
          <a:xfrm>
            <a:off x="6227065" y="17007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C923CA-48D4-E6E8-EF44-8FCF04E6536B}"/>
              </a:ext>
            </a:extLst>
          </p:cNvPr>
          <p:cNvSpPr/>
          <p:nvPr/>
        </p:nvSpPr>
        <p:spPr>
          <a:xfrm>
            <a:off x="6684265" y="16184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1B80A9-2D2A-69EE-F1CB-8F67FE8AD47E}"/>
              </a:ext>
            </a:extLst>
          </p:cNvPr>
          <p:cNvSpPr/>
          <p:nvPr/>
        </p:nvSpPr>
        <p:spPr>
          <a:xfrm>
            <a:off x="6684265" y="1965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批次胶液重量、道次、固含量、黏度、pH、GPC 分子量、提胶/浓缩/干燥参数</a:t>
            </a:r>
            <a:endParaRPr lang="en-US" sz="94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85D45E3-DE36-2853-D934-35A4A21C6ED9}"/>
              </a:ext>
            </a:extLst>
          </p:cNvPr>
          <p:cNvSpPr/>
          <p:nvPr/>
        </p:nvSpPr>
        <p:spPr>
          <a:xfrm>
            <a:off x="6384006" y="2240280"/>
            <a:ext cx="0" cy="329184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D4AA1C4-98C4-6904-8140-6EAE925D803A}"/>
              </a:ext>
            </a:extLst>
          </p:cNvPr>
          <p:cNvSpPr/>
          <p:nvPr/>
        </p:nvSpPr>
        <p:spPr>
          <a:xfrm>
            <a:off x="6227065" y="27249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0898DAC-03C6-2A58-7666-8D793E8E1EBB}"/>
              </a:ext>
            </a:extLst>
          </p:cNvPr>
          <p:cNvSpPr/>
          <p:nvPr/>
        </p:nvSpPr>
        <p:spPr>
          <a:xfrm>
            <a:off x="6684265" y="2642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778B4E-02F7-1ADA-D791-7B3B4F052A7C}"/>
              </a:ext>
            </a:extLst>
          </p:cNvPr>
          <p:cNvSpPr/>
          <p:nvPr/>
        </p:nvSpPr>
        <p:spPr>
          <a:xfrm>
            <a:off x="6684265" y="2990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GPC 标准核算、黏度估算、复配加权、干基重量校正、理论产出预测</a:t>
            </a:r>
            <a:endParaRPr lang="en-US" sz="94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A937CD5-EEF1-ED30-AC44-C08DEF4989EA}"/>
              </a:ext>
            </a:extLst>
          </p:cNvPr>
          <p:cNvSpPr/>
          <p:nvPr/>
        </p:nvSpPr>
        <p:spPr>
          <a:xfrm>
            <a:off x="6382513" y="3264408"/>
            <a:ext cx="0" cy="329184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83DC4A7-287B-D46D-CAF9-37F0392B0A17}"/>
              </a:ext>
            </a:extLst>
          </p:cNvPr>
          <p:cNvSpPr/>
          <p:nvPr/>
        </p:nvSpPr>
        <p:spPr>
          <a:xfrm>
            <a:off x="6227065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1E925CC-1163-8AC6-331A-77CB7D5532E2}"/>
              </a:ext>
            </a:extLst>
          </p:cNvPr>
          <p:cNvSpPr/>
          <p:nvPr/>
        </p:nvSpPr>
        <p:spPr>
          <a:xfrm>
            <a:off x="6684265" y="36667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校正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DA6976E-F4FD-B4CE-E1ED-AF3159E78D27}"/>
              </a:ext>
            </a:extLst>
          </p:cNvPr>
          <p:cNvSpPr/>
          <p:nvPr/>
        </p:nvSpPr>
        <p:spPr>
          <a:xfrm>
            <a:off x="6684265" y="40142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用历史批次对理论 Mw、理论产出与实际检测/入库结果进行偏差校准</a:t>
            </a:r>
            <a:endParaRPr lang="en-US" sz="94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DAE38D1-F6EC-D38E-1776-2382564AEFD8}"/>
              </a:ext>
            </a:extLst>
          </p:cNvPr>
          <p:cNvSpPr/>
          <p:nvPr/>
        </p:nvSpPr>
        <p:spPr>
          <a:xfrm>
            <a:off x="6382513" y="4288536"/>
            <a:ext cx="0" cy="329184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48451C3-CD45-8584-63C6-D947BA1B04C8}"/>
              </a:ext>
            </a:extLst>
          </p:cNvPr>
          <p:cNvSpPr/>
          <p:nvPr/>
        </p:nvSpPr>
        <p:spPr>
          <a:xfrm>
            <a:off x="6227065" y="47731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DA80BE0-FFCC-5608-F078-AB740CEC7912}"/>
              </a:ext>
            </a:extLst>
          </p:cNvPr>
          <p:cNvSpPr/>
          <p:nvPr/>
        </p:nvSpPr>
        <p:spPr>
          <a:xfrm>
            <a:off x="6684265" y="4690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A89311F-81FC-3782-3E9C-80CD29C4D5A2}"/>
              </a:ext>
            </a:extLst>
          </p:cNvPr>
          <p:cNvSpPr/>
          <p:nvPr/>
        </p:nvSpPr>
        <p:spPr>
          <a:xfrm>
            <a:off x="6684265" y="50383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复配比例建议、目标分子量预测、凝胶/干燥产出预测、异常风险提示</a:t>
            </a:r>
            <a:endParaRPr lang="en-US" sz="94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65C0D9D-E953-3264-D879-F671DED95008}"/>
              </a:ext>
            </a:extLst>
          </p:cNvPr>
          <p:cNvSpPr/>
          <p:nvPr/>
        </p:nvSpPr>
        <p:spPr>
          <a:xfrm>
            <a:off x="685800" y="297180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143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717C4D3-998A-4C5A-E8B4-84F1C07D0ED9}"/>
              </a:ext>
            </a:extLst>
          </p:cNvPr>
          <p:cNvSpPr/>
          <p:nvPr/>
        </p:nvSpPr>
        <p:spPr>
          <a:xfrm>
            <a:off x="850392" y="311810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核心修正点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BFD0E95-A37C-AA0F-BF57-90245695ABAE}"/>
              </a:ext>
            </a:extLst>
          </p:cNvPr>
          <p:cNvSpPr/>
          <p:nvPr/>
        </p:nvSpPr>
        <p:spPr>
          <a:xfrm>
            <a:off x="850392" y="3483864"/>
            <a:ext cx="42428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如果不同胶液浓度不一致，只用湿胶液重量 W 计算 Mw混，容易导致分子量与产出双重偏差。建议改为按“有效干基重量”参与复配计算。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50AB704-11AD-775C-0433-CF704D9C7E83}"/>
              </a:ext>
            </a:extLst>
          </p:cNvPr>
          <p:cNvSpPr/>
          <p:nvPr/>
        </p:nvSpPr>
        <p:spPr>
          <a:xfrm>
            <a:off x="685800" y="4224528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EAF7F3"/>
          </a:solidFill>
          <a:ln w="1143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AEB91C6-DC95-6053-E785-FE64E425281A}"/>
              </a:ext>
            </a:extLst>
          </p:cNvPr>
          <p:cNvSpPr/>
          <p:nvPr/>
        </p:nvSpPr>
        <p:spPr>
          <a:xfrm>
            <a:off x="850392" y="437083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MVP 目标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A170475-CFEA-40AD-2E96-1284A9E561F2}"/>
              </a:ext>
            </a:extLst>
          </p:cNvPr>
          <p:cNvSpPr/>
          <p:nvPr/>
        </p:nvSpPr>
        <p:spPr>
          <a:xfrm>
            <a:off x="850392" y="4736592"/>
            <a:ext cx="42428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形成一套能被现场验证的“输入数据 → 自动计算 → 推荐复配 → 预测结果 → 质检校准”闭环。</a:t>
            </a:r>
            <a:endParaRPr lang="en-US" sz="102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208D47F-A134-7529-0D2D-A8CDC97CED6A}"/>
              </a:ext>
            </a:extLst>
          </p:cNvPr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/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9158F613-C53E-DC1E-1F14-2063A95AF9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78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项目实施路径与交付物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以 4 个阶段推进：先诊断、再 MVP、再校准、最后扩展全链路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581912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1F6EA8"/>
          </a:solidFill>
          <a:ln w="12700">
            <a:solidFill>
              <a:srgbClr val="1F6EA8"/>
            </a:solidFill>
            <a:prstDash val="solid"/>
          </a:ln>
        </p:spPr>
        <p:txBody>
          <a:bodyPr/>
          <a:lstStyle/>
          <a:p>
            <a:endParaRPr 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阶段一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2306955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工艺与数据诊断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2913126"/>
            <a:ext cx="1996440" cy="1318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梳理从浸灰、提胶、浓缩、复配、凝胶、干燥到成品检验的完整流程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识别哪些参数目前靠人工判断，哪些参数已经有记录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明确分子量计算、复配比例、产出预测中哪些公式已存在，哪些需要校正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建立数据字典和批次追溯逻辑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4451604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81325" y="3725037"/>
            <a:ext cx="421005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20440" y="1581912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03320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03320" y="1920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阶段二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03320" y="2313431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凝胶/复配算法 MVP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03320" y="2953511"/>
            <a:ext cx="1874520" cy="13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固化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GPC、黏度法、复配分子量计算公式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建立干基重量、固含量、水分、损耗率的产出预测逻辑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建立批次胶液复配推荐工具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输出目标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Mw、目标产出、复配比例、风险提示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8" name="Shape 16"/>
          <p:cNvSpPr/>
          <p:nvPr/>
        </p:nvSpPr>
        <p:spPr>
          <a:xfrm>
            <a:off x="3703320" y="4451604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78830" y="3737607"/>
            <a:ext cx="368046" cy="1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46520" y="1581912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29400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29400" y="1920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阶段三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69024" y="2335531"/>
            <a:ext cx="199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质量偏差校正AI</a:t>
            </a: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推荐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52260" y="2875025"/>
            <a:ext cx="1874520" cy="1490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用历史批次数据训练偏差校正模型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对理论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Mw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与实际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GPC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检测结果进行偏差分析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对理论产出与实际成品入库量进行偏差分析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输出复配方案推荐、异常预警、参数调整建议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29400" y="4451604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819769" y="3725035"/>
            <a:ext cx="413004" cy="1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372600" y="1581912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555480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555480" y="1920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阶段四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555480" y="2328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全链路 AI 化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559240" y="3664456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F88EFB82-42A6-4F78-E92C-9F88F0F95C0E}"/>
              </a:ext>
            </a:extLst>
          </p:cNvPr>
          <p:cNvSpPr/>
          <p:nvPr/>
        </p:nvSpPr>
        <p:spPr>
          <a:xfrm>
            <a:off x="762000" y="4634485"/>
            <a:ext cx="1996440" cy="92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  <a:endParaRPr lang="en-US" altLang="zh-CN" sz="12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现状流程图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分子量与产出影响因子清单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数据字段清单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当前计算偏差诊断报告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8748D7E4-2C7F-656F-AB52-5A09A20DBFDD}"/>
              </a:ext>
            </a:extLst>
          </p:cNvPr>
          <p:cNvSpPr/>
          <p:nvPr/>
        </p:nvSpPr>
        <p:spPr>
          <a:xfrm>
            <a:off x="3703320" y="4634485"/>
            <a:ext cx="1996440" cy="92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分子量算法模型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复配比例推荐模型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凝胶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干燥产出预测模型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MVP</a:t>
            </a:r>
            <a:endParaRPr lang="zh-CN" alt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现场试算报告。 </a:t>
            </a: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6529923A-2973-C730-020E-CEC175924D24}"/>
              </a:ext>
            </a:extLst>
          </p:cNvPr>
          <p:cNvSpPr/>
          <p:nvPr/>
        </p:nvSpPr>
        <p:spPr>
          <a:xfrm>
            <a:off x="6652260" y="4634485"/>
            <a:ext cx="1996440" cy="92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分子量偏差校正模型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产出偏差预测模型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质量风险预警规则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工艺参数推荐逻辑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试运行效果评估报告 </a:t>
            </a: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5FDE3C9D-70F3-B1FD-93F4-38687F20AB27}"/>
              </a:ext>
            </a:extLst>
          </p:cNvPr>
          <p:cNvSpPr/>
          <p:nvPr/>
        </p:nvSpPr>
        <p:spPr>
          <a:xfrm>
            <a:off x="9559240" y="2736343"/>
            <a:ext cx="1996440" cy="92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纵向深化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深化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驱动的业务流程，实现能柔性调整的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订单目标驱动的生产参数优化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69934018-546E-455B-D016-F03504BBB6AC}"/>
              </a:ext>
            </a:extLst>
          </p:cNvPr>
          <p:cNvSpPr/>
          <p:nvPr/>
        </p:nvSpPr>
        <p:spPr>
          <a:xfrm>
            <a:off x="9544000" y="3806952"/>
            <a:ext cx="1996440" cy="192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横向拓展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浸灰阶段：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浸灰时间、温度、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 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与分子量趋势预测</a:t>
            </a:r>
            <a:endParaRPr lang="en-US" altLang="zh-CN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提胶阶段：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不同道次胶液分子量分级与质量预测</a:t>
            </a:r>
            <a:endParaRPr lang="en-US" altLang="zh-CN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浓缩阶段：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浓度、黏度、灭菌条件对后续凝胶状态的影响预测</a:t>
            </a:r>
            <a:endParaRPr lang="en-US" altLang="zh-CN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干燥阶段：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水分、干燥时间、能耗、成品质量预测</a:t>
            </a:r>
            <a:endParaRPr lang="en-US" altLang="zh-CN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质检阶段：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GPC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、黏度、冻力、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PDI 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数据自动核算与异常判断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数据与系统架构建议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一期可以轻量化落地，重点是打通批次数据、公式计算与结果校准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377440" cy="4389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5179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数据输入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883664"/>
            <a:ext cx="204825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批次与道次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胶液重量 / 固含量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GPC 分子量数据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黏度 / pH / 温度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浓缩 / 凝胶 / 干燥参数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成品产出与质检结果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892040" y="1371600"/>
            <a:ext cx="2377440" cy="4389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56632" y="15179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算法引擎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56632" y="1883664"/>
            <a:ext cx="204825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GPC 标准核算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黏度法估算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复配加权计算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干基重量校正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产出预测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偏差校准模型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9144000" y="1371600"/>
            <a:ext cx="2377440" cy="4389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08592" y="15179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业务输出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08592" y="1883664"/>
            <a:ext cx="204825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目标 Mw 预测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推荐复配比例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预计成品产出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异常风险提示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参数调整建议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质检追溯报告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246120" y="3566160"/>
            <a:ext cx="132588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0" y="3566160"/>
            <a:ext cx="132588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15179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一期工具形态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401568" y="188366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01568" y="20299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 MVP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653528" y="188366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53528" y="20299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 工具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520440" y="58978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系统不建议一开始做大平台：先以轻量 MVP 跑通计算与校准闭环，再根据试运行效果决定是否接入 MES / LIMS / DCS 等系统。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客户参与与项目分工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项目成败关键不只是建模型，而是拿到可追溯、可校验的批次数据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0835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客户生产/工艺团队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73736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提供工艺参数、复配经验、道次规则、异常案例；参与试算和结果复核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542032"/>
            <a:ext cx="10835640" cy="804672"/>
          </a:xfrm>
          <a:prstGeom prst="roundRect">
            <a:avLst>
              <a:gd name="adj" fmla="val 1136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7706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客户质检团队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277063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 GPC、黏度、冻力、水分等检测数据；确认指标口径和判定标准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575304"/>
            <a:ext cx="10835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80390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客户信息/设备团队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38039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协助导出历史批次、仪表数据；评估后续系统接口与权限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4608576"/>
            <a:ext cx="10835640" cy="804672"/>
          </a:xfrm>
          <a:prstGeom prst="roundRect">
            <a:avLst>
              <a:gd name="adj" fmla="val 1136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8371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EFESO 项目团队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483717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流程诊断、算法建模、MVP 开发、偏差分析、试运行评估和全链路蓝图规划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5715000"/>
            <a:ext cx="10835640" cy="438912"/>
          </a:xfrm>
          <a:prstGeom prst="roundRect">
            <a:avLst>
              <a:gd name="adj" fmla="val 25000"/>
            </a:avLst>
          </a:prstGeom>
          <a:solidFill>
            <a:srgbClr val="EAF7F3"/>
          </a:solidFill>
          <a:ln w="1143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5861304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建议前置确认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0392" y="6227064"/>
            <a:ext cx="10506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至少准备 20–50 个历史批次的数据样本，用于对比“理论计算值—实际 GPC 检测值—实际成品产出”的偏差。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未来拓展：从凝胶试点到全链路 AI 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先横向复制到更多工段，再纵向深化为订单目标驱动的智能决策系统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横向复制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浸灰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时间/温度/pH → Mw 趋势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606040" y="2359152"/>
            <a:ext cx="29260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7180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3639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3639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道次/温度 → 分子量分级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846320" y="2359152"/>
            <a:ext cx="29260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1208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7667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浓缩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7667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浓度/黏度 → 复配基础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7086600" y="2359152"/>
            <a:ext cx="29260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5236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1695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凝胶干燥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1695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水分/损耗 → 产出预测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9326880" y="2359152"/>
            <a:ext cx="29260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9264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5723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5723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GPC/黏度/冻力 → 质量闭环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85800" y="3337560"/>
            <a:ext cx="10835640" cy="0"/>
          </a:xfrm>
          <a:prstGeom prst="line">
            <a:avLst/>
          </a:prstGeom>
          <a:noFill/>
          <a:ln w="1397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纵向深化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0120" y="4315968"/>
            <a:ext cx="2176272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24712" y="4480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自动计算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4773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公式自动化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72968" y="4800600"/>
            <a:ext cx="347472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21608" y="4315968"/>
            <a:ext cx="2176272" cy="960120"/>
          </a:xfrm>
          <a:prstGeom prst="roundRect">
            <a:avLst>
              <a:gd name="adj" fmla="val 9524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86200" y="4480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15968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方案推荐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15968" y="4773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复配比例/参数建议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34456" y="4800600"/>
            <a:ext cx="347472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83096" y="4315968"/>
            <a:ext cx="2176272" cy="960120"/>
          </a:xfrm>
          <a:prstGeom prst="roundRect">
            <a:avLst>
              <a:gd name="adj" fmla="val 9524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47688" y="4480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77456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风险预警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77456" y="4773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质量与产出偏差预测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695944" y="4800600"/>
            <a:ext cx="347472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244584" y="4315968"/>
            <a:ext cx="2176272" cy="960120"/>
          </a:xfrm>
          <a:prstGeom prst="roundRect">
            <a:avLst>
              <a:gd name="adj" fmla="val 9524"/>
            </a:avLst>
          </a:prstGeom>
          <a:solidFill>
            <a:srgbClr val="FFF2F0"/>
          </a:solidFill>
          <a:ln w="12700">
            <a:solidFill>
              <a:srgbClr val="FFF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409176" y="4480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4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838944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智能优化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38944" y="4773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订单目标驱动生产参数优化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建议在 Proposal 中强调的三句话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帮助客户理解：一期不是做大平台，而是把最关键的计算闭环跑通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从经验判断到标准算法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将老师傅经验、技术手册公式和质检计算逻辑沉淀为统一算法，减少人工口径不一致。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2450592"/>
            <a:ext cx="9326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62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从单点分子量到质量与产出闭环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3375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不只计算道尔顿分子量，还要把固含量、水分、损耗、GPC 结果与成品产出打通。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3867912"/>
            <a:ext cx="9326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4074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从凝胶试点到全链路 AI 化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47548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先在凝胶/复配阶段验证价值，再扩展到浸灰、提胶、浓缩、干燥和质检全流程。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5559552"/>
            <a:ext cx="9966960" cy="512064"/>
          </a:xfrm>
          <a:prstGeom prst="roundRect">
            <a:avLst>
              <a:gd name="adj" fmla="val 21429"/>
            </a:avLst>
          </a:prstGeom>
          <a:solidFill>
            <a:srgbClr val="0B2F4E"/>
          </a:solidFill>
          <a:ln w="12700">
            <a:solidFill>
              <a:srgbClr val="0B2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571500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最终项目价值：把 PDF 中的公式从“技术文件”变成“现场工具”，再通过历史数据校准成为“生产决策能力”。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1996</TotalTime>
  <Words>3355</Words>
  <Application>Microsoft Macintosh PowerPoint</Application>
  <PresentationFormat>宽屏</PresentationFormat>
  <Paragraphs>685</Paragraphs>
  <Slides>27</Slides>
  <Notes>19</Notes>
  <HiddenSlides>10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微软雅黑</vt:lpstr>
      <vt:lpstr>Meiryo</vt:lpstr>
      <vt:lpstr>Noto Sans CJK SC</vt:lpstr>
      <vt:lpstr>Arial</vt:lpstr>
      <vt:lpstr>Cambria Math</vt:lpstr>
      <vt:lpstr>Courier New</vt:lpstr>
      <vt:lpstr>Office Theme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EFESO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明胶生产分子量与产出智能控制项目建议书</dc:title>
  <dc:subject>添正生物明胶生产分子量与产出智能控制项目建议书</dc:subject>
  <dc:creator>OpenAI</dc:creator>
  <cp:lastModifiedBy>奕慷 李</cp:lastModifiedBy>
  <cp:revision>7</cp:revision>
  <dcterms:created xsi:type="dcterms:W3CDTF">2026-06-22T11:36:33Z</dcterms:created>
  <dcterms:modified xsi:type="dcterms:W3CDTF">2026-06-24T16:11:07Z</dcterms:modified>
</cp:coreProperties>
</file>