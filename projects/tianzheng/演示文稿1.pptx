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73"/>
  </p:normalViewPr>
  <p:slideViewPr>
    <p:cSldViewPr snapToGrid="0">
      <p:cViewPr varScale="1">
        <p:scale>
          <a:sx n="115" d="100"/>
          <a:sy n="115" d="100"/>
        </p:scale>
        <p:origin x="6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6CBFA-4912-15DD-B364-D53E2C238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E9B5F-D2BE-E150-6935-C5BEF4A71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C7B6F2-CB3B-3587-A0B0-464A482B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65882-5F7F-7F47-B7F5-12C2EA0F0497}" type="datetimeFigureOut">
              <a:rPr kumimoji="1" lang="zh-CN" altLang="en-US" smtClean="0"/>
              <a:t>2026/6/27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123838-171E-9269-6493-0FE70F222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9111EC-CB24-38F1-89E1-B8372B2B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58E0-3CD3-9840-B2AE-B7FD83F1DE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381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37FE3-212B-6F86-1BC9-9CE23F3F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850979-AF98-5DBC-73A7-74A75D5C6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D72F4F-C277-1397-0565-DC7CCDB26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65882-5F7F-7F47-B7F5-12C2EA0F0497}" type="datetimeFigureOut">
              <a:rPr kumimoji="1" lang="zh-CN" altLang="en-US" smtClean="0"/>
              <a:t>2026/6/27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D5F6E7-3760-4F00-150B-928BF54B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51F1F-6BA3-8A6B-8F46-36E12FF57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58E0-3CD3-9840-B2AE-B7FD83F1DE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5836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ACFF2-99FB-8CA1-6A19-2724ECCAC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A71518-FA14-115C-DB63-4AF7BDFB2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B186B-E9D8-31CA-C4FD-994161E5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65882-5F7F-7F47-B7F5-12C2EA0F0497}" type="datetimeFigureOut">
              <a:rPr kumimoji="1" lang="zh-CN" altLang="en-US" smtClean="0"/>
              <a:t>2026/6/27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C29DA5-A4BA-75EC-B1BB-78EA9051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6BC116-B617-6782-4087-F12455EE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58E0-3CD3-9840-B2AE-B7FD83F1DE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590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81B7BF-9801-E520-4BE2-BA4C72B5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1ED72E-D063-D9F6-791E-41D44CC04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A77759-F4C0-DDE9-4553-3133B28B0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F99799-44E9-D9C0-E1FB-1722125F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65882-5F7F-7F47-B7F5-12C2EA0F0497}" type="datetimeFigureOut">
              <a:rPr kumimoji="1" lang="zh-CN" altLang="en-US" smtClean="0"/>
              <a:t>2026/6/27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59000B-63F2-DF07-9E28-1AEB4F55E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99CBE-EF5B-BF2D-FA2B-4CF87DB6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58E0-3CD3-9840-B2AE-B7FD83F1DE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8820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E1DBD-1CFB-3AA2-BBD6-96BB5ABC5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5E8B57-5251-12E2-93AE-30F6BF61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FF7714-78B2-F230-0192-61761885D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6A9A3E-2453-A095-499A-43B315B6C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AFBB56-6E49-1B56-4B3D-A958F0E17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D484EB-3FE1-0621-B63B-C54F0485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65882-5F7F-7F47-B7F5-12C2EA0F0497}" type="datetimeFigureOut">
              <a:rPr kumimoji="1" lang="zh-CN" altLang="en-US" smtClean="0"/>
              <a:t>2026/6/27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818699-2414-0819-D090-2FF800B78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029DB9-B529-B588-766F-6A3D00F5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58E0-3CD3-9840-B2AE-B7FD83F1DE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4785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71A14-55F4-2C11-35C0-4FDD3AAB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6CCECC-DF46-8796-6A74-0380F50A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65882-5F7F-7F47-B7F5-12C2EA0F0497}" type="datetimeFigureOut">
              <a:rPr kumimoji="1" lang="zh-CN" altLang="en-US" smtClean="0"/>
              <a:t>2026/6/27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6CF26F-BD7C-FD4C-225A-F9E605D72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DA834B-E4D9-4AD4-47D0-B3914F0BB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58E0-3CD3-9840-B2AE-B7FD83F1DE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2261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C0422C-0123-E87F-0913-D3523092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65882-5F7F-7F47-B7F5-12C2EA0F0497}" type="datetimeFigureOut">
              <a:rPr kumimoji="1" lang="zh-CN" altLang="en-US" smtClean="0"/>
              <a:t>2026/6/27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8FCC4A-B806-9C4F-4669-29F12FBB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F53820-8D6F-3A57-09D1-299599D4C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58E0-3CD3-9840-B2AE-B7FD83F1DE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956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E0017-C368-18B5-1D31-CB4B78C8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4607AE-2819-889F-F840-80D408FD1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52018B-B3EF-7B06-F079-CE831921D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ECA14-95C7-304D-3811-D8D9B6B8D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65882-5F7F-7F47-B7F5-12C2EA0F0497}" type="datetimeFigureOut">
              <a:rPr kumimoji="1" lang="zh-CN" altLang="en-US" smtClean="0"/>
              <a:t>2026/6/27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704B1E-63C9-2677-F6ED-EE4C73EBF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317F68-39CF-0A96-7657-44B17E4F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58E0-3CD3-9840-B2AE-B7FD83F1DE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565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D4D39-E6F7-D432-7932-F3A3C0BD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F36A24-E831-EB18-AC04-90C39C4A8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0B4383-B10D-878B-812B-0576CAA51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DA09C5-7AAC-AEA0-3B03-3F973BC51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65882-5F7F-7F47-B7F5-12C2EA0F0497}" type="datetimeFigureOut">
              <a:rPr kumimoji="1" lang="zh-CN" altLang="en-US" smtClean="0"/>
              <a:t>2026/6/27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B9DE90-8892-2EE3-8906-22C1FD43A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D80366-247E-986B-2583-287900F2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58E0-3CD3-9840-B2AE-B7FD83F1DE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6362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685F9-3F94-477D-532C-8EA31BD6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D2B5EA-293E-0FD2-E815-A6B538C3E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51DC60-675E-6367-93ED-73F218D0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65882-5F7F-7F47-B7F5-12C2EA0F0497}" type="datetimeFigureOut">
              <a:rPr kumimoji="1" lang="zh-CN" altLang="en-US" smtClean="0"/>
              <a:t>2026/6/27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DAF144-4D2F-AC91-D135-3971A355F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161765-6197-0F34-37B0-D143CB54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58E0-3CD3-9840-B2AE-B7FD83F1DE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392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70D089-94F9-7130-4DBD-6352371A7C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257850-01C0-17D1-820D-ADE5DD974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0ED461-091E-E95E-3AD9-0540AE89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65882-5F7F-7F47-B7F5-12C2EA0F0497}" type="datetimeFigureOut">
              <a:rPr kumimoji="1" lang="zh-CN" altLang="en-US" smtClean="0"/>
              <a:t>2026/6/27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6B6C35-E9C8-8F77-5809-878189CB8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7CEA88-5F26-0AC1-06BB-979DF5AC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758E0-3CD3-9840-B2AE-B7FD83F1DE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864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F3C3EA-A6CE-384E-03C5-75A2ACFF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5A245D-33BA-75BA-1BCB-4F2112A0D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6CA4F3-6194-1430-BB54-F056B01C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65882-5F7F-7F47-B7F5-12C2EA0F0497}" type="datetimeFigureOut">
              <a:rPr kumimoji="1" lang="zh-CN" altLang="en-US" smtClean="0"/>
              <a:t>2026/6/27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22FD2C-72EF-2A97-1FED-9D9B74760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C06D9D-67D3-B23F-EDB2-58698A128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758E0-3CD3-9840-B2AE-B7FD83F1DED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854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E75FB-55A8-99C3-D550-AE018A34CD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B58512-633C-D92A-9202-FC54F4470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5103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8758FA-3B0D-4A3C-EBB1-8B7EC713F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AI如何介入MVR废水蒸发？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01A0AD-BEC7-92EF-570C-A537A78A8EA5}"/>
              </a:ext>
            </a:extLst>
          </p:cNvPr>
          <p:cNvSpPr/>
          <p:nvPr/>
        </p:nvSpPr>
        <p:spPr>
          <a:xfrm>
            <a:off x="1486786" y="1796902"/>
            <a:ext cx="2479158" cy="7868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MVR</a:t>
            </a:r>
            <a:r>
              <a:rPr kumimoji="1" lang="zh-CN" altLang="en-US" dirty="0"/>
              <a:t>历史数据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2D7416-E093-BA04-B646-826337F6F862}"/>
              </a:ext>
            </a:extLst>
          </p:cNvPr>
          <p:cNvSpPr/>
          <p:nvPr/>
        </p:nvSpPr>
        <p:spPr>
          <a:xfrm>
            <a:off x="1486786" y="2668771"/>
            <a:ext cx="2479158" cy="22222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</a:rPr>
              <a:t>然后按进水TDS、进料量、蒸发温度、压缩机频率分组，看哪个区间能耗最高。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72305B25-90CA-F8FC-ADD8-FA9A85F350EB}"/>
              </a:ext>
            </a:extLst>
          </p:cNvPr>
          <p:cNvSpPr/>
          <p:nvPr/>
        </p:nvSpPr>
        <p:spPr>
          <a:xfrm rot="5400000">
            <a:off x="3157870" y="3636334"/>
            <a:ext cx="2307266" cy="37213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40DD72-82DC-F688-99AB-8C85458CF43E}"/>
              </a:ext>
            </a:extLst>
          </p:cNvPr>
          <p:cNvSpPr/>
          <p:nvPr/>
        </p:nvSpPr>
        <p:spPr>
          <a:xfrm>
            <a:off x="4570227" y="1796902"/>
            <a:ext cx="2479158" cy="7868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AI</a:t>
            </a:r>
            <a:r>
              <a:rPr kumimoji="1" lang="zh-CN" altLang="en-US" dirty="0"/>
              <a:t>轻量模型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57AE21-E171-595F-4B72-4B6DB2B41882}"/>
              </a:ext>
            </a:extLst>
          </p:cNvPr>
          <p:cNvSpPr/>
          <p:nvPr/>
        </p:nvSpPr>
        <p:spPr>
          <a:xfrm>
            <a:off x="4570227" y="2668771"/>
            <a:ext cx="2479158" cy="22222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</a:rPr>
              <a:t>自适应软测量模型 / Adaptive Soft Sensor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zh-CN" dirty="0">
                <a:solidFill>
                  <a:schemeClr val="tx1"/>
                </a:solidFill>
              </a:rPr>
              <a:t>模型1：PLS软测量模型</a:t>
            </a:r>
            <a:br>
              <a:rPr lang="zh-CN" altLang="zh-CN" dirty="0">
                <a:solidFill>
                  <a:schemeClr val="tx1"/>
                </a:solidFill>
              </a:rPr>
            </a:br>
            <a:r>
              <a:rPr lang="zh-CN" altLang="zh-CN" dirty="0">
                <a:solidFill>
                  <a:schemeClr val="tx1"/>
                </a:solidFill>
              </a:rPr>
              <a:t>模型2：RandomForest 对照模型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三角形 10">
            <a:extLst>
              <a:ext uri="{FF2B5EF4-FFF2-40B4-BE49-F238E27FC236}">
                <a16:creationId xmlns:a16="http://schemas.microsoft.com/office/drawing/2014/main" id="{4848BBA2-0960-5D0A-0A00-EC50E9C3CB29}"/>
              </a:ext>
            </a:extLst>
          </p:cNvPr>
          <p:cNvSpPr/>
          <p:nvPr/>
        </p:nvSpPr>
        <p:spPr>
          <a:xfrm rot="5400000">
            <a:off x="6241311" y="3636334"/>
            <a:ext cx="2307266" cy="37213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E9512D-CAF0-0196-7B19-D066D1A03FD4}"/>
              </a:ext>
            </a:extLst>
          </p:cNvPr>
          <p:cNvSpPr/>
          <p:nvPr/>
        </p:nvSpPr>
        <p:spPr>
          <a:xfrm>
            <a:off x="7740503" y="1796902"/>
            <a:ext cx="2479158" cy="7868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AI诊断系统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66E8FB-6287-B2E7-2EC1-EF8F7FD84273}"/>
              </a:ext>
            </a:extLst>
          </p:cNvPr>
          <p:cNvSpPr/>
          <p:nvPr/>
        </p:nvSpPr>
        <p:spPr>
          <a:xfrm>
            <a:off x="7740503" y="2668771"/>
            <a:ext cx="2479158" cy="22222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dirty="0">
                <a:solidFill>
                  <a:schemeClr val="tx1"/>
                </a:solidFill>
              </a:rPr>
              <a:t>能耗诊断 / 结垢风险 / 参数建议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841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BFB67B-4D95-7B6B-50E4-70AD0BDE9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最低可行参数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40BD27-03D0-8562-BE50-5E18F3C38148}"/>
              </a:ext>
            </a:extLst>
          </p:cNvPr>
          <p:cNvGraphicFramePr>
            <a:graphicFrameLocks noGrp="1"/>
          </p:cNvGraphicFramePr>
          <p:nvPr/>
        </p:nvGraphicFramePr>
        <p:xfrm>
          <a:off x="2060484" y="1803140"/>
          <a:ext cx="8071032" cy="4396308"/>
        </p:xfrm>
        <a:graphic>
          <a:graphicData uri="http://schemas.openxmlformats.org/drawingml/2006/table">
            <a:tbl>
              <a:tblPr/>
              <a:tblGrid>
                <a:gridCol w="2017758">
                  <a:extLst>
                    <a:ext uri="{9D8B030D-6E8A-4147-A177-3AD203B41FA5}">
                      <a16:colId xmlns:a16="http://schemas.microsoft.com/office/drawing/2014/main" val="1619776450"/>
                    </a:ext>
                  </a:extLst>
                </a:gridCol>
                <a:gridCol w="2017758">
                  <a:extLst>
                    <a:ext uri="{9D8B030D-6E8A-4147-A177-3AD203B41FA5}">
                      <a16:colId xmlns:a16="http://schemas.microsoft.com/office/drawing/2014/main" val="154140892"/>
                    </a:ext>
                  </a:extLst>
                </a:gridCol>
                <a:gridCol w="2017758">
                  <a:extLst>
                    <a:ext uri="{9D8B030D-6E8A-4147-A177-3AD203B41FA5}">
                      <a16:colId xmlns:a16="http://schemas.microsoft.com/office/drawing/2014/main" val="2051862740"/>
                    </a:ext>
                  </a:extLst>
                </a:gridCol>
                <a:gridCol w="2017758">
                  <a:extLst>
                    <a:ext uri="{9D8B030D-6E8A-4147-A177-3AD203B41FA5}">
                      <a16:colId xmlns:a16="http://schemas.microsoft.com/office/drawing/2014/main" val="1382151103"/>
                    </a:ext>
                  </a:extLst>
                </a:gridCol>
              </a:tblGrid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类别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参数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采集频率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用途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308613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时间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时间戳、班次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1–5分钟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对齐数据、分析班组差异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109859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进料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进料流量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1–5分钟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计算负荷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662405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进料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进料温度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1–5分钟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判断预热负荷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739873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蒸发系统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蒸发温度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1–5分钟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判断蒸发状态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915424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蒸发系统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蒸发压力/真空度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1–5分钟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判断沸点和系统稳定性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015589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压缩机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压缩机频率/转速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1–5分钟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核心耗能变量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398056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压缩机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压缩机电流或功率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1–5分钟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计算压缩机能耗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449877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循环泵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循环泵频率/电流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1–5分钟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计算泵耗、判断循环状态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393095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产出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冷凝水流量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1–5分钟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估算蒸发水量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512707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产出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浓缩液流量或排放量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每批/每小时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做物料平衡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388225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水质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进水电导率/TDS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在线或化验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识别高盐波动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755598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水质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pH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在线或化验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判断结垢/腐蚀风险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550894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能源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MVR系统总电耗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/>
                        <a:t>1–15分钟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dirty="0"/>
                        <a:t>建立能耗模型</a:t>
                      </a: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231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38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3E66DE-4F46-6101-7231-1608183D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增强参数</a:t>
            </a:r>
            <a:endParaRPr kumimoji="1"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0116BF1-B6DD-6A82-490B-941E265C9EE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82174" y="1797374"/>
          <a:ext cx="8627652" cy="4407840"/>
        </p:xfrm>
        <a:graphic>
          <a:graphicData uri="http://schemas.openxmlformats.org/drawingml/2006/table">
            <a:tbl>
              <a:tblPr/>
              <a:tblGrid>
                <a:gridCol w="2875884">
                  <a:extLst>
                    <a:ext uri="{9D8B030D-6E8A-4147-A177-3AD203B41FA5}">
                      <a16:colId xmlns:a16="http://schemas.microsoft.com/office/drawing/2014/main" val="3924505342"/>
                    </a:ext>
                  </a:extLst>
                </a:gridCol>
                <a:gridCol w="2875884">
                  <a:extLst>
                    <a:ext uri="{9D8B030D-6E8A-4147-A177-3AD203B41FA5}">
                      <a16:colId xmlns:a16="http://schemas.microsoft.com/office/drawing/2014/main" val="799494852"/>
                    </a:ext>
                  </a:extLst>
                </a:gridCol>
                <a:gridCol w="2875884">
                  <a:extLst>
                    <a:ext uri="{9D8B030D-6E8A-4147-A177-3AD203B41FA5}">
                      <a16:colId xmlns:a16="http://schemas.microsoft.com/office/drawing/2014/main" val="3574372459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类别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参数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价值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69225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水质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COD、氨氮、Cl⁻、SO₄²⁻、Na⁺、Ca²⁺、Mg²⁺、F⁻、SiO₂、重金属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判断结垢、腐蚀、冷凝水异常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587823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蒸发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进出口温差、换热器壳程/管程温度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计算传热能力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72174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蒸发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蒸发器液位、分离器液位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判断夹带、波动、异常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09908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压缩机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入口压力、出口压力、入口温度、出口温度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计算压缩比和压缩效率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079464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泵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循环流量、泵出口压力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判断循环不足或能耗浪费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712210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冷凝水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冷凝水电导率、COD、pH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判断回用质量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88504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运维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CIP清洗时间、清洗药剂、清洗前后电耗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建立清洗周期优化模型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688330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异常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报警记录、停机记录、人工调参记录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做异常识别和操作复盘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70887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成本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电价、分时电价、蒸汽价格、药剂成本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从节能变成节钱模型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260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12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410</Words>
  <Application>Microsoft Macintosh PowerPoint</Application>
  <PresentationFormat>宽屏</PresentationFormat>
  <Paragraphs>96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AI如何介入MVR废水蒸发？</vt:lpstr>
      <vt:lpstr>最低可行参数</vt:lpstr>
      <vt:lpstr>增强参数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奕慷 李</dc:creator>
  <cp:lastModifiedBy>奕慷 李</cp:lastModifiedBy>
  <cp:revision>1</cp:revision>
  <dcterms:created xsi:type="dcterms:W3CDTF">2026-06-27T13:40:02Z</dcterms:created>
  <dcterms:modified xsi:type="dcterms:W3CDTF">2026-06-28T14:15:25Z</dcterms:modified>
</cp:coreProperties>
</file>