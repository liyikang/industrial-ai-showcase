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1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09"/>
    <p:restoredTop sz="94688"/>
  </p:normalViewPr>
  <p:slideViewPr>
    <p:cSldViewPr snapToGrid="0">
      <p:cViewPr varScale="1">
        <p:scale>
          <a:sx n="116" d="100"/>
          <a:sy n="116" d="100"/>
        </p:scale>
        <p:origin x="76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747279-1803-8D0F-0D61-597DD40BEF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725E091-6B3E-293A-BEE7-4BDC1D7BE0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0058EBE-8288-DBF9-65A2-24074867B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3AC70-50C7-B542-955A-73D5909D73B6}" type="datetimeFigureOut">
              <a:rPr kumimoji="1" lang="zh-CN" altLang="en-US" smtClean="0"/>
              <a:t>2026/7/13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41C31C9-4BDD-4B69-06A6-79D1ABAF6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289C1B8-6AEB-302A-4001-C0E707976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AFD0A-D176-5249-A616-F04E6A95AC0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32095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837C91-324B-DD5D-337F-8FEBFA7F3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46B85CF-C8CC-663D-0AD6-DE773DCFA0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A8E8E9-51FA-D2B9-AB9C-7C8EF0A93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3AC70-50C7-B542-955A-73D5909D73B6}" type="datetimeFigureOut">
              <a:rPr kumimoji="1" lang="zh-CN" altLang="en-US" smtClean="0"/>
              <a:t>2026/7/13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1C441D1-AFCF-30BF-ED69-2145FD73C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213C889-6642-93B4-5D20-694C9A186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AFD0A-D176-5249-A616-F04E6A95AC0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28364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8E7227-7D88-8747-6B64-4BB76D799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A7A652E-07D2-9860-9816-84D503AECC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A87CB0-E2AA-3B7E-AD26-9CB220DAB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3AC70-50C7-B542-955A-73D5909D73B6}" type="datetimeFigureOut">
              <a:rPr kumimoji="1" lang="zh-CN" altLang="en-US" smtClean="0"/>
              <a:t>2026/7/13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1279C1-3744-48BF-FF7F-1AFA495BE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0EE64B-DD68-3460-31C5-EAC35B92D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AFD0A-D176-5249-A616-F04E6A95AC0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26392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BD0757-5CEA-5B6C-C047-18349D327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299678D-2049-C49B-161C-86C5159608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486165E-3244-CC42-31F9-227CB0CFC4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46A695D-65E2-6EE1-187E-A30D72525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3AC70-50C7-B542-955A-73D5909D73B6}" type="datetimeFigureOut">
              <a:rPr kumimoji="1" lang="zh-CN" altLang="en-US" smtClean="0"/>
              <a:t>2026/7/13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4E3A87A-CA22-30B0-D2E0-2536C28B7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7277B46-82B4-F0B7-1425-9C6B9A23F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AFD0A-D176-5249-A616-F04E6A95AC0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53356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F6D77D-5C68-577D-3A72-F907B6460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08C7F77-7FEE-0ED6-D53C-FB0B94BA10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6C3F817-1EF7-4701-65D2-03F0B643C1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1C499BD-4AD7-F342-4489-1A970CEC2C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6106333-9B4D-9186-593E-A8AB13002C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0C1E4DD-AD73-3DE7-706C-D9068F870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3AC70-50C7-B542-955A-73D5909D73B6}" type="datetimeFigureOut">
              <a:rPr kumimoji="1" lang="zh-CN" altLang="en-US" smtClean="0"/>
              <a:t>2026/7/13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AB8142F-35E6-35AE-EC57-C3FD1A56D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76A1F17-DB8E-69C9-129A-E80C0CB8A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AFD0A-D176-5249-A616-F04E6A95AC0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378415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688DA0-434F-E648-47CC-9F9BCADDF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37EC1FA-4C39-B660-8CE4-434ED74B4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3AC70-50C7-B542-955A-73D5909D73B6}" type="datetimeFigureOut">
              <a:rPr kumimoji="1" lang="zh-CN" altLang="en-US" smtClean="0"/>
              <a:t>2026/7/13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547671D-E4CE-87F8-6DFB-DE30898E2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DB170B0-8F9C-D770-2A22-FCBCEAD76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AFD0A-D176-5249-A616-F04E6A95AC0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25505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4EA497F-C315-D3C0-8BD0-02CEF5391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3AC70-50C7-B542-955A-73D5909D73B6}" type="datetimeFigureOut">
              <a:rPr kumimoji="1" lang="zh-CN" altLang="en-US" smtClean="0"/>
              <a:t>2026/7/13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4589C-A288-78E2-4868-C347CCCF5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082F7E-701C-248F-786D-3DD69F62E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AFD0A-D176-5249-A616-F04E6A95AC0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476404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2BA0A4-A3D3-B136-0D07-E4FF70B1B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DF0829B-2BF7-C169-F5F8-F9F50D3516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E50DFAD-A212-52E5-E06B-A8EAA591AA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6E2293F-9510-7873-07F0-A5A43BE91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3AC70-50C7-B542-955A-73D5909D73B6}" type="datetimeFigureOut">
              <a:rPr kumimoji="1" lang="zh-CN" altLang="en-US" smtClean="0"/>
              <a:t>2026/7/13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44E0FC4-C195-FF66-5941-60142BCD0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8F033A0-B3B7-7167-4313-A0BA37A8B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AFD0A-D176-5249-A616-F04E6A95AC0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26668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CEC7D6-DADA-3D84-2FD5-7285A9835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CCBD5EE-4A5F-8ECD-8397-8BD73AE858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443E07B-40E2-60D6-6A51-C9837A7D2F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2044881-752F-111D-41D8-A9DB7D02E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3AC70-50C7-B542-955A-73D5909D73B6}" type="datetimeFigureOut">
              <a:rPr kumimoji="1" lang="zh-CN" altLang="en-US" smtClean="0"/>
              <a:t>2026/7/13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181218C-64DB-F936-BB72-E122E6002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EF53206-7D9F-121A-D4DE-7B182DB51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AFD0A-D176-5249-A616-F04E6A95AC0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44715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65350A-D829-BE0B-E220-9658C2EF0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F93DD05-6154-26CE-E8FB-36D245CB64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FE271BE-61BE-D93F-4F4A-8252B761D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3AC70-50C7-B542-955A-73D5909D73B6}" type="datetimeFigureOut">
              <a:rPr kumimoji="1" lang="zh-CN" altLang="en-US" smtClean="0"/>
              <a:t>2026/7/13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A3E05A-223C-4DEC-7672-3BB6813CB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A7004F5-C8F0-1FE3-8E26-857800916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AFD0A-D176-5249-A616-F04E6A95AC0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9828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24F225C-E82D-F702-0B4C-7CDF664AF4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4468324-8DB8-8902-C324-36E569B85B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62AE45-C21C-3723-09AF-482CEDF46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3AC70-50C7-B542-955A-73D5909D73B6}" type="datetimeFigureOut">
              <a:rPr kumimoji="1" lang="zh-CN" altLang="en-US" smtClean="0"/>
              <a:t>2026/7/13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F7D2C5A-A713-A578-BC1A-17116A7A1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9FE1F3-184E-EDBF-44A9-9391EC35B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AFD0A-D176-5249-A616-F04E6A95AC0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49506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1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D4CDF89-57E1-3DB5-E262-323CDBCF6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18FDBF7-2A3B-E816-E674-FA7E7912DC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7BCAA1B-320D-8E47-CC08-E29CA5CA40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73AC70-50C7-B542-955A-73D5909D73B6}" type="datetimeFigureOut">
              <a:rPr kumimoji="1" lang="zh-CN" altLang="en-US" smtClean="0"/>
              <a:t>2026/7/13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4B68D0-946B-8700-0411-F994F50E22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22308C1-8949-2AC8-0D73-C8993EE1F2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AAFD0A-D176-5249-A616-F04E6A95AC0F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900" name="CornerAccent"/>
          <p:cNvSpPr/>
          <p:nvPr/>
        </p:nvSpPr>
        <p:spPr>
          <a:xfrm flipH="1">
            <a:off x="11112500" y="6248400"/>
            <a:ext cx="1079500" cy="609600"/>
          </a:xfrm>
          <a:prstGeom prst="rtTriangle">
            <a:avLst/>
          </a:prstGeom>
          <a:solidFill>
            <a:srgbClr val="0E284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1" name="FooterText"/>
          <p:cNvSpPr txBox="1"/>
          <p:nvPr/>
        </p:nvSpPr>
        <p:spPr>
          <a:xfrm>
            <a:off x="711200" y="6451600"/>
            <a:ext cx="7112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>
              <a:buNone/>
            </a:pPr>
            <a:r>
              <a:rPr lang="zh-CN" sz="1000" dirty="0">
                <a:solidFill>
                  <a:srgbClr val="8496AD"/>
                </a:solidFill>
              </a:rPr>
              <a:t>废塑料连续裂解设备 AI 智能运维与风控平台建设方案 · 商密</a:t>
            </a:r>
          </a:p>
        </p:txBody>
      </p:sp>
    </p:spTree>
    <p:extLst>
      <p:ext uri="{BB962C8B-B14F-4D97-AF65-F5344CB8AC3E}">
        <p14:creationId xmlns:p14="http://schemas.microsoft.com/office/powerpoint/2010/main" val="4227480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F3864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33475E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841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6712A942-75C1-ED4A-AAFE-13CE79F6AE53}"/>
              </a:ext>
            </a:extLst>
          </p:cNvPr>
          <p:cNvSpPr/>
          <p:nvPr/>
        </p:nvSpPr>
        <p:spPr>
          <a:xfrm>
            <a:off x="1041400" y="2006600"/>
            <a:ext cx="812800" cy="63500"/>
          </a:xfrm>
          <a:prstGeom prst="rect">
            <a:avLst/>
          </a:prstGeom>
          <a:solidFill>
            <a:srgbClr val="0F9ED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5FB5960-DE8E-464B-BFAA-8E555886427E}"/>
              </a:ext>
            </a:extLst>
          </p:cNvPr>
          <p:cNvSpPr/>
          <p:nvPr/>
        </p:nvSpPr>
        <p:spPr>
          <a:xfrm>
            <a:off x="7620000" y="1320800"/>
            <a:ext cx="3810000" cy="25400"/>
          </a:xfrm>
          <a:prstGeom prst="rect">
            <a:avLst/>
          </a:prstGeom>
          <a:solidFill>
            <a:srgbClr val="1E4A7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7EAC29D-1D7C-DA42-BD95-D6A68AA36872}"/>
              </a:ext>
            </a:extLst>
          </p:cNvPr>
          <p:cNvSpPr/>
          <p:nvPr/>
        </p:nvSpPr>
        <p:spPr>
          <a:xfrm>
            <a:off x="8178800" y="1549400"/>
            <a:ext cx="3251200" cy="25400"/>
          </a:xfrm>
          <a:prstGeom prst="rect">
            <a:avLst/>
          </a:prstGeom>
          <a:solidFill>
            <a:srgbClr val="255D9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73BB028-96FC-E244-A795-810881BED027}"/>
              </a:ext>
            </a:extLst>
          </p:cNvPr>
          <p:cNvSpPr/>
          <p:nvPr/>
        </p:nvSpPr>
        <p:spPr>
          <a:xfrm>
            <a:off x="8737600" y="1778000"/>
            <a:ext cx="2692400" cy="25400"/>
          </a:xfrm>
          <a:prstGeom prst="rect">
            <a:avLst/>
          </a:prstGeom>
          <a:solidFill>
            <a:srgbClr val="0F9ED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EF1303F-813F-F649-911C-B388FB49639A}"/>
              </a:ext>
            </a:extLst>
          </p:cNvPr>
          <p:cNvSpPr txBox="1"/>
          <p:nvPr/>
        </p:nvSpPr>
        <p:spPr>
          <a:xfrm>
            <a:off x="1016000" y="2311400"/>
            <a:ext cx="10414000" cy="152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3400" b="1" dirty="0">
                <a:solidFill>
                  <a:srgbClr val="FFFFFF"/>
                </a:solidFill>
                <a:latin typeface="微软雅黑"/>
                <a:ea typeface="微软雅黑"/>
              </a:rPr>
              <a:t>废塑料连续裂解设备
</a:t>
            </a:r>
            <a:r>
              <a:rPr lang="en" altLang="zh-CN" sz="3400" b="1" dirty="0">
                <a:solidFill>
                  <a:srgbClr val="FFFFFF"/>
                </a:solidFill>
                <a:latin typeface="微软雅黑"/>
                <a:ea typeface="微软雅黑"/>
              </a:rPr>
              <a:t>AI </a:t>
            </a:r>
            <a:r>
              <a:rPr lang="zh-CN" altLang="en-US" sz="3400" b="1" dirty="0">
                <a:solidFill>
                  <a:srgbClr val="FFFFFF"/>
                </a:solidFill>
                <a:latin typeface="微软雅黑"/>
                <a:ea typeface="微软雅黑"/>
              </a:rPr>
              <a:t>智能运维与风控平台建设方案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4BFB3F8-7545-B942-A878-BEA05BFCFA59}"/>
              </a:ext>
            </a:extLst>
          </p:cNvPr>
          <p:cNvSpPr txBox="1"/>
          <p:nvPr/>
        </p:nvSpPr>
        <p:spPr>
          <a:xfrm>
            <a:off x="1016000" y="4038600"/>
            <a:ext cx="10414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600">
                <a:solidFill>
                  <a:srgbClr val="9DC3E6"/>
                </a:solidFill>
                <a:latin typeface="微软雅黑"/>
                <a:ea typeface="微软雅黑"/>
              </a:rPr>
              <a:t>从 </a:t>
            </a:r>
            <a:r>
              <a:rPr lang="en" altLang="zh-CN" sz="1600">
                <a:solidFill>
                  <a:srgbClr val="9DC3E6"/>
                </a:solidFill>
                <a:latin typeface="微软雅黑"/>
                <a:ea typeface="微软雅黑"/>
              </a:rPr>
              <a:t>PLC </a:t>
            </a:r>
            <a:r>
              <a:rPr lang="zh-CN" altLang="en-US" sz="1600">
                <a:solidFill>
                  <a:srgbClr val="9DC3E6"/>
                </a:solidFill>
                <a:latin typeface="微软雅黑"/>
                <a:ea typeface="微软雅黑"/>
              </a:rPr>
              <a:t>自动化到数据可视、风险可控、远程运维、智能决策的产业化升级路径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1906325-B389-EE47-97C2-9E2C453B4076}"/>
              </a:ext>
            </a:extLst>
          </p:cNvPr>
          <p:cNvSpPr/>
          <p:nvPr/>
        </p:nvSpPr>
        <p:spPr>
          <a:xfrm>
            <a:off x="1041400" y="5613400"/>
            <a:ext cx="4572000" cy="12700"/>
          </a:xfrm>
          <a:prstGeom prst="rect">
            <a:avLst/>
          </a:prstGeom>
          <a:solidFill>
            <a:srgbClr val="2F559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AE7D364-2752-BD48-BE1E-8CF77B6772C2}"/>
              </a:ext>
            </a:extLst>
          </p:cNvPr>
          <p:cNvSpPr txBox="1"/>
          <p:nvPr/>
        </p:nvSpPr>
        <p:spPr>
          <a:xfrm>
            <a:off x="1016000" y="5816600"/>
            <a:ext cx="10668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400">
                <a:solidFill>
                  <a:srgbClr val="8FAADC"/>
                </a:solidFill>
                <a:latin typeface="微软雅黑"/>
                <a:ea typeface="微软雅黑"/>
              </a:rPr>
              <a:t>汇报方：</a:t>
            </a:r>
            <a:r>
              <a:rPr lang="en-US" altLang="zh-CN" sz="1400">
                <a:solidFill>
                  <a:srgbClr val="8FAADC"/>
                </a:solidFill>
                <a:latin typeface="微软雅黑"/>
                <a:ea typeface="微软雅黑"/>
              </a:rPr>
              <a:t>××××</a:t>
            </a:r>
            <a:r>
              <a:rPr lang="zh-CN" altLang="en-US" sz="1400">
                <a:solidFill>
                  <a:srgbClr val="8FAADC"/>
                </a:solidFill>
                <a:latin typeface="微软雅黑"/>
                <a:ea typeface="微软雅黑"/>
              </a:rPr>
              <a:t>（公司名）　｜　</a:t>
            </a:r>
            <a:r>
              <a:rPr lang="en-US" altLang="zh-CN" sz="1400">
                <a:solidFill>
                  <a:srgbClr val="8FAADC"/>
                </a:solidFill>
                <a:latin typeface="微软雅黑"/>
                <a:ea typeface="微软雅黑"/>
              </a:rPr>
              <a:t>2026 </a:t>
            </a:r>
            <a:r>
              <a:rPr lang="zh-CN" altLang="en-US" sz="1400">
                <a:solidFill>
                  <a:srgbClr val="8FAADC"/>
                </a:solidFill>
                <a:latin typeface="微软雅黑"/>
                <a:ea typeface="微软雅黑"/>
              </a:rPr>
              <a:t>年 </a:t>
            </a:r>
            <a:r>
              <a:rPr lang="en-US" altLang="zh-CN" sz="1400">
                <a:solidFill>
                  <a:srgbClr val="8FAADC"/>
                </a:solidFill>
                <a:latin typeface="微软雅黑"/>
                <a:ea typeface="微软雅黑"/>
              </a:rPr>
              <a:t>7 </a:t>
            </a:r>
            <a:r>
              <a:rPr lang="zh-CN" altLang="en-US" sz="1400">
                <a:solidFill>
                  <a:srgbClr val="8FAADC"/>
                </a:solidFill>
                <a:latin typeface="微软雅黑"/>
                <a:ea typeface="微软雅黑"/>
              </a:rPr>
              <a:t>月　｜　版本 </a:t>
            </a:r>
            <a:r>
              <a:rPr lang="en" altLang="zh-CN" sz="1400">
                <a:solidFill>
                  <a:srgbClr val="8FAADC"/>
                </a:solidFill>
                <a:latin typeface="微软雅黑"/>
                <a:ea typeface="微软雅黑"/>
              </a:rPr>
              <a:t>V1.0</a:t>
            </a:r>
            <a:r>
              <a:rPr lang="zh-CN" altLang="en" sz="1400">
                <a:solidFill>
                  <a:srgbClr val="8FAADC"/>
                </a:solidFill>
                <a:latin typeface="微软雅黑"/>
                <a:ea typeface="微软雅黑"/>
              </a:rPr>
              <a:t>　｜　</a:t>
            </a:r>
            <a:r>
              <a:rPr lang="zh-CN" altLang="en-US" sz="1400">
                <a:solidFill>
                  <a:srgbClr val="8FAADC"/>
                </a:solidFill>
                <a:latin typeface="微软雅黑"/>
                <a:ea typeface="微软雅黑"/>
              </a:rPr>
              <a:t>密级：商密（限双方 </a:t>
            </a:r>
            <a:r>
              <a:rPr lang="en" altLang="zh-CN" sz="1400">
                <a:solidFill>
                  <a:srgbClr val="8FAADC"/>
                </a:solidFill>
                <a:latin typeface="微软雅黑"/>
                <a:ea typeface="微软雅黑"/>
              </a:rPr>
              <a:t>NDA </a:t>
            </a:r>
            <a:r>
              <a:rPr lang="zh-CN" altLang="en-US" sz="1400">
                <a:solidFill>
                  <a:srgbClr val="8FAADC"/>
                </a:solidFill>
                <a:latin typeface="微软雅黑"/>
                <a:ea typeface="微软雅黑"/>
              </a:rPr>
              <a:t>范围内使用）</a:t>
            </a:r>
          </a:p>
        </p:txBody>
      </p:sp>
    </p:spTree>
    <p:extLst>
      <p:ext uri="{BB962C8B-B14F-4D97-AF65-F5344CB8AC3E}">
        <p14:creationId xmlns:p14="http://schemas.microsoft.com/office/powerpoint/2010/main" val="2360182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934DFEC-9A54-6741-9F5B-84DBA107359F}"/>
              </a:ext>
            </a:extLst>
          </p:cNvPr>
          <p:cNvSpPr txBox="1"/>
          <p:nvPr/>
        </p:nvSpPr>
        <p:spPr>
          <a:xfrm>
            <a:off x="736600" y="330200"/>
            <a:ext cx="8890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2600" b="1">
                <a:solidFill>
                  <a:srgbClr val="1F3864"/>
                </a:solidFill>
                <a:latin typeface="微软雅黑"/>
                <a:ea typeface="微软雅黑"/>
              </a:rPr>
              <a:t>2. </a:t>
            </a:r>
            <a:r>
              <a:rPr lang="zh-CN" altLang="en-US" sz="2600" b="1">
                <a:solidFill>
                  <a:srgbClr val="1F3864"/>
                </a:solidFill>
                <a:latin typeface="微软雅黑"/>
                <a:ea typeface="微软雅黑"/>
              </a:rPr>
              <a:t>项目背景与客户核心诉求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8DC2E217-3217-CB4D-8FEF-816E1DE370DA}"/>
              </a:ext>
            </a:extLst>
          </p:cNvPr>
          <p:cNvSpPr/>
          <p:nvPr/>
        </p:nvSpPr>
        <p:spPr>
          <a:xfrm>
            <a:off x="762000" y="1168400"/>
            <a:ext cx="5181600" cy="37592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DE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42F5442-C3C0-CD48-BFF8-2187A9CB6E82}"/>
              </a:ext>
            </a:extLst>
          </p:cNvPr>
          <p:cNvSpPr/>
          <p:nvPr/>
        </p:nvSpPr>
        <p:spPr>
          <a:xfrm>
            <a:off x="1092200" y="1498600"/>
            <a:ext cx="114300" cy="114300"/>
          </a:xfrm>
          <a:prstGeom prst="rect">
            <a:avLst/>
          </a:prstGeom>
          <a:solidFill>
            <a:srgbClr val="2F559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5C7A8D7-8827-C74A-8D32-FFBE29A36EAD}"/>
              </a:ext>
            </a:extLst>
          </p:cNvPr>
          <p:cNvSpPr txBox="1"/>
          <p:nvPr/>
        </p:nvSpPr>
        <p:spPr>
          <a:xfrm>
            <a:off x="1320800" y="1371600"/>
            <a:ext cx="4318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700" b="1">
                <a:solidFill>
                  <a:srgbClr val="1F3864"/>
                </a:solidFill>
                <a:latin typeface="微软雅黑"/>
                <a:ea typeface="微软雅黑"/>
              </a:rPr>
              <a:t>已经领先的地方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8AB991B-58B8-EB4C-BADC-80B1B9320C12}"/>
              </a:ext>
            </a:extLst>
          </p:cNvPr>
          <p:cNvSpPr txBox="1"/>
          <p:nvPr/>
        </p:nvSpPr>
        <p:spPr>
          <a:xfrm>
            <a:off x="1092200" y="1879600"/>
            <a:ext cx="4546600" cy="116955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400" dirty="0">
                <a:solidFill>
                  <a:srgbClr val="33475E"/>
                </a:solidFill>
                <a:latin typeface="微软雅黑"/>
                <a:ea typeface="微软雅黑"/>
              </a:rPr>
              <a:t>连续式裂解工艺：解决结焦、挂蜡、管道堵塞与安全隐患，优于欧美间歇式路线
处理低值混合脏塑料，原料适应性强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27FB8F30-0F57-A442-B2D5-EC1B9C12C4CA}"/>
              </a:ext>
            </a:extLst>
          </p:cNvPr>
          <p:cNvSpPr/>
          <p:nvPr/>
        </p:nvSpPr>
        <p:spPr>
          <a:xfrm>
            <a:off x="6248400" y="1168400"/>
            <a:ext cx="5181600" cy="37592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DE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06C0085-87F0-FC43-9BC1-AA23AF2C7B5F}"/>
              </a:ext>
            </a:extLst>
          </p:cNvPr>
          <p:cNvSpPr/>
          <p:nvPr/>
        </p:nvSpPr>
        <p:spPr>
          <a:xfrm>
            <a:off x="6578600" y="1498600"/>
            <a:ext cx="114300" cy="11430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1E346E4-E33D-D943-B509-66AE6FE702B1}"/>
              </a:ext>
            </a:extLst>
          </p:cNvPr>
          <p:cNvSpPr txBox="1"/>
          <p:nvPr/>
        </p:nvSpPr>
        <p:spPr>
          <a:xfrm>
            <a:off x="6807200" y="1371600"/>
            <a:ext cx="4318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700" b="1">
                <a:solidFill>
                  <a:srgbClr val="1F3864"/>
                </a:solidFill>
                <a:latin typeface="微软雅黑"/>
                <a:ea typeface="微软雅黑"/>
              </a:rPr>
              <a:t>正在面对的升级诉求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9D5ECC9-16CF-4042-84EE-9356E5E881B5}"/>
              </a:ext>
            </a:extLst>
          </p:cNvPr>
          <p:cNvSpPr txBox="1"/>
          <p:nvPr/>
        </p:nvSpPr>
        <p:spPr>
          <a:xfrm>
            <a:off x="6578600" y="1879600"/>
            <a:ext cx="4546600" cy="284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400" dirty="0">
                <a:solidFill>
                  <a:srgbClr val="33475E"/>
                </a:solidFill>
                <a:latin typeface="微软雅黑"/>
                <a:ea typeface="微软雅黑"/>
              </a:rPr>
              <a:t>从 </a:t>
            </a:r>
            <a:r>
              <a:rPr lang="en" altLang="zh-CN" sz="1400" dirty="0">
                <a:solidFill>
                  <a:srgbClr val="33475E"/>
                </a:solidFill>
                <a:latin typeface="微软雅黑"/>
                <a:ea typeface="微软雅黑"/>
              </a:rPr>
              <a:t>PLC </a:t>
            </a:r>
            <a:r>
              <a:rPr lang="zh-CN" altLang="en-US" sz="1400" dirty="0">
                <a:solidFill>
                  <a:srgbClr val="33475E"/>
                </a:solidFill>
                <a:latin typeface="微软雅黑"/>
                <a:ea typeface="微软雅黑"/>
              </a:rPr>
              <a:t>自动化升级为 </a:t>
            </a:r>
            <a:r>
              <a:rPr lang="en" altLang="zh-CN" sz="1400" dirty="0">
                <a:solidFill>
                  <a:srgbClr val="33475E"/>
                </a:solidFill>
                <a:latin typeface="微软雅黑"/>
                <a:ea typeface="微软雅黑"/>
              </a:rPr>
              <a:t>AI </a:t>
            </a:r>
            <a:r>
              <a:rPr lang="zh-CN" altLang="en-US" sz="1400" dirty="0">
                <a:solidFill>
                  <a:srgbClr val="33475E"/>
                </a:solidFill>
                <a:latin typeface="微软雅黑"/>
                <a:ea typeface="微软雅黑"/>
              </a:rPr>
              <a:t>智能化：不止于远程看数据，要能远程运维
设备卖出后：运行状态可知、风险可控、服务可持续
多基地复制：一套平台管多地工厂，运维经验沉淀为数据资产</a:t>
            </a:r>
          </a:p>
        </p:txBody>
      </p:sp>
    </p:spTree>
    <p:extLst>
      <p:ext uri="{BB962C8B-B14F-4D97-AF65-F5344CB8AC3E}">
        <p14:creationId xmlns:p14="http://schemas.microsoft.com/office/powerpoint/2010/main" val="1004891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1AD1672-C0D8-1F4E-A633-566126969524}"/>
              </a:ext>
            </a:extLst>
          </p:cNvPr>
          <p:cNvSpPr txBox="1"/>
          <p:nvPr/>
        </p:nvSpPr>
        <p:spPr>
          <a:xfrm>
            <a:off x="736600" y="330200"/>
            <a:ext cx="8890000" cy="492443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2600" b="1" dirty="0">
                <a:solidFill>
                  <a:srgbClr val="1F3864"/>
                </a:solidFill>
                <a:latin typeface="微软雅黑"/>
                <a:ea typeface="微软雅黑"/>
              </a:rPr>
              <a:t>3. </a:t>
            </a:r>
            <a:r>
              <a:rPr lang="zh-CN" altLang="en-US" sz="2600" b="1" dirty="0">
                <a:solidFill>
                  <a:srgbClr val="1F3864"/>
                </a:solidFill>
                <a:latin typeface="微软雅黑"/>
                <a:ea typeface="微软雅黑"/>
              </a:rPr>
              <a:t>项目核心判断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027E1FA-0F7C-B146-AD85-D4EA8A36DC89}"/>
              </a:ext>
            </a:extLst>
          </p:cNvPr>
          <p:cNvSpPr txBox="1"/>
          <p:nvPr/>
        </p:nvSpPr>
        <p:spPr>
          <a:xfrm>
            <a:off x="762000" y="8382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400">
                <a:solidFill>
                  <a:srgbClr val="5B6E88"/>
                </a:solidFill>
                <a:latin typeface="微软雅黑"/>
                <a:ea typeface="微软雅黑"/>
              </a:rPr>
              <a:t>这不是 </a:t>
            </a:r>
            <a:r>
              <a:rPr lang="en" altLang="zh-CN" sz="1400">
                <a:solidFill>
                  <a:srgbClr val="5B6E88"/>
                </a:solidFill>
                <a:latin typeface="微软雅黑"/>
                <a:ea typeface="微软雅黑"/>
              </a:rPr>
              <a:t>PLC </a:t>
            </a:r>
            <a:r>
              <a:rPr lang="zh-CN" altLang="en-US" sz="1400">
                <a:solidFill>
                  <a:srgbClr val="5B6E88"/>
                </a:solidFill>
                <a:latin typeface="微软雅黑"/>
                <a:ea typeface="微软雅黑"/>
              </a:rPr>
              <a:t>远程控制，也不是一块大屏，而是：设备智能化 </a:t>
            </a:r>
            <a:r>
              <a:rPr lang="en-US" altLang="zh-CN" sz="1400">
                <a:solidFill>
                  <a:srgbClr val="5B6E88"/>
                </a:solidFill>
                <a:latin typeface="微软雅黑"/>
                <a:ea typeface="微软雅黑"/>
              </a:rPr>
              <a:t>+ </a:t>
            </a:r>
            <a:r>
              <a:rPr lang="zh-CN" altLang="en-US" sz="1400">
                <a:solidFill>
                  <a:srgbClr val="5B6E88"/>
                </a:solidFill>
                <a:latin typeface="微软雅黑"/>
                <a:ea typeface="微软雅黑"/>
              </a:rPr>
              <a:t>远程运维体系 </a:t>
            </a:r>
            <a:r>
              <a:rPr lang="en-US" altLang="zh-CN" sz="1400">
                <a:solidFill>
                  <a:srgbClr val="5B6E88"/>
                </a:solidFill>
                <a:latin typeface="微软雅黑"/>
                <a:ea typeface="微软雅黑"/>
              </a:rPr>
              <a:t>+ </a:t>
            </a:r>
            <a:r>
              <a:rPr lang="zh-CN" altLang="en-US" sz="1400">
                <a:solidFill>
                  <a:srgbClr val="5B6E88"/>
                </a:solidFill>
                <a:latin typeface="微软雅黑"/>
                <a:ea typeface="微软雅黑"/>
              </a:rPr>
              <a:t>商业风控能力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8E9F71F0-9D0F-1646-BF3B-20B9D29094E1}"/>
              </a:ext>
            </a:extLst>
          </p:cNvPr>
          <p:cNvSpPr/>
          <p:nvPr/>
        </p:nvSpPr>
        <p:spPr>
          <a:xfrm>
            <a:off x="762000" y="1295400"/>
            <a:ext cx="5181600" cy="3403600"/>
          </a:xfrm>
          <a:prstGeom prst="roundRect">
            <a:avLst/>
          </a:prstGeom>
          <a:solidFill>
            <a:srgbClr val="F4F6FA"/>
          </a:solidFill>
          <a:ln w="12700" cap="flat" cmpd="sng" algn="ctr">
            <a:solidFill>
              <a:srgbClr val="D6DE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200B6E4-1C05-5C46-AEDF-4703B6DC47CE}"/>
              </a:ext>
            </a:extLst>
          </p:cNvPr>
          <p:cNvSpPr/>
          <p:nvPr/>
        </p:nvSpPr>
        <p:spPr>
          <a:xfrm>
            <a:off x="1092200" y="1625600"/>
            <a:ext cx="114300" cy="114300"/>
          </a:xfrm>
          <a:prstGeom prst="rect">
            <a:avLst/>
          </a:prstGeom>
          <a:solidFill>
            <a:srgbClr val="8496A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8D51BCA-B057-DF4D-95DA-73CAC71C7F09}"/>
              </a:ext>
            </a:extLst>
          </p:cNvPr>
          <p:cNvSpPr txBox="1"/>
          <p:nvPr/>
        </p:nvSpPr>
        <p:spPr>
          <a:xfrm>
            <a:off x="1320800" y="1498600"/>
            <a:ext cx="4318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700" b="1" dirty="0">
                <a:solidFill>
                  <a:srgbClr val="5B6E88"/>
                </a:solidFill>
                <a:latin typeface="微软雅黑"/>
                <a:ea typeface="微软雅黑"/>
              </a:rPr>
              <a:t>这个项目「不是什么」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64AA74F-9D25-8C40-9DFF-C81C6F45F913}"/>
              </a:ext>
            </a:extLst>
          </p:cNvPr>
          <p:cNvSpPr txBox="1"/>
          <p:nvPr/>
        </p:nvSpPr>
        <p:spPr>
          <a:xfrm>
            <a:off x="1092200" y="2006600"/>
            <a:ext cx="4546600" cy="2489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400" dirty="0">
                <a:solidFill>
                  <a:srgbClr val="5B6E88"/>
                </a:solidFill>
                <a:latin typeface="微软雅黑"/>
                <a:ea typeface="微软雅黑"/>
              </a:rPr>
              <a:t>把 </a:t>
            </a:r>
            <a:r>
              <a:rPr lang="en" altLang="zh-CN" sz="1400" dirty="0">
                <a:solidFill>
                  <a:srgbClr val="5B6E88"/>
                </a:solidFill>
                <a:latin typeface="微软雅黑"/>
                <a:ea typeface="微软雅黑"/>
              </a:rPr>
              <a:t>PLC </a:t>
            </a:r>
            <a:r>
              <a:rPr lang="zh-CN" altLang="en-US" sz="1400" dirty="0">
                <a:solidFill>
                  <a:srgbClr val="5B6E88"/>
                </a:solidFill>
                <a:latin typeface="微软雅黑"/>
                <a:ea typeface="微软雅黑"/>
              </a:rPr>
              <a:t>画面搬到手机上的「远程控制」
只用来汇报和参观的「数据大屏」
让 </a:t>
            </a:r>
            <a:r>
              <a:rPr lang="en" altLang="zh-CN" sz="1400" dirty="0">
                <a:solidFill>
                  <a:srgbClr val="5B6E88"/>
                </a:solidFill>
                <a:latin typeface="微软雅黑"/>
                <a:ea typeface="微软雅黑"/>
              </a:rPr>
              <a:t>AI </a:t>
            </a:r>
            <a:r>
              <a:rPr lang="zh-CN" altLang="en-US" sz="1400" dirty="0">
                <a:solidFill>
                  <a:srgbClr val="5B6E88"/>
                </a:solidFill>
                <a:latin typeface="微软雅黑"/>
                <a:ea typeface="微软雅黑"/>
              </a:rPr>
              <a:t>直接接管高温高压设备的「无人工厂」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FC009E5C-9692-EE49-92FC-01B2F5D31E21}"/>
              </a:ext>
            </a:extLst>
          </p:cNvPr>
          <p:cNvSpPr/>
          <p:nvPr/>
        </p:nvSpPr>
        <p:spPr>
          <a:xfrm>
            <a:off x="6248400" y="1295400"/>
            <a:ext cx="5181600" cy="3403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DE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F6B9592-3C98-8242-87B3-2FD7D743C338}"/>
              </a:ext>
            </a:extLst>
          </p:cNvPr>
          <p:cNvSpPr/>
          <p:nvPr/>
        </p:nvSpPr>
        <p:spPr>
          <a:xfrm>
            <a:off x="6578600" y="1625600"/>
            <a:ext cx="114300" cy="114300"/>
          </a:xfrm>
          <a:prstGeom prst="rect">
            <a:avLst/>
          </a:prstGeom>
          <a:solidFill>
            <a:srgbClr val="2F559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FD29307-6989-AA4D-9A16-A302A1A754A8}"/>
              </a:ext>
            </a:extLst>
          </p:cNvPr>
          <p:cNvSpPr txBox="1"/>
          <p:nvPr/>
        </p:nvSpPr>
        <p:spPr>
          <a:xfrm>
            <a:off x="6807200" y="1498600"/>
            <a:ext cx="4318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700" b="1" dirty="0">
                <a:solidFill>
                  <a:srgbClr val="1F3864"/>
                </a:solidFill>
                <a:latin typeface="微软雅黑"/>
                <a:ea typeface="微软雅黑"/>
              </a:rPr>
              <a:t>项目目标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389B9A2-60EE-B640-88FF-1DE921E2AEB7}"/>
              </a:ext>
            </a:extLst>
          </p:cNvPr>
          <p:cNvSpPr txBox="1"/>
          <p:nvPr/>
        </p:nvSpPr>
        <p:spPr>
          <a:xfrm>
            <a:off x="6578600" y="2006600"/>
            <a:ext cx="4546600" cy="2489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400">
                <a:solidFill>
                  <a:srgbClr val="33475E"/>
                </a:solidFill>
                <a:latin typeface="微软雅黑"/>
                <a:ea typeface="微软雅黑"/>
              </a:rPr>
              <a:t>设备智能化：运行状态、健康趋势、异常风险可量化
远程运维体系：一个团队管多地工厂，问题在报警前被预见
商业风控能力：合同授权下的设备权限管理与分级风控机制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7997C5DC-76A3-5E46-A0AD-CACA2651DFA6}"/>
              </a:ext>
            </a:extLst>
          </p:cNvPr>
          <p:cNvSpPr/>
          <p:nvPr/>
        </p:nvSpPr>
        <p:spPr>
          <a:xfrm>
            <a:off x="762000" y="5003800"/>
            <a:ext cx="10668000" cy="965200"/>
          </a:xfrm>
          <a:prstGeom prst="roundRect">
            <a:avLst/>
          </a:prstGeom>
          <a:solidFill>
            <a:srgbClr val="1F386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F08C412-2840-274B-B543-F1DBB34F83B7}"/>
              </a:ext>
            </a:extLst>
          </p:cNvPr>
          <p:cNvSpPr txBox="1"/>
          <p:nvPr/>
        </p:nvSpPr>
        <p:spPr>
          <a:xfrm>
            <a:off x="1066800" y="5003800"/>
            <a:ext cx="10058400" cy="965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微软雅黑"/>
                <a:ea typeface="微软雅黑"/>
              </a:rPr>
              <a:t>一条原则贯穿始终：</a:t>
            </a:r>
            <a:r>
              <a:rPr lang="en" altLang="zh-CN" sz="1900" b="1">
                <a:solidFill>
                  <a:srgbClr val="FFFFFF"/>
                </a:solidFill>
                <a:latin typeface="微软雅黑"/>
                <a:ea typeface="微软雅黑"/>
              </a:rPr>
              <a:t>PLC </a:t>
            </a:r>
            <a:r>
              <a:rPr lang="zh-CN" altLang="en-US" sz="1900" b="1">
                <a:solidFill>
                  <a:srgbClr val="FFFFFF"/>
                </a:solidFill>
                <a:latin typeface="微软雅黑"/>
                <a:ea typeface="微软雅黑"/>
              </a:rPr>
              <a:t>守安全 </a:t>
            </a:r>
            <a:r>
              <a:rPr lang="en-US" altLang="zh-CN" sz="1900" b="1">
                <a:solidFill>
                  <a:srgbClr val="FFFFFF"/>
                </a:solidFill>
                <a:latin typeface="微软雅黑"/>
                <a:ea typeface="微软雅黑"/>
              </a:rPr>
              <a:t>· </a:t>
            </a:r>
            <a:r>
              <a:rPr lang="en" altLang="zh-CN" sz="1900" b="1">
                <a:solidFill>
                  <a:srgbClr val="FFFFFF"/>
                </a:solidFill>
                <a:latin typeface="微软雅黑"/>
                <a:ea typeface="微软雅黑"/>
              </a:rPr>
              <a:t>AI </a:t>
            </a:r>
            <a:r>
              <a:rPr lang="zh-CN" altLang="en-US" sz="1900" b="1">
                <a:solidFill>
                  <a:srgbClr val="FFFFFF"/>
                </a:solidFill>
                <a:latin typeface="微软雅黑"/>
                <a:ea typeface="微软雅黑"/>
              </a:rPr>
              <a:t>做大脑 </a:t>
            </a:r>
            <a:r>
              <a:rPr lang="en-US" altLang="zh-CN" sz="1900" b="1">
                <a:solidFill>
                  <a:srgbClr val="FFFFFF"/>
                </a:solidFill>
                <a:latin typeface="微软雅黑"/>
                <a:ea typeface="微软雅黑"/>
              </a:rPr>
              <a:t>· </a:t>
            </a:r>
            <a:r>
              <a:rPr lang="zh-CN" altLang="en-US" sz="1900" b="1">
                <a:solidFill>
                  <a:srgbClr val="FFFFFF"/>
                </a:solidFill>
                <a:latin typeface="微软雅黑"/>
                <a:ea typeface="微软雅黑"/>
              </a:rPr>
              <a:t>人做最终决策</a:t>
            </a:r>
          </a:p>
        </p:txBody>
      </p:sp>
    </p:spTree>
    <p:extLst>
      <p:ext uri="{BB962C8B-B14F-4D97-AF65-F5344CB8AC3E}">
        <p14:creationId xmlns:p14="http://schemas.microsoft.com/office/powerpoint/2010/main" val="29466982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AC7D712-A01D-844B-A9D7-68DB886F862E}"/>
              </a:ext>
            </a:extLst>
          </p:cNvPr>
          <p:cNvSpPr txBox="1"/>
          <p:nvPr/>
        </p:nvSpPr>
        <p:spPr>
          <a:xfrm>
            <a:off x="736600" y="330200"/>
            <a:ext cx="8890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2600" b="1">
                <a:solidFill>
                  <a:srgbClr val="1F3864"/>
                </a:solidFill>
                <a:latin typeface="微软雅黑"/>
                <a:ea typeface="微软雅黑"/>
              </a:rPr>
              <a:t>4. </a:t>
            </a:r>
            <a:r>
              <a:rPr lang="zh-CN" altLang="en-US" sz="2600" b="1">
                <a:solidFill>
                  <a:srgbClr val="1F3864"/>
                </a:solidFill>
                <a:latin typeface="微软雅黑"/>
                <a:ea typeface="微软雅黑"/>
              </a:rPr>
              <a:t>现有基础与可建设条件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968959D-F071-1341-AC6B-8187FAD8E277}"/>
              </a:ext>
            </a:extLst>
          </p:cNvPr>
          <p:cNvSpPr txBox="1"/>
          <p:nvPr/>
        </p:nvSpPr>
        <p:spPr>
          <a:xfrm>
            <a:off x="762000" y="8382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400">
                <a:solidFill>
                  <a:srgbClr val="5B6E88"/>
                </a:solidFill>
                <a:latin typeface="微软雅黑"/>
                <a:ea typeface="微软雅黑"/>
              </a:rPr>
              <a:t>数据、感知、安全执行机构均已就位 </a:t>
            </a:r>
            <a:r>
              <a:rPr lang="en-US" altLang="zh-CN" sz="1400">
                <a:solidFill>
                  <a:srgbClr val="5B6E88"/>
                </a:solidFill>
                <a:latin typeface="微软雅黑"/>
                <a:ea typeface="微软雅黑"/>
              </a:rPr>
              <a:t>—— </a:t>
            </a:r>
            <a:r>
              <a:rPr lang="zh-CN" altLang="en-US" sz="1400">
                <a:solidFill>
                  <a:srgbClr val="5B6E88"/>
                </a:solidFill>
                <a:latin typeface="微软雅黑"/>
                <a:ea typeface="微软雅黑"/>
              </a:rPr>
              <a:t>智能化不是从零开始，缺的是把它们连成体系的平台层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C360E6DB-4847-D342-9C3E-90F6BE7DF2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0891551"/>
              </p:ext>
            </p:extLst>
          </p:nvPr>
        </p:nvGraphicFramePr>
        <p:xfrm>
          <a:off x="762000" y="1244600"/>
          <a:ext cx="10668000" cy="37930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4000">
                  <a:extLst>
                    <a:ext uri="{9D8B030D-6E8A-4147-A177-3AD203B41FA5}">
                      <a16:colId xmlns:a16="http://schemas.microsoft.com/office/drawing/2014/main" val="1897475904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119449572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566446595"/>
                    </a:ext>
                  </a:extLst>
                </a:gridCol>
              </a:tblGrid>
              <a:tr h="592667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已有能力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现状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在智能化体系中的角色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4429527"/>
                  </a:ext>
                </a:extLst>
              </a:tr>
              <a:tr h="592667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F3864"/>
                          </a:solidFill>
                          <a:latin typeface="微软雅黑"/>
                          <a:ea typeface="微软雅黑"/>
                        </a:rPr>
                        <a:t>PLC 自动化控制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33475E"/>
                          </a:solidFill>
                          <a:latin typeface="微软雅黑"/>
                          <a:ea typeface="微软雅黑"/>
                        </a:rPr>
                        <a:t>成熟运行，含安全联锁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solidFill>
                            <a:srgbClr val="33475E"/>
                          </a:solidFill>
                          <a:latin typeface="微软雅黑"/>
                          <a:ea typeface="微软雅黑"/>
                        </a:rPr>
                        <a:t>现场实时控制与安全底座（保持不变）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0622854"/>
                  </a:ext>
                </a:extLst>
              </a:tr>
              <a:tr h="592667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 dirty="0">
                          <a:solidFill>
                            <a:srgbClr val="1F3864"/>
                          </a:solidFill>
                          <a:latin typeface="微软雅黑"/>
                          <a:ea typeface="微软雅黑"/>
                        </a:rPr>
                        <a:t>传感器点位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solidFill>
                            <a:srgbClr val="33475E"/>
                          </a:solidFill>
                          <a:latin typeface="微软雅黑"/>
                          <a:ea typeface="微软雅黑"/>
                        </a:rPr>
                        <a:t>已预留 100+，覆盖温度 / 压力 / 流量 / 液位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solidFill>
                            <a:srgbClr val="33475E"/>
                          </a:solidFill>
                          <a:latin typeface="微软雅黑"/>
                          <a:ea typeface="微软雅黑"/>
                        </a:rPr>
                        <a:t>AI 模型的数据来源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8061335"/>
                  </a:ext>
                </a:extLst>
              </a:tr>
              <a:tr h="592667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F3864"/>
                          </a:solidFill>
                          <a:latin typeface="微软雅黑"/>
                          <a:ea typeface="微软雅黑"/>
                        </a:rPr>
                        <a:t>秒级数据采集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solidFill>
                            <a:srgbClr val="33475E"/>
                          </a:solidFill>
                          <a:latin typeface="微软雅黑"/>
                          <a:ea typeface="微软雅黑"/>
                        </a:rPr>
                        <a:t>PLC 每秒采集 1 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solidFill>
                            <a:srgbClr val="33475E"/>
                          </a:solidFill>
                          <a:latin typeface="微软雅黑"/>
                          <a:ea typeface="微软雅黑"/>
                        </a:rPr>
                        <a:t>满足趋势分析与异常检测的时间分辨率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0608745"/>
                  </a:ext>
                </a:extLst>
              </a:tr>
              <a:tr h="592667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F3864"/>
                          </a:solidFill>
                          <a:latin typeface="微软雅黑"/>
                          <a:ea typeface="微软雅黑"/>
                        </a:rPr>
                        <a:t>环形轨道巡检机器人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solidFill>
                            <a:srgbClr val="33475E"/>
                          </a:solidFill>
                          <a:latin typeface="微软雅黑"/>
                          <a:ea typeface="微软雅黑"/>
                        </a:rPr>
                        <a:t>已部署，用于漏点监测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solidFill>
                            <a:srgbClr val="33475E"/>
                          </a:solidFill>
                          <a:latin typeface="微软雅黑"/>
                          <a:ea typeface="微软雅黑"/>
                        </a:rPr>
                        <a:t>视觉 / 点检数据接入，与报警联动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348611"/>
                  </a:ext>
                </a:extLst>
              </a:tr>
              <a:tr h="592667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F3864"/>
                          </a:solidFill>
                          <a:latin typeface="微软雅黑"/>
                          <a:ea typeface="微软雅黑"/>
                        </a:rPr>
                        <a:t>自动消防水炮 + 专用灭火剂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solidFill>
                            <a:srgbClr val="33475E"/>
                          </a:solidFill>
                          <a:latin typeface="微软雅黑"/>
                          <a:ea typeface="微软雅黑"/>
                        </a:rPr>
                        <a:t>已配备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solidFill>
                            <a:srgbClr val="33475E"/>
                          </a:solidFill>
                          <a:latin typeface="微软雅黑"/>
                          <a:ea typeface="微软雅黑"/>
                        </a:rPr>
                        <a:t>应急处置执行环节，纳入事件闭环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760751"/>
                  </a:ext>
                </a:extLst>
              </a:tr>
            </a:tbl>
          </a:graphicData>
        </a:graphic>
      </p:graphicFrame>
      <p:sp>
        <p:nvSpPr>
          <p:cNvPr id="6" name="圆角矩形 5">
            <a:extLst>
              <a:ext uri="{FF2B5EF4-FFF2-40B4-BE49-F238E27FC236}">
                <a16:creationId xmlns:a16="http://schemas.microsoft.com/office/drawing/2014/main" id="{92D76059-5B56-3047-A924-766649CA0297}"/>
              </a:ext>
            </a:extLst>
          </p:cNvPr>
          <p:cNvSpPr/>
          <p:nvPr/>
        </p:nvSpPr>
        <p:spPr>
          <a:xfrm>
            <a:off x="762000" y="5181600"/>
            <a:ext cx="10668000" cy="787400"/>
          </a:xfrm>
          <a:prstGeom prst="roundRect">
            <a:avLst/>
          </a:prstGeom>
          <a:solidFill>
            <a:srgbClr val="0B638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A64148F-A995-0340-B4AF-0DEB8E118C75}"/>
              </a:ext>
            </a:extLst>
          </p:cNvPr>
          <p:cNvSpPr txBox="1"/>
          <p:nvPr/>
        </p:nvSpPr>
        <p:spPr>
          <a:xfrm>
            <a:off x="1066800" y="5181600"/>
            <a:ext cx="10058400" cy="787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ctr"/>
            <a:r>
              <a:rPr lang="zh-CN" altLang="en-US" sz="1700" b="1" dirty="0">
                <a:solidFill>
                  <a:srgbClr val="FFFFFF"/>
                </a:solidFill>
                <a:latin typeface="微软雅黑"/>
                <a:ea typeface="微软雅黑"/>
              </a:rPr>
              <a:t>结论：硬件基础完备度高，平台建设可以「轻硬件、重数据、快见效」</a:t>
            </a:r>
          </a:p>
        </p:txBody>
      </p:sp>
    </p:spTree>
    <p:extLst>
      <p:ext uri="{BB962C8B-B14F-4D97-AF65-F5344CB8AC3E}">
        <p14:creationId xmlns:p14="http://schemas.microsoft.com/office/powerpoint/2010/main" val="4084940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C7CA725-A645-9C4D-AF05-EA2DBC5B7E8F}"/>
              </a:ext>
            </a:extLst>
          </p:cNvPr>
          <p:cNvSpPr txBox="1"/>
          <p:nvPr/>
        </p:nvSpPr>
        <p:spPr>
          <a:xfrm>
            <a:off x="736600" y="330200"/>
            <a:ext cx="9652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2600" b="1">
                <a:solidFill>
                  <a:srgbClr val="1F3864"/>
                </a:solidFill>
                <a:latin typeface="微软雅黑"/>
                <a:ea typeface="微软雅黑"/>
              </a:rPr>
              <a:t>5. </a:t>
            </a:r>
            <a:r>
              <a:rPr lang="zh-CN" altLang="en-US" sz="2600" b="1">
                <a:solidFill>
                  <a:srgbClr val="1F3864"/>
                </a:solidFill>
                <a:latin typeface="微软雅黑"/>
                <a:ea typeface="微软雅黑"/>
              </a:rPr>
              <a:t>从 </a:t>
            </a:r>
            <a:r>
              <a:rPr lang="en" altLang="zh-CN" sz="2600" b="1">
                <a:solidFill>
                  <a:srgbClr val="1F3864"/>
                </a:solidFill>
                <a:latin typeface="微软雅黑"/>
                <a:ea typeface="微软雅黑"/>
              </a:rPr>
              <a:t>PLC </a:t>
            </a:r>
            <a:r>
              <a:rPr lang="zh-CN" altLang="en-US" sz="2600" b="1">
                <a:solidFill>
                  <a:srgbClr val="1F3864"/>
                </a:solidFill>
                <a:latin typeface="微软雅黑"/>
                <a:ea typeface="微软雅黑"/>
              </a:rPr>
              <a:t>自动化到 </a:t>
            </a:r>
            <a:r>
              <a:rPr lang="en" altLang="zh-CN" sz="2600" b="1">
                <a:solidFill>
                  <a:srgbClr val="1F3864"/>
                </a:solidFill>
                <a:latin typeface="微软雅黑"/>
                <a:ea typeface="微软雅黑"/>
              </a:rPr>
              <a:t>AI </a:t>
            </a:r>
            <a:r>
              <a:rPr lang="zh-CN" altLang="en-US" sz="2600" b="1">
                <a:solidFill>
                  <a:srgbClr val="1F3864"/>
                </a:solidFill>
                <a:latin typeface="微软雅黑"/>
                <a:ea typeface="微软雅黑"/>
              </a:rPr>
              <a:t>智能化的升级路径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12136DA-9052-5A43-A5B6-1FF10024945B}"/>
              </a:ext>
            </a:extLst>
          </p:cNvPr>
          <p:cNvSpPr txBox="1"/>
          <p:nvPr/>
        </p:nvSpPr>
        <p:spPr>
          <a:xfrm>
            <a:off x="762000" y="8382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400">
                <a:solidFill>
                  <a:srgbClr val="5B6E88"/>
                </a:solidFill>
                <a:latin typeface="微软雅黑"/>
                <a:ea typeface="微软雅黑"/>
              </a:rPr>
              <a:t>七级台阶，每一级都可独立交付、独立见效 </a:t>
            </a:r>
            <a:r>
              <a:rPr lang="en-US" altLang="zh-CN" sz="1400">
                <a:solidFill>
                  <a:srgbClr val="5B6E88"/>
                </a:solidFill>
                <a:latin typeface="微软雅黑"/>
                <a:ea typeface="微软雅黑"/>
              </a:rPr>
              <a:t>—— </a:t>
            </a:r>
            <a:r>
              <a:rPr lang="zh-CN" altLang="en-US" sz="1400">
                <a:solidFill>
                  <a:srgbClr val="5B6E88"/>
                </a:solidFill>
                <a:latin typeface="微软雅黑"/>
                <a:ea typeface="微软雅黑"/>
              </a:rPr>
              <a:t>不是一步跳到「智能控制」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8102167A-167C-1C4E-9734-2D2F9419E140}"/>
              </a:ext>
            </a:extLst>
          </p:cNvPr>
          <p:cNvSpPr/>
          <p:nvPr/>
        </p:nvSpPr>
        <p:spPr>
          <a:xfrm>
            <a:off x="762000" y="4267200"/>
            <a:ext cx="1422400" cy="812800"/>
          </a:xfrm>
          <a:prstGeom prst="roundRect">
            <a:avLst/>
          </a:prstGeom>
          <a:solidFill>
            <a:srgbClr val="C7D5E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 anchorCtr="0">
            <a:noAutofit/>
          </a:bodyPr>
          <a:lstStyle/>
          <a:p>
            <a:pPr algn="ctr"/>
            <a:r>
              <a:rPr lang="en" altLang="zh-CN" sz="1400" b="1">
                <a:solidFill>
                  <a:srgbClr val="1F3864"/>
                </a:solidFill>
                <a:latin typeface="微软雅黑"/>
                <a:ea typeface="微软雅黑"/>
              </a:rPr>
              <a:t>01
PLC </a:t>
            </a:r>
            <a:r>
              <a:rPr lang="zh-CN" altLang="en-US" sz="1400" b="1">
                <a:solidFill>
                  <a:srgbClr val="1F3864"/>
                </a:solidFill>
                <a:latin typeface="微软雅黑"/>
                <a:ea typeface="微软雅黑"/>
              </a:rPr>
              <a:t>自动化
（现状）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4C808FDE-A403-654B-9F23-FE456A4D08D6}"/>
              </a:ext>
            </a:extLst>
          </p:cNvPr>
          <p:cNvSpPr/>
          <p:nvPr/>
        </p:nvSpPr>
        <p:spPr>
          <a:xfrm>
            <a:off x="2298700" y="3962400"/>
            <a:ext cx="1422400" cy="1117600"/>
          </a:xfrm>
          <a:prstGeom prst="roundRect">
            <a:avLst/>
          </a:prstGeom>
          <a:solidFill>
            <a:srgbClr val="A8BEE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 anchorCtr="0">
            <a:noAutofit/>
          </a:bodyPr>
          <a:lstStyle/>
          <a:p>
            <a:pPr algn="ctr"/>
            <a:r>
              <a:rPr lang="en-US" altLang="zh-CN" sz="1400" b="1">
                <a:solidFill>
                  <a:srgbClr val="1F3864"/>
                </a:solidFill>
                <a:latin typeface="微软雅黑"/>
                <a:ea typeface="微软雅黑"/>
              </a:rPr>
              <a:t>02
</a:t>
            </a:r>
            <a:r>
              <a:rPr lang="zh-CN" altLang="en-US" sz="1400" b="1">
                <a:solidFill>
                  <a:srgbClr val="1F3864"/>
                </a:solidFill>
                <a:latin typeface="微软雅黑"/>
                <a:ea typeface="微软雅黑"/>
              </a:rPr>
              <a:t>数据采集
与汇聚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0C14FEE9-66E2-FD4D-A400-C39F6226FE14}"/>
              </a:ext>
            </a:extLst>
          </p:cNvPr>
          <p:cNvSpPr/>
          <p:nvPr/>
        </p:nvSpPr>
        <p:spPr>
          <a:xfrm>
            <a:off x="3835400" y="3657600"/>
            <a:ext cx="1422400" cy="1422400"/>
          </a:xfrm>
          <a:prstGeom prst="roundRect">
            <a:avLst/>
          </a:prstGeom>
          <a:solidFill>
            <a:srgbClr val="8FAAD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 anchorCtr="0">
            <a:noAutofit/>
          </a:bodyPr>
          <a:lstStyle/>
          <a:p>
            <a:pPr algn="ctr"/>
            <a:r>
              <a:rPr lang="en-US" altLang="zh-CN" sz="1400" b="1">
                <a:solidFill>
                  <a:srgbClr val="1F3864"/>
                </a:solidFill>
                <a:latin typeface="微软雅黑"/>
                <a:ea typeface="微软雅黑"/>
              </a:rPr>
              <a:t>03
</a:t>
            </a:r>
            <a:r>
              <a:rPr lang="zh-CN" altLang="en-US" sz="1400" b="1">
                <a:solidFill>
                  <a:srgbClr val="1F3864"/>
                </a:solidFill>
                <a:latin typeface="微软雅黑"/>
                <a:ea typeface="微软雅黑"/>
              </a:rPr>
              <a:t>远程集中
监控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3A007745-3AC7-A747-8C4A-8938AB4BF12D}"/>
              </a:ext>
            </a:extLst>
          </p:cNvPr>
          <p:cNvSpPr/>
          <p:nvPr/>
        </p:nvSpPr>
        <p:spPr>
          <a:xfrm>
            <a:off x="5372100" y="3352800"/>
            <a:ext cx="1422400" cy="1727200"/>
          </a:xfrm>
          <a:prstGeom prst="roundRect">
            <a:avLst/>
          </a:prstGeom>
          <a:solidFill>
            <a:srgbClr val="4A74B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 anchorCtr="0">
            <a:noAutofit/>
          </a:bodyPr>
          <a:lstStyle/>
          <a:p>
            <a:pPr algn="ctr"/>
            <a:r>
              <a:rPr lang="en" altLang="zh-CN" sz="1400" b="1">
                <a:solidFill>
                  <a:srgbClr val="FFFFFF"/>
                </a:solidFill>
                <a:latin typeface="微软雅黑"/>
                <a:ea typeface="微软雅黑"/>
              </a:rPr>
              <a:t>04
AI </a:t>
            </a:r>
            <a:r>
              <a:rPr lang="zh-CN" altLang="en-US" sz="1400" b="1">
                <a:solidFill>
                  <a:srgbClr val="FFFFFF"/>
                </a:solidFill>
                <a:latin typeface="微软雅黑"/>
                <a:ea typeface="微软雅黑"/>
              </a:rPr>
              <a:t>异常
预警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71A8B05D-A317-5C45-90D2-586E4D7E8E01}"/>
              </a:ext>
            </a:extLst>
          </p:cNvPr>
          <p:cNvSpPr/>
          <p:nvPr/>
        </p:nvSpPr>
        <p:spPr>
          <a:xfrm>
            <a:off x="6908800" y="3048000"/>
            <a:ext cx="1422400" cy="2032000"/>
          </a:xfrm>
          <a:prstGeom prst="roundRect">
            <a:avLst/>
          </a:prstGeom>
          <a:solidFill>
            <a:srgbClr val="3D67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 anchorCtr="0">
            <a:noAutofit/>
          </a:bodyPr>
          <a:lstStyle/>
          <a:p>
            <a:pPr algn="ctr"/>
            <a:r>
              <a:rPr lang="en-US" altLang="zh-CN" sz="1400" b="1">
                <a:solidFill>
                  <a:srgbClr val="FFFFFF"/>
                </a:solidFill>
                <a:latin typeface="微软雅黑"/>
                <a:ea typeface="微软雅黑"/>
              </a:rPr>
              <a:t>05
</a:t>
            </a:r>
            <a:r>
              <a:rPr lang="zh-CN" altLang="en-US" sz="1400" b="1">
                <a:solidFill>
                  <a:srgbClr val="FFFFFF"/>
                </a:solidFill>
                <a:latin typeface="微软雅黑"/>
                <a:ea typeface="微软雅黑"/>
              </a:rPr>
              <a:t>参数优化
建议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62A5BE6A-B838-2E48-9021-AF70E84D6755}"/>
              </a:ext>
            </a:extLst>
          </p:cNvPr>
          <p:cNvSpPr/>
          <p:nvPr/>
        </p:nvSpPr>
        <p:spPr>
          <a:xfrm>
            <a:off x="8445500" y="2743200"/>
            <a:ext cx="1422400" cy="2336800"/>
          </a:xfrm>
          <a:prstGeom prst="roundRect">
            <a:avLst/>
          </a:prstGeom>
          <a:solidFill>
            <a:srgbClr val="2F559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 anchorCtr="0">
            <a:noAutofit/>
          </a:bodyPr>
          <a:lstStyle/>
          <a:p>
            <a:pPr algn="ctr"/>
            <a:r>
              <a:rPr lang="en-US" altLang="zh-CN" sz="1400" b="1">
                <a:solidFill>
                  <a:srgbClr val="FFFFFF"/>
                </a:solidFill>
                <a:latin typeface="微软雅黑"/>
                <a:ea typeface="微软雅黑"/>
              </a:rPr>
              <a:t>06
</a:t>
            </a:r>
            <a:r>
              <a:rPr lang="zh-CN" altLang="en-US" sz="1400" b="1">
                <a:solidFill>
                  <a:srgbClr val="FFFFFF"/>
                </a:solidFill>
                <a:latin typeface="微软雅黑"/>
                <a:ea typeface="微软雅黑"/>
              </a:rPr>
              <a:t>安全边界内
分级智能控制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A1C61868-4661-C14C-BC15-2C06C5FC5EC5}"/>
              </a:ext>
            </a:extLst>
          </p:cNvPr>
          <p:cNvSpPr/>
          <p:nvPr/>
        </p:nvSpPr>
        <p:spPr>
          <a:xfrm>
            <a:off x="9982200" y="2438400"/>
            <a:ext cx="1422400" cy="2641600"/>
          </a:xfrm>
          <a:prstGeom prst="roundRect">
            <a:avLst/>
          </a:prstGeom>
          <a:solidFill>
            <a:srgbClr val="1F386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 anchorCtr="0">
            <a:noAutofit/>
          </a:bodyPr>
          <a:lstStyle/>
          <a:p>
            <a:pPr algn="ctr"/>
            <a:r>
              <a:rPr lang="en-US" altLang="zh-CN" sz="1400" b="1">
                <a:solidFill>
                  <a:srgbClr val="FFFFFF"/>
                </a:solidFill>
                <a:latin typeface="微软雅黑"/>
                <a:ea typeface="微软雅黑"/>
              </a:rPr>
              <a:t>07
</a:t>
            </a:r>
            <a:r>
              <a:rPr lang="zh-CN" altLang="en-US" sz="1400" b="1">
                <a:solidFill>
                  <a:srgbClr val="FFFFFF"/>
                </a:solidFill>
                <a:latin typeface="微软雅黑"/>
                <a:ea typeface="微软雅黑"/>
              </a:rPr>
              <a:t>多产线
多基地复制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AA72F4EF-76CD-6748-8838-51F7B7377568}"/>
              </a:ext>
            </a:extLst>
          </p:cNvPr>
          <p:cNvSpPr/>
          <p:nvPr/>
        </p:nvSpPr>
        <p:spPr>
          <a:xfrm>
            <a:off x="762000" y="3860800"/>
            <a:ext cx="1422400" cy="330200"/>
          </a:xfrm>
          <a:prstGeom prst="roundRect">
            <a:avLst/>
          </a:prstGeom>
          <a:solidFill>
            <a:srgbClr val="A64A0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zh-CN" altLang="en-US" sz="1400" b="1" dirty="0">
                <a:solidFill>
                  <a:srgbClr val="FFFFFF"/>
                </a:solidFill>
                <a:latin typeface="微软雅黑"/>
                <a:ea typeface="微软雅黑"/>
              </a:rPr>
              <a:t>现状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48615B5-5768-3D4A-940B-9672BF6B04F6}"/>
              </a:ext>
            </a:extLst>
          </p:cNvPr>
          <p:cNvSpPr/>
          <p:nvPr/>
        </p:nvSpPr>
        <p:spPr>
          <a:xfrm>
            <a:off x="762000" y="5105400"/>
            <a:ext cx="10668000" cy="25400"/>
          </a:xfrm>
          <a:prstGeom prst="rect">
            <a:avLst/>
          </a:prstGeom>
          <a:solidFill>
            <a:srgbClr val="C3CED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E46BED2A-9B8B-AC48-AFAB-ADC3EE46AA20}"/>
              </a:ext>
            </a:extLst>
          </p:cNvPr>
          <p:cNvSpPr/>
          <p:nvPr/>
        </p:nvSpPr>
        <p:spPr>
          <a:xfrm>
            <a:off x="762000" y="5435600"/>
            <a:ext cx="2921000" cy="508000"/>
          </a:xfrm>
          <a:prstGeom prst="roundRect">
            <a:avLst/>
          </a:prstGeom>
          <a:solidFill>
            <a:srgbClr val="FFFFFF"/>
          </a:solidFill>
          <a:ln w="15875" cap="flat" cmpd="sng" algn="ctr">
            <a:solidFill>
              <a:srgbClr val="2F559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zh-CN" altLang="en-US" sz="1500" b="1">
                <a:solidFill>
                  <a:srgbClr val="2F5597"/>
                </a:solidFill>
                <a:latin typeface="微软雅黑"/>
                <a:ea typeface="微软雅黑"/>
              </a:rPr>
              <a:t>先数据、后 </a:t>
            </a:r>
            <a:r>
              <a:rPr lang="en" altLang="zh-CN" sz="1500" b="1">
                <a:solidFill>
                  <a:srgbClr val="2F5597"/>
                </a:solidFill>
                <a:latin typeface="微软雅黑"/>
                <a:ea typeface="微软雅黑"/>
              </a:rPr>
              <a:t>AI</a:t>
            </a:r>
            <a:endParaRPr lang="zh-CN" altLang="en-US" sz="1500" b="1">
              <a:solidFill>
                <a:srgbClr val="2F5597"/>
              </a:solidFill>
              <a:latin typeface="微软雅黑"/>
              <a:ea typeface="微软雅黑"/>
            </a:endParaRPr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4936690C-9DE9-2B4F-A2F4-B9EC0D372C15}"/>
              </a:ext>
            </a:extLst>
          </p:cNvPr>
          <p:cNvSpPr/>
          <p:nvPr/>
        </p:nvSpPr>
        <p:spPr>
          <a:xfrm>
            <a:off x="4000500" y="5435600"/>
            <a:ext cx="3683000" cy="508000"/>
          </a:xfrm>
          <a:prstGeom prst="roundRect">
            <a:avLst/>
          </a:prstGeom>
          <a:solidFill>
            <a:srgbClr val="FFFFFF"/>
          </a:solidFill>
          <a:ln w="15875" cap="flat" cmpd="sng" algn="ctr">
            <a:solidFill>
              <a:srgbClr val="2F559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zh-CN" altLang="en-US" sz="1500" b="1">
                <a:solidFill>
                  <a:srgbClr val="2F5597"/>
                </a:solidFill>
                <a:latin typeface="微软雅黑"/>
                <a:ea typeface="微软雅黑"/>
              </a:rPr>
              <a:t>先辅助决策、后分级控制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6F7D7489-D81E-FC4F-A45C-866CEC76CBB8}"/>
              </a:ext>
            </a:extLst>
          </p:cNvPr>
          <p:cNvSpPr/>
          <p:nvPr/>
        </p:nvSpPr>
        <p:spPr>
          <a:xfrm>
            <a:off x="8001000" y="5435600"/>
            <a:ext cx="3429000" cy="508000"/>
          </a:xfrm>
          <a:prstGeom prst="roundRect">
            <a:avLst/>
          </a:prstGeom>
          <a:solidFill>
            <a:srgbClr val="FFFFFF"/>
          </a:solidFill>
          <a:ln w="15875" cap="flat" cmpd="sng" algn="ctr">
            <a:solidFill>
              <a:srgbClr val="2F559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zh-CN" altLang="en-US" sz="1500" b="1">
                <a:solidFill>
                  <a:srgbClr val="2F5597"/>
                </a:solidFill>
                <a:latin typeface="微软雅黑"/>
                <a:ea typeface="微软雅黑"/>
              </a:rPr>
              <a:t>先试点线、后全场复制</a:t>
            </a:r>
          </a:p>
        </p:txBody>
      </p:sp>
    </p:spTree>
    <p:extLst>
      <p:ext uri="{BB962C8B-B14F-4D97-AF65-F5344CB8AC3E}">
        <p14:creationId xmlns:p14="http://schemas.microsoft.com/office/powerpoint/2010/main" val="25568258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9F96CDE-190C-C84C-8E1C-CCD231DE18C8}"/>
              </a:ext>
            </a:extLst>
          </p:cNvPr>
          <p:cNvSpPr txBox="1"/>
          <p:nvPr/>
        </p:nvSpPr>
        <p:spPr>
          <a:xfrm>
            <a:off x="736600" y="330200"/>
            <a:ext cx="8890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2600" b="1">
                <a:solidFill>
                  <a:srgbClr val="1F3864"/>
                </a:solidFill>
                <a:latin typeface="微软雅黑"/>
                <a:ea typeface="微软雅黑"/>
              </a:rPr>
              <a:t>6. </a:t>
            </a:r>
            <a:r>
              <a:rPr lang="zh-CN" altLang="en-US" sz="2600" b="1">
                <a:solidFill>
                  <a:srgbClr val="1F3864"/>
                </a:solidFill>
                <a:latin typeface="微软雅黑"/>
                <a:ea typeface="微软雅黑"/>
              </a:rPr>
              <a:t>总体技术架构：五层解耦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AFE605D-544E-0D47-819C-0B0FA06FA2D0}"/>
              </a:ext>
            </a:extLst>
          </p:cNvPr>
          <p:cNvSpPr txBox="1"/>
          <p:nvPr/>
        </p:nvSpPr>
        <p:spPr>
          <a:xfrm>
            <a:off x="762000" y="8382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400">
                <a:solidFill>
                  <a:srgbClr val="5B6E88"/>
                </a:solidFill>
                <a:latin typeface="微软雅黑"/>
                <a:ea typeface="微软雅黑"/>
              </a:rPr>
              <a:t>现场控制与云端智能物理分离 </a:t>
            </a:r>
            <a:r>
              <a:rPr lang="en-US" altLang="zh-CN" sz="1400">
                <a:solidFill>
                  <a:srgbClr val="5B6E88"/>
                </a:solidFill>
                <a:latin typeface="微软雅黑"/>
                <a:ea typeface="微软雅黑"/>
              </a:rPr>
              <a:t>—— </a:t>
            </a:r>
            <a:r>
              <a:rPr lang="zh-CN" altLang="en-US" sz="1400">
                <a:solidFill>
                  <a:srgbClr val="5B6E88"/>
                </a:solidFill>
                <a:latin typeface="微软雅黑"/>
                <a:ea typeface="微软雅黑"/>
              </a:rPr>
              <a:t>平台故障、网络中断均不影响现场安全运行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A6FCAC25-8F36-3A44-9915-EFCC87646F01}"/>
              </a:ext>
            </a:extLst>
          </p:cNvPr>
          <p:cNvSpPr/>
          <p:nvPr/>
        </p:nvSpPr>
        <p:spPr>
          <a:xfrm>
            <a:off x="762000" y="1219200"/>
            <a:ext cx="8763000" cy="736600"/>
          </a:xfrm>
          <a:prstGeom prst="roundRect">
            <a:avLst/>
          </a:prstGeom>
          <a:solidFill>
            <a:srgbClr val="8FAAD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r>
              <a:rPr lang="en-US" altLang="zh-CN" sz="1500" b="1">
                <a:solidFill>
                  <a:srgbClr val="1F3864"/>
                </a:solidFill>
                <a:latin typeface="微软雅黑"/>
                <a:ea typeface="微软雅黑"/>
              </a:rPr>
              <a:t>⑤ </a:t>
            </a:r>
            <a:r>
              <a:rPr lang="zh-CN" altLang="en-US" sz="1500" b="1">
                <a:solidFill>
                  <a:srgbClr val="1F3864"/>
                </a:solidFill>
                <a:latin typeface="微软雅黑"/>
                <a:ea typeface="微软雅黑"/>
              </a:rPr>
              <a:t>远程运维应用层　｜　运维驾驶舱 </a:t>
            </a:r>
            <a:r>
              <a:rPr lang="en-US" altLang="zh-CN" sz="1500" b="1">
                <a:solidFill>
                  <a:srgbClr val="1F3864"/>
                </a:solidFill>
                <a:latin typeface="微软雅黑"/>
                <a:ea typeface="微软雅黑"/>
              </a:rPr>
              <a:t>· </a:t>
            </a:r>
            <a:r>
              <a:rPr lang="zh-CN" altLang="en-US" sz="1500" b="1">
                <a:solidFill>
                  <a:srgbClr val="1F3864"/>
                </a:solidFill>
                <a:latin typeface="微软雅黑"/>
                <a:ea typeface="微软雅黑"/>
              </a:rPr>
              <a:t>移动端报警 </a:t>
            </a:r>
            <a:r>
              <a:rPr lang="en-US" altLang="zh-CN" sz="1500" b="1">
                <a:solidFill>
                  <a:srgbClr val="1F3864"/>
                </a:solidFill>
                <a:latin typeface="微软雅黑"/>
                <a:ea typeface="微软雅黑"/>
              </a:rPr>
              <a:t>· </a:t>
            </a:r>
            <a:r>
              <a:rPr lang="zh-CN" altLang="en-US" sz="1500" b="1">
                <a:solidFill>
                  <a:srgbClr val="1F3864"/>
                </a:solidFill>
                <a:latin typeface="微软雅黑"/>
                <a:ea typeface="微软雅黑"/>
              </a:rPr>
              <a:t>风控权限管理 </a:t>
            </a:r>
            <a:r>
              <a:rPr lang="en-US" altLang="zh-CN" sz="1500" b="1">
                <a:solidFill>
                  <a:srgbClr val="1F3864"/>
                </a:solidFill>
                <a:latin typeface="微软雅黑"/>
                <a:ea typeface="微软雅黑"/>
              </a:rPr>
              <a:t>· </a:t>
            </a:r>
            <a:r>
              <a:rPr lang="zh-CN" altLang="en-US" sz="1500" b="1">
                <a:solidFill>
                  <a:srgbClr val="1F3864"/>
                </a:solidFill>
                <a:latin typeface="微软雅黑"/>
                <a:ea typeface="微软雅黑"/>
              </a:rPr>
              <a:t>日报月报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F7451842-9C49-D248-BDEE-9860C01FF1A6}"/>
              </a:ext>
            </a:extLst>
          </p:cNvPr>
          <p:cNvSpPr/>
          <p:nvPr/>
        </p:nvSpPr>
        <p:spPr>
          <a:xfrm>
            <a:off x="762000" y="2057400"/>
            <a:ext cx="8763000" cy="736600"/>
          </a:xfrm>
          <a:prstGeom prst="roundRect">
            <a:avLst/>
          </a:prstGeom>
          <a:solidFill>
            <a:srgbClr val="4A74B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r>
              <a:rPr lang="en" altLang="zh-CN" sz="1500" b="1">
                <a:solidFill>
                  <a:srgbClr val="FFFFFF"/>
                </a:solidFill>
                <a:latin typeface="微软雅黑"/>
                <a:ea typeface="微软雅黑"/>
              </a:rPr>
              <a:t>④ AI </a:t>
            </a:r>
            <a:r>
              <a:rPr lang="zh-CN" altLang="en-US" sz="1500" b="1">
                <a:solidFill>
                  <a:srgbClr val="FFFFFF"/>
                </a:solidFill>
                <a:latin typeface="微软雅黑"/>
                <a:ea typeface="微软雅黑"/>
              </a:rPr>
              <a:t>分析层　｜　异常预警 </a:t>
            </a:r>
            <a:r>
              <a:rPr lang="en-US" altLang="zh-CN" sz="1500" b="1">
                <a:solidFill>
                  <a:srgbClr val="FFFFFF"/>
                </a:solidFill>
                <a:latin typeface="微软雅黑"/>
                <a:ea typeface="微软雅黑"/>
              </a:rPr>
              <a:t>· </a:t>
            </a:r>
            <a:r>
              <a:rPr lang="zh-CN" altLang="en-US" sz="1500" b="1">
                <a:solidFill>
                  <a:srgbClr val="FFFFFF"/>
                </a:solidFill>
                <a:latin typeface="微软雅黑"/>
                <a:ea typeface="微软雅黑"/>
              </a:rPr>
              <a:t>健康评分 </a:t>
            </a:r>
            <a:r>
              <a:rPr lang="en-US" altLang="zh-CN" sz="1500" b="1">
                <a:solidFill>
                  <a:srgbClr val="FFFFFF"/>
                </a:solidFill>
                <a:latin typeface="微软雅黑"/>
                <a:ea typeface="微软雅黑"/>
              </a:rPr>
              <a:t>· </a:t>
            </a:r>
            <a:r>
              <a:rPr lang="zh-CN" altLang="en-US" sz="1500" b="1">
                <a:solidFill>
                  <a:srgbClr val="FFFFFF"/>
                </a:solidFill>
                <a:latin typeface="微软雅黑"/>
                <a:ea typeface="微软雅黑"/>
              </a:rPr>
              <a:t>故障诊断辅助 </a:t>
            </a:r>
            <a:r>
              <a:rPr lang="en-US" altLang="zh-CN" sz="1500" b="1">
                <a:solidFill>
                  <a:srgbClr val="FFFFFF"/>
                </a:solidFill>
                <a:latin typeface="微软雅黑"/>
                <a:ea typeface="微软雅黑"/>
              </a:rPr>
              <a:t>· </a:t>
            </a:r>
            <a:r>
              <a:rPr lang="zh-CN" altLang="en-US" sz="1500" b="1">
                <a:solidFill>
                  <a:srgbClr val="FFFFFF"/>
                </a:solidFill>
                <a:latin typeface="微软雅黑"/>
                <a:ea typeface="微软雅黑"/>
              </a:rPr>
              <a:t>参数优化建议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7995CCB7-A865-604B-86EE-3D315D88F2C2}"/>
              </a:ext>
            </a:extLst>
          </p:cNvPr>
          <p:cNvSpPr/>
          <p:nvPr/>
        </p:nvSpPr>
        <p:spPr>
          <a:xfrm>
            <a:off x="762000" y="2895600"/>
            <a:ext cx="8763000" cy="736600"/>
          </a:xfrm>
          <a:prstGeom prst="roundRect">
            <a:avLst/>
          </a:prstGeom>
          <a:solidFill>
            <a:srgbClr val="3D67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r>
              <a:rPr lang="en-US" altLang="zh-CN" sz="1500" b="1">
                <a:solidFill>
                  <a:srgbClr val="FFFFFF"/>
                </a:solidFill>
                <a:latin typeface="微软雅黑"/>
                <a:ea typeface="微软雅黑"/>
              </a:rPr>
              <a:t>③ </a:t>
            </a:r>
            <a:r>
              <a:rPr lang="zh-CN" altLang="en-US" sz="1500" b="1">
                <a:solidFill>
                  <a:srgbClr val="FFFFFF"/>
                </a:solidFill>
                <a:latin typeface="微软雅黑"/>
                <a:ea typeface="微软雅黑"/>
              </a:rPr>
              <a:t>数据平台层　｜　时序数据库 </a:t>
            </a:r>
            <a:r>
              <a:rPr lang="en-US" altLang="zh-CN" sz="1500" b="1">
                <a:solidFill>
                  <a:srgbClr val="FFFFFF"/>
                </a:solidFill>
                <a:latin typeface="微软雅黑"/>
                <a:ea typeface="微软雅黑"/>
              </a:rPr>
              <a:t>· </a:t>
            </a:r>
            <a:r>
              <a:rPr lang="zh-CN" altLang="en-US" sz="1500" b="1">
                <a:solidFill>
                  <a:srgbClr val="FFFFFF"/>
                </a:solidFill>
                <a:latin typeface="微软雅黑"/>
                <a:ea typeface="微软雅黑"/>
              </a:rPr>
              <a:t>数据治理 </a:t>
            </a:r>
            <a:r>
              <a:rPr lang="en-US" altLang="zh-CN" sz="1500" b="1">
                <a:solidFill>
                  <a:srgbClr val="FFFFFF"/>
                </a:solidFill>
                <a:latin typeface="微软雅黑"/>
                <a:ea typeface="微软雅黑"/>
              </a:rPr>
              <a:t>· </a:t>
            </a:r>
            <a:r>
              <a:rPr lang="zh-CN" altLang="en-US" sz="1500" b="1">
                <a:solidFill>
                  <a:srgbClr val="FFFFFF"/>
                </a:solidFill>
                <a:latin typeface="微软雅黑"/>
                <a:ea typeface="微软雅黑"/>
              </a:rPr>
              <a:t>设备台账 </a:t>
            </a:r>
            <a:r>
              <a:rPr lang="en-US" altLang="zh-CN" sz="1500" b="1">
                <a:solidFill>
                  <a:srgbClr val="FFFFFF"/>
                </a:solidFill>
                <a:latin typeface="微软雅黑"/>
                <a:ea typeface="微软雅黑"/>
              </a:rPr>
              <a:t>· </a:t>
            </a:r>
            <a:r>
              <a:rPr lang="zh-CN" altLang="en-US" sz="1500" b="1">
                <a:solidFill>
                  <a:srgbClr val="FFFFFF"/>
                </a:solidFill>
                <a:latin typeface="微软雅黑"/>
                <a:ea typeface="微软雅黑"/>
              </a:rPr>
              <a:t>权限与审计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D50C3FFD-C9F4-6D48-B1F1-81369F818F7C}"/>
              </a:ext>
            </a:extLst>
          </p:cNvPr>
          <p:cNvSpPr/>
          <p:nvPr/>
        </p:nvSpPr>
        <p:spPr>
          <a:xfrm>
            <a:off x="762000" y="3733800"/>
            <a:ext cx="8763000" cy="736600"/>
          </a:xfrm>
          <a:prstGeom prst="roundRect">
            <a:avLst/>
          </a:prstGeom>
          <a:solidFill>
            <a:srgbClr val="2F559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r>
              <a:rPr lang="en-US" altLang="zh-CN" sz="1500" b="1">
                <a:solidFill>
                  <a:srgbClr val="FFFFFF"/>
                </a:solidFill>
                <a:latin typeface="微软雅黑"/>
                <a:ea typeface="微软雅黑"/>
              </a:rPr>
              <a:t>② </a:t>
            </a:r>
            <a:r>
              <a:rPr lang="zh-CN" altLang="en-US" sz="1500" b="1">
                <a:solidFill>
                  <a:srgbClr val="FFFFFF"/>
                </a:solidFill>
                <a:latin typeface="微软雅黑"/>
                <a:ea typeface="微软雅黑"/>
              </a:rPr>
              <a:t>数据采集层　｜　</a:t>
            </a:r>
            <a:r>
              <a:rPr lang="en" altLang="zh-CN" sz="1500" b="1">
                <a:solidFill>
                  <a:srgbClr val="FFFFFF"/>
                </a:solidFill>
                <a:latin typeface="微软雅黑"/>
                <a:ea typeface="微软雅黑"/>
              </a:rPr>
              <a:t>PLC </a:t>
            </a:r>
            <a:r>
              <a:rPr lang="zh-CN" altLang="en-US" sz="1500" b="1">
                <a:solidFill>
                  <a:srgbClr val="FFFFFF"/>
                </a:solidFill>
                <a:latin typeface="微软雅黑"/>
                <a:ea typeface="微软雅黑"/>
              </a:rPr>
              <a:t>协议采集 </a:t>
            </a:r>
            <a:r>
              <a:rPr lang="en-US" altLang="zh-CN" sz="1500" b="1">
                <a:solidFill>
                  <a:srgbClr val="FFFFFF"/>
                </a:solidFill>
                <a:latin typeface="微软雅黑"/>
                <a:ea typeface="微软雅黑"/>
              </a:rPr>
              <a:t>· </a:t>
            </a:r>
            <a:r>
              <a:rPr lang="zh-CN" altLang="en-US" sz="1500" b="1">
                <a:solidFill>
                  <a:srgbClr val="FFFFFF"/>
                </a:solidFill>
                <a:latin typeface="微软雅黑"/>
                <a:ea typeface="微软雅黑"/>
              </a:rPr>
              <a:t>巡检机器人接入 </a:t>
            </a:r>
            <a:r>
              <a:rPr lang="en-US" altLang="zh-CN" sz="1500" b="1">
                <a:solidFill>
                  <a:srgbClr val="FFFFFF"/>
                </a:solidFill>
                <a:latin typeface="微软雅黑"/>
                <a:ea typeface="微软雅黑"/>
              </a:rPr>
              <a:t>· </a:t>
            </a:r>
            <a:r>
              <a:rPr lang="zh-CN" altLang="en-US" sz="1500" b="1">
                <a:solidFill>
                  <a:srgbClr val="FFFFFF"/>
                </a:solidFill>
                <a:latin typeface="微软雅黑"/>
                <a:ea typeface="微软雅黑"/>
              </a:rPr>
              <a:t>边缘网关 </a:t>
            </a:r>
            <a:r>
              <a:rPr lang="en-US" altLang="zh-CN" sz="1500" b="1">
                <a:solidFill>
                  <a:srgbClr val="FFFFFF"/>
                </a:solidFill>
                <a:latin typeface="微软雅黑"/>
                <a:ea typeface="微软雅黑"/>
              </a:rPr>
              <a:t>· </a:t>
            </a:r>
            <a:r>
              <a:rPr lang="zh-CN" altLang="en-US" sz="1500" b="1">
                <a:solidFill>
                  <a:srgbClr val="FFFFFF"/>
                </a:solidFill>
                <a:latin typeface="微软雅黑"/>
                <a:ea typeface="微软雅黑"/>
              </a:rPr>
              <a:t>断点续传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338D09EB-2D99-1946-979B-EF27CA48B641}"/>
              </a:ext>
            </a:extLst>
          </p:cNvPr>
          <p:cNvSpPr/>
          <p:nvPr/>
        </p:nvSpPr>
        <p:spPr>
          <a:xfrm>
            <a:off x="762000" y="4572000"/>
            <a:ext cx="8763000" cy="736600"/>
          </a:xfrm>
          <a:prstGeom prst="round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r>
              <a:rPr lang="en-US" altLang="zh-CN" sz="1500" b="1">
                <a:solidFill>
                  <a:srgbClr val="FFFFFF"/>
                </a:solidFill>
                <a:latin typeface="微软雅黑"/>
                <a:ea typeface="微软雅黑"/>
              </a:rPr>
              <a:t>① </a:t>
            </a:r>
            <a:r>
              <a:rPr lang="zh-CN" altLang="en-US" sz="1500" b="1">
                <a:solidFill>
                  <a:srgbClr val="FFFFFF"/>
                </a:solidFill>
                <a:latin typeface="微软雅黑"/>
                <a:ea typeface="微软雅黑"/>
              </a:rPr>
              <a:t>现场设备层　｜　裂解装置 </a:t>
            </a:r>
            <a:r>
              <a:rPr lang="en-US" altLang="zh-CN" sz="1500" b="1">
                <a:solidFill>
                  <a:srgbClr val="FFFFFF"/>
                </a:solidFill>
                <a:latin typeface="微软雅黑"/>
                <a:ea typeface="微软雅黑"/>
              </a:rPr>
              <a:t>· </a:t>
            </a:r>
            <a:r>
              <a:rPr lang="en" altLang="zh-CN" sz="1500" b="1">
                <a:solidFill>
                  <a:srgbClr val="FFFFFF"/>
                </a:solidFill>
                <a:latin typeface="微软雅黑"/>
                <a:ea typeface="微软雅黑"/>
              </a:rPr>
              <a:t>PLC </a:t>
            </a:r>
            <a:r>
              <a:rPr lang="zh-CN" altLang="en-US" sz="1500" b="1">
                <a:solidFill>
                  <a:srgbClr val="FFFFFF"/>
                </a:solidFill>
                <a:latin typeface="微软雅黑"/>
                <a:ea typeface="微软雅黑"/>
              </a:rPr>
              <a:t>与安全联锁 </a:t>
            </a:r>
            <a:r>
              <a:rPr lang="en-US" altLang="zh-CN" sz="1500" b="1">
                <a:solidFill>
                  <a:srgbClr val="FFFFFF"/>
                </a:solidFill>
                <a:latin typeface="微软雅黑"/>
                <a:ea typeface="微软雅黑"/>
              </a:rPr>
              <a:t>· </a:t>
            </a:r>
            <a:r>
              <a:rPr lang="zh-CN" altLang="en-US" sz="1500" b="1">
                <a:solidFill>
                  <a:srgbClr val="FFFFFF"/>
                </a:solidFill>
                <a:latin typeface="微软雅黑"/>
                <a:ea typeface="微软雅黑"/>
              </a:rPr>
              <a:t>传感器 </a:t>
            </a:r>
            <a:r>
              <a:rPr lang="en-US" altLang="zh-CN" sz="1500" b="1">
                <a:solidFill>
                  <a:srgbClr val="FFFFFF"/>
                </a:solidFill>
                <a:latin typeface="微软雅黑"/>
                <a:ea typeface="微软雅黑"/>
              </a:rPr>
              <a:t>· </a:t>
            </a:r>
            <a:r>
              <a:rPr lang="zh-CN" altLang="en-US" sz="1500" b="1">
                <a:solidFill>
                  <a:srgbClr val="FFFFFF"/>
                </a:solidFill>
                <a:latin typeface="微软雅黑"/>
                <a:ea typeface="微软雅黑"/>
              </a:rPr>
              <a:t>消防系统（控制权保留在本层）</a:t>
            </a:r>
          </a:p>
        </p:txBody>
      </p:sp>
      <p:sp>
        <p:nvSpPr>
          <p:cNvPr id="9" name="上箭头 8">
            <a:extLst>
              <a:ext uri="{FF2B5EF4-FFF2-40B4-BE49-F238E27FC236}">
                <a16:creationId xmlns:a16="http://schemas.microsoft.com/office/drawing/2014/main" id="{893CD3F3-0EB6-B741-B694-A6C58BA8BAB2}"/>
              </a:ext>
            </a:extLst>
          </p:cNvPr>
          <p:cNvSpPr/>
          <p:nvPr/>
        </p:nvSpPr>
        <p:spPr>
          <a:xfrm>
            <a:off x="10033000" y="1371600"/>
            <a:ext cx="533400" cy="2921000"/>
          </a:xfrm>
          <a:prstGeom prst="upArrow">
            <a:avLst/>
          </a:prstGeom>
          <a:solidFill>
            <a:srgbClr val="0F9ED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0" name="下箭头 9">
            <a:extLst>
              <a:ext uri="{FF2B5EF4-FFF2-40B4-BE49-F238E27FC236}">
                <a16:creationId xmlns:a16="http://schemas.microsoft.com/office/drawing/2014/main" id="{840099E8-73DC-6E4F-B4F0-7BA86488CA2E}"/>
              </a:ext>
            </a:extLst>
          </p:cNvPr>
          <p:cNvSpPr/>
          <p:nvPr/>
        </p:nvSpPr>
        <p:spPr>
          <a:xfrm>
            <a:off x="10820400" y="1371600"/>
            <a:ext cx="533400" cy="2921000"/>
          </a:xfrm>
          <a:prstGeom prst="downArrow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1FDD704-AC7C-6142-B531-7240601AC832}"/>
              </a:ext>
            </a:extLst>
          </p:cNvPr>
          <p:cNvSpPr txBox="1"/>
          <p:nvPr/>
        </p:nvSpPr>
        <p:spPr>
          <a:xfrm>
            <a:off x="9880600" y="4394200"/>
            <a:ext cx="8128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zh-CN" altLang="en-US" sz="1400" b="1">
                <a:solidFill>
                  <a:srgbClr val="0B6383"/>
                </a:solidFill>
                <a:latin typeface="微软雅黑"/>
                <a:ea typeface="微软雅黑"/>
              </a:rPr>
              <a:t>数据上行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5B7FFF3-76CF-C24D-BF01-B96254493DB7}"/>
              </a:ext>
            </a:extLst>
          </p:cNvPr>
          <p:cNvSpPr txBox="1"/>
          <p:nvPr/>
        </p:nvSpPr>
        <p:spPr>
          <a:xfrm>
            <a:off x="10744200" y="4394200"/>
            <a:ext cx="9652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zh-CN" altLang="en-US" sz="1400" b="1">
                <a:solidFill>
                  <a:srgbClr val="A64A0B"/>
                </a:solidFill>
                <a:latin typeface="微软雅黑"/>
                <a:ea typeface="微软雅黑"/>
              </a:rPr>
              <a:t>受控指令下行
授权＋联锁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07E4D4BF-3BEA-694C-AB54-6BA3035F8F93}"/>
              </a:ext>
            </a:extLst>
          </p:cNvPr>
          <p:cNvSpPr/>
          <p:nvPr/>
        </p:nvSpPr>
        <p:spPr>
          <a:xfrm>
            <a:off x="762000" y="5435600"/>
            <a:ext cx="10668000" cy="609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DE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7DE0DFD-556F-AE4B-8908-D8723359BA90}"/>
              </a:ext>
            </a:extLst>
          </p:cNvPr>
          <p:cNvSpPr txBox="1"/>
          <p:nvPr/>
        </p:nvSpPr>
        <p:spPr>
          <a:xfrm>
            <a:off x="1066800" y="5435600"/>
            <a:ext cx="10058400" cy="609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ctr"/>
            <a:r>
              <a:rPr lang="zh-CN" altLang="en-US" sz="1400" b="1">
                <a:solidFill>
                  <a:srgbClr val="1F3864"/>
                </a:solidFill>
                <a:latin typeface="微软雅黑"/>
                <a:ea typeface="微软雅黑"/>
              </a:rPr>
              <a:t>数据以单向上行为主　</a:t>
            </a:r>
            <a:r>
              <a:rPr lang="en-US" altLang="zh-CN" sz="1400" b="1">
                <a:solidFill>
                  <a:srgbClr val="1F3864"/>
                </a:solidFill>
                <a:latin typeface="微软雅黑"/>
                <a:ea typeface="微软雅黑"/>
              </a:rPr>
              <a:t>·</a:t>
            </a:r>
            <a:r>
              <a:rPr lang="zh-CN" altLang="en-US" sz="1400" b="1">
                <a:solidFill>
                  <a:srgbClr val="1F3864"/>
                </a:solidFill>
                <a:latin typeface="微软雅黑"/>
                <a:ea typeface="微软雅黑"/>
              </a:rPr>
              <a:t>　任何下行指令须经「授权 → 审批 → </a:t>
            </a:r>
            <a:r>
              <a:rPr lang="en" altLang="zh-CN" sz="1400" b="1">
                <a:solidFill>
                  <a:srgbClr val="1F3864"/>
                </a:solidFill>
                <a:latin typeface="微软雅黑"/>
                <a:ea typeface="微软雅黑"/>
              </a:rPr>
              <a:t>PLC </a:t>
            </a:r>
            <a:r>
              <a:rPr lang="zh-CN" altLang="en-US" sz="1400" b="1">
                <a:solidFill>
                  <a:srgbClr val="1F3864"/>
                </a:solidFill>
                <a:latin typeface="微软雅黑"/>
                <a:ea typeface="微软雅黑"/>
              </a:rPr>
              <a:t>联锁校验」三道关　</a:t>
            </a:r>
            <a:r>
              <a:rPr lang="en-US" altLang="zh-CN" sz="1400" b="1">
                <a:solidFill>
                  <a:srgbClr val="1F3864"/>
                </a:solidFill>
                <a:latin typeface="微软雅黑"/>
                <a:ea typeface="微软雅黑"/>
              </a:rPr>
              <a:t>·</a:t>
            </a:r>
            <a:r>
              <a:rPr lang="zh-CN" altLang="en-US" sz="1400" b="1">
                <a:solidFill>
                  <a:srgbClr val="1F3864"/>
                </a:solidFill>
                <a:latin typeface="微软雅黑"/>
                <a:ea typeface="微软雅黑"/>
              </a:rPr>
              <a:t>　全程审计留痕</a:t>
            </a:r>
          </a:p>
        </p:txBody>
      </p:sp>
    </p:spTree>
    <p:extLst>
      <p:ext uri="{BB962C8B-B14F-4D97-AF65-F5344CB8AC3E}">
        <p14:creationId xmlns:p14="http://schemas.microsoft.com/office/powerpoint/2010/main" val="28227041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2162468-0C6D-4B46-B1ED-621D0ABC2028}"/>
              </a:ext>
            </a:extLst>
          </p:cNvPr>
          <p:cNvSpPr txBox="1"/>
          <p:nvPr/>
        </p:nvSpPr>
        <p:spPr>
          <a:xfrm>
            <a:off x="736600" y="330200"/>
            <a:ext cx="10414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2600" b="1">
                <a:solidFill>
                  <a:srgbClr val="1F3864"/>
                </a:solidFill>
                <a:latin typeface="微软雅黑"/>
                <a:ea typeface="微软雅黑"/>
              </a:rPr>
              <a:t>7. </a:t>
            </a:r>
            <a:r>
              <a:rPr lang="zh-CN" altLang="en-US" sz="2600" b="1">
                <a:solidFill>
                  <a:srgbClr val="1F3864"/>
                </a:solidFill>
                <a:latin typeface="微软雅黑"/>
                <a:ea typeface="微软雅黑"/>
              </a:rPr>
              <a:t>模块一：设备数据底座与 </a:t>
            </a:r>
            <a:r>
              <a:rPr lang="en" altLang="zh-CN" sz="2600" b="1">
                <a:solidFill>
                  <a:srgbClr val="1F3864"/>
                </a:solidFill>
                <a:latin typeface="微软雅黑"/>
                <a:ea typeface="微软雅黑"/>
              </a:rPr>
              <a:t>SCADA / MES </a:t>
            </a:r>
            <a:r>
              <a:rPr lang="zh-CN" altLang="en-US" sz="2600" b="1">
                <a:solidFill>
                  <a:srgbClr val="1F3864"/>
                </a:solidFill>
                <a:latin typeface="微软雅黑"/>
                <a:ea typeface="微软雅黑"/>
              </a:rPr>
              <a:t>数据接入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ADE75AF-AC9A-3146-9820-4879C4FF78C2}"/>
              </a:ext>
            </a:extLst>
          </p:cNvPr>
          <p:cNvSpPr txBox="1"/>
          <p:nvPr/>
        </p:nvSpPr>
        <p:spPr>
          <a:xfrm>
            <a:off x="762000" y="8382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400" dirty="0">
                <a:solidFill>
                  <a:srgbClr val="5B6E88"/>
                </a:solidFill>
                <a:latin typeface="微软雅黑"/>
                <a:ea typeface="微软雅黑"/>
              </a:rPr>
              <a:t>先把「设备数据」完整、准确、带时间戳地存下来 </a:t>
            </a:r>
            <a:r>
              <a:rPr lang="en-US" altLang="zh-CN" sz="1400" dirty="0">
                <a:solidFill>
                  <a:srgbClr val="5B6E88"/>
                </a:solidFill>
                <a:latin typeface="微软雅黑"/>
                <a:ea typeface="微软雅黑"/>
              </a:rPr>
              <a:t>—— </a:t>
            </a:r>
            <a:r>
              <a:rPr lang="zh-CN" altLang="en-US" sz="1400" dirty="0">
                <a:solidFill>
                  <a:srgbClr val="5B6E88"/>
                </a:solidFill>
                <a:latin typeface="微软雅黑"/>
                <a:ea typeface="微软雅黑"/>
              </a:rPr>
              <a:t>数据底座是所有 </a:t>
            </a:r>
            <a:r>
              <a:rPr lang="en" altLang="zh-CN" sz="1400" dirty="0">
                <a:solidFill>
                  <a:srgbClr val="5B6E88"/>
                </a:solidFill>
                <a:latin typeface="微软雅黑"/>
                <a:ea typeface="微软雅黑"/>
              </a:rPr>
              <a:t>AI </a:t>
            </a:r>
            <a:r>
              <a:rPr lang="zh-CN" altLang="en-US" sz="1400" dirty="0">
                <a:solidFill>
                  <a:srgbClr val="5B6E88"/>
                </a:solidFill>
                <a:latin typeface="微软雅黑"/>
                <a:ea typeface="微软雅黑"/>
              </a:rPr>
              <a:t>能力的地基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9C026A99-7AEB-1941-99E8-121250E72F7C}"/>
              </a:ext>
            </a:extLst>
          </p:cNvPr>
          <p:cNvSpPr/>
          <p:nvPr/>
        </p:nvSpPr>
        <p:spPr>
          <a:xfrm>
            <a:off x="762000" y="1270000"/>
            <a:ext cx="2603500" cy="8128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DE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ctr"/>
            <a:r>
              <a:rPr lang="zh-CN" altLang="en-US" sz="1400" b="1" dirty="0">
                <a:solidFill>
                  <a:srgbClr val="1F3864"/>
                </a:solidFill>
                <a:latin typeface="微软雅黑"/>
                <a:ea typeface="微软雅黑"/>
              </a:rPr>
              <a:t>工艺数据
温度 </a:t>
            </a:r>
            <a:r>
              <a:rPr lang="en-US" altLang="zh-CN" sz="1400" b="1" dirty="0">
                <a:solidFill>
                  <a:srgbClr val="1F3864"/>
                </a:solidFill>
                <a:latin typeface="微软雅黑"/>
                <a:ea typeface="微软雅黑"/>
              </a:rPr>
              <a:t>· </a:t>
            </a:r>
            <a:r>
              <a:rPr lang="zh-CN" altLang="en-US" sz="1400" b="1" dirty="0">
                <a:solidFill>
                  <a:srgbClr val="1F3864"/>
                </a:solidFill>
                <a:latin typeface="微软雅黑"/>
                <a:ea typeface="微软雅黑"/>
              </a:rPr>
              <a:t>压力 </a:t>
            </a:r>
            <a:r>
              <a:rPr lang="en-US" altLang="zh-CN" sz="1400" b="1" dirty="0">
                <a:solidFill>
                  <a:srgbClr val="1F3864"/>
                </a:solidFill>
                <a:latin typeface="微软雅黑"/>
                <a:ea typeface="微软雅黑"/>
              </a:rPr>
              <a:t>· </a:t>
            </a:r>
            <a:r>
              <a:rPr lang="zh-CN" altLang="en-US" sz="1400" b="1" dirty="0">
                <a:solidFill>
                  <a:srgbClr val="1F3864"/>
                </a:solidFill>
                <a:latin typeface="微软雅黑"/>
                <a:ea typeface="微软雅黑"/>
              </a:rPr>
              <a:t>流量 </a:t>
            </a:r>
            <a:r>
              <a:rPr lang="en-US" altLang="zh-CN" sz="1400" b="1" dirty="0">
                <a:solidFill>
                  <a:srgbClr val="1F3864"/>
                </a:solidFill>
                <a:latin typeface="微软雅黑"/>
                <a:ea typeface="微软雅黑"/>
              </a:rPr>
              <a:t>· </a:t>
            </a:r>
            <a:r>
              <a:rPr lang="zh-CN" altLang="en-US" sz="1400" b="1" dirty="0">
                <a:solidFill>
                  <a:srgbClr val="1F3864"/>
                </a:solidFill>
                <a:latin typeface="微软雅黑"/>
                <a:ea typeface="微软雅黑"/>
              </a:rPr>
              <a:t>液位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AD8A5A4D-2D9A-DD4E-8052-2A76654A533B}"/>
              </a:ext>
            </a:extLst>
          </p:cNvPr>
          <p:cNvSpPr/>
          <p:nvPr/>
        </p:nvSpPr>
        <p:spPr>
          <a:xfrm>
            <a:off x="762000" y="2260600"/>
            <a:ext cx="2603500" cy="8128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DE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ctr"/>
            <a:r>
              <a:rPr lang="zh-CN" altLang="en-US" sz="1400" b="1" dirty="0">
                <a:solidFill>
                  <a:srgbClr val="1F3864"/>
                </a:solidFill>
                <a:latin typeface="微软雅黑"/>
                <a:ea typeface="微软雅黑"/>
              </a:rPr>
              <a:t>运行数据
报警 </a:t>
            </a:r>
            <a:r>
              <a:rPr lang="en-US" altLang="zh-CN" sz="1400" b="1" dirty="0">
                <a:solidFill>
                  <a:srgbClr val="1F3864"/>
                </a:solidFill>
                <a:latin typeface="微软雅黑"/>
                <a:ea typeface="微软雅黑"/>
              </a:rPr>
              <a:t>· </a:t>
            </a:r>
            <a:r>
              <a:rPr lang="zh-CN" altLang="en-US" sz="1400" b="1" dirty="0">
                <a:solidFill>
                  <a:srgbClr val="1F3864"/>
                </a:solidFill>
                <a:latin typeface="微软雅黑"/>
                <a:ea typeface="微软雅黑"/>
              </a:rPr>
              <a:t>启停 </a:t>
            </a:r>
            <a:r>
              <a:rPr lang="en-US" altLang="zh-CN" sz="1400" b="1" dirty="0">
                <a:solidFill>
                  <a:srgbClr val="1F3864"/>
                </a:solidFill>
                <a:latin typeface="微软雅黑"/>
                <a:ea typeface="微软雅黑"/>
              </a:rPr>
              <a:t>· </a:t>
            </a:r>
            <a:r>
              <a:rPr lang="zh-CN" altLang="en-US" sz="1400" b="1" dirty="0">
                <a:solidFill>
                  <a:srgbClr val="1F3864"/>
                </a:solidFill>
                <a:latin typeface="微软雅黑"/>
                <a:ea typeface="微软雅黑"/>
              </a:rPr>
              <a:t>产量批次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DC2E1153-2E31-C94F-890D-91C1BD5F7CFA}"/>
              </a:ext>
            </a:extLst>
          </p:cNvPr>
          <p:cNvSpPr/>
          <p:nvPr/>
        </p:nvSpPr>
        <p:spPr>
          <a:xfrm>
            <a:off x="762000" y="3251200"/>
            <a:ext cx="2603500" cy="8128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DE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ctr"/>
            <a:r>
              <a:rPr lang="zh-CN" altLang="en-US" sz="1400" b="1" dirty="0">
                <a:solidFill>
                  <a:srgbClr val="1F3864"/>
                </a:solidFill>
                <a:latin typeface="微软雅黑"/>
                <a:ea typeface="微软雅黑"/>
              </a:rPr>
              <a:t>维保数据
故障 </a:t>
            </a:r>
            <a:r>
              <a:rPr lang="en-US" altLang="zh-CN" sz="1400" b="1" dirty="0">
                <a:solidFill>
                  <a:srgbClr val="1F3864"/>
                </a:solidFill>
                <a:latin typeface="微软雅黑"/>
                <a:ea typeface="微软雅黑"/>
              </a:rPr>
              <a:t>· </a:t>
            </a:r>
            <a:r>
              <a:rPr lang="zh-CN" altLang="en-US" sz="1400" b="1" dirty="0">
                <a:solidFill>
                  <a:srgbClr val="1F3864"/>
                </a:solidFill>
                <a:latin typeface="微软雅黑"/>
                <a:ea typeface="微软雅黑"/>
              </a:rPr>
              <a:t>维修工单 </a:t>
            </a:r>
            <a:r>
              <a:rPr lang="en-US" altLang="zh-CN" sz="1400" b="1" dirty="0">
                <a:solidFill>
                  <a:srgbClr val="1F3864"/>
                </a:solidFill>
                <a:latin typeface="微软雅黑"/>
                <a:ea typeface="微软雅黑"/>
              </a:rPr>
              <a:t>· </a:t>
            </a:r>
            <a:r>
              <a:rPr lang="zh-CN" altLang="en-US" sz="1400" b="1" dirty="0">
                <a:solidFill>
                  <a:srgbClr val="1F3864"/>
                </a:solidFill>
                <a:latin typeface="微软雅黑"/>
                <a:ea typeface="微软雅黑"/>
              </a:rPr>
              <a:t>备件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C52DF61A-44F0-654D-AD89-1CD1DCCE31BB}"/>
              </a:ext>
            </a:extLst>
          </p:cNvPr>
          <p:cNvSpPr/>
          <p:nvPr/>
        </p:nvSpPr>
        <p:spPr>
          <a:xfrm>
            <a:off x="762000" y="4241800"/>
            <a:ext cx="2603500" cy="8128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DE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ctr"/>
            <a:r>
              <a:rPr lang="zh-CN" altLang="en-US" sz="1400" b="1" dirty="0">
                <a:solidFill>
                  <a:srgbClr val="1F3864"/>
                </a:solidFill>
                <a:latin typeface="微软雅黑"/>
                <a:ea typeface="微软雅黑"/>
              </a:rPr>
              <a:t>安防数据
巡检漏点 </a:t>
            </a:r>
            <a:r>
              <a:rPr lang="en-US" altLang="zh-CN" sz="1400" b="1" dirty="0">
                <a:solidFill>
                  <a:srgbClr val="1F3864"/>
                </a:solidFill>
                <a:latin typeface="微软雅黑"/>
                <a:ea typeface="微软雅黑"/>
              </a:rPr>
              <a:t>· </a:t>
            </a:r>
            <a:r>
              <a:rPr lang="zh-CN" altLang="en-US" sz="1400" b="1" dirty="0">
                <a:solidFill>
                  <a:srgbClr val="1F3864"/>
                </a:solidFill>
                <a:latin typeface="微软雅黑"/>
                <a:ea typeface="微软雅黑"/>
              </a:rPr>
              <a:t>消防状态</a:t>
            </a:r>
          </a:p>
        </p:txBody>
      </p:sp>
      <p:sp>
        <p:nvSpPr>
          <p:cNvPr id="8" name="右箭头 7">
            <a:extLst>
              <a:ext uri="{FF2B5EF4-FFF2-40B4-BE49-F238E27FC236}">
                <a16:creationId xmlns:a16="http://schemas.microsoft.com/office/drawing/2014/main" id="{729C8ADE-75F2-F240-ADE3-FAD3AA57DC82}"/>
              </a:ext>
            </a:extLst>
          </p:cNvPr>
          <p:cNvSpPr/>
          <p:nvPr/>
        </p:nvSpPr>
        <p:spPr>
          <a:xfrm>
            <a:off x="3454400" y="2743200"/>
            <a:ext cx="660400" cy="457200"/>
          </a:xfrm>
          <a:prstGeom prst="rightArrow">
            <a:avLst/>
          </a:prstGeom>
          <a:solidFill>
            <a:srgbClr val="0F9ED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9" name="右箭头 8">
            <a:extLst>
              <a:ext uri="{FF2B5EF4-FFF2-40B4-BE49-F238E27FC236}">
                <a16:creationId xmlns:a16="http://schemas.microsoft.com/office/drawing/2014/main" id="{F95CE73B-3FFA-CF4D-90E5-74A3759C3BC8}"/>
              </a:ext>
            </a:extLst>
          </p:cNvPr>
          <p:cNvSpPr/>
          <p:nvPr/>
        </p:nvSpPr>
        <p:spPr>
          <a:xfrm>
            <a:off x="7594600" y="2743200"/>
            <a:ext cx="660400" cy="457200"/>
          </a:xfrm>
          <a:prstGeom prst="rightArrow">
            <a:avLst/>
          </a:prstGeom>
          <a:solidFill>
            <a:srgbClr val="0F9ED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057BCEFD-06F1-2642-A0A7-93C0F5299989}"/>
              </a:ext>
            </a:extLst>
          </p:cNvPr>
          <p:cNvSpPr/>
          <p:nvPr/>
        </p:nvSpPr>
        <p:spPr>
          <a:xfrm>
            <a:off x="4216400" y="1270000"/>
            <a:ext cx="3276600" cy="3708400"/>
          </a:xfrm>
          <a:prstGeom prst="roundRect">
            <a:avLst/>
          </a:prstGeom>
          <a:solidFill>
            <a:srgbClr val="1F386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849A925-5F97-4042-A279-9350DA2887CF}"/>
              </a:ext>
            </a:extLst>
          </p:cNvPr>
          <p:cNvSpPr txBox="1"/>
          <p:nvPr/>
        </p:nvSpPr>
        <p:spPr>
          <a:xfrm>
            <a:off x="4216400" y="1498600"/>
            <a:ext cx="32766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zh-CN" altLang="en-US" b="1">
                <a:solidFill>
                  <a:srgbClr val="FFFFFF"/>
                </a:solidFill>
                <a:latin typeface="微软雅黑"/>
                <a:ea typeface="微软雅黑"/>
              </a:rPr>
              <a:t>设备数据底座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D856B11-95C0-E648-A51C-8A313B4430A1}"/>
              </a:ext>
            </a:extLst>
          </p:cNvPr>
          <p:cNvSpPr txBox="1"/>
          <p:nvPr/>
        </p:nvSpPr>
        <p:spPr>
          <a:xfrm>
            <a:off x="4419600" y="2006600"/>
            <a:ext cx="2870200" cy="279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zh-CN" altLang="en-US" sz="1400" dirty="0">
                <a:solidFill>
                  <a:srgbClr val="D5E1F2"/>
                </a:solidFill>
                <a:latin typeface="微软雅黑"/>
                <a:ea typeface="微软雅黑"/>
              </a:rPr>
              <a:t>边缘网关就近采集
断网缓存 </a:t>
            </a:r>
            <a:r>
              <a:rPr lang="en-US" altLang="zh-CN" sz="1400" dirty="0">
                <a:solidFill>
                  <a:srgbClr val="D5E1F2"/>
                </a:solidFill>
                <a:latin typeface="微软雅黑"/>
                <a:ea typeface="微软雅黑"/>
              </a:rPr>
              <a:t>· </a:t>
            </a:r>
            <a:r>
              <a:rPr lang="zh-CN" altLang="en-US" sz="1400" dirty="0">
                <a:solidFill>
                  <a:srgbClr val="D5E1F2"/>
                </a:solidFill>
                <a:latin typeface="微软雅黑"/>
                <a:ea typeface="微软雅黑"/>
              </a:rPr>
              <a:t>断点续传
时序数据库统一存储
统一时间戳 </a:t>
            </a:r>
            <a:r>
              <a:rPr lang="en-US" altLang="zh-CN" sz="1400" dirty="0">
                <a:solidFill>
                  <a:srgbClr val="D5E1F2"/>
                </a:solidFill>
                <a:latin typeface="微软雅黑"/>
                <a:ea typeface="微软雅黑"/>
              </a:rPr>
              <a:t>· </a:t>
            </a:r>
            <a:r>
              <a:rPr lang="zh-CN" altLang="en-US" sz="1400" dirty="0">
                <a:solidFill>
                  <a:srgbClr val="D5E1F2"/>
                </a:solidFill>
                <a:latin typeface="微软雅黑"/>
                <a:ea typeface="微软雅黑"/>
              </a:rPr>
              <a:t>统一点位命名
与 </a:t>
            </a:r>
            <a:r>
              <a:rPr lang="en" altLang="zh-CN" sz="1400" dirty="0">
                <a:solidFill>
                  <a:srgbClr val="D5E1F2"/>
                </a:solidFill>
                <a:latin typeface="微软雅黑"/>
                <a:ea typeface="微软雅黑"/>
              </a:rPr>
              <a:t>SCADA / MES
</a:t>
            </a:r>
            <a:r>
              <a:rPr lang="zh-CN" altLang="en-US" sz="1400" dirty="0">
                <a:solidFill>
                  <a:srgbClr val="D5E1F2"/>
                </a:solidFill>
                <a:latin typeface="微软雅黑"/>
                <a:ea typeface="微软雅黑"/>
              </a:rPr>
              <a:t>预留标准接口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CA9BD945-725F-8546-9D56-9EF21B9C8249}"/>
              </a:ext>
            </a:extLst>
          </p:cNvPr>
          <p:cNvSpPr/>
          <p:nvPr/>
        </p:nvSpPr>
        <p:spPr>
          <a:xfrm>
            <a:off x="8356600" y="1473200"/>
            <a:ext cx="3073400" cy="863600"/>
          </a:xfrm>
          <a:prstGeom prst="roundRect">
            <a:avLst/>
          </a:prstGeom>
          <a:solidFill>
            <a:srgbClr val="EAF1FA"/>
          </a:solidFill>
          <a:ln w="12700" cap="flat" cmpd="sng" algn="ctr">
            <a:solidFill>
              <a:srgbClr val="B7C9E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ctr"/>
            <a:r>
              <a:rPr lang="zh-CN" altLang="en-US" sz="1500" b="1">
                <a:solidFill>
                  <a:srgbClr val="1F3864"/>
                </a:solidFill>
                <a:latin typeface="微软雅黑"/>
                <a:ea typeface="微软雅黑"/>
              </a:rPr>
              <a:t>远程运维驾驶舱</a:t>
            </a:r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25493464-1360-4547-80DA-6E952F4BA87B}"/>
              </a:ext>
            </a:extLst>
          </p:cNvPr>
          <p:cNvSpPr/>
          <p:nvPr/>
        </p:nvSpPr>
        <p:spPr>
          <a:xfrm>
            <a:off x="8356600" y="2641600"/>
            <a:ext cx="3073400" cy="863600"/>
          </a:xfrm>
          <a:prstGeom prst="roundRect">
            <a:avLst/>
          </a:prstGeom>
          <a:solidFill>
            <a:srgbClr val="EAF1FA"/>
          </a:solidFill>
          <a:ln w="12700" cap="flat" cmpd="sng" algn="ctr">
            <a:solidFill>
              <a:srgbClr val="B7C9E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ctr"/>
            <a:r>
              <a:rPr lang="en" altLang="zh-CN" sz="1500" b="1">
                <a:solidFill>
                  <a:srgbClr val="1F3864"/>
                </a:solidFill>
                <a:latin typeface="微软雅黑"/>
                <a:ea typeface="微软雅黑"/>
              </a:rPr>
              <a:t>AI </a:t>
            </a:r>
            <a:r>
              <a:rPr lang="zh-CN" altLang="en-US" sz="1500" b="1">
                <a:solidFill>
                  <a:srgbClr val="1F3864"/>
                </a:solidFill>
                <a:latin typeface="微软雅黑"/>
                <a:ea typeface="微软雅黑"/>
              </a:rPr>
              <a:t>模型训练与异常预警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CB082313-EDAB-1A44-8C8E-E42F7C7B1350}"/>
              </a:ext>
            </a:extLst>
          </p:cNvPr>
          <p:cNvSpPr/>
          <p:nvPr/>
        </p:nvSpPr>
        <p:spPr>
          <a:xfrm>
            <a:off x="8356600" y="3810000"/>
            <a:ext cx="3073400" cy="863600"/>
          </a:xfrm>
          <a:prstGeom prst="roundRect">
            <a:avLst/>
          </a:prstGeom>
          <a:solidFill>
            <a:srgbClr val="EAF1FA"/>
          </a:solidFill>
          <a:ln w="12700" cap="flat" cmpd="sng" algn="ctr">
            <a:solidFill>
              <a:srgbClr val="B7C9E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ctr"/>
            <a:r>
              <a:rPr lang="zh-CN" altLang="en-US" sz="1500" b="1">
                <a:solidFill>
                  <a:srgbClr val="1F3864"/>
                </a:solidFill>
                <a:latin typeface="微软雅黑"/>
                <a:ea typeface="微软雅黑"/>
              </a:rPr>
              <a:t>报表与数据资产沉淀</a:t>
            </a: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1A96EB21-5129-AC43-A918-0E0E469582CD}"/>
              </a:ext>
            </a:extLst>
          </p:cNvPr>
          <p:cNvSpPr/>
          <p:nvPr/>
        </p:nvSpPr>
        <p:spPr>
          <a:xfrm>
            <a:off x="762000" y="5257800"/>
            <a:ext cx="10668000" cy="736600"/>
          </a:xfrm>
          <a:prstGeom prst="round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82CF002-97A8-4546-B3D1-A1F975AD328D}"/>
              </a:ext>
            </a:extLst>
          </p:cNvPr>
          <p:cNvSpPr txBox="1"/>
          <p:nvPr/>
        </p:nvSpPr>
        <p:spPr>
          <a:xfrm>
            <a:off x="1066800" y="5257800"/>
            <a:ext cx="10058400" cy="736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ctr"/>
            <a:r>
              <a:rPr lang="zh-CN" altLang="en-US" sz="1400" b="1">
                <a:solidFill>
                  <a:srgbClr val="FFFFFF"/>
                </a:solidFill>
                <a:latin typeface="微软雅黑"/>
                <a:ea typeface="微软雅黑"/>
              </a:rPr>
              <a:t>交付物：一套可查询、可回溯、可授权访问的设备数据资产　</a:t>
            </a:r>
            <a:r>
              <a:rPr lang="en-US" altLang="zh-CN" sz="1400" b="1">
                <a:solidFill>
                  <a:srgbClr val="FFFFFF"/>
                </a:solidFill>
                <a:latin typeface="微软雅黑"/>
                <a:ea typeface="微软雅黑"/>
              </a:rPr>
              <a:t>——</a:t>
            </a:r>
            <a:r>
              <a:rPr lang="zh-CN" altLang="en-US" sz="1400" b="1">
                <a:solidFill>
                  <a:srgbClr val="FFFFFF"/>
                </a:solidFill>
                <a:latin typeface="微软雅黑"/>
                <a:ea typeface="微软雅黑"/>
              </a:rPr>
              <a:t>　部署在贵司指定环境内，访问全程权限化、审计留痕</a:t>
            </a:r>
          </a:p>
        </p:txBody>
      </p:sp>
    </p:spTree>
    <p:extLst>
      <p:ext uri="{BB962C8B-B14F-4D97-AF65-F5344CB8AC3E}">
        <p14:creationId xmlns:p14="http://schemas.microsoft.com/office/powerpoint/2010/main" val="363965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921CFE9-FB2E-F84E-8DFB-335D7EB27480}"/>
              </a:ext>
            </a:extLst>
          </p:cNvPr>
          <p:cNvSpPr txBox="1"/>
          <p:nvPr/>
        </p:nvSpPr>
        <p:spPr>
          <a:xfrm>
            <a:off x="736600" y="330200"/>
            <a:ext cx="8890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2600" b="1">
                <a:solidFill>
                  <a:srgbClr val="1F3864"/>
                </a:solidFill>
                <a:latin typeface="微软雅黑"/>
                <a:ea typeface="微软雅黑"/>
              </a:rPr>
              <a:t>8. </a:t>
            </a:r>
            <a:r>
              <a:rPr lang="zh-CN" altLang="en-US" sz="2600" b="1">
                <a:solidFill>
                  <a:srgbClr val="1F3864"/>
                </a:solidFill>
                <a:latin typeface="微软雅黑"/>
                <a:ea typeface="微软雅黑"/>
              </a:rPr>
              <a:t>模块二：远程运维驾驶舱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25981B5-9CA7-B643-A533-DC42E58DDDF5}"/>
              </a:ext>
            </a:extLst>
          </p:cNvPr>
          <p:cNvSpPr txBox="1"/>
          <p:nvPr/>
        </p:nvSpPr>
        <p:spPr>
          <a:xfrm>
            <a:off x="762000" y="8382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400">
                <a:solidFill>
                  <a:srgbClr val="5B6E88"/>
                </a:solidFill>
                <a:latin typeface="微软雅黑"/>
                <a:ea typeface="微软雅黑"/>
              </a:rPr>
              <a:t>让一个总部团队管住多地工厂 </a:t>
            </a:r>
            <a:r>
              <a:rPr lang="en-US" altLang="zh-CN" sz="1400">
                <a:solidFill>
                  <a:srgbClr val="5B6E88"/>
                </a:solidFill>
                <a:latin typeface="微软雅黑"/>
                <a:ea typeface="微软雅黑"/>
              </a:rPr>
              <a:t>—— </a:t>
            </a:r>
            <a:r>
              <a:rPr lang="zh-CN" altLang="en-US" sz="1400">
                <a:solidFill>
                  <a:srgbClr val="5B6E88"/>
                </a:solidFill>
                <a:latin typeface="微软雅黑"/>
                <a:ea typeface="微软雅黑"/>
              </a:rPr>
              <a:t>从「人跟着设备跑」变成「数据跑、人决策」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7070C853-A85E-FE45-BA95-22D27FE2073C}"/>
              </a:ext>
            </a:extLst>
          </p:cNvPr>
          <p:cNvSpPr/>
          <p:nvPr/>
        </p:nvSpPr>
        <p:spPr>
          <a:xfrm>
            <a:off x="762000" y="1295400"/>
            <a:ext cx="3378200" cy="17272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DE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31605FC-6840-4B4E-97FB-8048533EBF2B}"/>
              </a:ext>
            </a:extLst>
          </p:cNvPr>
          <p:cNvSpPr/>
          <p:nvPr/>
        </p:nvSpPr>
        <p:spPr>
          <a:xfrm>
            <a:off x="1041400" y="1600200"/>
            <a:ext cx="114300" cy="114300"/>
          </a:xfrm>
          <a:prstGeom prst="rect">
            <a:avLst/>
          </a:prstGeom>
          <a:solidFill>
            <a:srgbClr val="2F559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7D6CF11-D355-2142-9665-41763CD99E2E}"/>
              </a:ext>
            </a:extLst>
          </p:cNvPr>
          <p:cNvSpPr txBox="1"/>
          <p:nvPr/>
        </p:nvSpPr>
        <p:spPr>
          <a:xfrm>
            <a:off x="1270000" y="1473200"/>
            <a:ext cx="2667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600" b="1">
                <a:solidFill>
                  <a:srgbClr val="1F3864"/>
                </a:solidFill>
                <a:latin typeface="微软雅黑"/>
                <a:ea typeface="微软雅黑"/>
              </a:rPr>
              <a:t>多基地总览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170013E-D840-8D4C-9DED-9B4854EE62FC}"/>
              </a:ext>
            </a:extLst>
          </p:cNvPr>
          <p:cNvSpPr txBox="1"/>
          <p:nvPr/>
        </p:nvSpPr>
        <p:spPr>
          <a:xfrm>
            <a:off x="1041400" y="1955800"/>
            <a:ext cx="2844800" cy="939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400">
                <a:solidFill>
                  <a:srgbClr val="33475E"/>
                </a:solidFill>
                <a:latin typeface="微软雅黑"/>
                <a:ea typeface="微软雅黑"/>
              </a:rPr>
              <a:t>珠海 </a:t>
            </a:r>
            <a:r>
              <a:rPr lang="en-US" altLang="zh-CN" sz="1400">
                <a:solidFill>
                  <a:srgbClr val="33475E"/>
                </a:solidFill>
                <a:latin typeface="微软雅黑"/>
                <a:ea typeface="微软雅黑"/>
              </a:rPr>
              <a:t>/ </a:t>
            </a:r>
            <a:r>
              <a:rPr lang="zh-CN" altLang="en-US" sz="1400">
                <a:solidFill>
                  <a:srgbClr val="33475E"/>
                </a:solidFill>
                <a:latin typeface="微软雅黑"/>
                <a:ea typeface="微软雅黑"/>
              </a:rPr>
              <a:t>云浮 </a:t>
            </a:r>
            <a:r>
              <a:rPr lang="en-US" altLang="zh-CN" sz="1400">
                <a:solidFill>
                  <a:srgbClr val="33475E"/>
                </a:solidFill>
                <a:latin typeface="微软雅黑"/>
                <a:ea typeface="微软雅黑"/>
              </a:rPr>
              <a:t>/ </a:t>
            </a:r>
            <a:r>
              <a:rPr lang="zh-CN" altLang="en-US" sz="1400">
                <a:solidFill>
                  <a:srgbClr val="33475E"/>
                </a:solidFill>
                <a:latin typeface="微软雅黑"/>
                <a:ea typeface="微软雅黑"/>
              </a:rPr>
              <a:t>韶关 </a:t>
            </a:r>
            <a:r>
              <a:rPr lang="en-US" altLang="zh-CN" sz="1400">
                <a:solidFill>
                  <a:srgbClr val="33475E"/>
                </a:solidFill>
                <a:latin typeface="微软雅黑"/>
                <a:ea typeface="微软雅黑"/>
              </a:rPr>
              <a:t>/ </a:t>
            </a:r>
            <a:r>
              <a:rPr lang="zh-CN" altLang="en-US" sz="1400">
                <a:solidFill>
                  <a:srgbClr val="33475E"/>
                </a:solidFill>
                <a:latin typeface="微软雅黑"/>
                <a:ea typeface="微软雅黑"/>
              </a:rPr>
              <a:t>广州各基地运行状态一屏尽览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6B801403-E0EF-6443-99E5-3D52962E5DCE}"/>
              </a:ext>
            </a:extLst>
          </p:cNvPr>
          <p:cNvSpPr/>
          <p:nvPr/>
        </p:nvSpPr>
        <p:spPr>
          <a:xfrm>
            <a:off x="4406900" y="1295400"/>
            <a:ext cx="3378200" cy="17272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DE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148C47C-1853-8049-8744-C236B0D780C3}"/>
              </a:ext>
            </a:extLst>
          </p:cNvPr>
          <p:cNvSpPr/>
          <p:nvPr/>
        </p:nvSpPr>
        <p:spPr>
          <a:xfrm>
            <a:off x="4686300" y="1600200"/>
            <a:ext cx="114300" cy="114300"/>
          </a:xfrm>
          <a:prstGeom prst="rect">
            <a:avLst/>
          </a:prstGeom>
          <a:solidFill>
            <a:srgbClr val="2F559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4A6C7E5-86E0-3745-B8E4-955E9AC9E4BF}"/>
              </a:ext>
            </a:extLst>
          </p:cNvPr>
          <p:cNvSpPr txBox="1"/>
          <p:nvPr/>
        </p:nvSpPr>
        <p:spPr>
          <a:xfrm>
            <a:off x="4914900" y="1473200"/>
            <a:ext cx="2667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600" b="1">
                <a:solidFill>
                  <a:srgbClr val="1F3864"/>
                </a:solidFill>
                <a:latin typeface="微软雅黑"/>
                <a:ea typeface="微软雅黑"/>
              </a:rPr>
              <a:t>实时监视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CBDEA12-AD27-0847-9CBB-A8BC697BC23C}"/>
              </a:ext>
            </a:extLst>
          </p:cNvPr>
          <p:cNvSpPr txBox="1"/>
          <p:nvPr/>
        </p:nvSpPr>
        <p:spPr>
          <a:xfrm>
            <a:off x="4686300" y="1955800"/>
            <a:ext cx="2844800" cy="939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400">
                <a:solidFill>
                  <a:srgbClr val="33475E"/>
                </a:solidFill>
                <a:latin typeface="微软雅黑"/>
                <a:ea typeface="微软雅黑"/>
              </a:rPr>
              <a:t>关键工艺参数实时曲线，异常项自动置顶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E29EBC75-230D-A14D-8D40-316A0ED96798}"/>
              </a:ext>
            </a:extLst>
          </p:cNvPr>
          <p:cNvSpPr/>
          <p:nvPr/>
        </p:nvSpPr>
        <p:spPr>
          <a:xfrm>
            <a:off x="8051800" y="1295400"/>
            <a:ext cx="3378200" cy="17272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DE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6BADA3F-2F52-BF44-A305-3209F466764B}"/>
              </a:ext>
            </a:extLst>
          </p:cNvPr>
          <p:cNvSpPr/>
          <p:nvPr/>
        </p:nvSpPr>
        <p:spPr>
          <a:xfrm>
            <a:off x="8331200" y="1600200"/>
            <a:ext cx="114300" cy="114300"/>
          </a:xfrm>
          <a:prstGeom prst="rect">
            <a:avLst/>
          </a:prstGeom>
          <a:solidFill>
            <a:srgbClr val="2F559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66BC98E-1256-CC46-89D6-9BFAD8A8D936}"/>
              </a:ext>
            </a:extLst>
          </p:cNvPr>
          <p:cNvSpPr txBox="1"/>
          <p:nvPr/>
        </p:nvSpPr>
        <p:spPr>
          <a:xfrm>
            <a:off x="8559800" y="1473200"/>
            <a:ext cx="2667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600" b="1">
                <a:solidFill>
                  <a:srgbClr val="1F3864"/>
                </a:solidFill>
                <a:latin typeface="微软雅黑"/>
                <a:ea typeface="微软雅黑"/>
              </a:rPr>
              <a:t>历史回溯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2E6C9CE-0837-8D4B-9547-8C9AA22C56AB}"/>
              </a:ext>
            </a:extLst>
          </p:cNvPr>
          <p:cNvSpPr txBox="1"/>
          <p:nvPr/>
        </p:nvSpPr>
        <p:spPr>
          <a:xfrm>
            <a:off x="8331200" y="1955800"/>
            <a:ext cx="2844800" cy="939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400">
                <a:solidFill>
                  <a:srgbClr val="33475E"/>
                </a:solidFill>
                <a:latin typeface="微软雅黑"/>
                <a:ea typeface="微软雅黑"/>
              </a:rPr>
              <a:t>任意时段参数曲线对比，事件前后追溯分析</a:t>
            </a: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6733812F-AF45-7442-9B72-A7EA334E5139}"/>
              </a:ext>
            </a:extLst>
          </p:cNvPr>
          <p:cNvSpPr/>
          <p:nvPr/>
        </p:nvSpPr>
        <p:spPr>
          <a:xfrm>
            <a:off x="762000" y="3225800"/>
            <a:ext cx="3378200" cy="17272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DE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A7C2EC6-F798-944F-845A-AA7FCE8F0BCE}"/>
              </a:ext>
            </a:extLst>
          </p:cNvPr>
          <p:cNvSpPr/>
          <p:nvPr/>
        </p:nvSpPr>
        <p:spPr>
          <a:xfrm>
            <a:off x="1041400" y="3530600"/>
            <a:ext cx="114300" cy="114300"/>
          </a:xfrm>
          <a:prstGeom prst="rect">
            <a:avLst/>
          </a:prstGeom>
          <a:solidFill>
            <a:srgbClr val="0F9ED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153589F-6CB7-2F4E-B756-40CFAB58BFB4}"/>
              </a:ext>
            </a:extLst>
          </p:cNvPr>
          <p:cNvSpPr txBox="1"/>
          <p:nvPr/>
        </p:nvSpPr>
        <p:spPr>
          <a:xfrm>
            <a:off x="1270000" y="3403600"/>
            <a:ext cx="2667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600" b="1">
                <a:solidFill>
                  <a:srgbClr val="1F3864"/>
                </a:solidFill>
                <a:latin typeface="微软雅黑"/>
                <a:ea typeface="微软雅黑"/>
              </a:rPr>
              <a:t>分级报警推送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3036172-20B7-5945-93A0-27D71F537B9E}"/>
              </a:ext>
            </a:extLst>
          </p:cNvPr>
          <p:cNvSpPr txBox="1"/>
          <p:nvPr/>
        </p:nvSpPr>
        <p:spPr>
          <a:xfrm>
            <a:off x="1041400" y="3886200"/>
            <a:ext cx="2844800" cy="939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400">
                <a:solidFill>
                  <a:srgbClr val="33475E"/>
                </a:solidFill>
                <a:latin typeface="微软雅黑"/>
                <a:ea typeface="微软雅黑"/>
              </a:rPr>
              <a:t>短信 </a:t>
            </a:r>
            <a:r>
              <a:rPr lang="en-US" altLang="zh-CN" sz="1400">
                <a:solidFill>
                  <a:srgbClr val="33475E"/>
                </a:solidFill>
                <a:latin typeface="微软雅黑"/>
                <a:ea typeface="微软雅黑"/>
              </a:rPr>
              <a:t>/ </a:t>
            </a:r>
            <a:r>
              <a:rPr lang="en" altLang="zh-CN" sz="1400">
                <a:solidFill>
                  <a:srgbClr val="33475E"/>
                </a:solidFill>
                <a:latin typeface="微软雅黑"/>
                <a:ea typeface="微软雅黑"/>
              </a:rPr>
              <a:t>App / </a:t>
            </a:r>
            <a:r>
              <a:rPr lang="zh-CN" altLang="en-US" sz="1400">
                <a:solidFill>
                  <a:srgbClr val="33475E"/>
                </a:solidFill>
                <a:latin typeface="微软雅黑"/>
                <a:ea typeface="微软雅黑"/>
              </a:rPr>
              <a:t>电话多通道触达对应责任人</a:t>
            </a:r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831DA86F-2A22-EB46-B243-030AAEA6391C}"/>
              </a:ext>
            </a:extLst>
          </p:cNvPr>
          <p:cNvSpPr/>
          <p:nvPr/>
        </p:nvSpPr>
        <p:spPr>
          <a:xfrm>
            <a:off x="4406900" y="3225800"/>
            <a:ext cx="3378200" cy="17272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DE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CA138C7-5109-D44A-8914-78CDE297FF73}"/>
              </a:ext>
            </a:extLst>
          </p:cNvPr>
          <p:cNvSpPr/>
          <p:nvPr/>
        </p:nvSpPr>
        <p:spPr>
          <a:xfrm>
            <a:off x="4686300" y="3530600"/>
            <a:ext cx="114300" cy="114300"/>
          </a:xfrm>
          <a:prstGeom prst="rect">
            <a:avLst/>
          </a:prstGeom>
          <a:solidFill>
            <a:srgbClr val="0F9ED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41204C3-263A-2747-B665-2D98BEC9F8E5}"/>
              </a:ext>
            </a:extLst>
          </p:cNvPr>
          <p:cNvSpPr txBox="1"/>
          <p:nvPr/>
        </p:nvSpPr>
        <p:spPr>
          <a:xfrm>
            <a:off x="4914900" y="3403600"/>
            <a:ext cx="2667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600" b="1">
                <a:solidFill>
                  <a:srgbClr val="1F3864"/>
                </a:solidFill>
                <a:latin typeface="微软雅黑"/>
                <a:ea typeface="微软雅黑"/>
              </a:rPr>
              <a:t>巡检机器人联动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64819F6-1962-3643-9C1E-8B891098792E}"/>
              </a:ext>
            </a:extLst>
          </p:cNvPr>
          <p:cNvSpPr txBox="1"/>
          <p:nvPr/>
        </p:nvSpPr>
        <p:spPr>
          <a:xfrm>
            <a:off x="4686300" y="3886200"/>
            <a:ext cx="2844800" cy="939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400">
                <a:solidFill>
                  <a:srgbClr val="33475E"/>
                </a:solidFill>
                <a:latin typeface="微软雅黑"/>
                <a:ea typeface="微软雅黑"/>
              </a:rPr>
              <a:t>机器人发现漏点，自动挂起事件工单并闭环</a:t>
            </a:r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A98E5B08-7BB4-B347-B241-5842DA9700D7}"/>
              </a:ext>
            </a:extLst>
          </p:cNvPr>
          <p:cNvSpPr/>
          <p:nvPr/>
        </p:nvSpPr>
        <p:spPr>
          <a:xfrm>
            <a:off x="8051800" y="3225800"/>
            <a:ext cx="3378200" cy="17272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DE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A314FE1-7DA2-3A46-9E57-F213DD318E64}"/>
              </a:ext>
            </a:extLst>
          </p:cNvPr>
          <p:cNvSpPr/>
          <p:nvPr/>
        </p:nvSpPr>
        <p:spPr>
          <a:xfrm>
            <a:off x="8331200" y="3530600"/>
            <a:ext cx="114300" cy="114300"/>
          </a:xfrm>
          <a:prstGeom prst="rect">
            <a:avLst/>
          </a:prstGeom>
          <a:solidFill>
            <a:srgbClr val="0F9ED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E028889C-C6C0-934C-9E41-CB89C0B865E9}"/>
              </a:ext>
            </a:extLst>
          </p:cNvPr>
          <p:cNvSpPr txBox="1"/>
          <p:nvPr/>
        </p:nvSpPr>
        <p:spPr>
          <a:xfrm>
            <a:off x="8559800" y="3403600"/>
            <a:ext cx="2667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600" b="1">
                <a:solidFill>
                  <a:srgbClr val="1F3864"/>
                </a:solidFill>
                <a:latin typeface="微软雅黑"/>
                <a:ea typeface="微软雅黑"/>
              </a:rPr>
              <a:t>日报月报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21076D7-1269-564C-8A68-6694762204A8}"/>
              </a:ext>
            </a:extLst>
          </p:cNvPr>
          <p:cNvSpPr txBox="1"/>
          <p:nvPr/>
        </p:nvSpPr>
        <p:spPr>
          <a:xfrm>
            <a:off x="8331200" y="3886200"/>
            <a:ext cx="2844800" cy="939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400">
                <a:solidFill>
                  <a:srgbClr val="33475E"/>
                </a:solidFill>
                <a:latin typeface="微软雅黑"/>
                <a:ea typeface="微软雅黑"/>
              </a:rPr>
              <a:t>产量、能耗、报警、维保报告自动生成</a:t>
            </a:r>
          </a:p>
        </p:txBody>
      </p: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EF4F40E0-BA31-E247-A118-CB9FEA7759D0}"/>
              </a:ext>
            </a:extLst>
          </p:cNvPr>
          <p:cNvSpPr/>
          <p:nvPr/>
        </p:nvSpPr>
        <p:spPr>
          <a:xfrm>
            <a:off x="762000" y="5308600"/>
            <a:ext cx="10668000" cy="711200"/>
          </a:xfrm>
          <a:prstGeom prst="roundRect">
            <a:avLst/>
          </a:prstGeom>
          <a:solidFill>
            <a:srgbClr val="1F386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01511D94-EFAE-B84B-9798-84054D00DCE4}"/>
              </a:ext>
            </a:extLst>
          </p:cNvPr>
          <p:cNvSpPr txBox="1"/>
          <p:nvPr/>
        </p:nvSpPr>
        <p:spPr>
          <a:xfrm>
            <a:off x="1066800" y="5308600"/>
            <a:ext cx="10058400" cy="711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ctr"/>
            <a:r>
              <a:rPr lang="zh-CN" altLang="en-US" sz="1600" b="1">
                <a:solidFill>
                  <a:srgbClr val="FFFFFF"/>
                </a:solidFill>
                <a:latin typeface="微软雅黑"/>
                <a:ea typeface="微软雅黑"/>
              </a:rPr>
              <a:t>价值：运维响应从「小时级」提升到「分钟级」，多基地共享一个专家团队</a:t>
            </a:r>
          </a:p>
        </p:txBody>
      </p:sp>
    </p:spTree>
    <p:extLst>
      <p:ext uri="{BB962C8B-B14F-4D97-AF65-F5344CB8AC3E}">
        <p14:creationId xmlns:p14="http://schemas.microsoft.com/office/powerpoint/2010/main" val="20600604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AE3BADA-B82B-0C44-BA5F-F887644447A7}"/>
              </a:ext>
            </a:extLst>
          </p:cNvPr>
          <p:cNvSpPr txBox="1"/>
          <p:nvPr/>
        </p:nvSpPr>
        <p:spPr>
          <a:xfrm>
            <a:off x="736600" y="330200"/>
            <a:ext cx="9652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2600" b="1">
                <a:solidFill>
                  <a:srgbClr val="1F3864"/>
                </a:solidFill>
                <a:latin typeface="微软雅黑"/>
                <a:ea typeface="微软雅黑"/>
              </a:rPr>
              <a:t>9. </a:t>
            </a:r>
            <a:r>
              <a:rPr lang="zh-CN" altLang="en-US" sz="2600" b="1">
                <a:solidFill>
                  <a:srgbClr val="1F3864"/>
                </a:solidFill>
                <a:latin typeface="微软雅黑"/>
                <a:ea typeface="微软雅黑"/>
              </a:rPr>
              <a:t>模块三：</a:t>
            </a:r>
            <a:r>
              <a:rPr lang="en" altLang="zh-CN" sz="2600" b="1">
                <a:solidFill>
                  <a:srgbClr val="1F3864"/>
                </a:solidFill>
                <a:latin typeface="微软雅黑"/>
                <a:ea typeface="微软雅黑"/>
              </a:rPr>
              <a:t>AI </a:t>
            </a:r>
            <a:r>
              <a:rPr lang="zh-CN" altLang="en-US" sz="2600" b="1">
                <a:solidFill>
                  <a:srgbClr val="1F3864"/>
                </a:solidFill>
                <a:latin typeface="微软雅黑"/>
                <a:ea typeface="微软雅黑"/>
              </a:rPr>
              <a:t>异常预警与设备健康模型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E455C33-F259-4240-AF82-543342EC7E17}"/>
              </a:ext>
            </a:extLst>
          </p:cNvPr>
          <p:cNvSpPr txBox="1"/>
          <p:nvPr/>
        </p:nvSpPr>
        <p:spPr>
          <a:xfrm>
            <a:off x="762000" y="8382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zh-CN" sz="1400">
                <a:solidFill>
                  <a:srgbClr val="5B6E88"/>
                </a:solidFill>
                <a:latin typeface="微软雅黑"/>
                <a:ea typeface="微软雅黑"/>
              </a:rPr>
              <a:t>AI </a:t>
            </a:r>
            <a:r>
              <a:rPr lang="zh-CN" altLang="en-US" sz="1400">
                <a:solidFill>
                  <a:srgbClr val="5B6E88"/>
                </a:solidFill>
                <a:latin typeface="微软雅黑"/>
                <a:ea typeface="微软雅黑"/>
              </a:rPr>
              <a:t>的第一战场不是控制，而是「比报警早一步」</a:t>
            </a:r>
            <a:r>
              <a:rPr lang="en-US" altLang="zh-CN" sz="1400">
                <a:solidFill>
                  <a:srgbClr val="5B6E88"/>
                </a:solidFill>
                <a:latin typeface="微软雅黑"/>
                <a:ea typeface="微软雅黑"/>
              </a:rPr>
              <a:t>—— </a:t>
            </a:r>
            <a:r>
              <a:rPr lang="zh-CN" altLang="en-US" sz="1400">
                <a:solidFill>
                  <a:srgbClr val="5B6E88"/>
                </a:solidFill>
                <a:latin typeface="微软雅黑"/>
                <a:ea typeface="微软雅黑"/>
              </a:rPr>
              <a:t>把事后处置变成事前干预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71E27FA1-2DBA-6B45-9EC1-B84840584B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0500797"/>
              </p:ext>
            </p:extLst>
          </p:nvPr>
        </p:nvGraphicFramePr>
        <p:xfrm>
          <a:off x="762000" y="1244600"/>
          <a:ext cx="10668000" cy="38100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6000">
                  <a:extLst>
                    <a:ext uri="{9D8B030D-6E8A-4147-A177-3AD203B41FA5}">
                      <a16:colId xmlns:a16="http://schemas.microsoft.com/office/drawing/2014/main" val="2525572237"/>
                    </a:ext>
                  </a:extLst>
                </a:gridCol>
                <a:gridCol w="7112000">
                  <a:extLst>
                    <a:ext uri="{9D8B030D-6E8A-4147-A177-3AD203B41FA5}">
                      <a16:colId xmlns:a16="http://schemas.microsoft.com/office/drawing/2014/main" val="1333131521"/>
                    </a:ext>
                  </a:extLst>
                </a:gridCol>
              </a:tblGrid>
              <a:tr h="544286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六项 AI 能力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解决什么问题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8007663"/>
                  </a:ext>
                </a:extLst>
              </a:tr>
              <a:tr h="544286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F3864"/>
                          </a:solidFill>
                          <a:latin typeface="微软雅黑"/>
                          <a:ea typeface="微软雅黑"/>
                        </a:rPr>
                        <a:t>温度异常趋势预警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33475E"/>
                          </a:solidFill>
                          <a:latin typeface="微软雅黑"/>
                          <a:ea typeface="微软雅黑"/>
                        </a:rPr>
                        <a:t>在越限报警之前识别爬升 / 漂移趋势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9349689"/>
                  </a:ext>
                </a:extLst>
              </a:tr>
              <a:tr h="544286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F3864"/>
                          </a:solidFill>
                          <a:latin typeface="微软雅黑"/>
                          <a:ea typeface="微软雅黑"/>
                        </a:rPr>
                        <a:t>压力波动模式识别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33475E"/>
                          </a:solidFill>
                          <a:latin typeface="微软雅黑"/>
                          <a:ea typeface="微软雅黑"/>
                        </a:rPr>
                        <a:t>发现异常波动模式，提示工况劣化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7138137"/>
                  </a:ext>
                </a:extLst>
              </a:tr>
              <a:tr h="544286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F3864"/>
                          </a:solidFill>
                          <a:latin typeface="微软雅黑"/>
                          <a:ea typeface="微软雅黑"/>
                        </a:rPr>
                        <a:t>堵塞风险预测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33475E"/>
                          </a:solidFill>
                          <a:latin typeface="微软雅黑"/>
                          <a:ea typeface="微软雅黑"/>
                        </a:rPr>
                        <a:t>多参数关联分析，提前提示管道堵塞倾向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0568020"/>
                  </a:ext>
                </a:extLst>
              </a:tr>
              <a:tr h="544286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F3864"/>
                          </a:solidFill>
                          <a:latin typeface="微软雅黑"/>
                          <a:ea typeface="微软雅黑"/>
                        </a:rPr>
                        <a:t>泄漏风险识别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33475E"/>
                          </a:solidFill>
                          <a:latin typeface="微软雅黑"/>
                          <a:ea typeface="微软雅黑"/>
                        </a:rPr>
                        <a:t>融合传感器数据与巡检机器人监测结果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9489177"/>
                  </a:ext>
                </a:extLst>
              </a:tr>
              <a:tr h="544286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F3864"/>
                          </a:solidFill>
                          <a:latin typeface="微软雅黑"/>
                          <a:ea typeface="微软雅黑"/>
                        </a:rPr>
                        <a:t>设备健康评分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33475E"/>
                          </a:solidFill>
                          <a:latin typeface="微软雅黑"/>
                          <a:ea typeface="微软雅黑"/>
                        </a:rPr>
                        <a:t>关键机组健康度量化，指导预防性维护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0878236"/>
                  </a:ext>
                </a:extLst>
              </a:tr>
              <a:tr h="544286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F3864"/>
                          </a:solidFill>
                          <a:latin typeface="微软雅黑"/>
                          <a:ea typeface="微软雅黑"/>
                        </a:rPr>
                        <a:t>故障原因辅助判断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33475E"/>
                          </a:solidFill>
                          <a:latin typeface="微软雅黑"/>
                          <a:ea typeface="微软雅黑"/>
                        </a:rPr>
                        <a:t>报警发生时推送相似历史案例与排查建议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2817070"/>
                  </a:ext>
                </a:extLst>
              </a:tr>
            </a:tbl>
          </a:graphicData>
        </a:graphic>
      </p:graphicFrame>
      <p:sp>
        <p:nvSpPr>
          <p:cNvPr id="6" name="圆角矩形 5">
            <a:extLst>
              <a:ext uri="{FF2B5EF4-FFF2-40B4-BE49-F238E27FC236}">
                <a16:creationId xmlns:a16="http://schemas.microsoft.com/office/drawing/2014/main" id="{86106DF2-EB32-A340-A057-F17F664CB8B5}"/>
              </a:ext>
            </a:extLst>
          </p:cNvPr>
          <p:cNvSpPr/>
          <p:nvPr/>
        </p:nvSpPr>
        <p:spPr>
          <a:xfrm>
            <a:off x="762000" y="5334000"/>
            <a:ext cx="10668000" cy="685800"/>
          </a:xfrm>
          <a:prstGeom prst="roundRect">
            <a:avLst/>
          </a:prstGeom>
          <a:solidFill>
            <a:srgbClr val="A64A0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A53C7F8-2F36-F746-8530-95CF8088004D}"/>
              </a:ext>
            </a:extLst>
          </p:cNvPr>
          <p:cNvSpPr txBox="1"/>
          <p:nvPr/>
        </p:nvSpPr>
        <p:spPr>
          <a:xfrm>
            <a:off x="1066800" y="5334000"/>
            <a:ext cx="100584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ctr"/>
            <a:r>
              <a:rPr lang="zh-CN" altLang="en-US" sz="1600" b="1">
                <a:solidFill>
                  <a:srgbClr val="FFFFFF"/>
                </a:solidFill>
                <a:latin typeface="微软雅黑"/>
                <a:ea typeface="微软雅黑"/>
              </a:rPr>
              <a:t>定位：</a:t>
            </a:r>
            <a:r>
              <a:rPr lang="en" altLang="zh-CN" sz="1600" b="1">
                <a:solidFill>
                  <a:srgbClr val="FFFFFF"/>
                </a:solidFill>
                <a:latin typeface="微软雅黑"/>
                <a:ea typeface="微软雅黑"/>
              </a:rPr>
              <a:t>AI </a:t>
            </a:r>
            <a:r>
              <a:rPr lang="zh-CN" altLang="en-US" sz="1600" b="1">
                <a:solidFill>
                  <a:srgbClr val="FFFFFF"/>
                </a:solidFill>
                <a:latin typeface="微软雅黑"/>
                <a:ea typeface="微软雅黑"/>
              </a:rPr>
              <a:t>输出「预警 ＋ 建议」，处置决策由人执行 </a:t>
            </a:r>
            <a:r>
              <a:rPr lang="en-US" altLang="zh-CN" sz="1600" b="1">
                <a:solidFill>
                  <a:srgbClr val="FFFFFF"/>
                </a:solidFill>
                <a:latin typeface="微软雅黑"/>
                <a:ea typeface="微软雅黑"/>
              </a:rPr>
              <a:t>—— </a:t>
            </a:r>
            <a:r>
              <a:rPr lang="zh-CN" altLang="en-US" sz="1600" b="1">
                <a:solidFill>
                  <a:srgbClr val="FFFFFF"/>
                </a:solidFill>
                <a:latin typeface="微软雅黑"/>
                <a:ea typeface="微软雅黑"/>
              </a:rPr>
              <a:t>辅助决策，不替代人</a:t>
            </a:r>
          </a:p>
        </p:txBody>
      </p:sp>
    </p:spTree>
    <p:extLst>
      <p:ext uri="{BB962C8B-B14F-4D97-AF65-F5344CB8AC3E}">
        <p14:creationId xmlns:p14="http://schemas.microsoft.com/office/powerpoint/2010/main" val="29278857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48FEA2E-4BCC-3749-B7B4-D42CA446AC38}"/>
              </a:ext>
            </a:extLst>
          </p:cNvPr>
          <p:cNvSpPr txBox="1"/>
          <p:nvPr/>
        </p:nvSpPr>
        <p:spPr>
          <a:xfrm>
            <a:off x="736600" y="330200"/>
            <a:ext cx="8382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2600" b="1">
                <a:solidFill>
                  <a:srgbClr val="1F3864"/>
                </a:solidFill>
                <a:latin typeface="微软雅黑"/>
                <a:ea typeface="微软雅黑"/>
              </a:rPr>
              <a:t>10. </a:t>
            </a:r>
            <a:r>
              <a:rPr lang="zh-CN" altLang="en-US" sz="2600" b="1">
                <a:solidFill>
                  <a:srgbClr val="1F3864"/>
                </a:solidFill>
                <a:latin typeface="微软雅黑"/>
                <a:ea typeface="微软雅黑"/>
              </a:rPr>
              <a:t>模块四：工艺参数优化与产率提升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46C93C55-B0C4-1341-980A-1E6FB169A30B}"/>
              </a:ext>
            </a:extLst>
          </p:cNvPr>
          <p:cNvSpPr/>
          <p:nvPr/>
        </p:nvSpPr>
        <p:spPr>
          <a:xfrm>
            <a:off x="9347200" y="381000"/>
            <a:ext cx="2082800" cy="381000"/>
          </a:xfrm>
          <a:prstGeom prst="roundRect">
            <a:avLst/>
          </a:prstGeom>
          <a:solidFill>
            <a:srgbClr val="A64A0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zh-CN" altLang="en-US" sz="1400" b="1">
                <a:solidFill>
                  <a:srgbClr val="FFFFFF"/>
                </a:solidFill>
                <a:latin typeface="微软雅黑"/>
                <a:ea typeface="微软雅黑"/>
              </a:rPr>
              <a:t>第二 </a:t>
            </a:r>
            <a:r>
              <a:rPr lang="en-US" altLang="zh-CN" sz="1400" b="1">
                <a:solidFill>
                  <a:srgbClr val="FFFFFF"/>
                </a:solidFill>
                <a:latin typeface="微软雅黑"/>
                <a:ea typeface="微软雅黑"/>
              </a:rPr>
              <a:t>/ </a:t>
            </a:r>
            <a:r>
              <a:rPr lang="zh-CN" altLang="en-US" sz="1400" b="1">
                <a:solidFill>
                  <a:srgbClr val="FFFFFF"/>
                </a:solidFill>
                <a:latin typeface="微软雅黑"/>
                <a:ea typeface="微软雅黑"/>
              </a:rPr>
              <a:t>三阶段启动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45FB86A-FA65-C240-B229-4CC91A7B98AF}"/>
              </a:ext>
            </a:extLst>
          </p:cNvPr>
          <p:cNvSpPr txBox="1"/>
          <p:nvPr/>
        </p:nvSpPr>
        <p:spPr>
          <a:xfrm>
            <a:off x="762000" y="8382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400">
                <a:solidFill>
                  <a:srgbClr val="5B6E88"/>
                </a:solidFill>
                <a:latin typeface="微软雅黑"/>
                <a:ea typeface="微软雅黑"/>
              </a:rPr>
              <a:t>当数据底座和预警体系跑稳之后，</a:t>
            </a:r>
            <a:r>
              <a:rPr lang="en" altLang="zh-CN" sz="1400">
                <a:solidFill>
                  <a:srgbClr val="5B6E88"/>
                </a:solidFill>
                <a:latin typeface="微软雅黑"/>
                <a:ea typeface="微软雅黑"/>
              </a:rPr>
              <a:t>AI </a:t>
            </a:r>
            <a:r>
              <a:rPr lang="zh-CN" altLang="en-US" sz="1400">
                <a:solidFill>
                  <a:srgbClr val="5B6E88"/>
                </a:solidFill>
                <a:latin typeface="微软雅黑"/>
                <a:ea typeface="微软雅黑"/>
              </a:rPr>
              <a:t>才进入「帮设备多赚钱」的阶段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337BB1BF-B77B-3A45-8652-3695B34B9E19}"/>
              </a:ext>
            </a:extLst>
          </p:cNvPr>
          <p:cNvSpPr/>
          <p:nvPr/>
        </p:nvSpPr>
        <p:spPr>
          <a:xfrm>
            <a:off x="762000" y="1270000"/>
            <a:ext cx="3378200" cy="1397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DE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E80EAB5-74A5-8643-B687-5003C7C642A6}"/>
              </a:ext>
            </a:extLst>
          </p:cNvPr>
          <p:cNvSpPr/>
          <p:nvPr/>
        </p:nvSpPr>
        <p:spPr>
          <a:xfrm>
            <a:off x="1041400" y="1549400"/>
            <a:ext cx="114300" cy="114300"/>
          </a:xfrm>
          <a:prstGeom prst="rect">
            <a:avLst/>
          </a:prstGeom>
          <a:solidFill>
            <a:srgbClr val="2F559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880CFE4-AD66-D64B-9258-24BA67470786}"/>
              </a:ext>
            </a:extLst>
          </p:cNvPr>
          <p:cNvSpPr txBox="1"/>
          <p:nvPr/>
        </p:nvSpPr>
        <p:spPr>
          <a:xfrm>
            <a:off x="1270000" y="1422400"/>
            <a:ext cx="2667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600" b="1">
                <a:solidFill>
                  <a:srgbClr val="1F3864"/>
                </a:solidFill>
                <a:latin typeface="微软雅黑"/>
                <a:ea typeface="微软雅黑"/>
              </a:rPr>
              <a:t>进料速度优化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468DC28-9C3A-384C-AEDE-F849B953F2DE}"/>
              </a:ext>
            </a:extLst>
          </p:cNvPr>
          <p:cNvSpPr txBox="1"/>
          <p:nvPr/>
        </p:nvSpPr>
        <p:spPr>
          <a:xfrm>
            <a:off x="1041400" y="1879600"/>
            <a:ext cx="2844800" cy="685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400">
                <a:solidFill>
                  <a:srgbClr val="33475E"/>
                </a:solidFill>
                <a:latin typeface="微软雅黑"/>
                <a:ea typeface="微软雅黑"/>
              </a:rPr>
              <a:t>稳定工况、减少波动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36CB19F3-EC64-FE4F-BE7C-C4E3DF17CB4A}"/>
              </a:ext>
            </a:extLst>
          </p:cNvPr>
          <p:cNvSpPr/>
          <p:nvPr/>
        </p:nvSpPr>
        <p:spPr>
          <a:xfrm>
            <a:off x="4406900" y="1270000"/>
            <a:ext cx="3378200" cy="1397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DE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C2242A8-DA54-1440-A230-1D15D16B7600}"/>
              </a:ext>
            </a:extLst>
          </p:cNvPr>
          <p:cNvSpPr/>
          <p:nvPr/>
        </p:nvSpPr>
        <p:spPr>
          <a:xfrm>
            <a:off x="4686300" y="1549400"/>
            <a:ext cx="114300" cy="114300"/>
          </a:xfrm>
          <a:prstGeom prst="rect">
            <a:avLst/>
          </a:prstGeom>
          <a:solidFill>
            <a:srgbClr val="2F559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9AA3C5D-6701-AC4A-AB19-9ACB827B8A4C}"/>
              </a:ext>
            </a:extLst>
          </p:cNvPr>
          <p:cNvSpPr txBox="1"/>
          <p:nvPr/>
        </p:nvSpPr>
        <p:spPr>
          <a:xfrm>
            <a:off x="4914900" y="1422400"/>
            <a:ext cx="2667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600" b="1">
                <a:solidFill>
                  <a:srgbClr val="1F3864"/>
                </a:solidFill>
                <a:latin typeface="微软雅黑"/>
                <a:ea typeface="微软雅黑"/>
              </a:rPr>
              <a:t>炉温曲线优化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2DC3945-A8DE-DC46-B0FC-A81B588F0941}"/>
              </a:ext>
            </a:extLst>
          </p:cNvPr>
          <p:cNvSpPr txBox="1"/>
          <p:nvPr/>
        </p:nvSpPr>
        <p:spPr>
          <a:xfrm>
            <a:off x="4686300" y="1879600"/>
            <a:ext cx="2844800" cy="685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400">
                <a:solidFill>
                  <a:srgbClr val="33475E"/>
                </a:solidFill>
                <a:latin typeface="微软雅黑"/>
                <a:ea typeface="微软雅黑"/>
              </a:rPr>
              <a:t>在安全区间内寻找更优温度策略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61CB3AC4-E242-E041-8DB6-FCE8AD0881CA}"/>
              </a:ext>
            </a:extLst>
          </p:cNvPr>
          <p:cNvSpPr/>
          <p:nvPr/>
        </p:nvSpPr>
        <p:spPr>
          <a:xfrm>
            <a:off x="8051800" y="1270000"/>
            <a:ext cx="3378200" cy="1397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DE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12E4E92-ABFE-DC4A-9732-B2E8A3196571}"/>
              </a:ext>
            </a:extLst>
          </p:cNvPr>
          <p:cNvSpPr/>
          <p:nvPr/>
        </p:nvSpPr>
        <p:spPr>
          <a:xfrm>
            <a:off x="8331200" y="1549400"/>
            <a:ext cx="114300" cy="114300"/>
          </a:xfrm>
          <a:prstGeom prst="rect">
            <a:avLst/>
          </a:prstGeom>
          <a:solidFill>
            <a:srgbClr val="2F559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D24EC11-4A26-184C-923F-AAE83080E67C}"/>
              </a:ext>
            </a:extLst>
          </p:cNvPr>
          <p:cNvSpPr txBox="1"/>
          <p:nvPr/>
        </p:nvSpPr>
        <p:spPr>
          <a:xfrm>
            <a:off x="8559800" y="1422400"/>
            <a:ext cx="2667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600" b="1">
                <a:solidFill>
                  <a:srgbClr val="1F3864"/>
                </a:solidFill>
                <a:latin typeface="微软雅黑"/>
                <a:ea typeface="微软雅黑"/>
              </a:rPr>
              <a:t>冷凝效率优化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EC80A2D-828F-EC43-9DDD-DCA26B4F1882}"/>
              </a:ext>
            </a:extLst>
          </p:cNvPr>
          <p:cNvSpPr txBox="1"/>
          <p:nvPr/>
        </p:nvSpPr>
        <p:spPr>
          <a:xfrm>
            <a:off x="8331200" y="1879600"/>
            <a:ext cx="2844800" cy="685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400">
                <a:solidFill>
                  <a:srgbClr val="33475E"/>
                </a:solidFill>
                <a:latin typeface="微软雅黑"/>
                <a:ea typeface="微软雅黑"/>
              </a:rPr>
              <a:t>提升目标产物回收效率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1E574748-77FB-944D-B467-7739FDB8E04E}"/>
              </a:ext>
            </a:extLst>
          </p:cNvPr>
          <p:cNvSpPr/>
          <p:nvPr/>
        </p:nvSpPr>
        <p:spPr>
          <a:xfrm>
            <a:off x="762000" y="2844800"/>
            <a:ext cx="3378200" cy="1397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DE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8F46A20-398D-8A46-B6F8-A932E08F8E8A}"/>
              </a:ext>
            </a:extLst>
          </p:cNvPr>
          <p:cNvSpPr/>
          <p:nvPr/>
        </p:nvSpPr>
        <p:spPr>
          <a:xfrm>
            <a:off x="1041400" y="3124200"/>
            <a:ext cx="114300" cy="114300"/>
          </a:xfrm>
          <a:prstGeom prst="rect">
            <a:avLst/>
          </a:prstGeom>
          <a:solidFill>
            <a:srgbClr val="2F559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187C74A-C6FC-E541-ABC3-E4A47F5EEDE2}"/>
              </a:ext>
            </a:extLst>
          </p:cNvPr>
          <p:cNvSpPr txBox="1"/>
          <p:nvPr/>
        </p:nvSpPr>
        <p:spPr>
          <a:xfrm>
            <a:off x="1270000" y="2997200"/>
            <a:ext cx="2667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600" b="1">
                <a:solidFill>
                  <a:srgbClr val="1F3864"/>
                </a:solidFill>
                <a:latin typeface="微软雅黑"/>
                <a:ea typeface="微软雅黑"/>
              </a:rPr>
              <a:t>原料适配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BD1C6AD-172C-1840-914D-A2ECCD18CBE1}"/>
              </a:ext>
            </a:extLst>
          </p:cNvPr>
          <p:cNvSpPr txBox="1"/>
          <p:nvPr/>
        </p:nvSpPr>
        <p:spPr>
          <a:xfrm>
            <a:off x="1041400" y="3454400"/>
            <a:ext cx="2844800" cy="685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400">
                <a:solidFill>
                  <a:srgbClr val="33475E"/>
                </a:solidFill>
                <a:latin typeface="微软雅黑"/>
                <a:ea typeface="微软雅黑"/>
              </a:rPr>
              <a:t>不同塑料配比下的参数推荐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1EDBF0C8-DC4C-5B40-B543-EEC20E4CB297}"/>
              </a:ext>
            </a:extLst>
          </p:cNvPr>
          <p:cNvSpPr/>
          <p:nvPr/>
        </p:nvSpPr>
        <p:spPr>
          <a:xfrm>
            <a:off x="4406900" y="2844800"/>
            <a:ext cx="3378200" cy="1397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DE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DD1B585-3096-C141-ADB7-DFA4C949C9B5}"/>
              </a:ext>
            </a:extLst>
          </p:cNvPr>
          <p:cNvSpPr/>
          <p:nvPr/>
        </p:nvSpPr>
        <p:spPr>
          <a:xfrm>
            <a:off x="4686300" y="3124200"/>
            <a:ext cx="114300" cy="114300"/>
          </a:xfrm>
          <a:prstGeom prst="rect">
            <a:avLst/>
          </a:prstGeom>
          <a:solidFill>
            <a:srgbClr val="2F559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C94F42D-A1AA-E648-AB02-9E243CC9BCF9}"/>
              </a:ext>
            </a:extLst>
          </p:cNvPr>
          <p:cNvSpPr txBox="1"/>
          <p:nvPr/>
        </p:nvSpPr>
        <p:spPr>
          <a:xfrm>
            <a:off x="4914900" y="2997200"/>
            <a:ext cx="2667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600" b="1">
                <a:solidFill>
                  <a:srgbClr val="1F3864"/>
                </a:solidFill>
                <a:latin typeface="微软雅黑"/>
                <a:ea typeface="微软雅黑"/>
              </a:rPr>
              <a:t>出油率预测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BCE7F96C-8A27-9C42-8929-EF68FC0600A3}"/>
              </a:ext>
            </a:extLst>
          </p:cNvPr>
          <p:cNvSpPr txBox="1"/>
          <p:nvPr/>
        </p:nvSpPr>
        <p:spPr>
          <a:xfrm>
            <a:off x="4686300" y="3454400"/>
            <a:ext cx="2844800" cy="685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400">
                <a:solidFill>
                  <a:srgbClr val="33475E"/>
                </a:solidFill>
                <a:latin typeface="微软雅黑"/>
                <a:ea typeface="微软雅黑"/>
              </a:rPr>
              <a:t>投料前预估产出，支撑排产与销售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87CC17E5-2217-C74E-B81B-B380775FF178}"/>
              </a:ext>
            </a:extLst>
          </p:cNvPr>
          <p:cNvSpPr/>
          <p:nvPr/>
        </p:nvSpPr>
        <p:spPr>
          <a:xfrm>
            <a:off x="8051800" y="2844800"/>
            <a:ext cx="3378200" cy="1397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DE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E6EDF31-E1B7-7440-8471-2CC3410D6C0C}"/>
              </a:ext>
            </a:extLst>
          </p:cNvPr>
          <p:cNvSpPr/>
          <p:nvPr/>
        </p:nvSpPr>
        <p:spPr>
          <a:xfrm>
            <a:off x="8331200" y="3124200"/>
            <a:ext cx="114300" cy="114300"/>
          </a:xfrm>
          <a:prstGeom prst="rect">
            <a:avLst/>
          </a:prstGeom>
          <a:solidFill>
            <a:srgbClr val="2F559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52B671B-02DA-4348-9F9A-6BB215B4331D}"/>
              </a:ext>
            </a:extLst>
          </p:cNvPr>
          <p:cNvSpPr txBox="1"/>
          <p:nvPr/>
        </p:nvSpPr>
        <p:spPr>
          <a:xfrm>
            <a:off x="8559800" y="2997200"/>
            <a:ext cx="2667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600" b="1">
                <a:solidFill>
                  <a:srgbClr val="1F3864"/>
                </a:solidFill>
                <a:latin typeface="微软雅黑"/>
                <a:ea typeface="微软雅黑"/>
              </a:rPr>
              <a:t>能耗优化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F750A93-7422-B146-B8DB-15A8702D68A8}"/>
              </a:ext>
            </a:extLst>
          </p:cNvPr>
          <p:cNvSpPr txBox="1"/>
          <p:nvPr/>
        </p:nvSpPr>
        <p:spPr>
          <a:xfrm>
            <a:off x="8331200" y="3454400"/>
            <a:ext cx="2844800" cy="685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400">
                <a:solidFill>
                  <a:srgbClr val="33475E"/>
                </a:solidFill>
                <a:latin typeface="微软雅黑"/>
                <a:ea typeface="微软雅黑"/>
              </a:rPr>
              <a:t>单位产出能耗持续下降</a:t>
            </a: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14416CD1-10C0-A24B-97C6-C95E32C57B57}"/>
              </a:ext>
            </a:extLst>
          </p:cNvPr>
          <p:cNvSpPr/>
          <p:nvPr/>
        </p:nvSpPr>
        <p:spPr>
          <a:xfrm>
            <a:off x="762000" y="4470400"/>
            <a:ext cx="10668000" cy="15494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A64A0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4C21A590-9980-0F45-A2F9-1EDFE9258FED}"/>
              </a:ext>
            </a:extLst>
          </p:cNvPr>
          <p:cNvSpPr txBox="1"/>
          <p:nvPr/>
        </p:nvSpPr>
        <p:spPr>
          <a:xfrm>
            <a:off x="1066800" y="4648200"/>
            <a:ext cx="8890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600" b="1" dirty="0">
                <a:solidFill>
                  <a:srgbClr val="A64A0B"/>
                </a:solidFill>
                <a:latin typeface="微软雅黑"/>
                <a:ea typeface="微软雅黑"/>
              </a:rPr>
              <a:t>启动前提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FADAA4F2-F9B1-6E40-AF17-F65C2680434D}"/>
              </a:ext>
            </a:extLst>
          </p:cNvPr>
          <p:cNvSpPr txBox="1"/>
          <p:nvPr/>
        </p:nvSpPr>
        <p:spPr>
          <a:xfrm>
            <a:off x="1066800" y="5054600"/>
            <a:ext cx="10058400" cy="812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400" dirty="0">
                <a:solidFill>
                  <a:srgbClr val="33475E"/>
                </a:solidFill>
                <a:latin typeface="微软雅黑"/>
                <a:ea typeface="微软雅黑"/>
              </a:rPr>
              <a:t>≥ </a:t>
            </a:r>
            <a:r>
              <a:rPr lang="en-US" altLang="zh-CN" sz="1400" dirty="0">
                <a:solidFill>
                  <a:srgbClr val="33475E"/>
                </a:solidFill>
                <a:latin typeface="微软雅黑"/>
                <a:ea typeface="微软雅黑"/>
              </a:rPr>
              <a:t>3–6 </a:t>
            </a:r>
            <a:r>
              <a:rPr lang="zh-CN" altLang="en-US" sz="1400" dirty="0">
                <a:solidFill>
                  <a:srgbClr val="33475E"/>
                </a:solidFill>
                <a:latin typeface="微软雅黑"/>
                <a:ea typeface="微软雅黑"/>
              </a:rPr>
              <a:t>个月稳定运行数据积累　</a:t>
            </a:r>
            <a:r>
              <a:rPr lang="en-US" altLang="zh-CN" sz="1400" dirty="0">
                <a:solidFill>
                  <a:srgbClr val="33475E"/>
                </a:solidFill>
                <a:latin typeface="微软雅黑"/>
                <a:ea typeface="微软雅黑"/>
              </a:rPr>
              <a:t>·</a:t>
            </a:r>
            <a:r>
              <a:rPr lang="zh-CN" altLang="en-US" sz="1400" dirty="0">
                <a:solidFill>
                  <a:srgbClr val="33475E"/>
                </a:solidFill>
                <a:latin typeface="微软雅黑"/>
                <a:ea typeface="微软雅黑"/>
              </a:rPr>
              <a:t>　与贵司工艺专家联合标定　</a:t>
            </a:r>
            <a:r>
              <a:rPr lang="en-US" altLang="zh-CN" sz="1400" dirty="0">
                <a:solidFill>
                  <a:srgbClr val="33475E"/>
                </a:solidFill>
                <a:latin typeface="微软雅黑"/>
                <a:ea typeface="微软雅黑"/>
              </a:rPr>
              <a:t>·</a:t>
            </a:r>
            <a:r>
              <a:rPr lang="zh-CN" altLang="en-US" sz="1400" dirty="0">
                <a:solidFill>
                  <a:srgbClr val="33475E"/>
                </a:solidFill>
                <a:latin typeface="微软雅黑"/>
                <a:ea typeface="微软雅黑"/>
              </a:rPr>
              <a:t>　所有优化建议经人工确认后执行
没有足够数据支撑的「优化」是猜测，不是 </a:t>
            </a:r>
            <a:r>
              <a:rPr lang="en" altLang="zh-CN" sz="1400" dirty="0">
                <a:solidFill>
                  <a:srgbClr val="33475E"/>
                </a:solidFill>
                <a:latin typeface="微软雅黑"/>
                <a:ea typeface="微软雅黑"/>
              </a:rPr>
              <a:t>AI —— </a:t>
            </a:r>
            <a:r>
              <a:rPr lang="zh-CN" altLang="en-US" sz="1400" dirty="0">
                <a:solidFill>
                  <a:srgbClr val="33475E"/>
                </a:solidFill>
                <a:latin typeface="微软雅黑"/>
                <a:ea typeface="微软雅黑"/>
              </a:rPr>
              <a:t>本阶段前不承诺任何具体产率提升数字</a:t>
            </a:r>
          </a:p>
        </p:txBody>
      </p:sp>
    </p:spTree>
    <p:extLst>
      <p:ext uri="{BB962C8B-B14F-4D97-AF65-F5344CB8AC3E}">
        <p14:creationId xmlns:p14="http://schemas.microsoft.com/office/powerpoint/2010/main" val="29273551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DDA4A2F-744D-D548-9C8D-69ECFA701D9A}"/>
              </a:ext>
            </a:extLst>
          </p:cNvPr>
          <p:cNvSpPr txBox="1"/>
          <p:nvPr/>
        </p:nvSpPr>
        <p:spPr>
          <a:xfrm>
            <a:off x="736600" y="330200"/>
            <a:ext cx="10414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2600" b="1">
                <a:solidFill>
                  <a:srgbClr val="1F3864"/>
                </a:solidFill>
                <a:latin typeface="微软雅黑"/>
                <a:ea typeface="微软雅黑"/>
              </a:rPr>
              <a:t>11. </a:t>
            </a:r>
            <a:r>
              <a:rPr lang="zh-CN" altLang="en-US" sz="2600" b="1">
                <a:solidFill>
                  <a:srgbClr val="1F3864"/>
                </a:solidFill>
                <a:latin typeface="微软雅黑"/>
                <a:ea typeface="微软雅黑"/>
              </a:rPr>
              <a:t>模块五：设备销售后的远程风控与权限管理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46169B3-182F-E744-93C0-D74A2C6E4E52}"/>
              </a:ext>
            </a:extLst>
          </p:cNvPr>
          <p:cNvSpPr txBox="1"/>
          <p:nvPr/>
        </p:nvSpPr>
        <p:spPr>
          <a:xfrm>
            <a:off x="762000" y="8382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400">
                <a:solidFill>
                  <a:srgbClr val="5B6E88"/>
                </a:solidFill>
                <a:latin typeface="微软雅黑"/>
                <a:ea typeface="微软雅黑"/>
              </a:rPr>
              <a:t>把合同条款变成技术上可执行、法律上可举证、安全上有兜底的分级机制 </a:t>
            </a:r>
            <a:r>
              <a:rPr lang="en-US" altLang="zh-CN" sz="1400">
                <a:solidFill>
                  <a:srgbClr val="5B6E88"/>
                </a:solidFill>
                <a:latin typeface="微软雅黑"/>
                <a:ea typeface="微软雅黑"/>
              </a:rPr>
              <a:t>—— </a:t>
            </a:r>
            <a:r>
              <a:rPr lang="zh-CN" altLang="en-US" sz="1400">
                <a:solidFill>
                  <a:srgbClr val="5B6E88"/>
                </a:solidFill>
                <a:latin typeface="微软雅黑"/>
                <a:ea typeface="微软雅黑"/>
              </a:rPr>
              <a:t>不是「一键关机」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8FB433F9-8062-0A40-99CC-AD3220071D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8399569"/>
              </p:ext>
            </p:extLst>
          </p:nvPr>
        </p:nvGraphicFramePr>
        <p:xfrm>
          <a:off x="762000" y="1244600"/>
          <a:ext cx="10668000" cy="317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7000">
                  <a:extLst>
                    <a:ext uri="{9D8B030D-6E8A-4147-A177-3AD203B41FA5}">
                      <a16:colId xmlns:a16="http://schemas.microsoft.com/office/drawing/2014/main" val="2428049241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2306590870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3666102419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3782352424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层级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触发条件（示例）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措施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安全保障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4494064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L1 提醒</a:t>
                      </a:r>
                    </a:p>
                  </a:txBody>
                  <a:tcPr anchor="ctr">
                    <a:solidFill>
                      <a:srgbClr val="4A74B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33475E"/>
                          </a:solidFill>
                          <a:latin typeface="微软雅黑"/>
                          <a:ea typeface="微软雅黑"/>
                        </a:rPr>
                        <a:t>合同状态异常预警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33475E"/>
                          </a:solidFill>
                          <a:latin typeface="微软雅黑"/>
                          <a:ea typeface="微软雅黑"/>
                        </a:rPr>
                        <a:t>系统通知 ＋ 商务提醒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33475E"/>
                          </a:solidFill>
                          <a:latin typeface="微软雅黑"/>
                          <a:ea typeface="微软雅黑"/>
                        </a:rPr>
                        <a:t>不影响运行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7986952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L2 限制</a:t>
                      </a:r>
                    </a:p>
                  </a:txBody>
                  <a:tcPr anchor="ctr">
                    <a:solidFill>
                      <a:srgbClr val="3D67A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33475E"/>
                          </a:solidFill>
                          <a:latin typeface="微软雅黑"/>
                          <a:ea typeface="微软雅黑"/>
                        </a:rPr>
                        <a:t>逾期达约定期限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33475E"/>
                          </a:solidFill>
                          <a:latin typeface="微软雅黑"/>
                          <a:ea typeface="微软雅黑"/>
                        </a:rPr>
                        <a:t>限制非核心功能（报表 / 优化服务）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33475E"/>
                          </a:solidFill>
                          <a:latin typeface="微软雅黑"/>
                          <a:ea typeface="微软雅黑"/>
                        </a:rPr>
                        <a:t>不影响安全运行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3879295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L3 降载</a:t>
                      </a:r>
                    </a:p>
                  </a:txBody>
                  <a:tcPr anchor="ctr"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33475E"/>
                          </a:solidFill>
                          <a:latin typeface="微软雅黑"/>
                          <a:ea typeface="微软雅黑"/>
                        </a:rPr>
                        <a:t>持续违约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33475E"/>
                          </a:solidFill>
                          <a:latin typeface="微软雅黑"/>
                          <a:ea typeface="微软雅黑"/>
                        </a:rPr>
                        <a:t>按 SOP 引导降负荷运行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33475E"/>
                          </a:solidFill>
                          <a:latin typeface="微软雅黑"/>
                          <a:ea typeface="微软雅黑"/>
                        </a:rPr>
                        <a:t>联锁保护全程有效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5743401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L4 安全停机</a:t>
                      </a:r>
                    </a:p>
                  </a:txBody>
                  <a:tcPr anchor="ctr">
                    <a:solidFill>
                      <a:srgbClr val="A64A0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33475E"/>
                          </a:solidFill>
                          <a:latin typeface="微软雅黑"/>
                          <a:ea typeface="微软雅黑"/>
                        </a:rPr>
                        <a:t>严重违约（合同明确约定）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33475E"/>
                          </a:solidFill>
                          <a:latin typeface="微软雅黑"/>
                          <a:ea typeface="微软雅黑"/>
                        </a:rPr>
                        <a:t>预通知 → 多级审批 → 按工艺 SOP 有序停车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33475E"/>
                          </a:solidFill>
                          <a:latin typeface="微软雅黑"/>
                          <a:ea typeface="微软雅黑"/>
                        </a:rPr>
                        <a:t>PLC 联锁兜底，绝非瞬时断电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7318694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14B62189-0C79-1345-AF29-C98FC298BBDE}"/>
              </a:ext>
            </a:extLst>
          </p:cNvPr>
          <p:cNvSpPr txBox="1"/>
          <p:nvPr/>
        </p:nvSpPr>
        <p:spPr>
          <a:xfrm>
            <a:off x="762000" y="5257800"/>
            <a:ext cx="11684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500" b="1">
                <a:solidFill>
                  <a:srgbClr val="1F3864"/>
                </a:solidFill>
                <a:latin typeface="微软雅黑"/>
                <a:ea typeface="微软雅黑"/>
              </a:rPr>
              <a:t>五道防线：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C15C2E2F-312A-2945-92BC-D23FE558B27E}"/>
              </a:ext>
            </a:extLst>
          </p:cNvPr>
          <p:cNvSpPr/>
          <p:nvPr/>
        </p:nvSpPr>
        <p:spPr>
          <a:xfrm>
            <a:off x="2006600" y="5181600"/>
            <a:ext cx="1752600" cy="482600"/>
          </a:xfrm>
          <a:prstGeom prst="roundRect">
            <a:avLst/>
          </a:prstGeom>
          <a:solidFill>
            <a:srgbClr val="1F386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zh-CN" altLang="en-US" sz="1400" b="1">
                <a:solidFill>
                  <a:srgbClr val="FFFFFF"/>
                </a:solidFill>
                <a:latin typeface="微软雅黑"/>
                <a:ea typeface="微软雅黑"/>
              </a:rPr>
              <a:t>设备授权绑定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021B01E6-7CC2-0346-ACB8-DD5B97908B5B}"/>
              </a:ext>
            </a:extLst>
          </p:cNvPr>
          <p:cNvSpPr/>
          <p:nvPr/>
        </p:nvSpPr>
        <p:spPr>
          <a:xfrm>
            <a:off x="3924300" y="5181600"/>
            <a:ext cx="1752600" cy="482600"/>
          </a:xfrm>
          <a:prstGeom prst="roundRect">
            <a:avLst/>
          </a:prstGeom>
          <a:solidFill>
            <a:srgbClr val="1F386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zh-CN" altLang="en-US" sz="1400" b="1">
                <a:solidFill>
                  <a:srgbClr val="FFFFFF"/>
                </a:solidFill>
                <a:latin typeface="微软雅黑"/>
                <a:ea typeface="微软雅黑"/>
              </a:rPr>
              <a:t>合同状态校验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AC97E899-C835-C643-B864-19303F1E6A83}"/>
              </a:ext>
            </a:extLst>
          </p:cNvPr>
          <p:cNvSpPr/>
          <p:nvPr/>
        </p:nvSpPr>
        <p:spPr>
          <a:xfrm>
            <a:off x="5842000" y="5181600"/>
            <a:ext cx="1752600" cy="482600"/>
          </a:xfrm>
          <a:prstGeom prst="roundRect">
            <a:avLst/>
          </a:prstGeom>
          <a:solidFill>
            <a:srgbClr val="1F386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zh-CN" altLang="en-US" sz="1400" b="1">
                <a:solidFill>
                  <a:srgbClr val="FFFFFF"/>
                </a:solidFill>
                <a:latin typeface="微软雅黑"/>
                <a:ea typeface="微软雅黑"/>
              </a:rPr>
              <a:t>多级审批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3E96F0BF-27A7-F943-BF15-FC2718BAB991}"/>
              </a:ext>
            </a:extLst>
          </p:cNvPr>
          <p:cNvSpPr/>
          <p:nvPr/>
        </p:nvSpPr>
        <p:spPr>
          <a:xfrm>
            <a:off x="7759700" y="5181600"/>
            <a:ext cx="1752600" cy="482600"/>
          </a:xfrm>
          <a:prstGeom prst="roundRect">
            <a:avLst/>
          </a:prstGeom>
          <a:solidFill>
            <a:srgbClr val="1F386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zh-CN" altLang="en-US" sz="1400" b="1">
                <a:solidFill>
                  <a:srgbClr val="FFFFFF"/>
                </a:solidFill>
                <a:latin typeface="微软雅黑"/>
                <a:ea typeface="微软雅黑"/>
              </a:rPr>
              <a:t>操作审计留痕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377E7831-5641-E945-9A1A-0FAE6F181777}"/>
              </a:ext>
            </a:extLst>
          </p:cNvPr>
          <p:cNvSpPr/>
          <p:nvPr/>
        </p:nvSpPr>
        <p:spPr>
          <a:xfrm>
            <a:off x="9677400" y="5181600"/>
            <a:ext cx="1752600" cy="482600"/>
          </a:xfrm>
          <a:prstGeom prst="roundRect">
            <a:avLst/>
          </a:prstGeom>
          <a:solidFill>
            <a:srgbClr val="1F386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zh-CN" altLang="en-US" sz="1400" b="1">
                <a:solidFill>
                  <a:srgbClr val="FFFFFF"/>
                </a:solidFill>
                <a:latin typeface="微软雅黑"/>
                <a:ea typeface="微软雅黑"/>
              </a:rPr>
              <a:t>防篡改日志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FE92C2D-0028-3F40-8491-59BE858ADE37}"/>
              </a:ext>
            </a:extLst>
          </p:cNvPr>
          <p:cNvSpPr txBox="1"/>
          <p:nvPr/>
        </p:nvSpPr>
        <p:spPr>
          <a:xfrm>
            <a:off x="762000" y="57404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400">
                <a:solidFill>
                  <a:srgbClr val="5B6E88"/>
                </a:solidFill>
                <a:latin typeface="微软雅黑"/>
                <a:ea typeface="微软雅黑"/>
              </a:rPr>
              <a:t>所有措施以购销合同中的明确授权条款为前提，法务先行；每一步操作有审批、有日志、可举证。</a:t>
            </a:r>
          </a:p>
        </p:txBody>
      </p:sp>
    </p:spTree>
    <p:extLst>
      <p:ext uri="{BB962C8B-B14F-4D97-AF65-F5344CB8AC3E}">
        <p14:creationId xmlns:p14="http://schemas.microsoft.com/office/powerpoint/2010/main" val="39672835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7B54B3C-79B4-084A-BD79-ACDF3E8652A8}"/>
              </a:ext>
            </a:extLst>
          </p:cNvPr>
          <p:cNvSpPr txBox="1"/>
          <p:nvPr/>
        </p:nvSpPr>
        <p:spPr>
          <a:xfrm>
            <a:off x="736600" y="330200"/>
            <a:ext cx="8890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2600" b="1">
                <a:solidFill>
                  <a:srgbClr val="1F3864"/>
                </a:solidFill>
                <a:latin typeface="微软雅黑"/>
                <a:ea typeface="微软雅黑"/>
              </a:rPr>
              <a:t>12. </a:t>
            </a:r>
            <a:r>
              <a:rPr lang="zh-CN" altLang="en-US" sz="2600" b="1">
                <a:solidFill>
                  <a:srgbClr val="1F3864"/>
                </a:solidFill>
                <a:latin typeface="微软雅黑"/>
                <a:ea typeface="微软雅黑"/>
              </a:rPr>
              <a:t>实施路径与阶段计划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79880B2-3989-FD41-A039-2206C211ADB7}"/>
              </a:ext>
            </a:extLst>
          </p:cNvPr>
          <p:cNvSpPr txBox="1"/>
          <p:nvPr/>
        </p:nvSpPr>
        <p:spPr>
          <a:xfrm>
            <a:off x="762000" y="8382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400">
                <a:solidFill>
                  <a:srgbClr val="5B6E88"/>
                </a:solidFill>
                <a:latin typeface="微软雅黑"/>
                <a:ea typeface="微软雅黑"/>
              </a:rPr>
              <a:t>五个阶段小步快跑，每个阶段有明确交付物与验收标准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02AF89A9-7191-F64A-A59B-B9022D3572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4106889"/>
              </p:ext>
            </p:extLst>
          </p:nvPr>
        </p:nvGraphicFramePr>
        <p:xfrm>
          <a:off x="762000" y="1244600"/>
          <a:ext cx="10668000" cy="3682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>
                  <a:extLst>
                    <a:ext uri="{9D8B030D-6E8A-4147-A177-3AD203B41FA5}">
                      <a16:colId xmlns:a16="http://schemas.microsoft.com/office/drawing/2014/main" val="3790544235"/>
                    </a:ext>
                  </a:extLst>
                </a:gridCol>
                <a:gridCol w="3683000">
                  <a:extLst>
                    <a:ext uri="{9D8B030D-6E8A-4147-A177-3AD203B41FA5}">
                      <a16:colId xmlns:a16="http://schemas.microsoft.com/office/drawing/2014/main" val="2060386987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3759054256"/>
                    </a:ext>
                  </a:extLst>
                </a:gridCol>
                <a:gridCol w="4318000">
                  <a:extLst>
                    <a:ext uri="{9D8B030D-6E8A-4147-A177-3AD203B41FA5}">
                      <a16:colId xmlns:a16="http://schemas.microsoft.com/office/drawing/2014/main" val="346414211"/>
                    </a:ext>
                  </a:extLst>
                </a:gridCol>
              </a:tblGrid>
              <a:tr h="613833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阶段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建设内容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周期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关键交付物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99455"/>
                  </a:ext>
                </a:extLst>
              </a:tr>
              <a:tr h="613833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阶段 0</a:t>
                      </a:r>
                    </a:p>
                  </a:txBody>
                  <a:tcPr anchor="ctr">
                    <a:solidFill>
                      <a:srgbClr val="4A74B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33475E"/>
                          </a:solidFill>
                          <a:latin typeface="微软雅黑"/>
                          <a:ea typeface="微软雅黑"/>
                        </a:rPr>
                        <a:t>NDA 签署 ＋ 现场调研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33475E"/>
                          </a:solidFill>
                          <a:latin typeface="微软雅黑"/>
                          <a:ea typeface="微软雅黑"/>
                        </a:rPr>
                        <a:t>1 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33475E"/>
                          </a:solidFill>
                          <a:latin typeface="微软雅黑"/>
                          <a:ea typeface="微软雅黑"/>
                        </a:rPr>
                        <a:t>调研报告、点位评估、实施蓝图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7735359"/>
                  </a:ext>
                </a:extLst>
              </a:tr>
              <a:tr h="613833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阶段 1</a:t>
                      </a:r>
                    </a:p>
                  </a:txBody>
                  <a:tcPr anchor="ctr">
                    <a:solidFill>
                      <a:srgbClr val="3D67A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33475E"/>
                          </a:solidFill>
                          <a:latin typeface="微软雅黑"/>
                          <a:ea typeface="微软雅黑"/>
                        </a:rPr>
                        <a:t>数据接入 ＋ 远程监控 MVP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33475E"/>
                          </a:solidFill>
                          <a:latin typeface="微软雅黑"/>
                          <a:ea typeface="微软雅黑"/>
                        </a:rPr>
                        <a:t>4–8 周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33475E"/>
                          </a:solidFill>
                          <a:latin typeface="微软雅黑"/>
                          <a:ea typeface="微软雅黑"/>
                        </a:rPr>
                        <a:t>试点线数据底座、实时看板、基础报警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5423156"/>
                  </a:ext>
                </a:extLst>
              </a:tr>
              <a:tr h="613833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阶段 2</a:t>
                      </a:r>
                    </a:p>
                  </a:txBody>
                  <a:tcPr anchor="ctr"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33475E"/>
                          </a:solidFill>
                          <a:latin typeface="微软雅黑"/>
                          <a:ea typeface="微软雅黑"/>
                        </a:rPr>
                        <a:t>AI 异常预警 ＋ 设备健康模型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33475E"/>
                          </a:solidFill>
                          <a:latin typeface="微软雅黑"/>
                          <a:ea typeface="微软雅黑"/>
                        </a:rPr>
                        <a:t>8–12 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33475E"/>
                          </a:solidFill>
                          <a:latin typeface="微软雅黑"/>
                          <a:ea typeface="微软雅黑"/>
                        </a:rPr>
                        <a:t>预警模型上线、健康评分、诊断辅助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3249288"/>
                  </a:ext>
                </a:extLst>
              </a:tr>
              <a:tr h="613833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阶段 3</a:t>
                      </a:r>
                    </a:p>
                  </a:txBody>
                  <a:tcPr anchor="ctr">
                    <a:solidFill>
                      <a:srgbClr val="27497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33475E"/>
                          </a:solidFill>
                          <a:latin typeface="微软雅黑"/>
                          <a:ea typeface="微软雅黑"/>
                        </a:rPr>
                        <a:t>远程运维 ＋ 风控权限系统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33475E"/>
                          </a:solidFill>
                          <a:latin typeface="微软雅黑"/>
                          <a:ea typeface="微软雅黑"/>
                        </a:rPr>
                        <a:t>8–12 周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33475E"/>
                          </a:solidFill>
                          <a:latin typeface="微软雅黑"/>
                          <a:ea typeface="微软雅黑"/>
                        </a:rPr>
                        <a:t>驾驶舱全功能、分级风控、审计体系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209446"/>
                  </a:ext>
                </a:extLst>
              </a:tr>
              <a:tr h="613833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阶段 4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33475E"/>
                          </a:solidFill>
                          <a:latin typeface="微软雅黑"/>
                          <a:ea typeface="微软雅黑"/>
                        </a:rPr>
                        <a:t>参数优化 ＋ 多产线复制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33475E"/>
                          </a:solidFill>
                          <a:latin typeface="微软雅黑"/>
                          <a:ea typeface="微软雅黑"/>
                        </a:rPr>
                        <a:t>3–6 个月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33475E"/>
                          </a:solidFill>
                          <a:latin typeface="微软雅黑"/>
                          <a:ea typeface="微软雅黑"/>
                        </a:rPr>
                        <a:t>优化建议引擎、复制部署手册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9769341"/>
                  </a:ext>
                </a:extLst>
              </a:tr>
            </a:tbl>
          </a:graphicData>
        </a:graphic>
      </p:graphicFrame>
      <p:sp>
        <p:nvSpPr>
          <p:cNvPr id="6" name="圆角矩形 5">
            <a:extLst>
              <a:ext uri="{FF2B5EF4-FFF2-40B4-BE49-F238E27FC236}">
                <a16:creationId xmlns:a16="http://schemas.microsoft.com/office/drawing/2014/main" id="{75AC258C-F34A-7D47-97ED-EDE8466F626A}"/>
              </a:ext>
            </a:extLst>
          </p:cNvPr>
          <p:cNvSpPr/>
          <p:nvPr/>
        </p:nvSpPr>
        <p:spPr>
          <a:xfrm>
            <a:off x="762000" y="5334000"/>
            <a:ext cx="10668000" cy="685800"/>
          </a:xfrm>
          <a:prstGeom prst="roundRect">
            <a:avLst/>
          </a:prstGeom>
          <a:solidFill>
            <a:srgbClr val="1F386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1D2CC96-B735-5F4E-B0FD-FCD8D7DCD852}"/>
              </a:ext>
            </a:extLst>
          </p:cNvPr>
          <p:cNvSpPr txBox="1"/>
          <p:nvPr/>
        </p:nvSpPr>
        <p:spPr>
          <a:xfrm>
            <a:off x="1066800" y="5507623"/>
            <a:ext cx="10058400" cy="338554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FFFFFF"/>
                </a:solidFill>
                <a:latin typeface="微软雅黑"/>
                <a:ea typeface="微软雅黑"/>
              </a:rPr>
              <a:t>每个阶段独立验收、达标后再启动下一阶段 、</a:t>
            </a:r>
          </a:p>
        </p:txBody>
      </p:sp>
    </p:spTree>
    <p:extLst>
      <p:ext uri="{BB962C8B-B14F-4D97-AF65-F5344CB8AC3E}">
        <p14:creationId xmlns:p14="http://schemas.microsoft.com/office/powerpoint/2010/main" val="39241021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B937A67-9F20-0A49-9C59-DA476267D01C}"/>
              </a:ext>
            </a:extLst>
          </p:cNvPr>
          <p:cNvSpPr txBox="1"/>
          <p:nvPr/>
        </p:nvSpPr>
        <p:spPr>
          <a:xfrm>
            <a:off x="736600" y="330200"/>
            <a:ext cx="9652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2600" b="1">
                <a:solidFill>
                  <a:srgbClr val="1F3864"/>
                </a:solidFill>
                <a:latin typeface="微软雅黑"/>
                <a:ea typeface="微软雅黑"/>
              </a:rPr>
              <a:t>13. </a:t>
            </a:r>
            <a:r>
              <a:rPr lang="zh-CN" altLang="en-US" sz="2600" b="1">
                <a:solidFill>
                  <a:srgbClr val="1F3864"/>
                </a:solidFill>
                <a:latin typeface="微软雅黑"/>
                <a:ea typeface="微软雅黑"/>
              </a:rPr>
              <a:t>试点线建设方案：先做一条「模范线」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B91C079-1238-2845-90FD-80C7079538A8}"/>
              </a:ext>
            </a:extLst>
          </p:cNvPr>
          <p:cNvSpPr txBox="1"/>
          <p:nvPr/>
        </p:nvSpPr>
        <p:spPr>
          <a:xfrm>
            <a:off x="762000" y="8382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400">
                <a:solidFill>
                  <a:srgbClr val="5B6E88"/>
                </a:solidFill>
                <a:latin typeface="微软雅黑"/>
                <a:ea typeface="微软雅黑"/>
              </a:rPr>
              <a:t>跑通全流程、验证全价值，再复制 </a:t>
            </a:r>
            <a:r>
              <a:rPr lang="en-US" altLang="zh-CN" sz="1400">
                <a:solidFill>
                  <a:srgbClr val="5B6E88"/>
                </a:solidFill>
                <a:latin typeface="微软雅黑"/>
                <a:ea typeface="微软雅黑"/>
              </a:rPr>
              <a:t>—— </a:t>
            </a:r>
            <a:r>
              <a:rPr lang="zh-CN" altLang="en-US" sz="1400">
                <a:solidFill>
                  <a:srgbClr val="5B6E88"/>
                </a:solidFill>
                <a:latin typeface="微软雅黑"/>
                <a:ea typeface="微软雅黑"/>
              </a:rPr>
              <a:t>不建议全厂一次性铺开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A8998B84-16CE-394B-943D-A0AC781D634B}"/>
              </a:ext>
            </a:extLst>
          </p:cNvPr>
          <p:cNvSpPr/>
          <p:nvPr/>
        </p:nvSpPr>
        <p:spPr>
          <a:xfrm>
            <a:off x="762000" y="1244600"/>
            <a:ext cx="3886200" cy="3657600"/>
          </a:xfrm>
          <a:prstGeom prst="roundRect">
            <a:avLst/>
          </a:prstGeom>
          <a:solidFill>
            <a:srgbClr val="1F386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9CDD1D4-B5D1-9B45-B788-F1917BFE2399}"/>
              </a:ext>
            </a:extLst>
          </p:cNvPr>
          <p:cNvSpPr txBox="1"/>
          <p:nvPr/>
        </p:nvSpPr>
        <p:spPr>
          <a:xfrm>
            <a:off x="1066800" y="1473200"/>
            <a:ext cx="330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700" b="1">
                <a:solidFill>
                  <a:srgbClr val="FFFFFF"/>
                </a:solidFill>
                <a:latin typeface="微软雅黑"/>
                <a:ea typeface="微软雅黑"/>
              </a:rPr>
              <a:t>为什么先做试点线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7555CFB-798D-804A-A77E-1E8A066119BF}"/>
              </a:ext>
            </a:extLst>
          </p:cNvPr>
          <p:cNvSpPr txBox="1"/>
          <p:nvPr/>
        </p:nvSpPr>
        <p:spPr>
          <a:xfrm>
            <a:off x="1066800" y="1930400"/>
            <a:ext cx="3302000" cy="279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400">
                <a:solidFill>
                  <a:srgbClr val="D5E1F2"/>
                </a:solidFill>
                <a:latin typeface="微软雅黑"/>
                <a:ea typeface="微软雅黑"/>
              </a:rPr>
              <a:t>风险最小
不干扰其他产线正常生产
见效最快
</a:t>
            </a:r>
            <a:r>
              <a:rPr lang="en-US" altLang="zh-CN" sz="1400">
                <a:solidFill>
                  <a:srgbClr val="D5E1F2"/>
                </a:solidFill>
                <a:latin typeface="微软雅黑"/>
                <a:ea typeface="微软雅黑"/>
              </a:rPr>
              <a:t>8 </a:t>
            </a:r>
            <a:r>
              <a:rPr lang="zh-CN" altLang="en-US" sz="1400">
                <a:solidFill>
                  <a:srgbClr val="D5E1F2"/>
                </a:solidFill>
                <a:latin typeface="微软雅黑"/>
                <a:ea typeface="微软雅黑"/>
              </a:rPr>
              <a:t>周内看到第一版可用系统
标准先行
试点沉淀的点表规范、部署手册
即是「</a:t>
            </a:r>
            <a:r>
              <a:rPr lang="en-US" altLang="zh-CN" sz="1400">
                <a:solidFill>
                  <a:srgbClr val="D5E1F2"/>
                </a:solidFill>
                <a:latin typeface="微软雅黑"/>
                <a:ea typeface="微软雅黑"/>
              </a:rPr>
              <a:t>1 → </a:t>
            </a:r>
            <a:r>
              <a:rPr lang="en" altLang="zh-CN" sz="1400">
                <a:solidFill>
                  <a:srgbClr val="D5E1F2"/>
                </a:solidFill>
                <a:latin typeface="微软雅黑"/>
                <a:ea typeface="微软雅黑"/>
              </a:rPr>
              <a:t>N</a:t>
            </a:r>
            <a:r>
              <a:rPr lang="zh-CN" altLang="en" sz="1400">
                <a:solidFill>
                  <a:srgbClr val="D5E1F2"/>
                </a:solidFill>
                <a:latin typeface="微软雅黑"/>
                <a:ea typeface="微软雅黑"/>
              </a:rPr>
              <a:t>」</a:t>
            </a:r>
            <a:r>
              <a:rPr lang="zh-CN" altLang="en-US" sz="1400">
                <a:solidFill>
                  <a:srgbClr val="D5E1F2"/>
                </a:solidFill>
                <a:latin typeface="微软雅黑"/>
                <a:ea typeface="微软雅黑"/>
              </a:rPr>
              <a:t>复制模板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C41DF263-DE42-774B-A2DC-B8D1CB1ED064}"/>
              </a:ext>
            </a:extLst>
          </p:cNvPr>
          <p:cNvSpPr/>
          <p:nvPr/>
        </p:nvSpPr>
        <p:spPr>
          <a:xfrm>
            <a:off x="4953000" y="1244600"/>
            <a:ext cx="6477000" cy="3657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DE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E4323F8-DE59-5345-8B50-C663FE0A28C4}"/>
              </a:ext>
            </a:extLst>
          </p:cNvPr>
          <p:cNvSpPr txBox="1"/>
          <p:nvPr/>
        </p:nvSpPr>
        <p:spPr>
          <a:xfrm>
            <a:off x="5257800" y="1473200"/>
            <a:ext cx="508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700" b="1">
                <a:solidFill>
                  <a:srgbClr val="1F3864"/>
                </a:solidFill>
                <a:latin typeface="微软雅黑"/>
                <a:ea typeface="微软雅黑"/>
              </a:rPr>
              <a:t>试点线六项建设内容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BB65A184-499C-B847-804B-0798BACCE235}"/>
              </a:ext>
            </a:extLst>
          </p:cNvPr>
          <p:cNvSpPr/>
          <p:nvPr/>
        </p:nvSpPr>
        <p:spPr>
          <a:xfrm>
            <a:off x="5257800" y="1955800"/>
            <a:ext cx="330200" cy="330200"/>
          </a:xfrm>
          <a:prstGeom prst="ellipse">
            <a:avLst/>
          </a:prstGeom>
          <a:solidFill>
            <a:srgbClr val="2F559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CN" sz="1400" b="1">
                <a:solidFill>
                  <a:srgbClr val="FFFFFF"/>
                </a:solidFill>
                <a:latin typeface="微软雅黑"/>
                <a:ea typeface="微软雅黑"/>
              </a:rPr>
              <a:t>01</a:t>
            </a:r>
            <a:endParaRPr lang="zh-CN" altLang="en-US" sz="1400" b="1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E722F28-0F9A-7040-868F-4B1F9CAF8540}"/>
              </a:ext>
            </a:extLst>
          </p:cNvPr>
          <p:cNvSpPr txBox="1"/>
          <p:nvPr/>
        </p:nvSpPr>
        <p:spPr>
          <a:xfrm>
            <a:off x="5740400" y="1968500"/>
            <a:ext cx="5461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" altLang="zh-CN" sz="1400">
                <a:solidFill>
                  <a:srgbClr val="33475E"/>
                </a:solidFill>
                <a:latin typeface="微软雅黑"/>
                <a:ea typeface="微软雅黑"/>
              </a:rPr>
              <a:t>PLC </a:t>
            </a:r>
            <a:r>
              <a:rPr lang="zh-CN" altLang="en-US" sz="1400">
                <a:solidFill>
                  <a:srgbClr val="33475E"/>
                </a:solidFill>
                <a:latin typeface="微软雅黑"/>
                <a:ea typeface="微软雅黑"/>
              </a:rPr>
              <a:t>数据接入（</a:t>
            </a:r>
            <a:r>
              <a:rPr lang="en-US" altLang="zh-CN" sz="1400">
                <a:solidFill>
                  <a:srgbClr val="33475E"/>
                </a:solidFill>
                <a:latin typeface="微软雅黑"/>
                <a:ea typeface="微软雅黑"/>
              </a:rPr>
              <a:t>100+ </a:t>
            </a:r>
            <a:r>
              <a:rPr lang="zh-CN" altLang="en-US" sz="1400">
                <a:solidFill>
                  <a:srgbClr val="33475E"/>
                </a:solidFill>
                <a:latin typeface="微软雅黑"/>
                <a:ea typeface="微软雅黑"/>
              </a:rPr>
              <a:t>点位采集验证）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BC9E9FDA-071D-E64E-B705-B2C82546FD36}"/>
              </a:ext>
            </a:extLst>
          </p:cNvPr>
          <p:cNvSpPr/>
          <p:nvPr/>
        </p:nvSpPr>
        <p:spPr>
          <a:xfrm>
            <a:off x="5257800" y="2438400"/>
            <a:ext cx="330200" cy="330200"/>
          </a:xfrm>
          <a:prstGeom prst="ellipse">
            <a:avLst/>
          </a:prstGeom>
          <a:solidFill>
            <a:srgbClr val="2F559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CN" sz="1400" b="1">
                <a:solidFill>
                  <a:srgbClr val="FFFFFF"/>
                </a:solidFill>
                <a:latin typeface="微软雅黑"/>
                <a:ea typeface="微软雅黑"/>
              </a:rPr>
              <a:t>02</a:t>
            </a:r>
            <a:endParaRPr lang="zh-CN" altLang="en-US" sz="1400" b="1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997A606-99FF-0C46-9A2B-0F7753365212}"/>
              </a:ext>
            </a:extLst>
          </p:cNvPr>
          <p:cNvSpPr txBox="1"/>
          <p:nvPr/>
        </p:nvSpPr>
        <p:spPr>
          <a:xfrm>
            <a:off x="5740400" y="2451100"/>
            <a:ext cx="5461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zh-CN" altLang="en-US" sz="1400">
                <a:solidFill>
                  <a:srgbClr val="33475E"/>
                </a:solidFill>
                <a:latin typeface="微软雅黑"/>
                <a:ea typeface="微软雅黑"/>
              </a:rPr>
              <a:t>实时运行看板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A9E1FDA2-9C18-3145-B2BD-DBF4ED8590FD}"/>
              </a:ext>
            </a:extLst>
          </p:cNvPr>
          <p:cNvSpPr/>
          <p:nvPr/>
        </p:nvSpPr>
        <p:spPr>
          <a:xfrm>
            <a:off x="5257800" y="2921000"/>
            <a:ext cx="330200" cy="330200"/>
          </a:xfrm>
          <a:prstGeom prst="ellipse">
            <a:avLst/>
          </a:prstGeom>
          <a:solidFill>
            <a:srgbClr val="2F559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CN" sz="1400" b="1">
                <a:solidFill>
                  <a:srgbClr val="FFFFFF"/>
                </a:solidFill>
                <a:latin typeface="微软雅黑"/>
                <a:ea typeface="微软雅黑"/>
              </a:rPr>
              <a:t>03</a:t>
            </a:r>
            <a:endParaRPr lang="zh-CN" altLang="en-US" sz="1400" b="1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C7D4CEB-B800-9D4F-A6FE-616901E2333F}"/>
              </a:ext>
            </a:extLst>
          </p:cNvPr>
          <p:cNvSpPr txBox="1"/>
          <p:nvPr/>
        </p:nvSpPr>
        <p:spPr>
          <a:xfrm>
            <a:off x="5740400" y="2933700"/>
            <a:ext cx="5461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zh-CN" altLang="en-US" sz="1400">
                <a:solidFill>
                  <a:srgbClr val="33475E"/>
                </a:solidFill>
                <a:latin typeface="微软雅黑"/>
                <a:ea typeface="微软雅黑"/>
              </a:rPr>
              <a:t>历史趋势查询与对比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EF95C0B0-6F08-7341-92EE-4D3625ED755E}"/>
              </a:ext>
            </a:extLst>
          </p:cNvPr>
          <p:cNvSpPr/>
          <p:nvPr/>
        </p:nvSpPr>
        <p:spPr>
          <a:xfrm>
            <a:off x="5257800" y="3403600"/>
            <a:ext cx="330200" cy="330200"/>
          </a:xfrm>
          <a:prstGeom prst="ellipse">
            <a:avLst/>
          </a:prstGeom>
          <a:solidFill>
            <a:srgbClr val="2F559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CN" sz="1400" b="1">
                <a:solidFill>
                  <a:srgbClr val="FFFFFF"/>
                </a:solidFill>
                <a:latin typeface="微软雅黑"/>
                <a:ea typeface="微软雅黑"/>
              </a:rPr>
              <a:t>04</a:t>
            </a:r>
            <a:endParaRPr lang="zh-CN" altLang="en-US" sz="1400" b="1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EBDF64B-F19D-DC46-8EAE-D040EDEE1037}"/>
              </a:ext>
            </a:extLst>
          </p:cNvPr>
          <p:cNvSpPr txBox="1"/>
          <p:nvPr/>
        </p:nvSpPr>
        <p:spPr>
          <a:xfrm>
            <a:off x="5740400" y="3416300"/>
            <a:ext cx="5461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zh-CN" altLang="en-US" sz="1400">
                <a:solidFill>
                  <a:srgbClr val="33475E"/>
                </a:solidFill>
                <a:latin typeface="微软雅黑"/>
                <a:ea typeface="微软雅黑"/>
              </a:rPr>
              <a:t>基础报警与分级推送</a:t>
            </a: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4277432A-8505-1343-87CC-B2D48530C7BD}"/>
              </a:ext>
            </a:extLst>
          </p:cNvPr>
          <p:cNvSpPr/>
          <p:nvPr/>
        </p:nvSpPr>
        <p:spPr>
          <a:xfrm>
            <a:off x="5257800" y="3886200"/>
            <a:ext cx="330200" cy="330200"/>
          </a:xfrm>
          <a:prstGeom prst="ellipse">
            <a:avLst/>
          </a:prstGeom>
          <a:solidFill>
            <a:srgbClr val="2F559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CN" sz="1400" b="1">
                <a:solidFill>
                  <a:srgbClr val="FFFFFF"/>
                </a:solidFill>
                <a:latin typeface="微软雅黑"/>
                <a:ea typeface="微软雅黑"/>
              </a:rPr>
              <a:t>05</a:t>
            </a:r>
            <a:endParaRPr lang="zh-CN" altLang="en-US" sz="1400" b="1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A581C73-BEE7-9249-B655-01F98F219902}"/>
              </a:ext>
            </a:extLst>
          </p:cNvPr>
          <p:cNvSpPr txBox="1"/>
          <p:nvPr/>
        </p:nvSpPr>
        <p:spPr>
          <a:xfrm>
            <a:off x="5740400" y="3898900"/>
            <a:ext cx="5461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" altLang="zh-CN" sz="1400">
                <a:solidFill>
                  <a:srgbClr val="33475E"/>
                </a:solidFill>
                <a:latin typeface="微软雅黑"/>
                <a:ea typeface="微软雅黑"/>
              </a:rPr>
              <a:t>AI </a:t>
            </a:r>
            <a:r>
              <a:rPr lang="zh-CN" altLang="en-US" sz="1400">
                <a:solidFill>
                  <a:srgbClr val="33475E"/>
                </a:solidFill>
                <a:latin typeface="微软雅黑"/>
                <a:ea typeface="微软雅黑"/>
              </a:rPr>
              <a:t>异常预警（首批 </a:t>
            </a:r>
            <a:r>
              <a:rPr lang="en-US" altLang="zh-CN" sz="1400">
                <a:solidFill>
                  <a:srgbClr val="33475E"/>
                </a:solidFill>
                <a:latin typeface="微软雅黑"/>
                <a:ea typeface="微软雅黑"/>
              </a:rPr>
              <a:t>2–3 </a:t>
            </a:r>
            <a:r>
              <a:rPr lang="zh-CN" altLang="en-US" sz="1400">
                <a:solidFill>
                  <a:srgbClr val="33475E"/>
                </a:solidFill>
                <a:latin typeface="微软雅黑"/>
                <a:ea typeface="微软雅黑"/>
              </a:rPr>
              <a:t>个高价值场景）</a:t>
            </a: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F766B8D8-B311-A041-8B11-9375A0194F0C}"/>
              </a:ext>
            </a:extLst>
          </p:cNvPr>
          <p:cNvSpPr/>
          <p:nvPr/>
        </p:nvSpPr>
        <p:spPr>
          <a:xfrm>
            <a:off x="5257800" y="4368800"/>
            <a:ext cx="330200" cy="330200"/>
          </a:xfrm>
          <a:prstGeom prst="ellipse">
            <a:avLst/>
          </a:prstGeom>
          <a:solidFill>
            <a:srgbClr val="2F559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CN" sz="1400" b="1">
                <a:solidFill>
                  <a:srgbClr val="FFFFFF"/>
                </a:solidFill>
                <a:latin typeface="微软雅黑"/>
                <a:ea typeface="微软雅黑"/>
              </a:rPr>
              <a:t>06</a:t>
            </a:r>
            <a:endParaRPr lang="zh-CN" altLang="en-US" sz="1400" b="1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BAD79B9-3FED-9B4F-A335-DEA8E7FD8E46}"/>
              </a:ext>
            </a:extLst>
          </p:cNvPr>
          <p:cNvSpPr txBox="1"/>
          <p:nvPr/>
        </p:nvSpPr>
        <p:spPr>
          <a:xfrm>
            <a:off x="5740400" y="4381500"/>
            <a:ext cx="5461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zh-CN" altLang="en-US" sz="1400">
                <a:solidFill>
                  <a:srgbClr val="33475E"/>
                </a:solidFill>
                <a:latin typeface="微软雅黑"/>
                <a:ea typeface="微软雅黑"/>
              </a:rPr>
              <a:t>远程运维工作流（事件 </a:t>
            </a:r>
            <a:r>
              <a:rPr lang="en-US" altLang="zh-CN" sz="1400">
                <a:solidFill>
                  <a:srgbClr val="33475E"/>
                </a:solidFill>
                <a:latin typeface="微软雅黑"/>
                <a:ea typeface="微软雅黑"/>
              </a:rPr>
              <a:t>— </a:t>
            </a:r>
            <a:r>
              <a:rPr lang="zh-CN" altLang="en-US" sz="1400">
                <a:solidFill>
                  <a:srgbClr val="33475E"/>
                </a:solidFill>
                <a:latin typeface="微软雅黑"/>
                <a:ea typeface="微软雅黑"/>
              </a:rPr>
              <a:t>工单 </a:t>
            </a:r>
            <a:r>
              <a:rPr lang="en-US" altLang="zh-CN" sz="1400">
                <a:solidFill>
                  <a:srgbClr val="33475E"/>
                </a:solidFill>
                <a:latin typeface="微软雅黑"/>
                <a:ea typeface="微软雅黑"/>
              </a:rPr>
              <a:t>— </a:t>
            </a:r>
            <a:r>
              <a:rPr lang="zh-CN" altLang="en-US" sz="1400">
                <a:solidFill>
                  <a:srgbClr val="33475E"/>
                </a:solidFill>
                <a:latin typeface="微软雅黑"/>
                <a:ea typeface="微软雅黑"/>
              </a:rPr>
              <a:t>闭环）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1264EBE3-CEB8-2448-9376-38DE9DBE2F08}"/>
              </a:ext>
            </a:extLst>
          </p:cNvPr>
          <p:cNvSpPr/>
          <p:nvPr/>
        </p:nvSpPr>
        <p:spPr>
          <a:xfrm>
            <a:off x="762000" y="5181600"/>
            <a:ext cx="10668000" cy="812800"/>
          </a:xfrm>
          <a:prstGeom prst="roundRect">
            <a:avLst/>
          </a:prstGeom>
          <a:solidFill>
            <a:srgbClr val="FFFFFF"/>
          </a:solidFill>
          <a:ln w="15875" cap="flat" cmpd="sng" algn="ctr">
            <a:solidFill>
              <a:srgbClr val="2F559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A0EAC32-F4AE-A346-9514-4EF7C23123EB}"/>
              </a:ext>
            </a:extLst>
          </p:cNvPr>
          <p:cNvSpPr txBox="1"/>
          <p:nvPr/>
        </p:nvSpPr>
        <p:spPr>
          <a:xfrm>
            <a:off x="1066800" y="5426417"/>
            <a:ext cx="10058400" cy="323165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ctr"/>
            <a:r>
              <a:rPr lang="zh-CN" altLang="en-US" sz="1500" b="1" dirty="0">
                <a:solidFill>
                  <a:srgbClr val="1F3864"/>
                </a:solidFill>
                <a:latin typeface="微软雅黑"/>
                <a:ea typeface="微软雅黑"/>
              </a:rPr>
              <a:t>选线建议：数据条件好 </a:t>
            </a:r>
            <a:r>
              <a:rPr lang="en-US" altLang="zh-CN" sz="1500" b="1" dirty="0">
                <a:solidFill>
                  <a:srgbClr val="1F3864"/>
                </a:solidFill>
                <a:latin typeface="微软雅黑"/>
                <a:ea typeface="微软雅黑"/>
              </a:rPr>
              <a:t>· </a:t>
            </a:r>
            <a:r>
              <a:rPr lang="zh-CN" altLang="en-US" sz="1500" b="1" dirty="0">
                <a:solidFill>
                  <a:srgbClr val="1F3864"/>
                </a:solidFill>
                <a:latin typeface="微软雅黑"/>
                <a:ea typeface="微软雅黑"/>
              </a:rPr>
              <a:t>工况有代表性 </a:t>
            </a:r>
            <a:r>
              <a:rPr lang="en-US" altLang="zh-CN" sz="1500" b="1" dirty="0">
                <a:solidFill>
                  <a:srgbClr val="1F3864"/>
                </a:solidFill>
                <a:latin typeface="微软雅黑"/>
                <a:ea typeface="微软雅黑"/>
              </a:rPr>
              <a:t>· </a:t>
            </a:r>
            <a:r>
              <a:rPr lang="zh-CN" altLang="en-US" sz="1500" b="1" dirty="0">
                <a:solidFill>
                  <a:srgbClr val="1F3864"/>
                </a:solidFill>
                <a:latin typeface="微软雅黑"/>
                <a:ea typeface="微软雅黑"/>
              </a:rPr>
              <a:t>现场配合度高　</a:t>
            </a:r>
          </a:p>
        </p:txBody>
      </p:sp>
    </p:spTree>
    <p:extLst>
      <p:ext uri="{BB962C8B-B14F-4D97-AF65-F5344CB8AC3E}">
        <p14:creationId xmlns:p14="http://schemas.microsoft.com/office/powerpoint/2010/main" val="27723489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CA6FFF5-F13E-784F-B4D7-C8E22E075C07}"/>
              </a:ext>
            </a:extLst>
          </p:cNvPr>
          <p:cNvSpPr txBox="1"/>
          <p:nvPr/>
        </p:nvSpPr>
        <p:spPr>
          <a:xfrm>
            <a:off x="736600" y="330200"/>
            <a:ext cx="8890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2600" b="1">
                <a:solidFill>
                  <a:srgbClr val="1F3864"/>
                </a:solidFill>
                <a:latin typeface="微软雅黑"/>
                <a:ea typeface="微软雅黑"/>
              </a:rPr>
              <a:t>15. </a:t>
            </a:r>
            <a:r>
              <a:rPr lang="zh-CN" altLang="en-US" sz="2600" b="1">
                <a:solidFill>
                  <a:srgbClr val="1F3864"/>
                </a:solidFill>
                <a:latin typeface="微软雅黑"/>
                <a:ea typeface="微软雅黑"/>
              </a:rPr>
              <a:t>下一步工作计划：启动六步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2A1EC18-5B81-1849-BDE3-5A6D0B83770B}"/>
              </a:ext>
            </a:extLst>
          </p:cNvPr>
          <p:cNvSpPr txBox="1"/>
          <p:nvPr/>
        </p:nvSpPr>
        <p:spPr>
          <a:xfrm>
            <a:off x="762000" y="8382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400">
                <a:solidFill>
                  <a:srgbClr val="5B6E88"/>
                </a:solidFill>
                <a:latin typeface="微软雅黑"/>
                <a:ea typeface="微软雅黑"/>
              </a:rPr>
              <a:t>顺序上先保密、后数据 </a:t>
            </a:r>
            <a:r>
              <a:rPr lang="en-US" altLang="zh-CN" sz="1400">
                <a:solidFill>
                  <a:srgbClr val="5B6E88"/>
                </a:solidFill>
                <a:latin typeface="微软雅黑"/>
                <a:ea typeface="微软雅黑"/>
              </a:rPr>
              <a:t>—— </a:t>
            </a:r>
            <a:r>
              <a:rPr lang="zh-CN" altLang="en-US" sz="1400">
                <a:solidFill>
                  <a:srgbClr val="5B6E88"/>
                </a:solidFill>
                <a:latin typeface="微软雅黑"/>
                <a:ea typeface="微软雅黑"/>
              </a:rPr>
              <a:t>今天会后即可启动第一步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6C5ECBB-A12F-8C46-A22D-3F924E34F42A}"/>
              </a:ext>
            </a:extLst>
          </p:cNvPr>
          <p:cNvSpPr/>
          <p:nvPr/>
        </p:nvSpPr>
        <p:spPr>
          <a:xfrm>
            <a:off x="762000" y="1676400"/>
            <a:ext cx="7035800" cy="38100"/>
          </a:xfrm>
          <a:prstGeom prst="rect">
            <a:avLst/>
          </a:prstGeom>
          <a:solidFill>
            <a:srgbClr val="A64A0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EBE98FC-34A3-0C4C-A61F-9F2106D25FBE}"/>
              </a:ext>
            </a:extLst>
          </p:cNvPr>
          <p:cNvSpPr txBox="1"/>
          <p:nvPr/>
        </p:nvSpPr>
        <p:spPr>
          <a:xfrm>
            <a:off x="762000" y="1320800"/>
            <a:ext cx="70358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zh-CN" altLang="en-US" sz="1400" b="1">
                <a:solidFill>
                  <a:srgbClr val="A64A0B"/>
                </a:solidFill>
                <a:latin typeface="微软雅黑"/>
                <a:ea typeface="微软雅黑"/>
              </a:rPr>
              <a:t>建议两周内完成 </a:t>
            </a:r>
            <a:r>
              <a:rPr lang="en-US" altLang="zh-CN" sz="1400" b="1">
                <a:solidFill>
                  <a:srgbClr val="A64A0B"/>
                </a:solidFill>
                <a:latin typeface="微软雅黑"/>
                <a:ea typeface="微软雅黑"/>
              </a:rPr>
              <a:t>① – ④</a:t>
            </a:r>
            <a:endParaRPr lang="zh-CN" altLang="en-US" sz="1400" b="1">
              <a:solidFill>
                <a:srgbClr val="A64A0B"/>
              </a:solidFill>
              <a:latin typeface="微软雅黑"/>
              <a:ea typeface="微软雅黑"/>
            </a:endParaRP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BE10D7D0-8D05-E74A-9DF6-C56107C43E65}"/>
              </a:ext>
            </a:extLst>
          </p:cNvPr>
          <p:cNvSpPr/>
          <p:nvPr/>
        </p:nvSpPr>
        <p:spPr>
          <a:xfrm>
            <a:off x="762000" y="1879600"/>
            <a:ext cx="1625600" cy="19050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E9713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F578620F-2249-824B-B66F-410922A36C81}"/>
              </a:ext>
            </a:extLst>
          </p:cNvPr>
          <p:cNvSpPr/>
          <p:nvPr/>
        </p:nvSpPr>
        <p:spPr>
          <a:xfrm>
            <a:off x="1346200" y="2108200"/>
            <a:ext cx="457200" cy="457200"/>
          </a:xfrm>
          <a:prstGeom prst="ellipse">
            <a:avLst/>
          </a:prstGeom>
          <a:solidFill>
            <a:srgbClr val="A64A0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CN" sz="1400" b="1">
                <a:solidFill>
                  <a:srgbClr val="FFFFFF"/>
                </a:solidFill>
                <a:latin typeface="微软雅黑"/>
                <a:ea typeface="微软雅黑"/>
              </a:rPr>
              <a:t>01</a:t>
            </a:r>
            <a:endParaRPr lang="zh-CN" altLang="en-US" sz="1400" b="1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E725921-4758-2D48-884E-F16372D5463C}"/>
              </a:ext>
            </a:extLst>
          </p:cNvPr>
          <p:cNvSpPr txBox="1"/>
          <p:nvPr/>
        </p:nvSpPr>
        <p:spPr>
          <a:xfrm>
            <a:off x="838200" y="2717800"/>
            <a:ext cx="1473200" cy="939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zh-CN" altLang="en-US" sz="1400" b="1">
                <a:solidFill>
                  <a:srgbClr val="1F3864"/>
                </a:solidFill>
                <a:latin typeface="微软雅黑"/>
                <a:ea typeface="微软雅黑"/>
              </a:rPr>
              <a:t>签署 </a:t>
            </a:r>
            <a:r>
              <a:rPr lang="en" altLang="zh-CN" sz="1400" b="1">
                <a:solidFill>
                  <a:srgbClr val="1F3864"/>
                </a:solidFill>
                <a:latin typeface="微软雅黑"/>
                <a:ea typeface="微软雅黑"/>
              </a:rPr>
              <a:t>NDA </a:t>
            </a:r>
            <a:r>
              <a:rPr lang="zh-CN" altLang="en-US" sz="1400" b="1">
                <a:solidFill>
                  <a:srgbClr val="1F3864"/>
                </a:solidFill>
                <a:latin typeface="微软雅黑"/>
                <a:ea typeface="微软雅黑"/>
              </a:rPr>
              <a:t>与
合作框架协议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53121551-FFE1-D24E-8EDC-1D3ECEDCA9C5}"/>
              </a:ext>
            </a:extLst>
          </p:cNvPr>
          <p:cNvSpPr/>
          <p:nvPr/>
        </p:nvSpPr>
        <p:spPr>
          <a:xfrm>
            <a:off x="2565400" y="1879600"/>
            <a:ext cx="1625600" cy="19050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E9713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73F32BE8-5EEF-324C-99AA-6A139544C388}"/>
              </a:ext>
            </a:extLst>
          </p:cNvPr>
          <p:cNvSpPr/>
          <p:nvPr/>
        </p:nvSpPr>
        <p:spPr>
          <a:xfrm>
            <a:off x="3149600" y="2108200"/>
            <a:ext cx="457200" cy="457200"/>
          </a:xfrm>
          <a:prstGeom prst="ellipse">
            <a:avLst/>
          </a:prstGeom>
          <a:solidFill>
            <a:srgbClr val="A64A0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CN" sz="1400" b="1">
                <a:solidFill>
                  <a:srgbClr val="FFFFFF"/>
                </a:solidFill>
                <a:latin typeface="微软雅黑"/>
                <a:ea typeface="微软雅黑"/>
              </a:rPr>
              <a:t>02</a:t>
            </a:r>
            <a:endParaRPr lang="zh-CN" altLang="en-US" sz="1400" b="1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E7D139D-91C7-2048-91BD-E9222C1CAF73}"/>
              </a:ext>
            </a:extLst>
          </p:cNvPr>
          <p:cNvSpPr txBox="1"/>
          <p:nvPr/>
        </p:nvSpPr>
        <p:spPr>
          <a:xfrm>
            <a:off x="2641600" y="2717800"/>
            <a:ext cx="1473200" cy="939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zh-CN" altLang="en-US" sz="1400" b="1">
                <a:solidFill>
                  <a:srgbClr val="1F3864"/>
                </a:solidFill>
                <a:latin typeface="微软雅黑"/>
                <a:ea typeface="微软雅黑"/>
              </a:rPr>
              <a:t>提供脱敏
</a:t>
            </a:r>
            <a:r>
              <a:rPr lang="en" altLang="zh-CN" sz="1400" b="1">
                <a:solidFill>
                  <a:srgbClr val="1F3864"/>
                </a:solidFill>
                <a:latin typeface="微软雅黑"/>
                <a:ea typeface="微软雅黑"/>
              </a:rPr>
              <a:t>PLC </a:t>
            </a:r>
            <a:r>
              <a:rPr lang="zh-CN" altLang="en-US" sz="1400" b="1">
                <a:solidFill>
                  <a:srgbClr val="1F3864"/>
                </a:solidFill>
                <a:latin typeface="微软雅黑"/>
                <a:ea typeface="微软雅黑"/>
              </a:rPr>
              <a:t>点表资料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09469230-6ED0-B444-9063-B5836954135E}"/>
              </a:ext>
            </a:extLst>
          </p:cNvPr>
          <p:cNvSpPr/>
          <p:nvPr/>
        </p:nvSpPr>
        <p:spPr>
          <a:xfrm>
            <a:off x="4368800" y="1879600"/>
            <a:ext cx="1625600" cy="19050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E9713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CF2020E8-BCD7-4943-A668-FCE9560516D0}"/>
              </a:ext>
            </a:extLst>
          </p:cNvPr>
          <p:cNvSpPr/>
          <p:nvPr/>
        </p:nvSpPr>
        <p:spPr>
          <a:xfrm>
            <a:off x="4953000" y="2108200"/>
            <a:ext cx="457200" cy="457200"/>
          </a:xfrm>
          <a:prstGeom prst="ellipse">
            <a:avLst/>
          </a:prstGeom>
          <a:solidFill>
            <a:srgbClr val="A64A0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CN" sz="1400" b="1">
                <a:solidFill>
                  <a:srgbClr val="FFFFFF"/>
                </a:solidFill>
                <a:latin typeface="微软雅黑"/>
                <a:ea typeface="微软雅黑"/>
              </a:rPr>
              <a:t>03</a:t>
            </a:r>
            <a:endParaRPr lang="zh-CN" altLang="en-US" sz="1400" b="1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68BF29D-FE0E-7842-9C02-BD58E3F778DC}"/>
              </a:ext>
            </a:extLst>
          </p:cNvPr>
          <p:cNvSpPr txBox="1"/>
          <p:nvPr/>
        </p:nvSpPr>
        <p:spPr>
          <a:xfrm>
            <a:off x="4445000" y="2717800"/>
            <a:ext cx="1473200" cy="939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zh-CN" altLang="en-US" sz="1400" b="1">
                <a:solidFill>
                  <a:srgbClr val="1F3864"/>
                </a:solidFill>
                <a:latin typeface="微软雅黑"/>
                <a:ea typeface="微软雅黑"/>
              </a:rPr>
              <a:t>深圳线下
技术对接会议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C5709DEA-06D6-CE49-ABA2-6986240D7F82}"/>
              </a:ext>
            </a:extLst>
          </p:cNvPr>
          <p:cNvSpPr/>
          <p:nvPr/>
        </p:nvSpPr>
        <p:spPr>
          <a:xfrm>
            <a:off x="6172200" y="1879600"/>
            <a:ext cx="1625600" cy="19050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E9713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109F1451-6EAB-8943-AE80-FDB8B407E0A9}"/>
              </a:ext>
            </a:extLst>
          </p:cNvPr>
          <p:cNvSpPr/>
          <p:nvPr/>
        </p:nvSpPr>
        <p:spPr>
          <a:xfrm>
            <a:off x="6756400" y="2108200"/>
            <a:ext cx="457200" cy="457200"/>
          </a:xfrm>
          <a:prstGeom prst="ellipse">
            <a:avLst/>
          </a:prstGeom>
          <a:solidFill>
            <a:srgbClr val="A64A0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CN" sz="1400" b="1">
                <a:solidFill>
                  <a:srgbClr val="FFFFFF"/>
                </a:solidFill>
                <a:latin typeface="微软雅黑"/>
                <a:ea typeface="微软雅黑"/>
              </a:rPr>
              <a:t>04</a:t>
            </a:r>
            <a:endParaRPr lang="zh-CN" altLang="en-US" sz="1400" b="1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CC9379D-2C71-8A45-9836-C0A744129AFA}"/>
              </a:ext>
            </a:extLst>
          </p:cNvPr>
          <p:cNvSpPr txBox="1"/>
          <p:nvPr/>
        </p:nvSpPr>
        <p:spPr>
          <a:xfrm>
            <a:off x="6248400" y="2717800"/>
            <a:ext cx="1473200" cy="939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zh-CN" altLang="en-US" sz="1400" b="1">
                <a:solidFill>
                  <a:srgbClr val="1F3864"/>
                </a:solidFill>
                <a:latin typeface="微软雅黑"/>
                <a:ea typeface="微软雅黑"/>
              </a:rPr>
              <a:t>共同确认
试点产线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0D0A5D0E-FDB4-734D-9226-95CECDD12FCD}"/>
              </a:ext>
            </a:extLst>
          </p:cNvPr>
          <p:cNvSpPr/>
          <p:nvPr/>
        </p:nvSpPr>
        <p:spPr>
          <a:xfrm>
            <a:off x="7975600" y="1879600"/>
            <a:ext cx="1625600" cy="1905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DE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0F52C07D-B2B0-324F-8263-240A1CFAA38E}"/>
              </a:ext>
            </a:extLst>
          </p:cNvPr>
          <p:cNvSpPr/>
          <p:nvPr/>
        </p:nvSpPr>
        <p:spPr>
          <a:xfrm>
            <a:off x="8559800" y="2108200"/>
            <a:ext cx="457200" cy="457200"/>
          </a:xfrm>
          <a:prstGeom prst="ellipse">
            <a:avLst/>
          </a:prstGeom>
          <a:solidFill>
            <a:srgbClr val="2F559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CN" sz="1400" b="1">
                <a:solidFill>
                  <a:srgbClr val="FFFFFF"/>
                </a:solidFill>
                <a:latin typeface="微软雅黑"/>
                <a:ea typeface="微软雅黑"/>
              </a:rPr>
              <a:t>05</a:t>
            </a:r>
            <a:endParaRPr lang="zh-CN" altLang="en-US" sz="1400" b="1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6212AA7-9DC3-0646-93C7-3AA567116CF3}"/>
              </a:ext>
            </a:extLst>
          </p:cNvPr>
          <p:cNvSpPr txBox="1"/>
          <p:nvPr/>
        </p:nvSpPr>
        <p:spPr>
          <a:xfrm>
            <a:off x="8051800" y="2717800"/>
            <a:ext cx="1473200" cy="939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zh-CN" altLang="en-US" sz="1400" b="1">
                <a:solidFill>
                  <a:srgbClr val="1F3864"/>
                </a:solidFill>
                <a:latin typeface="微软雅黑"/>
                <a:ea typeface="微软雅黑"/>
              </a:rPr>
              <a:t>我方完成
现场调研（</a:t>
            </a:r>
            <a:r>
              <a:rPr lang="en-US" altLang="zh-CN" sz="1400" b="1">
                <a:solidFill>
                  <a:srgbClr val="1F3864"/>
                </a:solidFill>
                <a:latin typeface="微软雅黑"/>
                <a:ea typeface="微软雅黑"/>
              </a:rPr>
              <a:t>1 </a:t>
            </a:r>
            <a:r>
              <a:rPr lang="zh-CN" altLang="en-US" sz="1400" b="1">
                <a:solidFill>
                  <a:srgbClr val="1F3864"/>
                </a:solidFill>
                <a:latin typeface="微软雅黑"/>
                <a:ea typeface="微软雅黑"/>
              </a:rPr>
              <a:t>周）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E220BC52-843C-454B-9F8B-EFD28D823943}"/>
              </a:ext>
            </a:extLst>
          </p:cNvPr>
          <p:cNvSpPr/>
          <p:nvPr/>
        </p:nvSpPr>
        <p:spPr>
          <a:xfrm>
            <a:off x="9779000" y="1879600"/>
            <a:ext cx="1625600" cy="1905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DE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3581E952-8F0A-D149-8532-2B90F8B54DB0}"/>
              </a:ext>
            </a:extLst>
          </p:cNvPr>
          <p:cNvSpPr/>
          <p:nvPr/>
        </p:nvSpPr>
        <p:spPr>
          <a:xfrm>
            <a:off x="10363200" y="2108200"/>
            <a:ext cx="457200" cy="457200"/>
          </a:xfrm>
          <a:prstGeom prst="ellipse">
            <a:avLst/>
          </a:prstGeom>
          <a:solidFill>
            <a:srgbClr val="2F559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CN" sz="1400" b="1">
                <a:solidFill>
                  <a:srgbClr val="FFFFFF"/>
                </a:solidFill>
                <a:latin typeface="微软雅黑"/>
                <a:ea typeface="微软雅黑"/>
              </a:rPr>
              <a:t>06</a:t>
            </a:r>
            <a:endParaRPr lang="zh-CN" altLang="en-US" sz="1400" b="1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62A4C25-6BA9-084B-AF99-D292FD6E5075}"/>
              </a:ext>
            </a:extLst>
          </p:cNvPr>
          <p:cNvSpPr txBox="1"/>
          <p:nvPr/>
        </p:nvSpPr>
        <p:spPr>
          <a:xfrm>
            <a:off x="9855200" y="2717800"/>
            <a:ext cx="1473200" cy="939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zh-CN" altLang="en-US" sz="1400" b="1">
                <a:solidFill>
                  <a:srgbClr val="1F3864"/>
                </a:solidFill>
                <a:latin typeface="微软雅黑"/>
                <a:ea typeface="微软雅黑"/>
              </a:rPr>
              <a:t>提交详细方案
与精确报价</a:t>
            </a:r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90AF02CC-6602-C142-8460-B6EED10BC917}"/>
              </a:ext>
            </a:extLst>
          </p:cNvPr>
          <p:cNvSpPr/>
          <p:nvPr/>
        </p:nvSpPr>
        <p:spPr>
          <a:xfrm>
            <a:off x="762000" y="4191000"/>
            <a:ext cx="10668000" cy="889000"/>
          </a:xfrm>
          <a:prstGeom prst="round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1156916-100D-FC47-B497-1F4355C6DF2A}"/>
              </a:ext>
            </a:extLst>
          </p:cNvPr>
          <p:cNvSpPr txBox="1"/>
          <p:nvPr/>
        </p:nvSpPr>
        <p:spPr>
          <a:xfrm>
            <a:off x="1066800" y="4191000"/>
            <a:ext cx="10058400" cy="889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微软雅黑"/>
                <a:ea typeface="微软雅黑"/>
              </a:rPr>
              <a:t>我们的承诺：数据不出约定边界 </a:t>
            </a:r>
            <a:r>
              <a:rPr lang="en-US" altLang="zh-CN" sz="1900" b="1">
                <a:solidFill>
                  <a:srgbClr val="FFFFFF"/>
                </a:solidFill>
                <a:latin typeface="微软雅黑"/>
                <a:ea typeface="微软雅黑"/>
              </a:rPr>
              <a:t>· </a:t>
            </a:r>
            <a:r>
              <a:rPr lang="zh-CN" altLang="en-US" sz="1900" b="1">
                <a:solidFill>
                  <a:srgbClr val="FFFFFF"/>
                </a:solidFill>
                <a:latin typeface="微软雅黑"/>
                <a:ea typeface="微软雅黑"/>
              </a:rPr>
              <a:t>技术不进论文 </a:t>
            </a:r>
            <a:r>
              <a:rPr lang="en-US" altLang="zh-CN" sz="1900" b="1">
                <a:solidFill>
                  <a:srgbClr val="FFFFFF"/>
                </a:solidFill>
                <a:latin typeface="微软雅黑"/>
                <a:ea typeface="微软雅黑"/>
              </a:rPr>
              <a:t>· </a:t>
            </a:r>
            <a:r>
              <a:rPr lang="zh-CN" altLang="en-US" sz="1900" b="1">
                <a:solidFill>
                  <a:srgbClr val="FFFFFF"/>
                </a:solidFill>
                <a:latin typeface="微软雅黑"/>
                <a:ea typeface="微软雅黑"/>
              </a:rPr>
              <a:t>只做产业化落地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ED9EBD4-4C8F-9249-8F7B-BF54643FDF67}"/>
              </a:ext>
            </a:extLst>
          </p:cNvPr>
          <p:cNvSpPr txBox="1"/>
          <p:nvPr/>
        </p:nvSpPr>
        <p:spPr>
          <a:xfrm>
            <a:off x="762000" y="5308600"/>
            <a:ext cx="10668000" cy="660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zh-CN" altLang="en-US" sz="1500">
                <a:solidFill>
                  <a:srgbClr val="33475E"/>
                </a:solidFill>
                <a:latin typeface="微软雅黑"/>
                <a:ea typeface="微软雅黑"/>
              </a:rPr>
              <a:t>今日会后可确认两件事：</a:t>
            </a:r>
            <a:r>
              <a:rPr lang="en" altLang="zh-CN" sz="1500">
                <a:solidFill>
                  <a:srgbClr val="33475E"/>
                </a:solidFill>
                <a:latin typeface="微软雅黑"/>
                <a:ea typeface="微软雅黑"/>
              </a:rPr>
              <a:t>NDA </a:t>
            </a:r>
            <a:r>
              <a:rPr lang="zh-CN" altLang="en-US" sz="1500">
                <a:solidFill>
                  <a:srgbClr val="33475E"/>
                </a:solidFill>
                <a:latin typeface="微软雅黑"/>
                <a:ea typeface="微软雅黑"/>
              </a:rPr>
              <a:t>签署时间 </a:t>
            </a:r>
            <a:r>
              <a:rPr lang="en-US" altLang="zh-CN" sz="1500">
                <a:solidFill>
                  <a:srgbClr val="33475E"/>
                </a:solidFill>
                <a:latin typeface="微软雅黑"/>
                <a:ea typeface="微软雅黑"/>
              </a:rPr>
              <a:t>· </a:t>
            </a:r>
            <a:r>
              <a:rPr lang="zh-CN" altLang="en-US" sz="1500">
                <a:solidFill>
                  <a:srgbClr val="33475E"/>
                </a:solidFill>
                <a:latin typeface="微软雅黑"/>
                <a:ea typeface="微软雅黑"/>
              </a:rPr>
              <a:t>深圳技术对接会议时间。我方 </a:t>
            </a:r>
            <a:r>
              <a:rPr lang="en" altLang="zh-CN" sz="1500">
                <a:solidFill>
                  <a:srgbClr val="33475E"/>
                </a:solidFill>
                <a:latin typeface="微软雅黑"/>
                <a:ea typeface="微软雅黑"/>
              </a:rPr>
              <a:t>NDA </a:t>
            </a:r>
            <a:r>
              <a:rPr lang="zh-CN" altLang="en-US" sz="1500">
                <a:solidFill>
                  <a:srgbClr val="33475E"/>
                </a:solidFill>
                <a:latin typeface="微软雅黑"/>
                <a:ea typeface="微软雅黑"/>
              </a:rPr>
              <a:t>模板当天发出，贵司法务审定签署后，我方才开始接触任何数据。</a:t>
            </a:r>
          </a:p>
        </p:txBody>
      </p:sp>
    </p:spTree>
    <p:extLst>
      <p:ext uri="{BB962C8B-B14F-4D97-AF65-F5344CB8AC3E}">
        <p14:creationId xmlns:p14="http://schemas.microsoft.com/office/powerpoint/2010/main" val="35186554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 [1783308780289]">
  <a:themeElements>
    <a:clrScheme name="Office">
      <a:dk1>
        <a:srgbClr val="1F3864"/>
      </a:dk1>
      <a:lt1>
        <a:srgbClr val="FFFFFF"/>
      </a:lt1>
      <a:dk2>
        <a:srgbClr val="0E2841"/>
      </a:dk2>
      <a:lt2>
        <a:srgbClr val="EDF1F6"/>
      </a:lt2>
      <a:accent1>
        <a:srgbClr val="2F5597"/>
      </a:accent1>
      <a:accent2>
        <a:srgbClr val="E97132"/>
      </a:accent2>
      <a:accent3>
        <a:srgbClr val="0F9ED5"/>
      </a:accent3>
      <a:accent4>
        <a:srgbClr val="8FAADC"/>
      </a:accent4>
      <a:accent5>
        <a:srgbClr val="44546A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Microsoft YaHei" panose="02110004020202020204"/>
        <a:ea typeface="微软雅黑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 panose="02110004020202020204"/>
        <a:ea typeface="微软雅黑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13F2F61-67CF-B348-B271-49C943B083C2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368ebd87-802b-4b13-80b8-f387511d35c9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1990</Words>
  <Application>Microsoft Macintosh PowerPoint</Application>
  <PresentationFormat>宽屏</PresentationFormat>
  <Paragraphs>211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8" baseType="lpstr">
      <vt:lpstr>Microsoft YaHei</vt:lpstr>
      <vt:lpstr>Microsoft YaHei</vt:lpstr>
      <vt:lpstr>Arial</vt:lpstr>
      <vt:lpstr>Office 主题​​ [1783308780289]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奕慷 李</dc:creator>
  <cp:lastModifiedBy>奕慷 李</cp:lastModifiedBy>
  <cp:revision>3</cp:revision>
  <dcterms:created xsi:type="dcterms:W3CDTF">2026-07-06T03:24:03Z</dcterms:created>
  <dcterms:modified xsi:type="dcterms:W3CDTF">2026-07-13T02:18:19Z</dcterms:modified>
</cp:coreProperties>
</file>