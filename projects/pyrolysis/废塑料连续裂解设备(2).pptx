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7" r:id="rId2"/>
    <p:sldId id="272" r:id="rId3"/>
    <p:sldId id="260" r:id="rId4"/>
    <p:sldId id="261" r:id="rId5"/>
    <p:sldId id="262" r:id="rId6"/>
    <p:sldId id="273" r:id="rId7"/>
    <p:sldId id="2147483597" r:id="rId8"/>
    <p:sldId id="274" r:id="rId9"/>
    <p:sldId id="268" r:id="rId10"/>
    <p:sldId id="271" r:id="rId11"/>
    <p:sldId id="2147483599" r:id="rId12"/>
    <p:sldId id="264" r:id="rId13"/>
    <p:sldId id="265" r:id="rId14"/>
    <p:sldId id="266" r:id="rId15"/>
    <p:sldId id="267" r:id="rId16"/>
    <p:sldId id="263" r:id="rId17"/>
    <p:sldId id="269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A439D-F8BA-48BB-8D77-DB1E4DCBF23F}" v="102" dt="2026-07-07T16:57:10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30"/>
  </p:normalViewPr>
  <p:slideViewPr>
    <p:cSldViewPr snapToGrid="0">
      <p:cViewPr varScale="1">
        <p:scale>
          <a:sx n="113" d="100"/>
          <a:sy n="113" d="100"/>
        </p:scale>
        <p:origin x="8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0E7E6-4369-4389-833A-7072DCB0A71D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95E99-F0BE-4766-9170-9AAD49778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0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47279-1803-8D0F-0D61-597DD40B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25E091-6B3E-293A-BEE7-4BDC1D7BE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058EBE-8288-DBF9-65A2-24074867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C31C9-4BDD-4B69-06A6-79D1ABAF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89C1B8-6AEB-302A-4001-C0E70797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209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37C91-324B-DD5D-337F-8FEBFA7F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6B85CF-C8CC-663D-0AD6-DE773DCF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8E8E9-51FA-D2B9-AB9C-7C8EF0A9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441D1-AFCF-30BF-ED69-2145FD73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3C889-6642-93B4-5D20-694C9A18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836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E7227-7D88-8747-6B64-4BB76D799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7A652E-07D2-9860-9816-84D503AEC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A87CB0-E2AA-3B7E-AD26-9CB220DA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1279C1-3744-48BF-FF7F-1AFA495B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EE64B-DD68-3460-31C5-EAC35B92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639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D0757-5CEA-5B6C-C047-18349D32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9678D-2049-C49B-161C-86C515960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86165E-3244-CC42-31F9-227CB0CFC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6A695D-65E2-6EE1-187E-A30D7252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E3A87A-CA22-30B0-D2E0-2536C28B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277B46-82B4-F0B7-1425-9C6B9A23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35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6D77D-5C68-577D-3A72-F907B6460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8C7F77-7FEE-0ED6-D53C-FB0B94BA1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C3F817-1EF7-4701-65D2-03F0B643C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C499BD-4AD7-F342-4489-1A970CEC2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106333-9B4D-9186-593E-A8AB13002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C1E4DD-AD73-3DE7-706C-D9068F87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B8142F-35E6-35AE-EC57-C3FD1A56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6A1F17-DB8E-69C9-129A-E80C0CB8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784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88DA0-434F-E648-47CC-9F9BCADD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7EC1FA-4C39-B660-8CE4-434ED74B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47671D-E4CE-87F8-6DFB-DE30898E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B170B0-8F9C-D770-2A22-FCBCEAD7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550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A497F-C315-D3C0-8BD0-02CEF5391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4589C-A288-78E2-4868-C347CCCF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82F7E-701C-248F-786D-3DD69F62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64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BA0A4-A3D3-B136-0D07-E4FF70B1B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F0829B-2BF7-C169-F5F8-F9F50D35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50DFAD-A212-52E5-E06B-A8EAA591A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2293F-9510-7873-07F0-A5A43BE9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4E0FC4-C195-FF66-5941-60142BCD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F033A0-B3B7-7167-4313-A0BA37A8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666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EC7D6-DADA-3D84-2FD5-7285A983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CBD5EE-4A5F-8ECD-8397-8BD73AE85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43E07B-40E2-60D6-6A51-C9837A7D2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044881-752F-111D-41D8-A9DB7D0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81218C-64DB-F936-BB72-E122E600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F53206-7D9F-121A-D4DE-7B182DB5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71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5350A-D829-BE0B-E220-9658C2EF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93DD05-6154-26CE-E8FB-36D245CB6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E271BE-61BE-D93F-4F4A-8252B761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3E05A-223C-4DEC-7672-3BB6813C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7004F5-C8F0-1FE3-8E26-85780091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82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4F225C-E82D-F702-0B4C-7CDF664AF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468324-8DB8-8902-C324-36E569B85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2AE45-C21C-3723-09AF-482CEDF4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7D2C5A-A713-A578-BC1A-17116A7A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FE1F3-184E-EDBF-44A9-9391EC35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950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4CDF89-57E1-3DB5-E262-323CDBCF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8FDBF7-2A3B-E816-E674-FA7E7912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CAA1B-320D-8E47-CC08-E29CA5CA4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3AC70-50C7-B542-955A-73D5909D73B6}" type="datetimeFigureOut">
              <a:rPr kumimoji="1" lang="zh-CN" altLang="en-US" smtClean="0"/>
              <a:t>2026/7/13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4B68D0-946B-8700-0411-F994F50E2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308C1-8949-2AC8-0D73-C8993EE1F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AFD0A-D176-5249-A616-F04E6A95AC0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00" name="CornerAccent"/>
          <p:cNvSpPr/>
          <p:nvPr/>
        </p:nvSpPr>
        <p:spPr>
          <a:xfrm flipH="1">
            <a:off x="11112500" y="6248400"/>
            <a:ext cx="1079500" cy="609600"/>
          </a:xfrm>
          <a:prstGeom prst="rtTriangle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FooterText"/>
          <p:cNvSpPr txBox="1"/>
          <p:nvPr/>
        </p:nvSpPr>
        <p:spPr>
          <a:xfrm>
            <a:off x="711200" y="6451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buNone/>
            </a:pPr>
            <a:r>
              <a:rPr lang="zh-CN" sz="1000" dirty="0">
                <a:solidFill>
                  <a:srgbClr val="8496AD"/>
                </a:solidFill>
              </a:rPr>
              <a:t>废塑料连续裂解设备 AI 智能运维与风控平台建设方案 · 商密</a:t>
            </a:r>
          </a:p>
        </p:txBody>
      </p:sp>
    </p:spTree>
    <p:extLst>
      <p:ext uri="{BB962C8B-B14F-4D97-AF65-F5344CB8AC3E}">
        <p14:creationId xmlns:p14="http://schemas.microsoft.com/office/powerpoint/2010/main" val="422748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386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75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12A942-75C1-ED4A-AAFE-13CE79F6AE53}"/>
              </a:ext>
            </a:extLst>
          </p:cNvPr>
          <p:cNvSpPr/>
          <p:nvPr/>
        </p:nvSpPr>
        <p:spPr>
          <a:xfrm>
            <a:off x="1041400" y="2006600"/>
            <a:ext cx="812800" cy="635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FB5960-DE8E-464B-BFAA-8E555886427E}"/>
              </a:ext>
            </a:extLst>
          </p:cNvPr>
          <p:cNvSpPr/>
          <p:nvPr/>
        </p:nvSpPr>
        <p:spPr>
          <a:xfrm>
            <a:off x="7620000" y="1320800"/>
            <a:ext cx="3810000" cy="25400"/>
          </a:xfrm>
          <a:prstGeom prst="rect">
            <a:avLst/>
          </a:prstGeom>
          <a:solidFill>
            <a:srgbClr val="1E4A7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EAC29D-1D7C-DA42-BD95-D6A68AA36872}"/>
              </a:ext>
            </a:extLst>
          </p:cNvPr>
          <p:cNvSpPr/>
          <p:nvPr/>
        </p:nvSpPr>
        <p:spPr>
          <a:xfrm>
            <a:off x="8178800" y="1549400"/>
            <a:ext cx="3251200" cy="25400"/>
          </a:xfrm>
          <a:prstGeom prst="rect">
            <a:avLst/>
          </a:prstGeom>
          <a:solidFill>
            <a:srgbClr val="255D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BB028-96FC-E244-A795-810881BED027}"/>
              </a:ext>
            </a:extLst>
          </p:cNvPr>
          <p:cNvSpPr/>
          <p:nvPr/>
        </p:nvSpPr>
        <p:spPr>
          <a:xfrm>
            <a:off x="8737600" y="1778000"/>
            <a:ext cx="2692400" cy="254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F1303F-813F-F649-911C-B388FB49639A}"/>
              </a:ext>
            </a:extLst>
          </p:cNvPr>
          <p:cNvSpPr txBox="1"/>
          <p:nvPr/>
        </p:nvSpPr>
        <p:spPr>
          <a:xfrm>
            <a:off x="1016000" y="2311400"/>
            <a:ext cx="10414000" cy="113877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3400" b="1" dirty="0">
                <a:solidFill>
                  <a:srgbClr val="FFFFFF"/>
                </a:solidFill>
                <a:latin typeface="微软雅黑"/>
                <a:ea typeface="微软雅黑"/>
              </a:rPr>
              <a:t>废塑料连续裂解设备
智能化服务平台建设方案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BFB3F8-7545-B942-A878-BEA05BFCFA59}"/>
              </a:ext>
            </a:extLst>
          </p:cNvPr>
          <p:cNvSpPr txBox="1"/>
          <p:nvPr/>
        </p:nvSpPr>
        <p:spPr>
          <a:xfrm>
            <a:off x="1016000" y="4038600"/>
            <a:ext cx="10414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dirty="0">
                <a:solidFill>
                  <a:srgbClr val="9DC3E6"/>
                </a:solidFill>
                <a:latin typeface="微软雅黑"/>
                <a:ea typeface="微软雅黑"/>
              </a:rPr>
              <a:t>从 </a:t>
            </a:r>
            <a:r>
              <a:rPr lang="en" altLang="zh-CN" sz="1600" dirty="0">
                <a:solidFill>
                  <a:srgbClr val="9DC3E6"/>
                </a:solidFill>
                <a:latin typeface="微软雅黑"/>
                <a:ea typeface="微软雅黑"/>
              </a:rPr>
              <a:t>PLC </a:t>
            </a:r>
            <a:r>
              <a:rPr lang="zh-CN" altLang="en-US" sz="1600" dirty="0">
                <a:solidFill>
                  <a:srgbClr val="9DC3E6"/>
                </a:solidFill>
                <a:latin typeface="微软雅黑"/>
                <a:ea typeface="微软雅黑"/>
              </a:rPr>
              <a:t>自动化到数据可视、风险可控、远程运维、智能决策的产业化升级路径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906325-B389-EE47-97C2-9E2C453B4076}"/>
              </a:ext>
            </a:extLst>
          </p:cNvPr>
          <p:cNvSpPr/>
          <p:nvPr/>
        </p:nvSpPr>
        <p:spPr>
          <a:xfrm>
            <a:off x="1041400" y="5613400"/>
            <a:ext cx="4572000" cy="127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E7D364-2752-BD48-BE1E-8CF77B6772C2}"/>
              </a:ext>
            </a:extLst>
          </p:cNvPr>
          <p:cNvSpPr txBox="1"/>
          <p:nvPr/>
        </p:nvSpPr>
        <p:spPr>
          <a:xfrm>
            <a:off x="1016000" y="58166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汇报方：</a:t>
            </a:r>
            <a:r>
              <a:rPr lang="en-US" altLang="zh-CN" sz="1400">
                <a:solidFill>
                  <a:srgbClr val="8FAADC"/>
                </a:solidFill>
                <a:latin typeface="微软雅黑"/>
                <a:ea typeface="微软雅黑"/>
              </a:rPr>
              <a:t>××××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（公司名）　｜　</a:t>
            </a:r>
            <a:r>
              <a:rPr lang="en-US" altLang="zh-CN" sz="1400">
                <a:solidFill>
                  <a:srgbClr val="8FAADC"/>
                </a:solidFill>
                <a:latin typeface="微软雅黑"/>
                <a:ea typeface="微软雅黑"/>
              </a:rPr>
              <a:t>2026 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年 </a:t>
            </a:r>
            <a:r>
              <a:rPr lang="en-US" altLang="zh-CN" sz="1400">
                <a:solidFill>
                  <a:srgbClr val="8FAADC"/>
                </a:solidFill>
                <a:latin typeface="微软雅黑"/>
                <a:ea typeface="微软雅黑"/>
              </a:rPr>
              <a:t>7 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月　｜　版本 </a:t>
            </a:r>
            <a:r>
              <a:rPr lang="en" altLang="zh-CN" sz="1400">
                <a:solidFill>
                  <a:srgbClr val="8FAADC"/>
                </a:solidFill>
                <a:latin typeface="微软雅黑"/>
                <a:ea typeface="微软雅黑"/>
              </a:rPr>
              <a:t>V1.0</a:t>
            </a:r>
            <a:r>
              <a:rPr lang="zh-CN" altLang="en" sz="1400">
                <a:solidFill>
                  <a:srgbClr val="8FAADC"/>
                </a:solidFill>
                <a:latin typeface="微软雅黑"/>
                <a:ea typeface="微软雅黑"/>
              </a:rPr>
              <a:t>　｜　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密级：商密（限双方 </a:t>
            </a:r>
            <a:r>
              <a:rPr lang="en" altLang="zh-CN" sz="1400">
                <a:solidFill>
                  <a:srgbClr val="8FAADC"/>
                </a:solidFill>
                <a:latin typeface="微软雅黑"/>
                <a:ea typeface="微软雅黑"/>
              </a:rPr>
              <a:t>NDA </a:t>
            </a:r>
            <a:r>
              <a:rPr lang="zh-CN" altLang="en-US" sz="1400">
                <a:solidFill>
                  <a:srgbClr val="8FAADC"/>
                </a:solidFill>
                <a:latin typeface="微软雅黑"/>
                <a:ea typeface="微软雅黑"/>
              </a:rPr>
              <a:t>范围内使用）</a:t>
            </a:r>
          </a:p>
        </p:txBody>
      </p:sp>
    </p:spTree>
    <p:extLst>
      <p:ext uri="{BB962C8B-B14F-4D97-AF65-F5344CB8AC3E}">
        <p14:creationId xmlns:p14="http://schemas.microsoft.com/office/powerpoint/2010/main" val="23601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196B1EE-9701-6B66-891A-21CFF95ED04E}"/>
              </a:ext>
            </a:extLst>
          </p:cNvPr>
          <p:cNvGrpSpPr/>
          <p:nvPr/>
        </p:nvGrpSpPr>
        <p:grpSpPr>
          <a:xfrm>
            <a:off x="5334321" y="2400300"/>
            <a:ext cx="2219850" cy="3771265"/>
            <a:chOff x="7154862" y="296862"/>
            <a:chExt cx="3695700" cy="6278563"/>
          </a:xfrm>
        </p:grpSpPr>
        <p:pic>
          <p:nvPicPr>
            <p:cNvPr id="3" name="Picture 5" descr="C:\Users\Wengchucon\Desktop\bulb base.png">
              <a:extLst>
                <a:ext uri="{FF2B5EF4-FFF2-40B4-BE49-F238E27FC236}">
                  <a16:creationId xmlns:a16="http://schemas.microsoft.com/office/drawing/2014/main" id="{BB53D6E2-CB6E-50EA-D6CF-270DF56D81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51762" y="4762500"/>
              <a:ext cx="2446338" cy="1812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 descr="C:\Users\Wengchucon\Desktop\details.png">
              <a:extLst>
                <a:ext uri="{FF2B5EF4-FFF2-40B4-BE49-F238E27FC236}">
                  <a16:creationId xmlns:a16="http://schemas.microsoft.com/office/drawing/2014/main" id="{D056C2F5-739A-B5FC-CAB4-D500167BB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4862" y="296862"/>
              <a:ext cx="3695700" cy="45037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Pfeil: Fünfeck 29">
            <a:extLst>
              <a:ext uri="{FF2B5EF4-FFF2-40B4-BE49-F238E27FC236}">
                <a16:creationId xmlns:a16="http://schemas.microsoft.com/office/drawing/2014/main" id="{71061BB3-E5BE-DDB7-6109-96B38525F2E5}"/>
              </a:ext>
            </a:extLst>
          </p:cNvPr>
          <p:cNvSpPr/>
          <p:nvPr/>
        </p:nvSpPr>
        <p:spPr>
          <a:xfrm>
            <a:off x="-101600" y="1304926"/>
            <a:ext cx="6007100" cy="4935854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92075" indent="-92075" algn="ctr">
              <a:buFont typeface="Arial" panose="020B0604020202020204" pitchFamily="34" charset="0"/>
              <a:buChar char="•"/>
            </a:pPr>
            <a:endParaRPr lang="en-US" sz="1200" err="1">
              <a:solidFill>
                <a:schemeClr val="tx1"/>
              </a:solidFill>
            </a:endParaRPr>
          </a:p>
        </p:txBody>
      </p:sp>
      <p:sp>
        <p:nvSpPr>
          <p:cNvPr id="6" name="Rechteck 14">
            <a:extLst>
              <a:ext uri="{FF2B5EF4-FFF2-40B4-BE49-F238E27FC236}">
                <a16:creationId xmlns:a16="http://schemas.microsoft.com/office/drawing/2014/main" id="{298724DF-06D1-1D0D-5E58-F227DF6ECAF2}"/>
              </a:ext>
            </a:extLst>
          </p:cNvPr>
          <p:cNvSpPr>
            <a:spLocks/>
          </p:cNvSpPr>
          <p:nvPr/>
        </p:nvSpPr>
        <p:spPr>
          <a:xfrm flipH="1">
            <a:off x="-277792" y="1695871"/>
            <a:ext cx="12469789" cy="501321"/>
          </a:xfrm>
          <a:prstGeom prst="rect">
            <a:avLst/>
          </a:prstGeom>
          <a:gradFill>
            <a:gsLst>
              <a:gs pos="27000">
                <a:srgbClr val="BDBDBD"/>
              </a:gs>
              <a:gs pos="65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DE" sz="140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7" name="Textfeld 15">
            <a:extLst>
              <a:ext uri="{FF2B5EF4-FFF2-40B4-BE49-F238E27FC236}">
                <a16:creationId xmlns:a16="http://schemas.microsoft.com/office/drawing/2014/main" id="{1587636D-5244-CF0D-702A-2CF5F9273340}"/>
              </a:ext>
            </a:extLst>
          </p:cNvPr>
          <p:cNvSpPr txBox="1"/>
          <p:nvPr/>
        </p:nvSpPr>
        <p:spPr>
          <a:xfrm>
            <a:off x="7684851" y="1792643"/>
            <a:ext cx="4322279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>
              <a:defRPr b="1">
                <a:latin typeface="+mj-lt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ea typeface="Arial Unicode MS"/>
              </a:rPr>
              <a:t>项目目标</a:t>
            </a:r>
            <a:endParaRPr lang="de-DE" sz="200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3A921E-862E-5E41-A029-233479F76093}"/>
              </a:ext>
            </a:extLst>
          </p:cNvPr>
          <p:cNvGrpSpPr/>
          <p:nvPr/>
        </p:nvGrpSpPr>
        <p:grpSpPr>
          <a:xfrm>
            <a:off x="5650745" y="1304926"/>
            <a:ext cx="520860" cy="1316355"/>
            <a:chOff x="3356803" y="1304926"/>
            <a:chExt cx="520860" cy="1316355"/>
          </a:xfrm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80B51C1B-460B-8E80-EFDA-7AF5E3CD59EA}"/>
                </a:ext>
              </a:extLst>
            </p:cNvPr>
            <p:cNvSpPr/>
            <p:nvPr/>
          </p:nvSpPr>
          <p:spPr>
            <a:xfrm>
              <a:off x="3356803" y="1552993"/>
              <a:ext cx="520860" cy="787078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600" b="0" err="1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C34232-313B-75A1-C146-CEEB257F3B95}"/>
                </a:ext>
              </a:extLst>
            </p:cNvPr>
            <p:cNvSpPr/>
            <p:nvPr/>
          </p:nvSpPr>
          <p:spPr>
            <a:xfrm>
              <a:off x="3369366" y="1304926"/>
              <a:ext cx="245745" cy="3829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600" b="0" err="1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E1EA8B-1ED0-8785-9216-E5033E07E3E7}"/>
                </a:ext>
              </a:extLst>
            </p:cNvPr>
            <p:cNvSpPr/>
            <p:nvPr/>
          </p:nvSpPr>
          <p:spPr>
            <a:xfrm>
              <a:off x="3369366" y="2238376"/>
              <a:ext cx="245745" cy="3829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600" b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4D1B5FE-6068-2955-891B-FD2FF1D06765}"/>
              </a:ext>
            </a:extLst>
          </p:cNvPr>
          <p:cNvSpPr txBox="1"/>
          <p:nvPr/>
        </p:nvSpPr>
        <p:spPr>
          <a:xfrm>
            <a:off x="184870" y="2442708"/>
            <a:ext cx="5158656" cy="3056068"/>
          </a:xfrm>
          <a:prstGeom prst="rect">
            <a:avLst/>
          </a:prstGeom>
          <a:noFill/>
        </p:spPr>
        <p:txBody>
          <a:bodyPr wrap="square" lIns="144000" tIns="34976" rIns="69952" bIns="34976" rtlCol="0" anchor="t" anchorCtr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设备销售到不同客户和不同工厂后，总部缺少统一管理平台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；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设备运行状态主要依赖客户反馈，总部难以及时掌握真实运行情况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；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售后服务依赖人工经验和线下沟通，难以形成标准化、数据化闭环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；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设备异常、停机、泄漏、堵塞等风险缺少远程预警和快速响应机制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；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设备销售后的运行授权、尾款风险和服务边界缺少技术手段支撑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；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当前没有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SCADA、MES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或统一设备数据平台，PLC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数据尚未转化为可运营、可分析、可管理的数据资产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。</a:t>
            </a:r>
          </a:p>
        </p:txBody>
      </p:sp>
      <p:sp>
        <p:nvSpPr>
          <p:cNvPr id="13" name="Textfeld 15">
            <a:extLst>
              <a:ext uri="{FF2B5EF4-FFF2-40B4-BE49-F238E27FC236}">
                <a16:creationId xmlns:a16="http://schemas.microsoft.com/office/drawing/2014/main" id="{942FB822-552F-3422-F999-27AB00B5CD4E}"/>
              </a:ext>
            </a:extLst>
          </p:cNvPr>
          <p:cNvSpPr txBox="1"/>
          <p:nvPr/>
        </p:nvSpPr>
        <p:spPr>
          <a:xfrm>
            <a:off x="184870" y="1813025"/>
            <a:ext cx="3113915" cy="276999"/>
          </a:xfrm>
          <a:prstGeom prst="rect">
            <a:avLst/>
          </a:prstGeom>
          <a:noFill/>
        </p:spPr>
        <p:txBody>
          <a:bodyPr wrap="square" lIns="144000" tIns="0" rIns="0" bIns="0" rtlCol="0" anchor="ctr" anchorCtr="0">
            <a:spAutoFit/>
          </a:bodyPr>
          <a:lstStyle>
            <a:defPPr>
              <a:defRPr lang="de-DE"/>
            </a:defPPr>
            <a:lvl1pPr>
              <a:defRPr b="1">
                <a:latin typeface="+mj-lt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+mn-lt"/>
              </a:rPr>
              <a:t>当前痛点</a:t>
            </a:r>
            <a:endParaRPr lang="de-DE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C4332-CA7D-8B3A-4109-8905858FA40D}"/>
              </a:ext>
            </a:extLst>
          </p:cNvPr>
          <p:cNvSpPr txBox="1"/>
          <p:nvPr/>
        </p:nvSpPr>
        <p:spPr>
          <a:xfrm>
            <a:off x="8628558" y="2435211"/>
            <a:ext cx="3228833" cy="501522"/>
          </a:xfrm>
          <a:prstGeom prst="rect">
            <a:avLst/>
          </a:prstGeom>
          <a:noFill/>
        </p:spPr>
        <p:txBody>
          <a:bodyPr wrap="square" lIns="69952" tIns="34976" rIns="69952" bIns="34976" rtlCol="0" anchor="t" anchorCtr="0">
            <a:spAutoFit/>
          </a:bodyPr>
          <a:lstStyle/>
          <a:p>
            <a:pPr>
              <a:spcBef>
                <a:spcPts val="300"/>
              </a:spcBef>
              <a:buClr>
                <a:schemeClr val="tx1"/>
              </a:buClr>
            </a:pP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设备智能化：运行状态、健康趋势、异常风险可量化</a:t>
            </a:r>
            <a:endParaRPr lang="en-US" sz="14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51654A-A467-A54A-9F1F-1CD8CD5C0D4B}"/>
              </a:ext>
            </a:extLst>
          </p:cNvPr>
          <p:cNvSpPr txBox="1"/>
          <p:nvPr/>
        </p:nvSpPr>
        <p:spPr>
          <a:xfrm>
            <a:off x="8628556" y="3162809"/>
            <a:ext cx="3228833" cy="716966"/>
          </a:xfrm>
          <a:prstGeom prst="rect">
            <a:avLst/>
          </a:prstGeom>
          <a:noFill/>
        </p:spPr>
        <p:txBody>
          <a:bodyPr wrap="square" lIns="69952" tIns="34976" rIns="69952" bIns="34976" rtlCol="0" anchor="t" anchorCtr="0">
            <a:spAutoFit/>
          </a:bodyPr>
          <a:lstStyle/>
          <a:p>
            <a:pPr>
              <a:spcBef>
                <a:spcPts val="300"/>
              </a:spcBef>
              <a:buClr>
                <a:schemeClr val="tx1"/>
              </a:buClr>
            </a:pP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智能运维平台：一套平台管多地工厂，运行情况可视化、实时化、实现问题在报警前被预见等</a:t>
            </a:r>
            <a:endParaRPr lang="en-US" sz="1400" b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9A302-EA4A-7419-50CE-7A905D034693}"/>
              </a:ext>
            </a:extLst>
          </p:cNvPr>
          <p:cNvSpPr txBox="1"/>
          <p:nvPr/>
        </p:nvSpPr>
        <p:spPr>
          <a:xfrm>
            <a:off x="8628557" y="4059736"/>
            <a:ext cx="3228833" cy="501522"/>
          </a:xfrm>
          <a:prstGeom prst="rect">
            <a:avLst/>
          </a:prstGeom>
          <a:noFill/>
        </p:spPr>
        <p:txBody>
          <a:bodyPr wrap="square" lIns="69952" tIns="34976" rIns="69952" bIns="34976" rtlCol="0" anchor="t" anchorCtr="0">
            <a:spAutoFit/>
          </a:bodyPr>
          <a:lstStyle/>
          <a:p>
            <a:pPr>
              <a:spcBef>
                <a:spcPts val="300"/>
              </a:spcBef>
              <a:buClr>
                <a:schemeClr val="tx1"/>
              </a:buClr>
              <a:defRPr/>
            </a:pP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远程商业风控能力：合同授权下的设备权限管理与分级风控机制</a:t>
            </a:r>
            <a:endParaRPr lang="en-US" sz="1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FE11A1-4341-F807-05D5-22BB072043D3}"/>
              </a:ext>
            </a:extLst>
          </p:cNvPr>
          <p:cNvGrpSpPr/>
          <p:nvPr/>
        </p:nvGrpSpPr>
        <p:grpSpPr>
          <a:xfrm>
            <a:off x="7684851" y="2333432"/>
            <a:ext cx="705080" cy="705080"/>
            <a:chOff x="7684851" y="2535138"/>
            <a:chExt cx="705080" cy="705080"/>
          </a:xfrm>
        </p:grpSpPr>
        <p:sp>
          <p:nvSpPr>
            <p:cNvPr id="18" name="Ellipse 31">
              <a:extLst>
                <a:ext uri="{FF2B5EF4-FFF2-40B4-BE49-F238E27FC236}">
                  <a16:creationId xmlns:a16="http://schemas.microsoft.com/office/drawing/2014/main" id="{C5024795-A849-A90E-0437-821347981F92}"/>
                </a:ext>
              </a:extLst>
            </p:cNvPr>
            <p:cNvSpPr/>
            <p:nvPr/>
          </p:nvSpPr>
          <p:spPr>
            <a:xfrm>
              <a:off x="7684851" y="2535138"/>
              <a:ext cx="705080" cy="705080"/>
            </a:xfrm>
            <a:prstGeom prst="ellipse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320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18A3640E-738C-FB8C-FE62-102E8F152A3F}"/>
                </a:ext>
              </a:extLst>
            </p:cNvPr>
            <p:cNvSpPr/>
            <p:nvPr/>
          </p:nvSpPr>
          <p:spPr>
            <a:xfrm rot="16200000">
              <a:off x="7697635" y="2587170"/>
              <a:ext cx="679510" cy="601018"/>
            </a:xfrm>
            <a:prstGeom prst="hexagon">
              <a:avLst>
                <a:gd name="adj" fmla="val 31717"/>
                <a:gd name="vf" fmla="val 11547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069E10-D228-62A4-5534-77C9BAB9AC69}"/>
              </a:ext>
            </a:extLst>
          </p:cNvPr>
          <p:cNvGrpSpPr/>
          <p:nvPr/>
        </p:nvGrpSpPr>
        <p:grpSpPr>
          <a:xfrm>
            <a:off x="7684851" y="3145953"/>
            <a:ext cx="705080" cy="705080"/>
            <a:chOff x="7684851" y="3719787"/>
            <a:chExt cx="705080" cy="705080"/>
          </a:xfrm>
        </p:grpSpPr>
        <p:sp>
          <p:nvSpPr>
            <p:cNvPr id="21" name="Ellipse 31">
              <a:extLst>
                <a:ext uri="{FF2B5EF4-FFF2-40B4-BE49-F238E27FC236}">
                  <a16:creationId xmlns:a16="http://schemas.microsoft.com/office/drawing/2014/main" id="{830A9383-CB6C-DA85-7848-61133AE0445E}"/>
                </a:ext>
              </a:extLst>
            </p:cNvPr>
            <p:cNvSpPr/>
            <p:nvPr/>
          </p:nvSpPr>
          <p:spPr>
            <a:xfrm>
              <a:off x="7684851" y="3719787"/>
              <a:ext cx="705080" cy="705080"/>
            </a:xfrm>
            <a:prstGeom prst="ellipse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320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97AD29F1-8483-9337-5687-7E3B7195A4E5}"/>
                </a:ext>
              </a:extLst>
            </p:cNvPr>
            <p:cNvSpPr/>
            <p:nvPr/>
          </p:nvSpPr>
          <p:spPr>
            <a:xfrm rot="16200000">
              <a:off x="7697635" y="3775890"/>
              <a:ext cx="679510" cy="601018"/>
            </a:xfrm>
            <a:prstGeom prst="hexagon">
              <a:avLst>
                <a:gd name="adj" fmla="val 31717"/>
                <a:gd name="vf" fmla="val 11547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7E20AA7-01D4-0701-A525-B40DED76F865}"/>
              </a:ext>
            </a:extLst>
          </p:cNvPr>
          <p:cNvGrpSpPr/>
          <p:nvPr/>
        </p:nvGrpSpPr>
        <p:grpSpPr>
          <a:xfrm>
            <a:off x="7684851" y="3958474"/>
            <a:ext cx="705080" cy="705080"/>
            <a:chOff x="7684851" y="5012155"/>
            <a:chExt cx="705080" cy="705080"/>
          </a:xfrm>
        </p:grpSpPr>
        <p:sp>
          <p:nvSpPr>
            <p:cNvPr id="24" name="Ellipse 31">
              <a:extLst>
                <a:ext uri="{FF2B5EF4-FFF2-40B4-BE49-F238E27FC236}">
                  <a16:creationId xmlns:a16="http://schemas.microsoft.com/office/drawing/2014/main" id="{E27B3DD2-44FE-0755-6355-20C491C65DB9}"/>
                </a:ext>
              </a:extLst>
            </p:cNvPr>
            <p:cNvSpPr/>
            <p:nvPr/>
          </p:nvSpPr>
          <p:spPr>
            <a:xfrm>
              <a:off x="7684851" y="5012155"/>
              <a:ext cx="705080" cy="705080"/>
            </a:xfrm>
            <a:prstGeom prst="ellipse">
              <a:avLst/>
            </a:prstGeom>
            <a:noFill/>
            <a:ln w="95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3200">
                  <a:solidFill>
                    <a:schemeClr val="accent1"/>
                  </a:solidFill>
                </a:rPr>
                <a:t>3</a:t>
              </a:r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539FF947-3FDB-C748-8653-CD1B2C154322}"/>
                </a:ext>
              </a:extLst>
            </p:cNvPr>
            <p:cNvSpPr/>
            <p:nvPr/>
          </p:nvSpPr>
          <p:spPr>
            <a:xfrm rot="16200000">
              <a:off x="7697635" y="5063670"/>
              <a:ext cx="679510" cy="601018"/>
            </a:xfrm>
            <a:prstGeom prst="hexagon">
              <a:avLst>
                <a:gd name="adj" fmla="val 31717"/>
                <a:gd name="vf" fmla="val 11547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B45DE7-1CFD-1EF6-CD1F-3BC37DC6E379}"/>
              </a:ext>
            </a:extLst>
          </p:cNvPr>
          <p:cNvGrpSpPr/>
          <p:nvPr/>
        </p:nvGrpSpPr>
        <p:grpSpPr>
          <a:xfrm>
            <a:off x="7403690" y="5016176"/>
            <a:ext cx="4603440" cy="1088946"/>
            <a:chOff x="762000" y="5003800"/>
            <a:chExt cx="10668000" cy="965200"/>
          </a:xfrm>
        </p:grpSpPr>
        <p:sp>
          <p:nvSpPr>
            <p:cNvPr id="34" name="圆角矩形 11">
              <a:extLst>
                <a:ext uri="{FF2B5EF4-FFF2-40B4-BE49-F238E27FC236}">
                  <a16:creationId xmlns:a16="http://schemas.microsoft.com/office/drawing/2014/main" id="{F3DFCE2B-4A4D-F02E-3935-4391C3443237}"/>
                </a:ext>
              </a:extLst>
            </p:cNvPr>
            <p:cNvSpPr/>
            <p:nvPr/>
          </p:nvSpPr>
          <p:spPr>
            <a:xfrm>
              <a:off x="762000" y="5003800"/>
              <a:ext cx="10668000" cy="965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190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CN" altLang="en-US"/>
            </a:p>
          </p:txBody>
        </p:sp>
        <p:sp>
          <p:nvSpPr>
            <p:cNvPr id="35" name="文本框 12">
              <a:extLst>
                <a:ext uri="{FF2B5EF4-FFF2-40B4-BE49-F238E27FC236}">
                  <a16:creationId xmlns:a16="http://schemas.microsoft.com/office/drawing/2014/main" id="{A72F698D-0088-869A-7170-46BBCB7969AE}"/>
                </a:ext>
              </a:extLst>
            </p:cNvPr>
            <p:cNvSpPr txBox="1"/>
            <p:nvPr/>
          </p:nvSpPr>
          <p:spPr>
            <a:xfrm>
              <a:off x="1066801" y="5063558"/>
              <a:ext cx="10058401" cy="845684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r>
                <a:rPr lang="en-US" sz="1400" dirty="0" err="1">
                  <a:solidFill>
                    <a:schemeClr val="accent5"/>
                  </a:solidFill>
                </a:rPr>
                <a:t>基于现有</a:t>
              </a:r>
              <a:r>
                <a:rPr lang="en-US" sz="1400" dirty="0">
                  <a:solidFill>
                    <a:schemeClr val="accent5"/>
                  </a:solidFill>
                </a:rPr>
                <a:t> PLC 自动化基础，</a:t>
              </a:r>
              <a:r>
                <a:rPr lang="en-US" sz="1400" b="1" dirty="0">
                  <a:solidFill>
                    <a:schemeClr val="accent5"/>
                  </a:solidFill>
                </a:rPr>
                <a:t>建设一套面向多工厂、多设备的远程智能运维与运行授权管理平台</a:t>
              </a:r>
              <a:r>
                <a:rPr lang="en-US" sz="1400" dirty="0">
                  <a:solidFill>
                    <a:schemeClr val="accent5"/>
                  </a:solidFill>
                </a:rPr>
                <a:t>，帮助客户实现设备状态可视、异常风险可知、远程服务可闭环、运行权限可管控。</a:t>
              </a:r>
              <a:endParaRPr lang="zh-CN" altLang="en-US" sz="1400" dirty="0">
                <a:solidFill>
                  <a:schemeClr val="accent5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38" name="文本框 1">
            <a:extLst>
              <a:ext uri="{FF2B5EF4-FFF2-40B4-BE49-F238E27FC236}">
                <a16:creationId xmlns:a16="http://schemas.microsoft.com/office/drawing/2014/main" id="{1F2AEA34-C253-D136-D406-BB60FF3371B1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1.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项目需求与目标</a:t>
            </a:r>
          </a:p>
        </p:txBody>
      </p:sp>
    </p:spTree>
    <p:extLst>
      <p:ext uri="{BB962C8B-B14F-4D97-AF65-F5344CB8AC3E}">
        <p14:creationId xmlns:p14="http://schemas.microsoft.com/office/powerpoint/2010/main" val="313245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60E6DB-4847-D342-9C3E-90F6BE7DF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256022"/>
              </p:ext>
            </p:extLst>
          </p:nvPr>
        </p:nvGraphicFramePr>
        <p:xfrm>
          <a:off x="860322" y="1431413"/>
          <a:ext cx="10668000" cy="3556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89747590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1944957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66446595"/>
                    </a:ext>
                  </a:extLst>
                </a:gridCol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已有能力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现状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在智能化体系中的角色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429527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PLC 自动化控制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成熟运行，含安全联锁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现场实时控制与安全底座（保持不变）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22854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传感器点位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已预留 100+，覆盖温度 / 压力 / 流量 / 液位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AI 模型的数据来源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6133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秒级数据采集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PLC 每秒采集 1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满足趋势分析与异常检测的时间分辨率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608745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环形轨道巡检机器人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已部署，用于漏点监测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视觉 / 点检数据接入，与报警联动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48611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自动消防水炮 + 专用灭火剂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已配备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应急处置执行环节，纳入事件闭环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60751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92D76059-5B56-3047-A924-766649CA0297}"/>
              </a:ext>
            </a:extLst>
          </p:cNvPr>
          <p:cNvSpPr/>
          <p:nvPr/>
        </p:nvSpPr>
        <p:spPr>
          <a:xfrm>
            <a:off x="860322" y="5289757"/>
            <a:ext cx="10668000" cy="787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64148F-A995-0340-B4AF-0DEB8E118C75}"/>
              </a:ext>
            </a:extLst>
          </p:cNvPr>
          <p:cNvSpPr txBox="1"/>
          <p:nvPr/>
        </p:nvSpPr>
        <p:spPr>
          <a:xfrm>
            <a:off x="1165122" y="5506485"/>
            <a:ext cx="10058400" cy="3539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700" b="1" dirty="0">
                <a:solidFill>
                  <a:schemeClr val="accent5"/>
                </a:solidFill>
                <a:latin typeface="微软雅黑"/>
                <a:ea typeface="微软雅黑"/>
              </a:rPr>
              <a:t>结论：传感器基础完备度高，平台建设可以「轻硬件、重数据、快见效」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9FEEF3B5-CED2-63A5-3687-A1DDD0D8D759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2.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现有基础与可建设条件</a:t>
            </a:r>
          </a:p>
        </p:txBody>
      </p:sp>
    </p:spTree>
    <p:extLst>
      <p:ext uri="{BB962C8B-B14F-4D97-AF65-F5344CB8AC3E}">
        <p14:creationId xmlns:p14="http://schemas.microsoft.com/office/powerpoint/2010/main" val="40849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8102167A-167C-1C4E-9734-2D2F9419E140}"/>
              </a:ext>
            </a:extLst>
          </p:cNvPr>
          <p:cNvSpPr/>
          <p:nvPr/>
        </p:nvSpPr>
        <p:spPr>
          <a:xfrm>
            <a:off x="762000" y="4267200"/>
            <a:ext cx="1422400" cy="812800"/>
          </a:xfrm>
          <a:prstGeom prst="roundRect">
            <a:avLst/>
          </a:prstGeom>
          <a:solidFill>
            <a:srgbClr val="C7D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01
PLC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自动化
（现状）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C808FDE-A403-654B-9F23-FE456A4D08D6}"/>
              </a:ext>
            </a:extLst>
          </p:cNvPr>
          <p:cNvSpPr/>
          <p:nvPr/>
        </p:nvSpPr>
        <p:spPr>
          <a:xfrm>
            <a:off x="2298700" y="3962400"/>
            <a:ext cx="1422400" cy="1117600"/>
          </a:xfrm>
          <a:prstGeom prst="roundRect">
            <a:avLst/>
          </a:prstGeom>
          <a:solidFill>
            <a:srgbClr val="A8BE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02
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数据采集
与汇聚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C14FEE9-66E2-FD4D-A400-C39F6226FE14}"/>
              </a:ext>
            </a:extLst>
          </p:cNvPr>
          <p:cNvSpPr/>
          <p:nvPr/>
        </p:nvSpPr>
        <p:spPr>
          <a:xfrm>
            <a:off x="3835400" y="3657600"/>
            <a:ext cx="1422400" cy="1422400"/>
          </a:xfrm>
          <a:prstGeom prst="roundRect">
            <a:avLst/>
          </a:prstGeom>
          <a:solidFill>
            <a:srgbClr val="8FAA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03
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远程集中
监控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A007745-3AC7-A747-8C4A-8938AB4BF12D}"/>
              </a:ext>
            </a:extLst>
          </p:cNvPr>
          <p:cNvSpPr/>
          <p:nvPr/>
        </p:nvSpPr>
        <p:spPr>
          <a:xfrm>
            <a:off x="5372100" y="3352800"/>
            <a:ext cx="1422400" cy="1727200"/>
          </a:xfrm>
          <a:prstGeom prst="roundRect">
            <a:avLst/>
          </a:prstGeom>
          <a:solidFill>
            <a:srgbClr val="4A74B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04
AI 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异常
预警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1A8B05D-A317-5C45-90D2-586E4D7E8E01}"/>
              </a:ext>
            </a:extLst>
          </p:cNvPr>
          <p:cNvSpPr/>
          <p:nvPr/>
        </p:nvSpPr>
        <p:spPr>
          <a:xfrm>
            <a:off x="6908800" y="3048000"/>
            <a:ext cx="1422400" cy="2032000"/>
          </a:xfrm>
          <a:prstGeom prst="roundRect">
            <a:avLst/>
          </a:prstGeom>
          <a:solidFill>
            <a:srgbClr val="3D67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05
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参数优化
建议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2A5BE6A-B838-2E48-9021-AF70E84D6755}"/>
              </a:ext>
            </a:extLst>
          </p:cNvPr>
          <p:cNvSpPr/>
          <p:nvPr/>
        </p:nvSpPr>
        <p:spPr>
          <a:xfrm>
            <a:off x="8445500" y="2743200"/>
            <a:ext cx="1422400" cy="2336800"/>
          </a:xfrm>
          <a:prstGeom prst="round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06
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安全边界内
分级智能控制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1C61868-4661-C14C-BC15-2C06C5FC5EC5}"/>
              </a:ext>
            </a:extLst>
          </p:cNvPr>
          <p:cNvSpPr/>
          <p:nvPr/>
        </p:nvSpPr>
        <p:spPr>
          <a:xfrm>
            <a:off x="9982200" y="2438400"/>
            <a:ext cx="1422400" cy="2641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07
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多产线
多基地复制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A72F4EF-76CD-6748-8838-51F7B7377568}"/>
              </a:ext>
            </a:extLst>
          </p:cNvPr>
          <p:cNvSpPr/>
          <p:nvPr/>
        </p:nvSpPr>
        <p:spPr>
          <a:xfrm>
            <a:off x="762000" y="3860800"/>
            <a:ext cx="1422400" cy="330200"/>
          </a:xfrm>
          <a:prstGeom prst="round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FFFF"/>
                </a:solidFill>
                <a:latin typeface="微软雅黑"/>
                <a:ea typeface="微软雅黑"/>
              </a:rPr>
              <a:t>现状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8615B5-5768-3D4A-940B-9672BF6B04F6}"/>
              </a:ext>
            </a:extLst>
          </p:cNvPr>
          <p:cNvSpPr/>
          <p:nvPr/>
        </p:nvSpPr>
        <p:spPr>
          <a:xfrm>
            <a:off x="762000" y="5105400"/>
            <a:ext cx="10668000" cy="25400"/>
          </a:xfrm>
          <a:prstGeom prst="rect">
            <a:avLst/>
          </a:prstGeom>
          <a:solidFill>
            <a:srgbClr val="C3CE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46BED2A-9B8B-AC48-AFAB-ADC3EE46AA20}"/>
              </a:ext>
            </a:extLst>
          </p:cNvPr>
          <p:cNvSpPr/>
          <p:nvPr/>
        </p:nvSpPr>
        <p:spPr>
          <a:xfrm>
            <a:off x="762000" y="5435600"/>
            <a:ext cx="2921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2F5597"/>
                </a:solidFill>
                <a:latin typeface="微软雅黑"/>
                <a:ea typeface="微软雅黑"/>
              </a:rPr>
              <a:t>先数据、后 </a:t>
            </a:r>
            <a:r>
              <a:rPr lang="en" altLang="zh-CN" sz="1500" b="1">
                <a:solidFill>
                  <a:srgbClr val="2F5597"/>
                </a:solidFill>
                <a:latin typeface="微软雅黑"/>
                <a:ea typeface="微软雅黑"/>
              </a:rPr>
              <a:t>AI</a:t>
            </a:r>
            <a:endParaRPr lang="zh-CN" altLang="en-US" sz="1500" b="1">
              <a:solidFill>
                <a:srgbClr val="2F5597"/>
              </a:solidFill>
              <a:latin typeface="微软雅黑"/>
              <a:ea typeface="微软雅黑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936690C-9DE9-2B4F-A2F4-B9EC0D372C15}"/>
              </a:ext>
            </a:extLst>
          </p:cNvPr>
          <p:cNvSpPr/>
          <p:nvPr/>
        </p:nvSpPr>
        <p:spPr>
          <a:xfrm>
            <a:off x="4000500" y="5435600"/>
            <a:ext cx="3683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2F5597"/>
                </a:solidFill>
                <a:latin typeface="微软雅黑"/>
                <a:ea typeface="微软雅黑"/>
              </a:rPr>
              <a:t>先辅助决策、后分级控制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F7D7489-D81E-FC4F-A45C-866CEC76CBB8}"/>
              </a:ext>
            </a:extLst>
          </p:cNvPr>
          <p:cNvSpPr/>
          <p:nvPr/>
        </p:nvSpPr>
        <p:spPr>
          <a:xfrm>
            <a:off x="8001000" y="5435600"/>
            <a:ext cx="3429000" cy="50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2F5597"/>
                </a:solidFill>
                <a:latin typeface="微软雅黑"/>
                <a:ea typeface="微软雅黑"/>
              </a:rPr>
              <a:t>先试点线、后全场复制</a:t>
            </a:r>
          </a:p>
        </p:txBody>
      </p:sp>
      <p:sp>
        <p:nvSpPr>
          <p:cNvPr id="16" name="文本框 1">
            <a:extLst>
              <a:ext uri="{FF2B5EF4-FFF2-40B4-BE49-F238E27FC236}">
                <a16:creationId xmlns:a16="http://schemas.microsoft.com/office/drawing/2014/main" id="{24A9B3C4-4C6C-A84F-ACA8-7D82B7B0F4B6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3.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从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PLC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自动化到 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AI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智能化的升级路径</a:t>
            </a:r>
          </a:p>
        </p:txBody>
      </p:sp>
    </p:spTree>
    <p:extLst>
      <p:ext uri="{BB962C8B-B14F-4D97-AF65-F5344CB8AC3E}">
        <p14:creationId xmlns:p14="http://schemas.microsoft.com/office/powerpoint/2010/main" val="255682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FE605D-544E-0D47-819C-0B0FA06FA2D0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现场控制与云端智能物理分离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平台故障、网络中断均不影响现场安全运行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178B34-9C90-9FEA-0354-53DD13564547}"/>
              </a:ext>
            </a:extLst>
          </p:cNvPr>
          <p:cNvGrpSpPr/>
          <p:nvPr/>
        </p:nvGrpSpPr>
        <p:grpSpPr>
          <a:xfrm>
            <a:off x="762000" y="1469922"/>
            <a:ext cx="8763000" cy="3937000"/>
            <a:chOff x="762000" y="1219200"/>
            <a:chExt cx="8763000" cy="4089400"/>
          </a:xfrm>
        </p:grpSpPr>
        <p:sp>
          <p:nvSpPr>
            <p:cNvPr id="4" name="圆角矩形 3">
              <a:extLst>
                <a:ext uri="{FF2B5EF4-FFF2-40B4-BE49-F238E27FC236}">
                  <a16:creationId xmlns:a16="http://schemas.microsoft.com/office/drawing/2014/main" id="{A6FCAC25-8F36-3A44-9915-EFCC87646F01}"/>
                </a:ext>
              </a:extLst>
            </p:cNvPr>
            <p:cNvSpPr/>
            <p:nvPr/>
          </p:nvSpPr>
          <p:spPr>
            <a:xfrm>
              <a:off x="762000" y="1219200"/>
              <a:ext cx="8763000" cy="736600"/>
            </a:xfrm>
            <a:prstGeom prst="roundRect">
              <a:avLst/>
            </a:prstGeom>
            <a:solidFill>
              <a:srgbClr val="8FAADC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en-US" altLang="zh-CN" sz="1500" b="1">
                  <a:solidFill>
                    <a:srgbClr val="1F3864"/>
                  </a:solidFill>
                  <a:latin typeface="微软雅黑"/>
                  <a:ea typeface="微软雅黑"/>
                </a:rPr>
                <a:t>⑤ </a:t>
              </a:r>
              <a:r>
                <a:rPr lang="zh-CN" altLang="en-US" sz="1500" b="1">
                  <a:solidFill>
                    <a:srgbClr val="1F3864"/>
                  </a:solidFill>
                  <a:latin typeface="微软雅黑"/>
                  <a:ea typeface="微软雅黑"/>
                </a:rPr>
                <a:t>远程运维应用层　｜　运维驾驶舱 </a:t>
              </a:r>
              <a:r>
                <a:rPr lang="en-US" altLang="zh-CN" sz="1500" b="1">
                  <a:solidFill>
                    <a:srgbClr val="1F3864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>
                  <a:solidFill>
                    <a:srgbClr val="1F3864"/>
                  </a:solidFill>
                  <a:latin typeface="微软雅黑"/>
                  <a:ea typeface="微软雅黑"/>
                </a:rPr>
                <a:t>移动端报警 </a:t>
              </a:r>
              <a:r>
                <a:rPr lang="en-US" altLang="zh-CN" sz="1500" b="1">
                  <a:solidFill>
                    <a:srgbClr val="1F3864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>
                  <a:solidFill>
                    <a:srgbClr val="1F3864"/>
                  </a:solidFill>
                  <a:latin typeface="微软雅黑"/>
                  <a:ea typeface="微软雅黑"/>
                </a:rPr>
                <a:t>风控权限管理 </a:t>
              </a:r>
              <a:r>
                <a:rPr lang="en-US" altLang="zh-CN" sz="1500" b="1">
                  <a:solidFill>
                    <a:srgbClr val="1F3864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>
                  <a:solidFill>
                    <a:srgbClr val="1F3864"/>
                  </a:solidFill>
                  <a:latin typeface="微软雅黑"/>
                  <a:ea typeface="微软雅黑"/>
                </a:rPr>
                <a:t>日报月报</a:t>
              </a:r>
            </a:p>
          </p:txBody>
        </p:sp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F7451842-9C49-D248-BDEE-9860C01FF1A6}"/>
                </a:ext>
              </a:extLst>
            </p:cNvPr>
            <p:cNvSpPr/>
            <p:nvPr/>
          </p:nvSpPr>
          <p:spPr>
            <a:xfrm>
              <a:off x="762000" y="2057400"/>
              <a:ext cx="8763000" cy="736600"/>
            </a:xfrm>
            <a:prstGeom prst="roundRect">
              <a:avLst/>
            </a:prstGeom>
            <a:solidFill>
              <a:srgbClr val="4A74B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en" altLang="zh-CN" sz="1500" b="1">
                  <a:solidFill>
                    <a:srgbClr val="FFFFFF"/>
                  </a:solidFill>
                  <a:latin typeface="微软雅黑"/>
                  <a:ea typeface="微软雅黑"/>
                </a:rPr>
                <a:t>④ AI </a:t>
              </a:r>
              <a:r>
                <a:rPr lang="zh-CN" altLang="en-US" sz="1500" b="1">
                  <a:solidFill>
                    <a:srgbClr val="FFFFFF"/>
                  </a:solidFill>
                  <a:latin typeface="微软雅黑"/>
                  <a:ea typeface="微软雅黑"/>
                </a:rPr>
                <a:t>分析层　｜　异常预警 </a:t>
              </a:r>
              <a:r>
                <a:rPr lang="en-US" altLang="zh-CN" sz="1500" b="1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>
                  <a:solidFill>
                    <a:srgbClr val="FFFFFF"/>
                  </a:solidFill>
                  <a:latin typeface="微软雅黑"/>
                  <a:ea typeface="微软雅黑"/>
                </a:rPr>
                <a:t>健康评分 </a:t>
              </a:r>
              <a:r>
                <a:rPr lang="en-US" altLang="zh-CN" sz="1500" b="1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>
                  <a:solidFill>
                    <a:srgbClr val="FFFFFF"/>
                  </a:solidFill>
                  <a:latin typeface="微软雅黑"/>
                  <a:ea typeface="微软雅黑"/>
                </a:rPr>
                <a:t>故障诊断辅助 </a:t>
              </a:r>
              <a:r>
                <a:rPr lang="en-US" altLang="zh-CN" sz="1500" b="1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>
                  <a:solidFill>
                    <a:srgbClr val="FFFFFF"/>
                  </a:solidFill>
                  <a:latin typeface="微软雅黑"/>
                  <a:ea typeface="微软雅黑"/>
                </a:rPr>
                <a:t>参数优化建议</a:t>
              </a:r>
            </a:p>
          </p:txBody>
        </p:sp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7995CCB7-A865-604B-86EE-3D315D88F2C2}"/>
                </a:ext>
              </a:extLst>
            </p:cNvPr>
            <p:cNvSpPr/>
            <p:nvPr/>
          </p:nvSpPr>
          <p:spPr>
            <a:xfrm>
              <a:off x="762000" y="2895600"/>
              <a:ext cx="8763000" cy="736600"/>
            </a:xfrm>
            <a:prstGeom prst="roundRect">
              <a:avLst/>
            </a:prstGeom>
            <a:solidFill>
              <a:srgbClr val="3D67A0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③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数据平台层　｜　时序数据库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数据治理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设备台账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权限与审计</a:t>
              </a:r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D50C3FFD-C9F4-6D48-B1F1-81369F818F7C}"/>
                </a:ext>
              </a:extLst>
            </p:cNvPr>
            <p:cNvSpPr/>
            <p:nvPr/>
          </p:nvSpPr>
          <p:spPr>
            <a:xfrm>
              <a:off x="762000" y="3733800"/>
              <a:ext cx="8763000" cy="736600"/>
            </a:xfrm>
            <a:prstGeom prst="roundRect">
              <a:avLst/>
            </a:prstGeom>
            <a:solidFill>
              <a:srgbClr val="2F5597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②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数据采集层　｜　</a:t>
              </a:r>
              <a:r>
                <a:rPr lang="en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PLC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协议采集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巡检机器人接入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边缘网关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断点续传</a:t>
              </a:r>
            </a:p>
          </p:txBody>
        </p:sp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38D09EB-2D99-1946-979B-EF27CA48B641}"/>
                </a:ext>
              </a:extLst>
            </p:cNvPr>
            <p:cNvSpPr/>
            <p:nvPr/>
          </p:nvSpPr>
          <p:spPr>
            <a:xfrm>
              <a:off x="762000" y="4572000"/>
              <a:ext cx="8763000" cy="736600"/>
            </a:xfrm>
            <a:prstGeom prst="roundRect">
              <a:avLst/>
            </a:prstGeom>
            <a:solidFill>
              <a:srgbClr val="0E2841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square" rtlCol="0" anchor="ctr" anchorCtr="0">
              <a:noAutofit/>
            </a:bodyPr>
            <a:lstStyle/>
            <a:p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①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现场设备层　｜　</a:t>
              </a:r>
              <a:r>
                <a:rPr lang="en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PLC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安全联锁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传感器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消防系统 </a:t>
              </a:r>
              <a:r>
                <a:rPr lang="en-US" altLang="zh-CN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· </a:t>
              </a:r>
              <a:r>
                <a:rPr lang="zh-CN" altLang="en-US" sz="15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机器人（控制权保留在本层）</a:t>
              </a:r>
            </a:p>
          </p:txBody>
        </p:sp>
      </p:grpSp>
      <p:sp>
        <p:nvSpPr>
          <p:cNvPr id="9" name="上箭头 8">
            <a:extLst>
              <a:ext uri="{FF2B5EF4-FFF2-40B4-BE49-F238E27FC236}">
                <a16:creationId xmlns:a16="http://schemas.microsoft.com/office/drawing/2014/main" id="{893CD3F3-0EB6-B741-B694-A6C58BA8BAB2}"/>
              </a:ext>
            </a:extLst>
          </p:cNvPr>
          <p:cNvSpPr/>
          <p:nvPr/>
        </p:nvSpPr>
        <p:spPr>
          <a:xfrm>
            <a:off x="9779000" y="1469922"/>
            <a:ext cx="533400" cy="3357716"/>
          </a:xfrm>
          <a:prstGeom prst="upArrow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840099E8-73DC-6E4F-B4F0-7BA86488CA2E}"/>
              </a:ext>
            </a:extLst>
          </p:cNvPr>
          <p:cNvSpPr/>
          <p:nvPr/>
        </p:nvSpPr>
        <p:spPr>
          <a:xfrm>
            <a:off x="10820400" y="1469921"/>
            <a:ext cx="533400" cy="3357716"/>
          </a:xfrm>
          <a:prstGeom prst="down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FDD704-AC7C-6142-B531-7240601AC832}"/>
              </a:ext>
            </a:extLst>
          </p:cNvPr>
          <p:cNvSpPr txBox="1"/>
          <p:nvPr/>
        </p:nvSpPr>
        <p:spPr>
          <a:xfrm>
            <a:off x="9626600" y="4895945"/>
            <a:ext cx="965199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B6383"/>
                </a:solidFill>
                <a:latin typeface="微软雅黑"/>
                <a:ea typeface="微软雅黑"/>
              </a:rPr>
              <a:t>数据上行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B7FFF3-76CF-C24D-BF01-B96254493DB7}"/>
              </a:ext>
            </a:extLst>
          </p:cNvPr>
          <p:cNvSpPr txBox="1"/>
          <p:nvPr/>
        </p:nvSpPr>
        <p:spPr>
          <a:xfrm>
            <a:off x="10450461" y="4847298"/>
            <a:ext cx="1349477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A64A0B"/>
                </a:solidFill>
                <a:latin typeface="微软雅黑"/>
                <a:ea typeface="微软雅黑"/>
              </a:rPr>
              <a:t>受控指令下行
授权＋联锁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7E4D4BF-3BEA-694C-AB54-6BA3035F8F93}"/>
              </a:ext>
            </a:extLst>
          </p:cNvPr>
          <p:cNvSpPr/>
          <p:nvPr/>
        </p:nvSpPr>
        <p:spPr>
          <a:xfrm>
            <a:off x="762000" y="5533922"/>
            <a:ext cx="10668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DE0DFD-556F-AE4B-8908-D8723359BA90}"/>
              </a:ext>
            </a:extLst>
          </p:cNvPr>
          <p:cNvSpPr txBox="1"/>
          <p:nvPr/>
        </p:nvSpPr>
        <p:spPr>
          <a:xfrm>
            <a:off x="1066800" y="5533922"/>
            <a:ext cx="10058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数据以单向上行为主　</a:t>
            </a:r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　任何下行指令须经「授权 → 审批 → </a:t>
            </a:r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联锁校验」三道关　</a:t>
            </a:r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　全程审计留痕</a:t>
            </a:r>
          </a:p>
        </p:txBody>
      </p:sp>
      <p:sp>
        <p:nvSpPr>
          <p:cNvPr id="16" name="文本框 1">
            <a:extLst>
              <a:ext uri="{FF2B5EF4-FFF2-40B4-BE49-F238E27FC236}">
                <a16:creationId xmlns:a16="http://schemas.microsoft.com/office/drawing/2014/main" id="{875A0F7C-E350-2160-BD4B-A7F985E98F3C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4.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总体技术架构：五层解耦</a:t>
            </a:r>
          </a:p>
        </p:txBody>
      </p:sp>
    </p:spTree>
    <p:extLst>
      <p:ext uri="{BB962C8B-B14F-4D97-AF65-F5344CB8AC3E}">
        <p14:creationId xmlns:p14="http://schemas.microsoft.com/office/powerpoint/2010/main" val="282270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E20760-ED53-0971-EA92-07F221846196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5.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模块一 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|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 智能运维平台：多设备远程管理平台 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+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设备健康监控平台 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+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售后服务平台。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E096D-6E56-6201-4D4D-1AC8272774FA}"/>
              </a:ext>
            </a:extLst>
          </p:cNvPr>
          <p:cNvSpPr/>
          <p:nvPr/>
        </p:nvSpPr>
        <p:spPr>
          <a:xfrm>
            <a:off x="943897" y="1249526"/>
            <a:ext cx="10333703" cy="6194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0508B5-990F-9891-EA8C-606473F2B6D0}"/>
              </a:ext>
            </a:extLst>
          </p:cNvPr>
          <p:cNvSpPr txBox="1"/>
          <p:nvPr/>
        </p:nvSpPr>
        <p:spPr>
          <a:xfrm>
            <a:off x="1140542" y="1351727"/>
            <a:ext cx="85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F3864"/>
                </a:solidFill>
                <a:latin typeface="微软雅黑"/>
                <a:ea typeface="微软雅黑"/>
              </a:rPr>
              <a:t>定位</a:t>
            </a:r>
            <a:endParaRPr lang="en-US" b="1" dirty="0">
              <a:solidFill>
                <a:srgbClr val="1F3864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583AD-4E0F-4679-EB36-4FAD6B852EFB}"/>
              </a:ext>
            </a:extLst>
          </p:cNvPr>
          <p:cNvSpPr txBox="1"/>
          <p:nvPr/>
        </p:nvSpPr>
        <p:spPr>
          <a:xfrm>
            <a:off x="2187678" y="1284184"/>
            <a:ext cx="8898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accent5"/>
                </a:solidFill>
              </a:rPr>
              <a:t>建设一套面向设备厂商的远程智能运维平台，实现对各地客户现场设备的集中管理、远程监控、异常识别和服务闭环</a:t>
            </a:r>
            <a:r>
              <a:rPr lang="en-US" sz="1600" dirty="0">
                <a:solidFill>
                  <a:schemeClr val="accent5"/>
                </a:solidFill>
              </a:rPr>
              <a:t>。</a:t>
            </a:r>
            <a:endParaRPr lang="en-US" sz="1600" b="1" dirty="0">
              <a:solidFill>
                <a:schemeClr val="accent5"/>
              </a:solidFill>
            </a:endParaRP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AB0A543A-8353-6897-BF7C-9CA9CEC8C738}"/>
              </a:ext>
            </a:extLst>
          </p:cNvPr>
          <p:cNvSpPr/>
          <p:nvPr/>
        </p:nvSpPr>
        <p:spPr>
          <a:xfrm>
            <a:off x="3579408" y="2357398"/>
            <a:ext cx="707852" cy="66404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 dirty="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4CF2496-3F03-E83B-225E-FFE10E63344B}"/>
              </a:ext>
            </a:extLst>
          </p:cNvPr>
          <p:cNvSpPr txBox="1"/>
          <p:nvPr/>
        </p:nvSpPr>
        <p:spPr>
          <a:xfrm>
            <a:off x="3379339" y="3118228"/>
            <a:ext cx="110799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 err="1"/>
              <a:t>运行状态可视</a:t>
            </a:r>
            <a:endParaRPr lang="en-US" sz="1200" b="1" dirty="0">
              <a:ea typeface="League Spartan" charset="0"/>
              <a:cs typeface="Calibri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E017F80-4C96-2412-17B2-794CD898E579}"/>
              </a:ext>
            </a:extLst>
          </p:cNvPr>
          <p:cNvSpPr txBox="1">
            <a:spLocks/>
          </p:cNvSpPr>
          <p:nvPr/>
        </p:nvSpPr>
        <p:spPr>
          <a:xfrm>
            <a:off x="3097315" y="3427837"/>
            <a:ext cx="1672038" cy="504754"/>
          </a:xfrm>
          <a:prstGeom prst="rect">
            <a:avLst/>
          </a:prstGeom>
        </p:spPr>
        <p:txBody>
          <a:bodyPr vert="horz" wrap="square" lIns="60960" tIns="30480" rIns="60960" bIns="3048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多基地一屏总览，关键参数实时曲线</a:t>
            </a:r>
            <a:endParaRPr lang="en-US" sz="900" dirty="0"/>
          </a:p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历史回溯支持事件前后追溯</a:t>
            </a:r>
            <a:endParaRPr lang="en-US" sz="900" b="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0" name="Oval 78">
            <a:extLst>
              <a:ext uri="{FF2B5EF4-FFF2-40B4-BE49-F238E27FC236}">
                <a16:creationId xmlns:a16="http://schemas.microsoft.com/office/drawing/2014/main" id="{706508A3-C715-4778-E653-F0AE7AB412D6}"/>
              </a:ext>
            </a:extLst>
          </p:cNvPr>
          <p:cNvSpPr/>
          <p:nvPr/>
        </p:nvSpPr>
        <p:spPr>
          <a:xfrm>
            <a:off x="3579408" y="4373424"/>
            <a:ext cx="707852" cy="664045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1" name="TextBox 80">
            <a:extLst>
              <a:ext uri="{FF2B5EF4-FFF2-40B4-BE49-F238E27FC236}">
                <a16:creationId xmlns:a16="http://schemas.microsoft.com/office/drawing/2014/main" id="{E55DBB92-7094-0234-7C1C-1A656ADC2C38}"/>
              </a:ext>
            </a:extLst>
          </p:cNvPr>
          <p:cNvSpPr txBox="1"/>
          <p:nvPr/>
        </p:nvSpPr>
        <p:spPr>
          <a:xfrm>
            <a:off x="3379340" y="5134254"/>
            <a:ext cx="110799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 err="1"/>
              <a:t>设备健康</a:t>
            </a:r>
            <a:r>
              <a:rPr lang="zh-CN" altLang="en-US" sz="1200" b="1" dirty="0">
                <a:latin typeface="+mj-lt"/>
              </a:rPr>
              <a:t>检测</a:t>
            </a:r>
            <a:endParaRPr lang="en-US" sz="1200" b="1" dirty="0">
              <a:latin typeface="+mj-lt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7D7A251-3A31-A6C5-885D-7050F048C96F}"/>
              </a:ext>
            </a:extLst>
          </p:cNvPr>
          <p:cNvSpPr txBox="1">
            <a:spLocks/>
          </p:cNvSpPr>
          <p:nvPr/>
        </p:nvSpPr>
        <p:spPr>
          <a:xfrm>
            <a:off x="3097315" y="5443863"/>
            <a:ext cx="1672038" cy="643253"/>
          </a:xfrm>
          <a:prstGeom prst="rect">
            <a:avLst/>
          </a:prstGeom>
        </p:spPr>
        <p:txBody>
          <a:bodyPr vert="horz" wrap="square" lIns="60960" tIns="30480" rIns="60960" bIns="3048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关键机组健康度量化，识别缓慢劣化</a:t>
            </a:r>
            <a:endParaRPr lang="en-US" sz="900" dirty="0"/>
          </a:p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输出预防性维护窗口与备件寿命预测</a:t>
            </a:r>
            <a:endParaRPr lang="en-US" sz="900" b="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3" name="Freeform 941">
            <a:extLst>
              <a:ext uri="{FF2B5EF4-FFF2-40B4-BE49-F238E27FC236}">
                <a16:creationId xmlns:a16="http://schemas.microsoft.com/office/drawing/2014/main" id="{5C28B300-5137-0ECD-5728-1F54A51CE0F2}"/>
              </a:ext>
            </a:extLst>
          </p:cNvPr>
          <p:cNvSpPr>
            <a:spLocks noChangeAspect="1"/>
          </p:cNvSpPr>
          <p:nvPr/>
        </p:nvSpPr>
        <p:spPr bwMode="auto">
          <a:xfrm>
            <a:off x="3715665" y="4499410"/>
            <a:ext cx="435339" cy="408396"/>
          </a:xfrm>
          <a:custGeom>
            <a:avLst/>
            <a:gdLst>
              <a:gd name="T0" fmla="*/ 8791151 w 293297"/>
              <a:gd name="T1" fmla="*/ 9873534 h 293328"/>
              <a:gd name="T2" fmla="*/ 9563036 w 293297"/>
              <a:gd name="T3" fmla="*/ 10265362 h 293328"/>
              <a:gd name="T4" fmla="*/ 10347942 w 293297"/>
              <a:gd name="T5" fmla="*/ 9364179 h 293328"/>
              <a:gd name="T6" fmla="*/ 9876978 w 293297"/>
              <a:gd name="T7" fmla="*/ 8776513 h 293328"/>
              <a:gd name="T8" fmla="*/ 7260594 w 293297"/>
              <a:gd name="T9" fmla="*/ 8358578 h 293328"/>
              <a:gd name="T10" fmla="*/ 9654586 w 293297"/>
              <a:gd name="T11" fmla="*/ 8554467 h 293328"/>
              <a:gd name="T12" fmla="*/ 7208277 w 293297"/>
              <a:gd name="T13" fmla="*/ 6660746 h 293328"/>
              <a:gd name="T14" fmla="*/ 6671911 w 293297"/>
              <a:gd name="T15" fmla="*/ 7209250 h 293328"/>
              <a:gd name="T16" fmla="*/ 7862355 w 293297"/>
              <a:gd name="T17" fmla="*/ 7313723 h 293328"/>
              <a:gd name="T18" fmla="*/ 4099798 w 293297"/>
              <a:gd name="T19" fmla="*/ 2969551 h 293328"/>
              <a:gd name="T20" fmla="*/ 4099798 w 293297"/>
              <a:gd name="T21" fmla="*/ 4156033 h 293328"/>
              <a:gd name="T22" fmla="*/ 4099798 w 293297"/>
              <a:gd name="T23" fmla="*/ 2969551 h 293328"/>
              <a:gd name="T24" fmla="*/ 5010500 w 293297"/>
              <a:gd name="T25" fmla="*/ 3562779 h 293328"/>
              <a:gd name="T26" fmla="*/ 3175872 w 293297"/>
              <a:gd name="T27" fmla="*/ 3562779 h 293328"/>
              <a:gd name="T28" fmla="*/ 4122180 w 293297"/>
              <a:gd name="T29" fmla="*/ 1872354 h 293328"/>
              <a:gd name="T30" fmla="*/ 2417047 w 293297"/>
              <a:gd name="T31" fmla="*/ 3579292 h 293328"/>
              <a:gd name="T32" fmla="*/ 4122180 w 293297"/>
              <a:gd name="T33" fmla="*/ 5995078 h 293328"/>
              <a:gd name="T34" fmla="*/ 5328810 w 293297"/>
              <a:gd name="T35" fmla="*/ 2371298 h 293328"/>
              <a:gd name="T36" fmla="*/ 4122180 w 293297"/>
              <a:gd name="T37" fmla="*/ 1557292 h 293328"/>
              <a:gd name="T38" fmla="*/ 5551781 w 293297"/>
              <a:gd name="T39" fmla="*/ 5010397 h 293328"/>
              <a:gd name="T40" fmla="*/ 6181360 w 293297"/>
              <a:gd name="T41" fmla="*/ 6060737 h 293328"/>
              <a:gd name="T42" fmla="*/ 6181360 w 293297"/>
              <a:gd name="T43" fmla="*/ 6389016 h 293328"/>
              <a:gd name="T44" fmla="*/ 1905551 w 293297"/>
              <a:gd name="T45" fmla="*/ 6231438 h 293328"/>
              <a:gd name="T46" fmla="*/ 3728613 w 293297"/>
              <a:gd name="T47" fmla="*/ 6060737 h 293328"/>
              <a:gd name="T48" fmla="*/ 2692503 w 293297"/>
              <a:gd name="T49" fmla="*/ 2148102 h 293328"/>
              <a:gd name="T50" fmla="*/ 4068543 w 293297"/>
              <a:gd name="T51" fmla="*/ 326516 h 293328"/>
              <a:gd name="T52" fmla="*/ 313994 w 293297"/>
              <a:gd name="T53" fmla="*/ 4074791 h 293328"/>
              <a:gd name="T54" fmla="*/ 4068543 w 293297"/>
              <a:gd name="T55" fmla="*/ 7810025 h 293328"/>
              <a:gd name="T56" fmla="*/ 7823107 w 293297"/>
              <a:gd name="T57" fmla="*/ 4074791 h 293328"/>
              <a:gd name="T58" fmla="*/ 4068543 w 293297"/>
              <a:gd name="T59" fmla="*/ 326516 h 293328"/>
              <a:gd name="T60" fmla="*/ 6946623 w 293297"/>
              <a:gd name="T61" fmla="*/ 1188447 h 293328"/>
              <a:gd name="T62" fmla="*/ 7404468 w 293297"/>
              <a:gd name="T63" fmla="*/ 6399509 h 293328"/>
              <a:gd name="T64" fmla="*/ 8241734 w 293297"/>
              <a:gd name="T65" fmla="*/ 6921938 h 293328"/>
              <a:gd name="T66" fmla="*/ 10491898 w 293297"/>
              <a:gd name="T67" fmla="*/ 8946261 h 293328"/>
              <a:gd name="T68" fmla="*/ 9785448 w 293297"/>
              <a:gd name="T69" fmla="*/ 10487389 h 293328"/>
              <a:gd name="T70" fmla="*/ 8948185 w 293297"/>
              <a:gd name="T71" fmla="*/ 10487389 h 293328"/>
              <a:gd name="T72" fmla="*/ 6933476 w 293297"/>
              <a:gd name="T73" fmla="*/ 8241038 h 293328"/>
              <a:gd name="T74" fmla="*/ 6410235 w 293297"/>
              <a:gd name="T75" fmla="*/ 7405158 h 293328"/>
              <a:gd name="T76" fmla="*/ 1190544 w 293297"/>
              <a:gd name="T77" fmla="*/ 6948058 h 293328"/>
              <a:gd name="T78" fmla="*/ 1190544 w 293297"/>
              <a:gd name="T79" fmla="*/ 1188447 h 293328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293297" h="293328">
                <a:moveTo>
                  <a:pt x="271538" y="241564"/>
                </a:moveTo>
                <a:lnTo>
                  <a:pt x="241687" y="271759"/>
                </a:lnTo>
                <a:lnTo>
                  <a:pt x="252117" y="282544"/>
                </a:lnTo>
                <a:cubicBezTo>
                  <a:pt x="254994" y="285419"/>
                  <a:pt x="259670" y="285419"/>
                  <a:pt x="262906" y="282544"/>
                </a:cubicBezTo>
                <a:lnTo>
                  <a:pt x="282328" y="262773"/>
                </a:lnTo>
                <a:cubicBezTo>
                  <a:pt x="283766" y="261694"/>
                  <a:pt x="284486" y="259537"/>
                  <a:pt x="284486" y="257740"/>
                </a:cubicBezTo>
                <a:cubicBezTo>
                  <a:pt x="284486" y="255583"/>
                  <a:pt x="283766" y="253786"/>
                  <a:pt x="282328" y="252348"/>
                </a:cubicBezTo>
                <a:lnTo>
                  <a:pt x="271538" y="241564"/>
                </a:lnTo>
                <a:close/>
                <a:moveTo>
                  <a:pt x="229818" y="200225"/>
                </a:moveTo>
                <a:lnTo>
                  <a:pt x="199608" y="230061"/>
                </a:lnTo>
                <a:lnTo>
                  <a:pt x="235213" y="265289"/>
                </a:lnTo>
                <a:lnTo>
                  <a:pt x="265424" y="235453"/>
                </a:lnTo>
                <a:lnTo>
                  <a:pt x="229818" y="200225"/>
                </a:lnTo>
                <a:close/>
                <a:moveTo>
                  <a:pt x="198169" y="183330"/>
                </a:moveTo>
                <a:cubicBezTo>
                  <a:pt x="196011" y="186206"/>
                  <a:pt x="193493" y="188722"/>
                  <a:pt x="190976" y="191238"/>
                </a:cubicBezTo>
                <a:cubicBezTo>
                  <a:pt x="188458" y="193754"/>
                  <a:pt x="185941" y="195911"/>
                  <a:pt x="183423" y="198428"/>
                </a:cubicBezTo>
                <a:lnTo>
                  <a:pt x="201046" y="216042"/>
                </a:lnTo>
                <a:lnTo>
                  <a:pt x="216152" y="201303"/>
                </a:lnTo>
                <a:lnTo>
                  <a:pt x="198169" y="183330"/>
                </a:lnTo>
                <a:close/>
                <a:moveTo>
                  <a:pt x="112712" y="81734"/>
                </a:moveTo>
                <a:cubicBezTo>
                  <a:pt x="103641" y="81734"/>
                  <a:pt x="96384" y="88991"/>
                  <a:pt x="96384" y="98062"/>
                </a:cubicBezTo>
                <a:cubicBezTo>
                  <a:pt x="96384" y="107134"/>
                  <a:pt x="103641" y="114391"/>
                  <a:pt x="112712" y="114391"/>
                </a:cubicBezTo>
                <a:cubicBezTo>
                  <a:pt x="121784" y="114391"/>
                  <a:pt x="129041" y="107134"/>
                  <a:pt x="129041" y="98062"/>
                </a:cubicBezTo>
                <a:cubicBezTo>
                  <a:pt x="129041" y="88991"/>
                  <a:pt x="121784" y="81734"/>
                  <a:pt x="112712" y="81734"/>
                </a:cubicBezTo>
                <a:close/>
                <a:moveTo>
                  <a:pt x="112712" y="73025"/>
                </a:moveTo>
                <a:cubicBezTo>
                  <a:pt x="126501" y="73025"/>
                  <a:pt x="137749" y="84274"/>
                  <a:pt x="137749" y="98062"/>
                </a:cubicBezTo>
                <a:cubicBezTo>
                  <a:pt x="137749" y="112214"/>
                  <a:pt x="126501" y="123462"/>
                  <a:pt x="112712" y="123462"/>
                </a:cubicBezTo>
                <a:cubicBezTo>
                  <a:pt x="98924" y="123462"/>
                  <a:pt x="87312" y="112214"/>
                  <a:pt x="87312" y="98062"/>
                </a:cubicBezTo>
                <a:cubicBezTo>
                  <a:pt x="87312" y="84274"/>
                  <a:pt x="98924" y="73025"/>
                  <a:pt x="112712" y="73025"/>
                </a:cubicBezTo>
                <a:close/>
                <a:moveTo>
                  <a:pt x="113326" y="51535"/>
                </a:moveTo>
                <a:cubicBezTo>
                  <a:pt x="100706" y="51535"/>
                  <a:pt x="89167" y="56595"/>
                  <a:pt x="80152" y="65268"/>
                </a:cubicBezTo>
                <a:cubicBezTo>
                  <a:pt x="71498" y="74302"/>
                  <a:pt x="66450" y="85867"/>
                  <a:pt x="66450" y="98515"/>
                </a:cubicBezTo>
                <a:cubicBezTo>
                  <a:pt x="66450" y="111163"/>
                  <a:pt x="71498" y="123089"/>
                  <a:pt x="80152" y="131762"/>
                </a:cubicBezTo>
                <a:lnTo>
                  <a:pt x="113326" y="165009"/>
                </a:lnTo>
                <a:lnTo>
                  <a:pt x="146500" y="131762"/>
                </a:lnTo>
                <a:cubicBezTo>
                  <a:pt x="164529" y="113332"/>
                  <a:pt x="164529" y="83698"/>
                  <a:pt x="146500" y="65268"/>
                </a:cubicBezTo>
                <a:cubicBezTo>
                  <a:pt x="137485" y="56595"/>
                  <a:pt x="125946" y="51535"/>
                  <a:pt x="113326" y="51535"/>
                </a:cubicBezTo>
                <a:close/>
                <a:moveTo>
                  <a:pt x="113326" y="42862"/>
                </a:moveTo>
                <a:cubicBezTo>
                  <a:pt x="128110" y="42862"/>
                  <a:pt x="142173" y="48644"/>
                  <a:pt x="152630" y="59124"/>
                </a:cubicBezTo>
                <a:cubicBezTo>
                  <a:pt x="174265" y="80807"/>
                  <a:pt x="174265" y="116223"/>
                  <a:pt x="152630" y="137906"/>
                </a:cubicBezTo>
                <a:lnTo>
                  <a:pt x="124143" y="166816"/>
                </a:lnTo>
                <a:lnTo>
                  <a:pt x="169938" y="166816"/>
                </a:lnTo>
                <a:cubicBezTo>
                  <a:pt x="172101" y="166816"/>
                  <a:pt x="174265" y="168623"/>
                  <a:pt x="174265" y="171514"/>
                </a:cubicBezTo>
                <a:cubicBezTo>
                  <a:pt x="174265" y="173682"/>
                  <a:pt x="172101" y="175851"/>
                  <a:pt x="169938" y="175851"/>
                </a:cubicBezTo>
                <a:lnTo>
                  <a:pt x="56714" y="175851"/>
                </a:lnTo>
                <a:cubicBezTo>
                  <a:pt x="54551" y="175851"/>
                  <a:pt x="52387" y="173682"/>
                  <a:pt x="52387" y="171514"/>
                </a:cubicBezTo>
                <a:cubicBezTo>
                  <a:pt x="52387" y="168623"/>
                  <a:pt x="54551" y="166816"/>
                  <a:pt x="56714" y="166816"/>
                </a:cubicBezTo>
                <a:lnTo>
                  <a:pt x="102508" y="166816"/>
                </a:lnTo>
                <a:lnTo>
                  <a:pt x="74022" y="137906"/>
                </a:lnTo>
                <a:cubicBezTo>
                  <a:pt x="52387" y="116223"/>
                  <a:pt x="52387" y="80807"/>
                  <a:pt x="74022" y="59124"/>
                </a:cubicBezTo>
                <a:cubicBezTo>
                  <a:pt x="84479" y="48644"/>
                  <a:pt x="98542" y="42862"/>
                  <a:pt x="113326" y="42862"/>
                </a:cubicBezTo>
                <a:close/>
                <a:moveTo>
                  <a:pt x="111852" y="8987"/>
                </a:moveTo>
                <a:cubicBezTo>
                  <a:pt x="84159" y="8987"/>
                  <a:pt x="58624" y="19771"/>
                  <a:pt x="38843" y="39182"/>
                </a:cubicBezTo>
                <a:cubicBezTo>
                  <a:pt x="19422" y="58594"/>
                  <a:pt x="8632" y="84476"/>
                  <a:pt x="8632" y="112155"/>
                </a:cubicBezTo>
                <a:cubicBezTo>
                  <a:pt x="8632" y="139474"/>
                  <a:pt x="19422" y="165356"/>
                  <a:pt x="38843" y="185127"/>
                </a:cubicBezTo>
                <a:cubicBezTo>
                  <a:pt x="58624" y="204539"/>
                  <a:pt x="84159" y="214963"/>
                  <a:pt x="111852" y="214963"/>
                </a:cubicBezTo>
                <a:cubicBezTo>
                  <a:pt x="139186" y="214963"/>
                  <a:pt x="165441" y="204539"/>
                  <a:pt x="184862" y="185127"/>
                </a:cubicBezTo>
                <a:cubicBezTo>
                  <a:pt x="204283" y="165356"/>
                  <a:pt x="215073" y="139474"/>
                  <a:pt x="215073" y="112155"/>
                </a:cubicBezTo>
                <a:cubicBezTo>
                  <a:pt x="215073" y="84476"/>
                  <a:pt x="204283" y="58594"/>
                  <a:pt x="184862" y="39182"/>
                </a:cubicBezTo>
                <a:cubicBezTo>
                  <a:pt x="165441" y="19771"/>
                  <a:pt x="139186" y="8987"/>
                  <a:pt x="111852" y="8987"/>
                </a:cubicBezTo>
                <a:close/>
                <a:moveTo>
                  <a:pt x="111852" y="0"/>
                </a:moveTo>
                <a:cubicBezTo>
                  <a:pt x="142063" y="0"/>
                  <a:pt x="170116" y="11863"/>
                  <a:pt x="190976" y="32712"/>
                </a:cubicBezTo>
                <a:cubicBezTo>
                  <a:pt x="212195" y="54280"/>
                  <a:pt x="223704" y="82319"/>
                  <a:pt x="223704" y="112155"/>
                </a:cubicBezTo>
                <a:cubicBezTo>
                  <a:pt x="223704" y="135520"/>
                  <a:pt x="216511" y="157448"/>
                  <a:pt x="203564" y="176140"/>
                </a:cubicBezTo>
                <a:lnTo>
                  <a:pt x="222266" y="194833"/>
                </a:lnTo>
                <a:lnTo>
                  <a:pt x="226582" y="190519"/>
                </a:lnTo>
                <a:cubicBezTo>
                  <a:pt x="228380" y="188722"/>
                  <a:pt x="231257" y="188722"/>
                  <a:pt x="233055" y="190519"/>
                </a:cubicBezTo>
                <a:lnTo>
                  <a:pt x="288442" y="246237"/>
                </a:lnTo>
                <a:cubicBezTo>
                  <a:pt x="294916" y="252348"/>
                  <a:pt x="294916" y="262773"/>
                  <a:pt x="288442" y="269243"/>
                </a:cubicBezTo>
                <a:lnTo>
                  <a:pt x="269021" y="288654"/>
                </a:lnTo>
                <a:cubicBezTo>
                  <a:pt x="265784" y="291890"/>
                  <a:pt x="261828" y="293328"/>
                  <a:pt x="257512" y="293328"/>
                </a:cubicBezTo>
                <a:cubicBezTo>
                  <a:pt x="253196" y="293328"/>
                  <a:pt x="249240" y="291890"/>
                  <a:pt x="246003" y="288654"/>
                </a:cubicBezTo>
                <a:lnTo>
                  <a:pt x="190616" y="233296"/>
                </a:lnTo>
                <a:cubicBezTo>
                  <a:pt x="188458" y="231139"/>
                  <a:pt x="188458" y="228623"/>
                  <a:pt x="190616" y="226826"/>
                </a:cubicBezTo>
                <a:lnTo>
                  <a:pt x="194572" y="222512"/>
                </a:lnTo>
                <a:lnTo>
                  <a:pt x="176230" y="203820"/>
                </a:lnTo>
                <a:cubicBezTo>
                  <a:pt x="157169" y="217120"/>
                  <a:pt x="135230" y="224309"/>
                  <a:pt x="111852" y="224309"/>
                </a:cubicBezTo>
                <a:cubicBezTo>
                  <a:pt x="82001" y="224309"/>
                  <a:pt x="53948" y="212087"/>
                  <a:pt x="32729" y="191238"/>
                </a:cubicBezTo>
                <a:cubicBezTo>
                  <a:pt x="11509" y="170029"/>
                  <a:pt x="0" y="141991"/>
                  <a:pt x="0" y="112155"/>
                </a:cubicBezTo>
                <a:cubicBezTo>
                  <a:pt x="0" y="82319"/>
                  <a:pt x="11509" y="54280"/>
                  <a:pt x="32729" y="32712"/>
                </a:cubicBezTo>
                <a:cubicBezTo>
                  <a:pt x="53948" y="11863"/>
                  <a:pt x="82001" y="0"/>
                  <a:pt x="1118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 sz="900" dirty="0"/>
          </a:p>
        </p:txBody>
      </p:sp>
      <p:sp>
        <p:nvSpPr>
          <p:cNvPr id="14" name="Freeform 946">
            <a:extLst>
              <a:ext uri="{FF2B5EF4-FFF2-40B4-BE49-F238E27FC236}">
                <a16:creationId xmlns:a16="http://schemas.microsoft.com/office/drawing/2014/main" id="{C53BA2AD-8334-3F18-312A-16604A946F06}"/>
              </a:ext>
            </a:extLst>
          </p:cNvPr>
          <p:cNvSpPr>
            <a:spLocks noChangeAspect="1"/>
          </p:cNvSpPr>
          <p:nvPr/>
        </p:nvSpPr>
        <p:spPr bwMode="auto">
          <a:xfrm>
            <a:off x="3715665" y="2485222"/>
            <a:ext cx="435339" cy="408396"/>
          </a:xfrm>
          <a:custGeom>
            <a:avLst/>
            <a:gdLst>
              <a:gd name="T0" fmla="*/ 4969062 w 293328"/>
              <a:gd name="T1" fmla="*/ 7282885 h 293329"/>
              <a:gd name="T2" fmla="*/ 5659663 w 293328"/>
              <a:gd name="T3" fmla="*/ 7282885 h 293329"/>
              <a:gd name="T4" fmla="*/ 2740911 w 293328"/>
              <a:gd name="T5" fmla="*/ 6944731 h 293329"/>
              <a:gd name="T6" fmla="*/ 2740911 w 293328"/>
              <a:gd name="T7" fmla="*/ 7633985 h 293329"/>
              <a:gd name="T8" fmla="*/ 2740911 w 293328"/>
              <a:gd name="T9" fmla="*/ 6944731 h 293329"/>
              <a:gd name="T10" fmla="*/ 7966750 w 293328"/>
              <a:gd name="T11" fmla="*/ 10056064 h 293329"/>
              <a:gd name="T12" fmla="*/ 8658978 w 293328"/>
              <a:gd name="T13" fmla="*/ 8580288 h 293329"/>
              <a:gd name="T14" fmla="*/ 6882751 w 293328"/>
              <a:gd name="T15" fmla="*/ 6882469 h 293329"/>
              <a:gd name="T16" fmla="*/ 3392400 w 293328"/>
              <a:gd name="T17" fmla="*/ 7126814 h 293329"/>
              <a:gd name="T18" fmla="*/ 5320836 w 293328"/>
              <a:gd name="T19" fmla="*/ 6632627 h 293329"/>
              <a:gd name="T20" fmla="*/ 5320836 w 293328"/>
              <a:gd name="T21" fmla="*/ 7946105 h 293329"/>
              <a:gd name="T22" fmla="*/ 3392400 w 293328"/>
              <a:gd name="T23" fmla="*/ 7451954 h 293329"/>
              <a:gd name="T24" fmla="*/ 2076337 w 293328"/>
              <a:gd name="T25" fmla="*/ 7282885 h 293329"/>
              <a:gd name="T26" fmla="*/ 5331523 w 293328"/>
              <a:gd name="T27" fmla="*/ 4284453 h 293329"/>
              <a:gd name="T28" fmla="*/ 5699345 w 293328"/>
              <a:gd name="T29" fmla="*/ 5900416 h 293329"/>
              <a:gd name="T30" fmla="*/ 6513962 w 293328"/>
              <a:gd name="T31" fmla="*/ 4428957 h 293329"/>
              <a:gd name="T32" fmla="*/ 3741779 w 293328"/>
              <a:gd name="T33" fmla="*/ 4087408 h 293329"/>
              <a:gd name="T34" fmla="*/ 4687717 w 293328"/>
              <a:gd name="T35" fmla="*/ 5900416 h 293329"/>
              <a:gd name="T36" fmla="*/ 3741779 w 293328"/>
              <a:gd name="T37" fmla="*/ 4087408 h 293329"/>
              <a:gd name="T38" fmla="*/ 2191466 w 293328"/>
              <a:gd name="T39" fmla="*/ 5545670 h 293329"/>
              <a:gd name="T40" fmla="*/ 3229408 w 293328"/>
              <a:gd name="T41" fmla="*/ 5900416 h 293329"/>
              <a:gd name="T42" fmla="*/ 2191466 w 293328"/>
              <a:gd name="T43" fmla="*/ 3890238 h 293329"/>
              <a:gd name="T44" fmla="*/ 2178323 w 293328"/>
              <a:gd name="T45" fmla="*/ 3561792 h 293329"/>
              <a:gd name="T46" fmla="*/ 6881809 w 293328"/>
              <a:gd name="T47" fmla="*/ 4205615 h 293329"/>
              <a:gd name="T48" fmla="*/ 6330021 w 293328"/>
              <a:gd name="T49" fmla="*/ 5795290 h 293329"/>
              <a:gd name="T50" fmla="*/ 2533066 w 293328"/>
              <a:gd name="T51" fmla="*/ 6215738 h 293329"/>
              <a:gd name="T52" fmla="*/ 1876147 w 293328"/>
              <a:gd name="T53" fmla="*/ 3706342 h 293329"/>
              <a:gd name="T54" fmla="*/ 1153534 w 293328"/>
              <a:gd name="T55" fmla="*/ 2996857 h 293329"/>
              <a:gd name="T56" fmla="*/ 4665432 w 293328"/>
              <a:gd name="T57" fmla="*/ 1384261 h 293329"/>
              <a:gd name="T58" fmla="*/ 7633915 w 293328"/>
              <a:gd name="T59" fmla="*/ 6066344 h 293329"/>
              <a:gd name="T60" fmla="*/ 7425638 w 293328"/>
              <a:gd name="T61" fmla="*/ 6144970 h 293329"/>
              <a:gd name="T62" fmla="*/ 7620913 w 293328"/>
              <a:gd name="T63" fmla="*/ 4676154 h 293329"/>
              <a:gd name="T64" fmla="*/ 2491166 w 293328"/>
              <a:gd name="T65" fmla="*/ 2669484 h 293329"/>
              <a:gd name="T66" fmla="*/ 2256867 w 293328"/>
              <a:gd name="T67" fmla="*/ 2446542 h 293329"/>
              <a:gd name="T68" fmla="*/ 4688611 w 293328"/>
              <a:gd name="T69" fmla="*/ 326507 h 293329"/>
              <a:gd name="T70" fmla="*/ 4688611 w 293328"/>
              <a:gd name="T71" fmla="*/ 9037376 h 293329"/>
              <a:gd name="T72" fmla="*/ 6464809 w 293328"/>
              <a:gd name="T73" fmla="*/ 6673534 h 293329"/>
              <a:gd name="T74" fmla="*/ 6673772 w 293328"/>
              <a:gd name="T75" fmla="*/ 6464583 h 293329"/>
              <a:gd name="T76" fmla="*/ 9050770 w 293328"/>
              <a:gd name="T77" fmla="*/ 4675475 h 293329"/>
              <a:gd name="T78" fmla="*/ 4688611 w 293328"/>
              <a:gd name="T79" fmla="*/ 0 h 293329"/>
              <a:gd name="T80" fmla="*/ 8658978 w 293328"/>
              <a:gd name="T81" fmla="*/ 7156755 h 293329"/>
              <a:gd name="T82" fmla="*/ 10657173 w 293328"/>
              <a:gd name="T83" fmla="*/ 7940368 h 293329"/>
              <a:gd name="T84" fmla="*/ 8854870 w 293328"/>
              <a:gd name="T85" fmla="*/ 8854585 h 293329"/>
              <a:gd name="T86" fmla="*/ 7940637 w 293328"/>
              <a:gd name="T87" fmla="*/ 10656789 h 293329"/>
              <a:gd name="T88" fmla="*/ 7143972 w 293328"/>
              <a:gd name="T89" fmla="*/ 8658652 h 293329"/>
              <a:gd name="T90" fmla="*/ 0 w 293328"/>
              <a:gd name="T91" fmla="*/ 4675475 h 29332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293328" h="293329">
                <a:moveTo>
                  <a:pt x="146451" y="191154"/>
                </a:moveTo>
                <a:cubicBezTo>
                  <a:pt x="141071" y="191154"/>
                  <a:pt x="136768" y="195450"/>
                  <a:pt x="136768" y="200461"/>
                </a:cubicBezTo>
                <a:cubicBezTo>
                  <a:pt x="136768" y="205831"/>
                  <a:pt x="141071" y="210126"/>
                  <a:pt x="146451" y="210126"/>
                </a:cubicBezTo>
                <a:cubicBezTo>
                  <a:pt x="151472" y="210126"/>
                  <a:pt x="155776" y="205831"/>
                  <a:pt x="155776" y="200461"/>
                </a:cubicBezTo>
                <a:cubicBezTo>
                  <a:pt x="155776" y="195450"/>
                  <a:pt x="151472" y="191154"/>
                  <a:pt x="146451" y="191154"/>
                </a:cubicBezTo>
                <a:close/>
                <a:moveTo>
                  <a:pt x="75441" y="191154"/>
                </a:moveTo>
                <a:cubicBezTo>
                  <a:pt x="70420" y="191154"/>
                  <a:pt x="66116" y="195450"/>
                  <a:pt x="66116" y="200461"/>
                </a:cubicBezTo>
                <a:cubicBezTo>
                  <a:pt x="66116" y="205831"/>
                  <a:pt x="70420" y="210126"/>
                  <a:pt x="75441" y="210126"/>
                </a:cubicBezTo>
                <a:cubicBezTo>
                  <a:pt x="80462" y="210126"/>
                  <a:pt x="84765" y="205831"/>
                  <a:pt x="84765" y="200461"/>
                </a:cubicBezTo>
                <a:cubicBezTo>
                  <a:pt x="84765" y="195450"/>
                  <a:pt x="80462" y="191154"/>
                  <a:pt x="75441" y="191154"/>
                </a:cubicBezTo>
                <a:close/>
                <a:moveTo>
                  <a:pt x="189441" y="189441"/>
                </a:moveTo>
                <a:lnTo>
                  <a:pt x="219277" y="276793"/>
                </a:lnTo>
                <a:lnTo>
                  <a:pt x="236172" y="238330"/>
                </a:lnTo>
                <a:cubicBezTo>
                  <a:pt x="236531" y="237611"/>
                  <a:pt x="237610" y="236892"/>
                  <a:pt x="238329" y="236173"/>
                </a:cubicBezTo>
                <a:lnTo>
                  <a:pt x="276792" y="219278"/>
                </a:lnTo>
                <a:lnTo>
                  <a:pt x="189441" y="189441"/>
                </a:lnTo>
                <a:close/>
                <a:moveTo>
                  <a:pt x="75441" y="182563"/>
                </a:moveTo>
                <a:cubicBezTo>
                  <a:pt x="84048" y="182563"/>
                  <a:pt x="91221" y="188290"/>
                  <a:pt x="93373" y="196166"/>
                </a:cubicBezTo>
                <a:lnTo>
                  <a:pt x="128519" y="196166"/>
                </a:lnTo>
                <a:cubicBezTo>
                  <a:pt x="130671" y="188290"/>
                  <a:pt x="137844" y="182563"/>
                  <a:pt x="146451" y="182563"/>
                </a:cubicBezTo>
                <a:cubicBezTo>
                  <a:pt x="156493" y="182563"/>
                  <a:pt x="164741" y="190796"/>
                  <a:pt x="164741" y="200461"/>
                </a:cubicBezTo>
                <a:cubicBezTo>
                  <a:pt x="164741" y="210842"/>
                  <a:pt x="156493" y="218717"/>
                  <a:pt x="146451" y="218717"/>
                </a:cubicBezTo>
                <a:cubicBezTo>
                  <a:pt x="137844" y="218717"/>
                  <a:pt x="130671" y="212990"/>
                  <a:pt x="128519" y="205115"/>
                </a:cubicBezTo>
                <a:lnTo>
                  <a:pt x="93373" y="205115"/>
                </a:lnTo>
                <a:cubicBezTo>
                  <a:pt x="91221" y="212990"/>
                  <a:pt x="84048" y="218717"/>
                  <a:pt x="75441" y="218717"/>
                </a:cubicBezTo>
                <a:cubicBezTo>
                  <a:pt x="65399" y="218717"/>
                  <a:pt x="57150" y="210842"/>
                  <a:pt x="57150" y="200461"/>
                </a:cubicBezTo>
                <a:cubicBezTo>
                  <a:pt x="57150" y="190796"/>
                  <a:pt x="65399" y="182563"/>
                  <a:pt x="75441" y="182563"/>
                </a:cubicBezTo>
                <a:close/>
                <a:moveTo>
                  <a:pt x="146744" y="117929"/>
                </a:moveTo>
                <a:lnTo>
                  <a:pt x="138427" y="162409"/>
                </a:lnTo>
                <a:lnTo>
                  <a:pt x="156870" y="162409"/>
                </a:lnTo>
                <a:cubicBezTo>
                  <a:pt x="160848" y="162409"/>
                  <a:pt x="164102" y="159878"/>
                  <a:pt x="165549" y="156262"/>
                </a:cubicBezTo>
                <a:lnTo>
                  <a:pt x="179290" y="121907"/>
                </a:lnTo>
                <a:lnTo>
                  <a:pt x="146744" y="117929"/>
                </a:lnTo>
                <a:close/>
                <a:moveTo>
                  <a:pt x="102989" y="112505"/>
                </a:moveTo>
                <a:lnTo>
                  <a:pt x="97926" y="162409"/>
                </a:lnTo>
                <a:lnTo>
                  <a:pt x="129025" y="162409"/>
                </a:lnTo>
                <a:lnTo>
                  <a:pt x="137704" y="116482"/>
                </a:lnTo>
                <a:lnTo>
                  <a:pt x="102989" y="112505"/>
                </a:lnTo>
                <a:close/>
                <a:moveTo>
                  <a:pt x="60318" y="107080"/>
                </a:moveTo>
                <a:lnTo>
                  <a:pt x="60318" y="152645"/>
                </a:lnTo>
                <a:cubicBezTo>
                  <a:pt x="60318" y="158070"/>
                  <a:pt x="64657" y="162409"/>
                  <a:pt x="69720" y="162409"/>
                </a:cubicBezTo>
                <a:lnTo>
                  <a:pt x="88886" y="162409"/>
                </a:lnTo>
                <a:lnTo>
                  <a:pt x="94310" y="111420"/>
                </a:lnTo>
                <a:lnTo>
                  <a:pt x="60318" y="107080"/>
                </a:lnTo>
                <a:close/>
                <a:moveTo>
                  <a:pt x="36451" y="77788"/>
                </a:moveTo>
                <a:cubicBezTo>
                  <a:pt x="48385" y="77788"/>
                  <a:pt x="58148" y="86829"/>
                  <a:pt x="59956" y="98039"/>
                </a:cubicBezTo>
                <a:lnTo>
                  <a:pt x="186161" y="113589"/>
                </a:lnTo>
                <a:cubicBezTo>
                  <a:pt x="187246" y="113951"/>
                  <a:pt x="188692" y="114674"/>
                  <a:pt x="189415" y="115759"/>
                </a:cubicBezTo>
                <a:cubicBezTo>
                  <a:pt x="190139" y="116844"/>
                  <a:pt x="190139" y="118652"/>
                  <a:pt x="189777" y="119737"/>
                </a:cubicBezTo>
                <a:lnTo>
                  <a:pt x="174227" y="159516"/>
                </a:lnTo>
                <a:cubicBezTo>
                  <a:pt x="171334" y="166387"/>
                  <a:pt x="164464" y="171088"/>
                  <a:pt x="156870" y="171088"/>
                </a:cubicBezTo>
                <a:lnTo>
                  <a:pt x="69720" y="171088"/>
                </a:lnTo>
                <a:cubicBezTo>
                  <a:pt x="59595" y="171088"/>
                  <a:pt x="51639" y="162771"/>
                  <a:pt x="51639" y="152645"/>
                </a:cubicBezTo>
                <a:lnTo>
                  <a:pt x="51639" y="102017"/>
                </a:lnTo>
                <a:cubicBezTo>
                  <a:pt x="51639" y="93700"/>
                  <a:pt x="44768" y="86829"/>
                  <a:pt x="36451" y="86829"/>
                </a:cubicBezTo>
                <a:cubicBezTo>
                  <a:pt x="33920" y="86829"/>
                  <a:pt x="31750" y="84659"/>
                  <a:pt x="31750" y="82489"/>
                </a:cubicBezTo>
                <a:cubicBezTo>
                  <a:pt x="31750" y="79958"/>
                  <a:pt x="33920" y="77788"/>
                  <a:pt x="36451" y="77788"/>
                </a:cubicBezTo>
                <a:close/>
                <a:moveTo>
                  <a:pt x="128412" y="38100"/>
                </a:moveTo>
                <a:cubicBezTo>
                  <a:pt x="178223" y="38100"/>
                  <a:pt x="218717" y="78893"/>
                  <a:pt x="218717" y="128710"/>
                </a:cubicBezTo>
                <a:cubicBezTo>
                  <a:pt x="218717" y="142428"/>
                  <a:pt x="215492" y="155062"/>
                  <a:pt x="210116" y="166975"/>
                </a:cubicBezTo>
                <a:cubicBezTo>
                  <a:pt x="209400" y="168780"/>
                  <a:pt x="207966" y="169502"/>
                  <a:pt x="206174" y="169502"/>
                </a:cubicBezTo>
                <a:cubicBezTo>
                  <a:pt x="205458" y="169502"/>
                  <a:pt x="204741" y="169502"/>
                  <a:pt x="204383" y="169141"/>
                </a:cubicBezTo>
                <a:cubicBezTo>
                  <a:pt x="201874" y="168419"/>
                  <a:pt x="201158" y="165531"/>
                  <a:pt x="202233" y="163365"/>
                </a:cubicBezTo>
                <a:cubicBezTo>
                  <a:pt x="207250" y="152535"/>
                  <a:pt x="209758" y="140984"/>
                  <a:pt x="209758" y="128710"/>
                </a:cubicBezTo>
                <a:cubicBezTo>
                  <a:pt x="209758" y="83585"/>
                  <a:pt x="173206" y="47125"/>
                  <a:pt x="128412" y="47125"/>
                </a:cubicBezTo>
                <a:cubicBezTo>
                  <a:pt x="105836" y="47125"/>
                  <a:pt x="83976" y="56511"/>
                  <a:pt x="68567" y="73478"/>
                </a:cubicBezTo>
                <a:cubicBezTo>
                  <a:pt x="66775" y="75283"/>
                  <a:pt x="64267" y="75283"/>
                  <a:pt x="62117" y="73839"/>
                </a:cubicBezTo>
                <a:cubicBezTo>
                  <a:pt x="60683" y="72034"/>
                  <a:pt x="60325" y="69146"/>
                  <a:pt x="62117" y="67341"/>
                </a:cubicBezTo>
                <a:cubicBezTo>
                  <a:pt x="78959" y="48569"/>
                  <a:pt x="103327" y="38100"/>
                  <a:pt x="128412" y="38100"/>
                </a:cubicBezTo>
                <a:close/>
                <a:moveTo>
                  <a:pt x="129050" y="8987"/>
                </a:moveTo>
                <a:cubicBezTo>
                  <a:pt x="62907" y="8987"/>
                  <a:pt x="8987" y="62548"/>
                  <a:pt x="8987" y="128691"/>
                </a:cubicBezTo>
                <a:cubicBezTo>
                  <a:pt x="8987" y="194834"/>
                  <a:pt x="62907" y="248754"/>
                  <a:pt x="129050" y="248754"/>
                </a:cubicBezTo>
                <a:cubicBezTo>
                  <a:pt x="152775" y="248754"/>
                  <a:pt x="175062" y="241924"/>
                  <a:pt x="193754" y="229702"/>
                </a:cubicBezTo>
                <a:lnTo>
                  <a:pt x="177938" y="183690"/>
                </a:lnTo>
                <a:cubicBezTo>
                  <a:pt x="177219" y="182252"/>
                  <a:pt x="177578" y="180095"/>
                  <a:pt x="179016" y="179017"/>
                </a:cubicBezTo>
                <a:cubicBezTo>
                  <a:pt x="180095" y="177938"/>
                  <a:pt x="181892" y="177219"/>
                  <a:pt x="183689" y="177938"/>
                </a:cubicBezTo>
                <a:lnTo>
                  <a:pt x="230061" y="193755"/>
                </a:lnTo>
                <a:cubicBezTo>
                  <a:pt x="241923" y="175063"/>
                  <a:pt x="249113" y="152775"/>
                  <a:pt x="249113" y="128691"/>
                </a:cubicBezTo>
                <a:cubicBezTo>
                  <a:pt x="249113" y="62548"/>
                  <a:pt x="195192" y="8987"/>
                  <a:pt x="129050" y="8987"/>
                </a:cubicBezTo>
                <a:close/>
                <a:moveTo>
                  <a:pt x="129050" y="0"/>
                </a:moveTo>
                <a:cubicBezTo>
                  <a:pt x="200225" y="0"/>
                  <a:pt x="258100" y="57875"/>
                  <a:pt x="258100" y="128691"/>
                </a:cubicBezTo>
                <a:cubicBezTo>
                  <a:pt x="258100" y="153854"/>
                  <a:pt x="250910" y="176860"/>
                  <a:pt x="238329" y="196990"/>
                </a:cubicBezTo>
                <a:lnTo>
                  <a:pt x="290092" y="214604"/>
                </a:lnTo>
                <a:cubicBezTo>
                  <a:pt x="292249" y="215323"/>
                  <a:pt x="293328" y="216761"/>
                  <a:pt x="293328" y="218559"/>
                </a:cubicBezTo>
                <a:cubicBezTo>
                  <a:pt x="293328" y="220356"/>
                  <a:pt x="292249" y="222153"/>
                  <a:pt x="290811" y="222872"/>
                </a:cubicBezTo>
                <a:lnTo>
                  <a:pt x="243721" y="243722"/>
                </a:lnTo>
                <a:lnTo>
                  <a:pt x="222872" y="290453"/>
                </a:lnTo>
                <a:cubicBezTo>
                  <a:pt x="222153" y="292250"/>
                  <a:pt x="220715" y="293329"/>
                  <a:pt x="218558" y="293329"/>
                </a:cubicBezTo>
                <a:cubicBezTo>
                  <a:pt x="216761" y="292969"/>
                  <a:pt x="214963" y="292250"/>
                  <a:pt x="214604" y="290093"/>
                </a:cubicBezTo>
                <a:lnTo>
                  <a:pt x="196630" y="238330"/>
                </a:lnTo>
                <a:cubicBezTo>
                  <a:pt x="177219" y="250552"/>
                  <a:pt x="153853" y="257741"/>
                  <a:pt x="129050" y="257741"/>
                </a:cubicBezTo>
                <a:cubicBezTo>
                  <a:pt x="57875" y="257741"/>
                  <a:pt x="0" y="199866"/>
                  <a:pt x="0" y="128691"/>
                </a:cubicBezTo>
                <a:cubicBezTo>
                  <a:pt x="0" y="57875"/>
                  <a:pt x="57875" y="0"/>
                  <a:pt x="1290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 sz="1067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F230CC8-AD44-9CED-3054-DA2A13D7978B}"/>
              </a:ext>
            </a:extLst>
          </p:cNvPr>
          <p:cNvSpPr/>
          <p:nvPr/>
        </p:nvSpPr>
        <p:spPr>
          <a:xfrm>
            <a:off x="5653306" y="2357398"/>
            <a:ext cx="707852" cy="664045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5A06402-ACBE-E45F-5DB0-553E838BAB1D}"/>
              </a:ext>
            </a:extLst>
          </p:cNvPr>
          <p:cNvSpPr txBox="1"/>
          <p:nvPr/>
        </p:nvSpPr>
        <p:spPr>
          <a:xfrm>
            <a:off x="5376293" y="3118228"/>
            <a:ext cx="1261884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 err="1"/>
              <a:t>异常识别与预警</a:t>
            </a:r>
            <a:endParaRPr lang="en-US" sz="1200" b="1" dirty="0">
              <a:ea typeface="League Spartan" charset="0"/>
              <a:cs typeface="Calibri" panose="020F050202020403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8071426-D8F7-224B-FDA5-848C78B975BC}"/>
              </a:ext>
            </a:extLst>
          </p:cNvPr>
          <p:cNvSpPr txBox="1">
            <a:spLocks/>
          </p:cNvSpPr>
          <p:nvPr/>
        </p:nvSpPr>
        <p:spPr>
          <a:xfrm>
            <a:off x="5171214" y="3427837"/>
            <a:ext cx="1762986" cy="643253"/>
          </a:xfrm>
          <a:prstGeom prst="rect">
            <a:avLst/>
          </a:prstGeom>
        </p:spPr>
        <p:txBody>
          <a:bodyPr vert="horz" wrap="square" lIns="60960" tIns="30480" rIns="60960" bIns="3048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覆盖温度</a:t>
            </a:r>
            <a:r>
              <a:rPr lang="en-US" sz="900" dirty="0"/>
              <a:t>/</a:t>
            </a:r>
            <a:r>
              <a:rPr lang="en-US" sz="900" dirty="0" err="1"/>
              <a:t>压力</a:t>
            </a:r>
            <a:r>
              <a:rPr lang="en-US" sz="900" dirty="0"/>
              <a:t>/</a:t>
            </a:r>
            <a:r>
              <a:rPr lang="en-US" sz="900" dirty="0" err="1"/>
              <a:t>流量</a:t>
            </a:r>
            <a:r>
              <a:rPr lang="en-US" sz="900" dirty="0"/>
              <a:t>/</a:t>
            </a:r>
            <a:r>
              <a:rPr lang="en-US" sz="900" dirty="0" err="1"/>
              <a:t>堵塞</a:t>
            </a:r>
            <a:r>
              <a:rPr lang="en-US" sz="900" dirty="0"/>
              <a:t>/</a:t>
            </a:r>
            <a:r>
              <a:rPr lang="en-US" sz="900" dirty="0" err="1"/>
              <a:t>挂蜡</a:t>
            </a:r>
            <a:r>
              <a:rPr lang="en-US" sz="900" dirty="0"/>
              <a:t>/</a:t>
            </a:r>
            <a:r>
              <a:rPr lang="en-US" sz="900" dirty="0" err="1"/>
              <a:t>结焦</a:t>
            </a:r>
            <a:r>
              <a:rPr lang="en-US" sz="900" dirty="0"/>
              <a:t>/</a:t>
            </a:r>
            <a:r>
              <a:rPr lang="en-US" sz="900" dirty="0" err="1"/>
              <a:t>泄漏</a:t>
            </a:r>
            <a:r>
              <a:rPr lang="en-US" sz="900" dirty="0"/>
              <a:t>/</a:t>
            </a:r>
            <a:r>
              <a:rPr lang="en-US" sz="900" dirty="0" err="1"/>
              <a:t>火情八类风险</a:t>
            </a:r>
            <a:endParaRPr lang="en-US" sz="900" dirty="0"/>
          </a:p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硬报警前识别趋势与关联异常，分级触达责任人</a:t>
            </a:r>
            <a:endParaRPr lang="en-US" sz="900" b="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8" name="Oval 74">
            <a:extLst>
              <a:ext uri="{FF2B5EF4-FFF2-40B4-BE49-F238E27FC236}">
                <a16:creationId xmlns:a16="http://schemas.microsoft.com/office/drawing/2014/main" id="{22495624-9ACE-F196-1A98-7E9CD62B94B4}"/>
              </a:ext>
            </a:extLst>
          </p:cNvPr>
          <p:cNvSpPr/>
          <p:nvPr/>
        </p:nvSpPr>
        <p:spPr>
          <a:xfrm>
            <a:off x="5653306" y="4373424"/>
            <a:ext cx="707852" cy="6640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9" name="TextBox 76">
            <a:extLst>
              <a:ext uri="{FF2B5EF4-FFF2-40B4-BE49-F238E27FC236}">
                <a16:creationId xmlns:a16="http://schemas.microsoft.com/office/drawing/2014/main" id="{3DA88529-5CF1-AEB1-ED1C-33E5E6FE7D1E}"/>
              </a:ext>
            </a:extLst>
          </p:cNvPr>
          <p:cNvSpPr txBox="1"/>
          <p:nvPr/>
        </p:nvSpPr>
        <p:spPr>
          <a:xfrm>
            <a:off x="5453237" y="5134254"/>
            <a:ext cx="110799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 err="1"/>
              <a:t>售后服务闭环</a:t>
            </a:r>
            <a:endParaRPr lang="en-US" sz="1200" b="1" dirty="0">
              <a:ea typeface="League Spartan" charset="0"/>
              <a:cs typeface="Calibri" panose="020F050202020403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B35A1B9D-4F75-06D9-76E1-9DFAB1A68FC5}"/>
              </a:ext>
            </a:extLst>
          </p:cNvPr>
          <p:cNvSpPr txBox="1">
            <a:spLocks/>
          </p:cNvSpPr>
          <p:nvPr/>
        </p:nvSpPr>
        <p:spPr>
          <a:xfrm>
            <a:off x="5171214" y="5443863"/>
            <a:ext cx="1672038" cy="643253"/>
          </a:xfrm>
          <a:prstGeom prst="rect">
            <a:avLst/>
          </a:prstGeom>
        </p:spPr>
        <p:txBody>
          <a:bodyPr vert="horz" wrap="square" lIns="60960" tIns="30480" rIns="60960" bIns="3048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报警</a:t>
            </a:r>
            <a:r>
              <a:rPr lang="en-US" sz="900" dirty="0"/>
              <a:t>/</a:t>
            </a:r>
            <a:r>
              <a:rPr lang="en-US" sz="900" dirty="0" err="1"/>
              <a:t>故障</a:t>
            </a:r>
            <a:r>
              <a:rPr lang="en-US" sz="900" dirty="0"/>
              <a:t>/</a:t>
            </a:r>
            <a:r>
              <a:rPr lang="en-US" sz="900" dirty="0" err="1"/>
              <a:t>工单</a:t>
            </a:r>
            <a:r>
              <a:rPr lang="en-US" sz="900" dirty="0"/>
              <a:t>/</a:t>
            </a:r>
            <a:r>
              <a:rPr lang="en-US" sz="900" dirty="0" err="1"/>
              <a:t>维修记录全流程沉淀</a:t>
            </a:r>
            <a:endParaRPr lang="en-US" sz="900" dirty="0"/>
          </a:p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日报月报自动生成，客户可查服务进度</a:t>
            </a:r>
            <a:endParaRPr lang="en-US" sz="900" b="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1" name="Freeform 939">
            <a:extLst>
              <a:ext uri="{FF2B5EF4-FFF2-40B4-BE49-F238E27FC236}">
                <a16:creationId xmlns:a16="http://schemas.microsoft.com/office/drawing/2014/main" id="{3E76CAE9-981A-8FB4-717C-AE7DA88F4C73}"/>
              </a:ext>
            </a:extLst>
          </p:cNvPr>
          <p:cNvSpPr>
            <a:spLocks noChangeAspect="1"/>
          </p:cNvSpPr>
          <p:nvPr/>
        </p:nvSpPr>
        <p:spPr bwMode="auto">
          <a:xfrm>
            <a:off x="5789563" y="4482537"/>
            <a:ext cx="435339" cy="408396"/>
          </a:xfrm>
          <a:custGeom>
            <a:avLst/>
            <a:gdLst>
              <a:gd name="T0" fmla="*/ 3011771 w 293098"/>
              <a:gd name="T1" fmla="*/ 7671040 h 293328"/>
              <a:gd name="T2" fmla="*/ 2676123 w 293098"/>
              <a:gd name="T3" fmla="*/ 7671040 h 293328"/>
              <a:gd name="T4" fmla="*/ 2309547 w 293098"/>
              <a:gd name="T5" fmla="*/ 5317185 h 293328"/>
              <a:gd name="T6" fmla="*/ 3363275 w 293098"/>
              <a:gd name="T7" fmla="*/ 8138882 h 293328"/>
              <a:gd name="T8" fmla="*/ 2309547 w 293098"/>
              <a:gd name="T9" fmla="*/ 5317185 h 293328"/>
              <a:gd name="T10" fmla="*/ 5022963 w 293098"/>
              <a:gd name="T11" fmla="*/ 2025314 h 293328"/>
              <a:gd name="T12" fmla="*/ 4179952 w 293098"/>
              <a:gd name="T13" fmla="*/ 4481167 h 293328"/>
              <a:gd name="T14" fmla="*/ 3692527 w 293098"/>
              <a:gd name="T15" fmla="*/ 8138882 h 293328"/>
              <a:gd name="T16" fmla="*/ 7538815 w 293098"/>
              <a:gd name="T17" fmla="*/ 8138882 h 293328"/>
              <a:gd name="T18" fmla="*/ 7920842 w 293098"/>
              <a:gd name="T19" fmla="*/ 7446510 h 293328"/>
              <a:gd name="T20" fmla="*/ 8026205 w 293098"/>
              <a:gd name="T21" fmla="*/ 7211383 h 293328"/>
              <a:gd name="T22" fmla="*/ 8276464 w 293098"/>
              <a:gd name="T23" fmla="*/ 6453713 h 293328"/>
              <a:gd name="T24" fmla="*/ 8302807 w 293098"/>
              <a:gd name="T25" fmla="*/ 6205512 h 293328"/>
              <a:gd name="T26" fmla="*/ 8250135 w 293098"/>
              <a:gd name="T27" fmla="*/ 5500129 h 293328"/>
              <a:gd name="T28" fmla="*/ 8250135 w 293098"/>
              <a:gd name="T29" fmla="*/ 5173504 h 293328"/>
              <a:gd name="T30" fmla="*/ 8092095 w 293098"/>
              <a:gd name="T31" fmla="*/ 4376701 h 293328"/>
              <a:gd name="T32" fmla="*/ 5971389 w 293098"/>
              <a:gd name="T33" fmla="*/ 4311343 h 293328"/>
              <a:gd name="T34" fmla="*/ 6050359 w 293098"/>
              <a:gd name="T35" fmla="*/ 3057301 h 293328"/>
              <a:gd name="T36" fmla="*/ 5391801 w 293098"/>
              <a:gd name="T37" fmla="*/ 1685660 h 293328"/>
              <a:gd name="T38" fmla="*/ 6300653 w 293098"/>
              <a:gd name="T39" fmla="*/ 4050098 h 293328"/>
              <a:gd name="T40" fmla="*/ 8776992 w 293098"/>
              <a:gd name="T41" fmla="*/ 4768612 h 293328"/>
              <a:gd name="T42" fmla="*/ 8829705 w 293098"/>
              <a:gd name="T43" fmla="*/ 5839741 h 293328"/>
              <a:gd name="T44" fmla="*/ 8737523 w 293098"/>
              <a:gd name="T45" fmla="*/ 6767227 h 293328"/>
              <a:gd name="T46" fmla="*/ 8302807 w 293098"/>
              <a:gd name="T47" fmla="*/ 7681658 h 293328"/>
              <a:gd name="T48" fmla="*/ 7512500 w 293098"/>
              <a:gd name="T49" fmla="*/ 8465448 h 293328"/>
              <a:gd name="T50" fmla="*/ 1545513 w 293098"/>
              <a:gd name="T51" fmla="*/ 8308702 h 293328"/>
              <a:gd name="T52" fmla="*/ 1980236 w 293098"/>
              <a:gd name="T53" fmla="*/ 8138882 h 293328"/>
              <a:gd name="T54" fmla="*/ 636641 w 293098"/>
              <a:gd name="T55" fmla="*/ 5317185 h 293328"/>
              <a:gd name="T56" fmla="*/ 636641 w 293098"/>
              <a:gd name="T57" fmla="*/ 5003760 h 293328"/>
              <a:gd name="T58" fmla="*/ 3942868 w 293098"/>
              <a:gd name="T59" fmla="*/ 4272152 h 293328"/>
              <a:gd name="T60" fmla="*/ 4667318 w 293098"/>
              <a:gd name="T61" fmla="*/ 1946951 h 293328"/>
              <a:gd name="T62" fmla="*/ 5391801 w 293098"/>
              <a:gd name="T63" fmla="*/ 1685660 h 293328"/>
              <a:gd name="T64" fmla="*/ 328914 w 293098"/>
              <a:gd name="T65" fmla="*/ 5328636 h 293328"/>
              <a:gd name="T66" fmla="*/ 7960206 w 293098"/>
              <a:gd name="T67" fmla="*/ 9638465 h 293328"/>
              <a:gd name="T68" fmla="*/ 10341641 w 293098"/>
              <a:gd name="T69" fmla="*/ 10265362 h 293328"/>
              <a:gd name="T70" fmla="*/ 9696987 w 293098"/>
              <a:gd name="T71" fmla="*/ 7901406 h 293328"/>
              <a:gd name="T72" fmla="*/ 5368217 w 293098"/>
              <a:gd name="T73" fmla="*/ 326516 h 293328"/>
              <a:gd name="T74" fmla="*/ 10736365 w 293098"/>
              <a:gd name="T75" fmla="*/ 5328636 h 293328"/>
              <a:gd name="T76" fmla="*/ 10736365 w 293098"/>
              <a:gd name="T77" fmla="*/ 10448194 h 293328"/>
              <a:gd name="T78" fmla="*/ 10578499 w 293098"/>
              <a:gd name="T79" fmla="*/ 10657173 h 293328"/>
              <a:gd name="T80" fmla="*/ 8078583 w 293098"/>
              <a:gd name="T81" fmla="*/ 9938848 h 293328"/>
              <a:gd name="T82" fmla="*/ 0 w 293098"/>
              <a:gd name="T83" fmla="*/ 5328636 h 2933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293098" h="293328">
                <a:moveTo>
                  <a:pt x="77421" y="206375"/>
                </a:moveTo>
                <a:cubicBezTo>
                  <a:pt x="79986" y="206375"/>
                  <a:pt x="82184" y="208573"/>
                  <a:pt x="82184" y="211138"/>
                </a:cubicBezTo>
                <a:cubicBezTo>
                  <a:pt x="82184" y="213702"/>
                  <a:pt x="79986" y="215534"/>
                  <a:pt x="77421" y="215534"/>
                </a:cubicBezTo>
                <a:cubicBezTo>
                  <a:pt x="74857" y="215534"/>
                  <a:pt x="73025" y="213702"/>
                  <a:pt x="73025" y="211138"/>
                </a:cubicBezTo>
                <a:cubicBezTo>
                  <a:pt x="73025" y="208573"/>
                  <a:pt x="74857" y="206375"/>
                  <a:pt x="77421" y="206375"/>
                </a:cubicBezTo>
                <a:close/>
                <a:moveTo>
                  <a:pt x="63021" y="146351"/>
                </a:moveTo>
                <a:lnTo>
                  <a:pt x="63021" y="224014"/>
                </a:lnTo>
                <a:lnTo>
                  <a:pt x="91776" y="224014"/>
                </a:lnTo>
                <a:lnTo>
                  <a:pt x="91776" y="146351"/>
                </a:lnTo>
                <a:lnTo>
                  <a:pt x="63021" y="146351"/>
                </a:lnTo>
                <a:close/>
                <a:moveTo>
                  <a:pt x="146769" y="55026"/>
                </a:moveTo>
                <a:cubicBezTo>
                  <a:pt x="142096" y="55026"/>
                  <a:pt x="138861" y="55385"/>
                  <a:pt x="137064" y="55745"/>
                </a:cubicBezTo>
                <a:cubicBezTo>
                  <a:pt x="138502" y="63655"/>
                  <a:pt x="141018" y="80554"/>
                  <a:pt x="138502" y="88464"/>
                </a:cubicBezTo>
                <a:cubicBezTo>
                  <a:pt x="133829" y="102127"/>
                  <a:pt x="123046" y="113992"/>
                  <a:pt x="114061" y="123340"/>
                </a:cubicBezTo>
                <a:cubicBezTo>
                  <a:pt x="107591" y="130531"/>
                  <a:pt x="100761" y="137722"/>
                  <a:pt x="100761" y="142037"/>
                </a:cubicBezTo>
                <a:lnTo>
                  <a:pt x="100761" y="224014"/>
                </a:lnTo>
                <a:lnTo>
                  <a:pt x="204997" y="224014"/>
                </a:lnTo>
                <a:cubicBezTo>
                  <a:pt x="205357" y="224014"/>
                  <a:pt x="205357" y="224014"/>
                  <a:pt x="205716" y="224014"/>
                </a:cubicBezTo>
                <a:cubicBezTo>
                  <a:pt x="212545" y="223295"/>
                  <a:pt x="217577" y="217901"/>
                  <a:pt x="217577" y="211430"/>
                </a:cubicBezTo>
                <a:cubicBezTo>
                  <a:pt x="217577" y="209272"/>
                  <a:pt x="217218" y="207115"/>
                  <a:pt x="216140" y="204958"/>
                </a:cubicBezTo>
                <a:cubicBezTo>
                  <a:pt x="215421" y="203879"/>
                  <a:pt x="215421" y="202441"/>
                  <a:pt x="216140" y="201003"/>
                </a:cubicBezTo>
                <a:cubicBezTo>
                  <a:pt x="216499" y="199924"/>
                  <a:pt x="217577" y="198845"/>
                  <a:pt x="219015" y="198486"/>
                </a:cubicBezTo>
                <a:cubicBezTo>
                  <a:pt x="225126" y="197407"/>
                  <a:pt x="229439" y="192014"/>
                  <a:pt x="229439" y="186261"/>
                </a:cubicBezTo>
                <a:cubicBezTo>
                  <a:pt x="229439" y="183025"/>
                  <a:pt x="228361" y="179789"/>
                  <a:pt x="225844" y="177632"/>
                </a:cubicBezTo>
                <a:cubicBezTo>
                  <a:pt x="225126" y="176553"/>
                  <a:pt x="224766" y="175475"/>
                  <a:pt x="224766" y="174036"/>
                </a:cubicBezTo>
                <a:cubicBezTo>
                  <a:pt x="224766" y="172598"/>
                  <a:pt x="225485" y="171520"/>
                  <a:pt x="226563" y="170800"/>
                </a:cubicBezTo>
                <a:cubicBezTo>
                  <a:pt x="229798" y="168284"/>
                  <a:pt x="231955" y="164688"/>
                  <a:pt x="231955" y="160733"/>
                </a:cubicBezTo>
                <a:cubicBezTo>
                  <a:pt x="231955" y="154261"/>
                  <a:pt x="228001" y="151385"/>
                  <a:pt x="225126" y="151385"/>
                </a:cubicBezTo>
                <a:cubicBezTo>
                  <a:pt x="222610" y="151385"/>
                  <a:pt x="220812" y="149227"/>
                  <a:pt x="220812" y="146711"/>
                </a:cubicBezTo>
                <a:cubicBezTo>
                  <a:pt x="220812" y="144194"/>
                  <a:pt x="222610" y="142396"/>
                  <a:pt x="225126" y="142396"/>
                </a:cubicBezTo>
                <a:cubicBezTo>
                  <a:pt x="225844" y="142037"/>
                  <a:pt x="230517" y="139520"/>
                  <a:pt x="230517" y="131250"/>
                </a:cubicBezTo>
                <a:cubicBezTo>
                  <a:pt x="230517" y="125138"/>
                  <a:pt x="225485" y="120464"/>
                  <a:pt x="220812" y="120464"/>
                </a:cubicBezTo>
                <a:lnTo>
                  <a:pt x="166538" y="120464"/>
                </a:lnTo>
                <a:cubicBezTo>
                  <a:pt x="165100" y="120464"/>
                  <a:pt x="163662" y="119744"/>
                  <a:pt x="162944" y="118666"/>
                </a:cubicBezTo>
                <a:cubicBezTo>
                  <a:pt x="161865" y="117587"/>
                  <a:pt x="161865" y="116149"/>
                  <a:pt x="162225" y="114711"/>
                </a:cubicBezTo>
                <a:cubicBezTo>
                  <a:pt x="163303" y="110037"/>
                  <a:pt x="166538" y="98172"/>
                  <a:pt x="165100" y="84149"/>
                </a:cubicBezTo>
                <a:cubicBezTo>
                  <a:pt x="163303" y="67610"/>
                  <a:pt x="155755" y="55385"/>
                  <a:pt x="146769" y="55026"/>
                </a:cubicBezTo>
                <a:close/>
                <a:moveTo>
                  <a:pt x="147128" y="46396"/>
                </a:moveTo>
                <a:cubicBezTo>
                  <a:pt x="161146" y="46756"/>
                  <a:pt x="171929" y="61857"/>
                  <a:pt x="173727" y="83430"/>
                </a:cubicBezTo>
                <a:cubicBezTo>
                  <a:pt x="174805" y="94576"/>
                  <a:pt x="173727" y="105003"/>
                  <a:pt x="171929" y="111475"/>
                </a:cubicBezTo>
                <a:lnTo>
                  <a:pt x="220812" y="111475"/>
                </a:lnTo>
                <a:cubicBezTo>
                  <a:pt x="230877" y="111475"/>
                  <a:pt x="239503" y="120823"/>
                  <a:pt x="239503" y="131250"/>
                </a:cubicBezTo>
                <a:cubicBezTo>
                  <a:pt x="239503" y="137722"/>
                  <a:pt x="237346" y="142756"/>
                  <a:pt x="234471" y="146351"/>
                </a:cubicBezTo>
                <a:cubicBezTo>
                  <a:pt x="238065" y="149227"/>
                  <a:pt x="240941" y="154261"/>
                  <a:pt x="240941" y="160733"/>
                </a:cubicBezTo>
                <a:cubicBezTo>
                  <a:pt x="240941" y="165767"/>
                  <a:pt x="238784" y="170800"/>
                  <a:pt x="235190" y="175115"/>
                </a:cubicBezTo>
                <a:cubicBezTo>
                  <a:pt x="237346" y="178351"/>
                  <a:pt x="238425" y="181946"/>
                  <a:pt x="238425" y="186261"/>
                </a:cubicBezTo>
                <a:cubicBezTo>
                  <a:pt x="238425" y="194531"/>
                  <a:pt x="233393" y="202081"/>
                  <a:pt x="225844" y="205677"/>
                </a:cubicBezTo>
                <a:cubicBezTo>
                  <a:pt x="226204" y="207475"/>
                  <a:pt x="226563" y="209272"/>
                  <a:pt x="226563" y="211430"/>
                </a:cubicBezTo>
                <a:cubicBezTo>
                  <a:pt x="226563" y="222576"/>
                  <a:pt x="218296" y="231564"/>
                  <a:pt x="206435" y="232643"/>
                </a:cubicBezTo>
                <a:cubicBezTo>
                  <a:pt x="206435" y="232643"/>
                  <a:pt x="205716" y="233003"/>
                  <a:pt x="204997" y="233003"/>
                </a:cubicBezTo>
                <a:lnTo>
                  <a:pt x="46846" y="233003"/>
                </a:lnTo>
                <a:cubicBezTo>
                  <a:pt x="44330" y="233003"/>
                  <a:pt x="42173" y="230845"/>
                  <a:pt x="42173" y="228688"/>
                </a:cubicBezTo>
                <a:cubicBezTo>
                  <a:pt x="42173" y="226171"/>
                  <a:pt x="44330" y="224014"/>
                  <a:pt x="46846" y="224014"/>
                </a:cubicBezTo>
                <a:lnTo>
                  <a:pt x="54035" y="224014"/>
                </a:lnTo>
                <a:lnTo>
                  <a:pt x="54035" y="146351"/>
                </a:lnTo>
                <a:lnTo>
                  <a:pt x="17373" y="146351"/>
                </a:lnTo>
                <a:cubicBezTo>
                  <a:pt x="14497" y="146351"/>
                  <a:pt x="12700" y="144553"/>
                  <a:pt x="12700" y="142037"/>
                </a:cubicBezTo>
                <a:cubicBezTo>
                  <a:pt x="12700" y="139520"/>
                  <a:pt x="14497" y="137722"/>
                  <a:pt x="17373" y="137722"/>
                </a:cubicBezTo>
                <a:lnTo>
                  <a:pt x="92854" y="137722"/>
                </a:lnTo>
                <a:cubicBezTo>
                  <a:pt x="94651" y="131250"/>
                  <a:pt x="100761" y="125138"/>
                  <a:pt x="107591" y="117587"/>
                </a:cubicBezTo>
                <a:cubicBezTo>
                  <a:pt x="116217" y="108239"/>
                  <a:pt x="125922" y="97452"/>
                  <a:pt x="129876" y="85587"/>
                </a:cubicBezTo>
                <a:cubicBezTo>
                  <a:pt x="131673" y="80194"/>
                  <a:pt x="129157" y="62936"/>
                  <a:pt x="127360" y="53587"/>
                </a:cubicBezTo>
                <a:cubicBezTo>
                  <a:pt x="127000" y="51790"/>
                  <a:pt x="127719" y="49992"/>
                  <a:pt x="129516" y="48913"/>
                </a:cubicBezTo>
                <a:cubicBezTo>
                  <a:pt x="130235" y="48554"/>
                  <a:pt x="135267" y="46037"/>
                  <a:pt x="147128" y="46396"/>
                </a:cubicBezTo>
                <a:close/>
                <a:moveTo>
                  <a:pt x="146485" y="8987"/>
                </a:moveTo>
                <a:cubicBezTo>
                  <a:pt x="70729" y="8987"/>
                  <a:pt x="8976" y="70816"/>
                  <a:pt x="8976" y="146664"/>
                </a:cubicBezTo>
                <a:cubicBezTo>
                  <a:pt x="8976" y="222871"/>
                  <a:pt x="70729" y="284341"/>
                  <a:pt x="146485" y="284341"/>
                </a:cubicBezTo>
                <a:cubicBezTo>
                  <a:pt x="171617" y="284341"/>
                  <a:pt x="196031" y="277870"/>
                  <a:pt x="217214" y="265289"/>
                </a:cubicBezTo>
                <a:cubicBezTo>
                  <a:pt x="218291" y="264570"/>
                  <a:pt x="219727" y="264211"/>
                  <a:pt x="220804" y="264570"/>
                </a:cubicBezTo>
                <a:lnTo>
                  <a:pt x="282198" y="282544"/>
                </a:lnTo>
                <a:lnTo>
                  <a:pt x="264247" y="221074"/>
                </a:lnTo>
                <a:cubicBezTo>
                  <a:pt x="263888" y="219996"/>
                  <a:pt x="264247" y="218558"/>
                  <a:pt x="264606" y="217479"/>
                </a:cubicBezTo>
                <a:cubicBezTo>
                  <a:pt x="277531" y="196271"/>
                  <a:pt x="283993" y="171827"/>
                  <a:pt x="283993" y="146664"/>
                </a:cubicBezTo>
                <a:cubicBezTo>
                  <a:pt x="283993" y="70816"/>
                  <a:pt x="222599" y="8987"/>
                  <a:pt x="146485" y="8987"/>
                </a:cubicBezTo>
                <a:close/>
                <a:moveTo>
                  <a:pt x="146485" y="0"/>
                </a:moveTo>
                <a:cubicBezTo>
                  <a:pt x="227266" y="0"/>
                  <a:pt x="292969" y="66142"/>
                  <a:pt x="292969" y="146664"/>
                </a:cubicBezTo>
                <a:cubicBezTo>
                  <a:pt x="292969" y="172546"/>
                  <a:pt x="286147" y="198068"/>
                  <a:pt x="273222" y="220355"/>
                </a:cubicBezTo>
                <a:lnTo>
                  <a:pt x="292969" y="287576"/>
                </a:lnTo>
                <a:cubicBezTo>
                  <a:pt x="293328" y="289373"/>
                  <a:pt x="292969" y="291171"/>
                  <a:pt x="291533" y="292249"/>
                </a:cubicBezTo>
                <a:cubicBezTo>
                  <a:pt x="290815" y="292968"/>
                  <a:pt x="289738" y="293328"/>
                  <a:pt x="288661" y="293328"/>
                </a:cubicBezTo>
                <a:cubicBezTo>
                  <a:pt x="287943" y="293328"/>
                  <a:pt x="287584" y="293328"/>
                  <a:pt x="287225" y="293328"/>
                </a:cubicBezTo>
                <a:lnTo>
                  <a:pt x="220445" y="273557"/>
                </a:lnTo>
                <a:cubicBezTo>
                  <a:pt x="197826" y="286498"/>
                  <a:pt x="172694" y="293328"/>
                  <a:pt x="146485" y="293328"/>
                </a:cubicBezTo>
                <a:cubicBezTo>
                  <a:pt x="66061" y="293328"/>
                  <a:pt x="0" y="227545"/>
                  <a:pt x="0" y="146664"/>
                </a:cubicBezTo>
                <a:cubicBezTo>
                  <a:pt x="0" y="66142"/>
                  <a:pt x="66061" y="0"/>
                  <a:pt x="1464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 sz="900" dirty="0"/>
          </a:p>
        </p:txBody>
      </p:sp>
      <p:sp>
        <p:nvSpPr>
          <p:cNvPr id="22" name="Freeform 947">
            <a:extLst>
              <a:ext uri="{FF2B5EF4-FFF2-40B4-BE49-F238E27FC236}">
                <a16:creationId xmlns:a16="http://schemas.microsoft.com/office/drawing/2014/main" id="{4251BE1D-BB6E-681F-4DE0-A2EBAA0696F5}"/>
              </a:ext>
            </a:extLst>
          </p:cNvPr>
          <p:cNvSpPr>
            <a:spLocks noChangeAspect="1"/>
          </p:cNvSpPr>
          <p:nvPr/>
        </p:nvSpPr>
        <p:spPr bwMode="auto">
          <a:xfrm>
            <a:off x="5789563" y="2468349"/>
            <a:ext cx="435339" cy="408396"/>
          </a:xfrm>
          <a:custGeom>
            <a:avLst/>
            <a:gdLst>
              <a:gd name="T0" fmla="*/ 10229781 w 293081"/>
              <a:gd name="T1" fmla="*/ 10330306 h 293329"/>
              <a:gd name="T2" fmla="*/ 5476924 w 293081"/>
              <a:gd name="T3" fmla="*/ 9533663 h 293329"/>
              <a:gd name="T4" fmla="*/ 4555340 w 293081"/>
              <a:gd name="T5" fmla="*/ 8932903 h 293329"/>
              <a:gd name="T6" fmla="*/ 8187273 w 293081"/>
              <a:gd name="T7" fmla="*/ 4853406 h 293329"/>
              <a:gd name="T8" fmla="*/ 6762806 w 293081"/>
              <a:gd name="T9" fmla="*/ 6446308 h 293329"/>
              <a:gd name="T10" fmla="*/ 7949830 w 293081"/>
              <a:gd name="T11" fmla="*/ 4853406 h 293329"/>
              <a:gd name="T12" fmla="*/ 6162400 w 293081"/>
              <a:gd name="T13" fmla="*/ 5079026 h 293329"/>
              <a:gd name="T14" fmla="*/ 4607171 w 293081"/>
              <a:gd name="T15" fmla="*/ 6393224 h 293329"/>
              <a:gd name="T16" fmla="*/ 3816636 w 293081"/>
              <a:gd name="T17" fmla="*/ 4853406 h 293329"/>
              <a:gd name="T18" fmla="*/ 2748342 w 293081"/>
              <a:gd name="T19" fmla="*/ 6393224 h 293329"/>
              <a:gd name="T20" fmla="*/ 2510957 w 293081"/>
              <a:gd name="T21" fmla="*/ 6167538 h 293329"/>
              <a:gd name="T22" fmla="*/ 1909022 w 293081"/>
              <a:gd name="T23" fmla="*/ 3983213 h 293329"/>
              <a:gd name="T24" fmla="*/ 2777957 w 293081"/>
              <a:gd name="T25" fmla="*/ 7039236 h 293329"/>
              <a:gd name="T26" fmla="*/ 7873078 w 293081"/>
              <a:gd name="T27" fmla="*/ 7078447 h 293329"/>
              <a:gd name="T28" fmla="*/ 9123895 w 293081"/>
              <a:gd name="T29" fmla="*/ 3983213 h 293329"/>
              <a:gd name="T30" fmla="*/ 7109531 w 293081"/>
              <a:gd name="T31" fmla="*/ 3983213 h 293329"/>
              <a:gd name="T32" fmla="*/ 4502645 w 293081"/>
              <a:gd name="T33" fmla="*/ 3983213 h 293329"/>
              <a:gd name="T34" fmla="*/ 8149555 w 293081"/>
              <a:gd name="T35" fmla="*/ 2899289 h 293329"/>
              <a:gd name="T36" fmla="*/ 9716292 w 293081"/>
              <a:gd name="T37" fmla="*/ 3656691 h 293329"/>
              <a:gd name="T38" fmla="*/ 8149555 w 293081"/>
              <a:gd name="T39" fmla="*/ 2899289 h 293329"/>
              <a:gd name="T40" fmla="*/ 6240568 w 293081"/>
              <a:gd name="T41" fmla="*/ 3656691 h 293329"/>
              <a:gd name="T42" fmla="*/ 7820426 w 293081"/>
              <a:gd name="T43" fmla="*/ 2899289 h 293329"/>
              <a:gd name="T44" fmla="*/ 2935990 w 293081"/>
              <a:gd name="T45" fmla="*/ 2951549 h 293329"/>
              <a:gd name="T46" fmla="*/ 5213632 w 293081"/>
              <a:gd name="T47" fmla="*/ 2951549 h 293329"/>
              <a:gd name="T48" fmla="*/ 329206 w 293081"/>
              <a:gd name="T49" fmla="*/ 2899289 h 293329"/>
              <a:gd name="T50" fmla="*/ 1909022 w 293081"/>
              <a:gd name="T51" fmla="*/ 3656691 h 293329"/>
              <a:gd name="T52" fmla="*/ 329206 w 293081"/>
              <a:gd name="T53" fmla="*/ 2899289 h 293329"/>
              <a:gd name="T54" fmla="*/ 10190286 w 293081"/>
              <a:gd name="T55" fmla="*/ 2572821 h 293329"/>
              <a:gd name="T56" fmla="*/ 5542797 w 293081"/>
              <a:gd name="T57" fmla="*/ 1619461 h 293329"/>
              <a:gd name="T58" fmla="*/ 7227999 w 293081"/>
              <a:gd name="T59" fmla="*/ 1619461 h 293329"/>
              <a:gd name="T60" fmla="*/ 3041256 w 293081"/>
              <a:gd name="T61" fmla="*/ 2572821 h 293329"/>
              <a:gd name="T62" fmla="*/ 3515243 w 293081"/>
              <a:gd name="T63" fmla="*/ 1619461 h 293329"/>
              <a:gd name="T64" fmla="*/ 2672629 w 293081"/>
              <a:gd name="T65" fmla="*/ 2572821 h 293329"/>
              <a:gd name="T66" fmla="*/ 1632526 w 293081"/>
              <a:gd name="T67" fmla="*/ 326507 h 293329"/>
              <a:gd name="T68" fmla="*/ 9123895 w 293081"/>
              <a:gd name="T69" fmla="*/ 326507 h 293329"/>
              <a:gd name="T70" fmla="*/ 9281834 w 293081"/>
              <a:gd name="T71" fmla="*/ 0 h 293329"/>
              <a:gd name="T72" fmla="*/ 10690593 w 293081"/>
              <a:gd name="T73" fmla="*/ 2625081 h 293329"/>
              <a:gd name="T74" fmla="*/ 9716292 w 293081"/>
              <a:gd name="T75" fmla="*/ 3983213 h 293329"/>
              <a:gd name="T76" fmla="*/ 9281834 w 293081"/>
              <a:gd name="T77" fmla="*/ 7365715 h 293329"/>
              <a:gd name="T78" fmla="*/ 9071218 w 293081"/>
              <a:gd name="T79" fmla="*/ 8606439 h 293329"/>
              <a:gd name="T80" fmla="*/ 10730065 w 293081"/>
              <a:gd name="T81" fmla="*/ 10552302 h 293329"/>
              <a:gd name="T82" fmla="*/ 13220 w 293081"/>
              <a:gd name="T83" fmla="*/ 10552302 h 293329"/>
              <a:gd name="T84" fmla="*/ 1685204 w 293081"/>
              <a:gd name="T85" fmla="*/ 8606439 h 293329"/>
              <a:gd name="T86" fmla="*/ 1474507 w 293081"/>
              <a:gd name="T87" fmla="*/ 7365715 h 293329"/>
              <a:gd name="T88" fmla="*/ 1040094 w 293081"/>
              <a:gd name="T89" fmla="*/ 3983213 h 293329"/>
              <a:gd name="T90" fmla="*/ 52652 w 293081"/>
              <a:gd name="T91" fmla="*/ 2625081 h 293329"/>
              <a:gd name="T92" fmla="*/ 1474507 w 293081"/>
              <a:gd name="T93" fmla="*/ 0 h 293329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93081" h="293329">
                <a:moveTo>
                  <a:pt x="48110" y="245878"/>
                </a:moveTo>
                <a:lnTo>
                  <a:pt x="14361" y="284342"/>
                </a:lnTo>
                <a:lnTo>
                  <a:pt x="278967" y="284342"/>
                </a:lnTo>
                <a:lnTo>
                  <a:pt x="245218" y="245878"/>
                </a:lnTo>
                <a:lnTo>
                  <a:pt x="169104" y="245878"/>
                </a:lnTo>
                <a:lnTo>
                  <a:pt x="149357" y="262414"/>
                </a:lnTo>
                <a:cubicBezTo>
                  <a:pt x="148639" y="263493"/>
                  <a:pt x="147921" y="263493"/>
                  <a:pt x="146485" y="263493"/>
                </a:cubicBezTo>
                <a:cubicBezTo>
                  <a:pt x="145767" y="263493"/>
                  <a:pt x="144689" y="263493"/>
                  <a:pt x="143612" y="262414"/>
                </a:cubicBezTo>
                <a:lnTo>
                  <a:pt x="124225" y="245878"/>
                </a:lnTo>
                <a:lnTo>
                  <a:pt x="48110" y="245878"/>
                </a:lnTo>
                <a:close/>
                <a:moveTo>
                  <a:pt x="216793" y="133590"/>
                </a:moveTo>
                <a:cubicBezTo>
                  <a:pt x="218591" y="131763"/>
                  <a:pt x="221469" y="131763"/>
                  <a:pt x="223267" y="133590"/>
                </a:cubicBezTo>
                <a:cubicBezTo>
                  <a:pt x="225065" y="135417"/>
                  <a:pt x="225065" y="137974"/>
                  <a:pt x="223267" y="139801"/>
                </a:cubicBezTo>
                <a:lnTo>
                  <a:pt x="187660" y="175973"/>
                </a:lnTo>
                <a:cubicBezTo>
                  <a:pt x="186581" y="176704"/>
                  <a:pt x="185502" y="177435"/>
                  <a:pt x="184423" y="177435"/>
                </a:cubicBezTo>
                <a:cubicBezTo>
                  <a:pt x="183344" y="177435"/>
                  <a:pt x="182265" y="176704"/>
                  <a:pt x="181545" y="175973"/>
                </a:cubicBezTo>
                <a:cubicBezTo>
                  <a:pt x="179387" y="174512"/>
                  <a:pt x="179387" y="171223"/>
                  <a:pt x="181545" y="169762"/>
                </a:cubicBezTo>
                <a:lnTo>
                  <a:pt x="216793" y="133590"/>
                </a:lnTo>
                <a:close/>
                <a:moveTo>
                  <a:pt x="161525" y="133590"/>
                </a:moveTo>
                <a:cubicBezTo>
                  <a:pt x="163337" y="131763"/>
                  <a:pt x="166237" y="131763"/>
                  <a:pt x="168050" y="133590"/>
                </a:cubicBezTo>
                <a:cubicBezTo>
                  <a:pt x="169500" y="135417"/>
                  <a:pt x="169500" y="137974"/>
                  <a:pt x="168050" y="139801"/>
                </a:cubicBezTo>
                <a:lnTo>
                  <a:pt x="131800" y="175973"/>
                </a:lnTo>
                <a:cubicBezTo>
                  <a:pt x="131075" y="176704"/>
                  <a:pt x="129988" y="177435"/>
                  <a:pt x="128900" y="177435"/>
                </a:cubicBezTo>
                <a:cubicBezTo>
                  <a:pt x="127813" y="177435"/>
                  <a:pt x="126725" y="176704"/>
                  <a:pt x="125638" y="175973"/>
                </a:cubicBezTo>
                <a:cubicBezTo>
                  <a:pt x="123825" y="174512"/>
                  <a:pt x="123825" y="171223"/>
                  <a:pt x="125638" y="169762"/>
                </a:cubicBezTo>
                <a:lnTo>
                  <a:pt x="161525" y="133590"/>
                </a:lnTo>
                <a:close/>
                <a:moveTo>
                  <a:pt x="104080" y="133590"/>
                </a:moveTo>
                <a:cubicBezTo>
                  <a:pt x="105878" y="131763"/>
                  <a:pt x="108756" y="131763"/>
                  <a:pt x="110194" y="133590"/>
                </a:cubicBezTo>
                <a:cubicBezTo>
                  <a:pt x="112352" y="135417"/>
                  <a:pt x="112352" y="137974"/>
                  <a:pt x="110194" y="139801"/>
                </a:cubicBezTo>
                <a:lnTo>
                  <a:pt x="74947" y="175973"/>
                </a:lnTo>
                <a:cubicBezTo>
                  <a:pt x="73868" y="176704"/>
                  <a:pt x="72789" y="177435"/>
                  <a:pt x="71710" y="177435"/>
                </a:cubicBezTo>
                <a:cubicBezTo>
                  <a:pt x="70631" y="177435"/>
                  <a:pt x="69193" y="176704"/>
                  <a:pt x="68473" y="175973"/>
                </a:cubicBezTo>
                <a:cubicBezTo>
                  <a:pt x="66675" y="174512"/>
                  <a:pt x="66675" y="171223"/>
                  <a:pt x="68473" y="169762"/>
                </a:cubicBezTo>
                <a:lnTo>
                  <a:pt x="104080" y="133590"/>
                </a:lnTo>
                <a:close/>
                <a:moveTo>
                  <a:pt x="75755" y="96698"/>
                </a:moveTo>
                <a:cubicBezTo>
                  <a:pt x="70370" y="104247"/>
                  <a:pt x="61753" y="109639"/>
                  <a:pt x="52059" y="109639"/>
                </a:cubicBezTo>
                <a:lnTo>
                  <a:pt x="44520" y="109639"/>
                </a:lnTo>
                <a:lnTo>
                  <a:pt x="44520" y="193755"/>
                </a:lnTo>
                <a:lnTo>
                  <a:pt x="75755" y="193755"/>
                </a:lnTo>
                <a:cubicBezTo>
                  <a:pt x="76473" y="193755"/>
                  <a:pt x="77550" y="194474"/>
                  <a:pt x="78628" y="194834"/>
                </a:cubicBezTo>
                <a:lnTo>
                  <a:pt x="146485" y="253427"/>
                </a:lnTo>
                <a:lnTo>
                  <a:pt x="214700" y="194834"/>
                </a:lnTo>
                <a:cubicBezTo>
                  <a:pt x="215418" y="194474"/>
                  <a:pt x="216855" y="193755"/>
                  <a:pt x="217573" y="193755"/>
                </a:cubicBezTo>
                <a:lnTo>
                  <a:pt x="248808" y="193755"/>
                </a:lnTo>
                <a:lnTo>
                  <a:pt x="248808" y="109639"/>
                </a:lnTo>
                <a:lnTo>
                  <a:pt x="241269" y="109639"/>
                </a:lnTo>
                <a:cubicBezTo>
                  <a:pt x="231575" y="109639"/>
                  <a:pt x="222599" y="104247"/>
                  <a:pt x="217573" y="96698"/>
                </a:cubicBezTo>
                <a:cubicBezTo>
                  <a:pt x="212546" y="104247"/>
                  <a:pt x="203929" y="109639"/>
                  <a:pt x="193877" y="109639"/>
                </a:cubicBezTo>
                <a:lnTo>
                  <a:pt x="170181" y="109639"/>
                </a:lnTo>
                <a:cubicBezTo>
                  <a:pt x="160487" y="109639"/>
                  <a:pt x="151511" y="104247"/>
                  <a:pt x="146485" y="96698"/>
                </a:cubicBezTo>
                <a:cubicBezTo>
                  <a:pt x="141458" y="104247"/>
                  <a:pt x="132841" y="109639"/>
                  <a:pt x="122788" y="109639"/>
                </a:cubicBezTo>
                <a:lnTo>
                  <a:pt x="99092" y="109639"/>
                </a:lnTo>
                <a:cubicBezTo>
                  <a:pt x="89398" y="109639"/>
                  <a:pt x="80782" y="104247"/>
                  <a:pt x="75755" y="96698"/>
                </a:cubicBezTo>
                <a:close/>
                <a:moveTo>
                  <a:pt x="222240" y="79802"/>
                </a:moveTo>
                <a:lnTo>
                  <a:pt x="222240" y="81240"/>
                </a:lnTo>
                <a:cubicBezTo>
                  <a:pt x="222240" y="92025"/>
                  <a:pt x="230498" y="100652"/>
                  <a:pt x="241269" y="100652"/>
                </a:cubicBezTo>
                <a:lnTo>
                  <a:pt x="264965" y="100652"/>
                </a:lnTo>
                <a:cubicBezTo>
                  <a:pt x="275377" y="100652"/>
                  <a:pt x="283993" y="92025"/>
                  <a:pt x="283993" y="81240"/>
                </a:cubicBezTo>
                <a:lnTo>
                  <a:pt x="283993" y="79802"/>
                </a:lnTo>
                <a:lnTo>
                  <a:pt x="222240" y="79802"/>
                </a:lnTo>
                <a:close/>
                <a:moveTo>
                  <a:pt x="151152" y="79802"/>
                </a:moveTo>
                <a:lnTo>
                  <a:pt x="151152" y="81240"/>
                </a:lnTo>
                <a:cubicBezTo>
                  <a:pt x="151152" y="92025"/>
                  <a:pt x="159769" y="100652"/>
                  <a:pt x="170181" y="100652"/>
                </a:cubicBezTo>
                <a:lnTo>
                  <a:pt x="193877" y="100652"/>
                </a:lnTo>
                <a:cubicBezTo>
                  <a:pt x="204648" y="100652"/>
                  <a:pt x="213264" y="92025"/>
                  <a:pt x="213264" y="81240"/>
                </a:cubicBezTo>
                <a:lnTo>
                  <a:pt x="213264" y="79802"/>
                </a:lnTo>
                <a:lnTo>
                  <a:pt x="151152" y="79802"/>
                </a:lnTo>
                <a:close/>
                <a:moveTo>
                  <a:pt x="80064" y="79802"/>
                </a:moveTo>
                <a:lnTo>
                  <a:pt x="80064" y="81240"/>
                </a:lnTo>
                <a:cubicBezTo>
                  <a:pt x="80064" y="92025"/>
                  <a:pt x="88680" y="100652"/>
                  <a:pt x="99092" y="100652"/>
                </a:cubicBezTo>
                <a:lnTo>
                  <a:pt x="122788" y="100652"/>
                </a:lnTo>
                <a:cubicBezTo>
                  <a:pt x="133560" y="100652"/>
                  <a:pt x="142176" y="92025"/>
                  <a:pt x="142176" y="81240"/>
                </a:cubicBezTo>
                <a:lnTo>
                  <a:pt x="142176" y="79802"/>
                </a:lnTo>
                <a:lnTo>
                  <a:pt x="80064" y="79802"/>
                </a:lnTo>
                <a:close/>
                <a:moveTo>
                  <a:pt x="8976" y="79802"/>
                </a:moveTo>
                <a:lnTo>
                  <a:pt x="8976" y="81240"/>
                </a:lnTo>
                <a:cubicBezTo>
                  <a:pt x="8976" y="92025"/>
                  <a:pt x="17592" y="100652"/>
                  <a:pt x="28363" y="100652"/>
                </a:cubicBezTo>
                <a:lnTo>
                  <a:pt x="52059" y="100652"/>
                </a:lnTo>
                <a:cubicBezTo>
                  <a:pt x="62471" y="100652"/>
                  <a:pt x="71088" y="92025"/>
                  <a:pt x="71088" y="81240"/>
                </a:cubicBezTo>
                <a:lnTo>
                  <a:pt x="71088" y="79802"/>
                </a:lnTo>
                <a:lnTo>
                  <a:pt x="8976" y="79802"/>
                </a:lnTo>
                <a:close/>
                <a:moveTo>
                  <a:pt x="207161" y="44574"/>
                </a:moveTo>
                <a:lnTo>
                  <a:pt x="220445" y="70816"/>
                </a:lnTo>
                <a:lnTo>
                  <a:pt x="277890" y="70816"/>
                </a:lnTo>
                <a:lnTo>
                  <a:pt x="251322" y="44574"/>
                </a:lnTo>
                <a:lnTo>
                  <a:pt x="207161" y="44574"/>
                </a:lnTo>
                <a:close/>
                <a:moveTo>
                  <a:pt x="151152" y="44574"/>
                </a:moveTo>
                <a:lnTo>
                  <a:pt x="151152" y="70816"/>
                </a:lnTo>
                <a:lnTo>
                  <a:pt x="210392" y="70816"/>
                </a:lnTo>
                <a:lnTo>
                  <a:pt x="197108" y="44574"/>
                </a:lnTo>
                <a:lnTo>
                  <a:pt x="151152" y="44574"/>
                </a:lnTo>
                <a:close/>
                <a:moveTo>
                  <a:pt x="95861" y="44574"/>
                </a:moveTo>
                <a:lnTo>
                  <a:pt x="82936" y="70816"/>
                </a:lnTo>
                <a:lnTo>
                  <a:pt x="142176" y="70816"/>
                </a:lnTo>
                <a:lnTo>
                  <a:pt x="142176" y="44574"/>
                </a:lnTo>
                <a:lnTo>
                  <a:pt x="95861" y="44574"/>
                </a:lnTo>
                <a:close/>
                <a:moveTo>
                  <a:pt x="42006" y="44574"/>
                </a:moveTo>
                <a:lnTo>
                  <a:pt x="15438" y="70816"/>
                </a:lnTo>
                <a:lnTo>
                  <a:pt x="72883" y="70816"/>
                </a:lnTo>
                <a:lnTo>
                  <a:pt x="86167" y="44574"/>
                </a:lnTo>
                <a:lnTo>
                  <a:pt x="42006" y="44574"/>
                </a:lnTo>
                <a:close/>
                <a:moveTo>
                  <a:pt x="44520" y="8987"/>
                </a:moveTo>
                <a:lnTo>
                  <a:pt x="44520" y="35588"/>
                </a:lnTo>
                <a:lnTo>
                  <a:pt x="248808" y="35588"/>
                </a:lnTo>
                <a:lnTo>
                  <a:pt x="248808" y="8987"/>
                </a:lnTo>
                <a:lnTo>
                  <a:pt x="44520" y="8987"/>
                </a:lnTo>
                <a:close/>
                <a:moveTo>
                  <a:pt x="40211" y="0"/>
                </a:moveTo>
                <a:lnTo>
                  <a:pt x="253117" y="0"/>
                </a:lnTo>
                <a:cubicBezTo>
                  <a:pt x="255630" y="0"/>
                  <a:pt x="257784" y="1797"/>
                  <a:pt x="257784" y="4314"/>
                </a:cubicBezTo>
                <a:lnTo>
                  <a:pt x="257784" y="38104"/>
                </a:lnTo>
                <a:lnTo>
                  <a:pt x="291533" y="72254"/>
                </a:lnTo>
                <a:cubicBezTo>
                  <a:pt x="292610" y="73332"/>
                  <a:pt x="292969" y="74410"/>
                  <a:pt x="292969" y="75489"/>
                </a:cubicBezTo>
                <a:lnTo>
                  <a:pt x="292969" y="81240"/>
                </a:lnTo>
                <a:cubicBezTo>
                  <a:pt x="292969" y="97057"/>
                  <a:pt x="280403" y="109639"/>
                  <a:pt x="264965" y="109639"/>
                </a:cubicBezTo>
                <a:lnTo>
                  <a:pt x="257784" y="109639"/>
                </a:lnTo>
                <a:lnTo>
                  <a:pt x="257784" y="198428"/>
                </a:lnTo>
                <a:cubicBezTo>
                  <a:pt x="257784" y="200585"/>
                  <a:pt x="255630" y="202742"/>
                  <a:pt x="253117" y="202742"/>
                </a:cubicBezTo>
                <a:lnTo>
                  <a:pt x="219009" y="202742"/>
                </a:lnTo>
                <a:lnTo>
                  <a:pt x="179156" y="236892"/>
                </a:lnTo>
                <a:lnTo>
                  <a:pt x="247372" y="236892"/>
                </a:lnTo>
                <a:cubicBezTo>
                  <a:pt x="248449" y="236892"/>
                  <a:pt x="249885" y="237611"/>
                  <a:pt x="250603" y="238330"/>
                </a:cubicBezTo>
                <a:lnTo>
                  <a:pt x="291892" y="285780"/>
                </a:lnTo>
                <a:cubicBezTo>
                  <a:pt x="293328" y="287218"/>
                  <a:pt x="293328" y="289015"/>
                  <a:pt x="292610" y="290453"/>
                </a:cubicBezTo>
                <a:cubicBezTo>
                  <a:pt x="291892" y="292250"/>
                  <a:pt x="290456" y="293329"/>
                  <a:pt x="288661" y="293329"/>
                </a:cubicBezTo>
                <a:lnTo>
                  <a:pt x="4667" y="293329"/>
                </a:lnTo>
                <a:cubicBezTo>
                  <a:pt x="2872" y="293329"/>
                  <a:pt x="1077" y="292250"/>
                  <a:pt x="359" y="290453"/>
                </a:cubicBezTo>
                <a:cubicBezTo>
                  <a:pt x="0" y="289015"/>
                  <a:pt x="0" y="287218"/>
                  <a:pt x="1077" y="285780"/>
                </a:cubicBezTo>
                <a:lnTo>
                  <a:pt x="42725" y="238330"/>
                </a:lnTo>
                <a:cubicBezTo>
                  <a:pt x="43443" y="237611"/>
                  <a:pt x="44879" y="236892"/>
                  <a:pt x="45956" y="236892"/>
                </a:cubicBezTo>
                <a:lnTo>
                  <a:pt x="113813" y="236892"/>
                </a:lnTo>
                <a:lnTo>
                  <a:pt x="73960" y="202742"/>
                </a:lnTo>
                <a:lnTo>
                  <a:pt x="40211" y="202742"/>
                </a:lnTo>
                <a:cubicBezTo>
                  <a:pt x="37698" y="202742"/>
                  <a:pt x="35903" y="200585"/>
                  <a:pt x="35903" y="198428"/>
                </a:cubicBezTo>
                <a:lnTo>
                  <a:pt x="35903" y="109639"/>
                </a:lnTo>
                <a:lnTo>
                  <a:pt x="28363" y="109639"/>
                </a:lnTo>
                <a:cubicBezTo>
                  <a:pt x="12925" y="109639"/>
                  <a:pt x="0" y="97057"/>
                  <a:pt x="0" y="81240"/>
                </a:cubicBezTo>
                <a:lnTo>
                  <a:pt x="0" y="75489"/>
                </a:lnTo>
                <a:cubicBezTo>
                  <a:pt x="0" y="74410"/>
                  <a:pt x="359" y="73332"/>
                  <a:pt x="1436" y="72254"/>
                </a:cubicBezTo>
                <a:lnTo>
                  <a:pt x="35903" y="38104"/>
                </a:lnTo>
                <a:lnTo>
                  <a:pt x="35903" y="4314"/>
                </a:lnTo>
                <a:cubicBezTo>
                  <a:pt x="35903" y="1797"/>
                  <a:pt x="37698" y="0"/>
                  <a:pt x="402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 sz="1067" dirty="0"/>
          </a:p>
        </p:txBody>
      </p:sp>
      <p:sp>
        <p:nvSpPr>
          <p:cNvPr id="23" name="Oval 3">
            <a:extLst>
              <a:ext uri="{FF2B5EF4-FFF2-40B4-BE49-F238E27FC236}">
                <a16:creationId xmlns:a16="http://schemas.microsoft.com/office/drawing/2014/main" id="{A6C91DF2-CB6D-D80D-42F3-A11D9F8B161E}"/>
              </a:ext>
            </a:extLst>
          </p:cNvPr>
          <p:cNvSpPr/>
          <p:nvPr/>
        </p:nvSpPr>
        <p:spPr>
          <a:xfrm>
            <a:off x="1425990" y="2357398"/>
            <a:ext cx="707852" cy="664045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67" dirty="0"/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13DDB530-3B18-FBEF-F17E-D7C4E18193FF}"/>
              </a:ext>
            </a:extLst>
          </p:cNvPr>
          <p:cNvSpPr txBox="1"/>
          <p:nvPr/>
        </p:nvSpPr>
        <p:spPr>
          <a:xfrm>
            <a:off x="1225920" y="3118228"/>
            <a:ext cx="1107996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 err="1"/>
              <a:t>设备集中管理</a:t>
            </a:r>
            <a:endParaRPr lang="en-US" sz="1200" b="1" dirty="0">
              <a:ea typeface="League Spartan" charset="0"/>
              <a:cs typeface="Calibri" panose="020F0502020204030204" pitchFamily="34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4690598-CA48-E6CF-8729-D7685A9D39AF}"/>
              </a:ext>
            </a:extLst>
          </p:cNvPr>
          <p:cNvSpPr txBox="1">
            <a:spLocks/>
          </p:cNvSpPr>
          <p:nvPr/>
        </p:nvSpPr>
        <p:spPr>
          <a:xfrm>
            <a:off x="943897" y="3427837"/>
            <a:ext cx="1573162" cy="615553"/>
          </a:xfrm>
          <a:prstGeom prst="rect">
            <a:avLst/>
          </a:prstGeom>
        </p:spPr>
        <p:txBody>
          <a:bodyPr vert="horz" wrap="square" lIns="60960" tIns="30480" rIns="60960" bIns="3048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 err="1"/>
              <a:t>多客户</a:t>
            </a:r>
            <a:r>
              <a:rPr lang="en-US" sz="900" dirty="0"/>
              <a:t>/</a:t>
            </a:r>
            <a:r>
              <a:rPr lang="en-US" sz="900" dirty="0" err="1"/>
              <a:t>多工厂</a:t>
            </a:r>
            <a:r>
              <a:rPr lang="en-US" sz="900" dirty="0"/>
              <a:t>/</a:t>
            </a:r>
            <a:r>
              <a:rPr lang="en-US" sz="900" dirty="0" err="1"/>
              <a:t>多设备统一台账</a:t>
            </a:r>
            <a:endParaRPr lang="en-US" sz="900" dirty="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900" dirty="0" err="1"/>
              <a:t>档案、投运时间、服务记录、风险状态</a:t>
            </a:r>
            <a:endParaRPr lang="en-US" sz="900" b="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6" name="Oval 82">
            <a:extLst>
              <a:ext uri="{FF2B5EF4-FFF2-40B4-BE49-F238E27FC236}">
                <a16:creationId xmlns:a16="http://schemas.microsoft.com/office/drawing/2014/main" id="{4FECE0C4-4E51-E00C-30D0-41217CCEAFB1}"/>
              </a:ext>
            </a:extLst>
          </p:cNvPr>
          <p:cNvSpPr/>
          <p:nvPr/>
        </p:nvSpPr>
        <p:spPr>
          <a:xfrm>
            <a:off x="1425990" y="4373424"/>
            <a:ext cx="707852" cy="66404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7" name="TextBox 84">
            <a:extLst>
              <a:ext uri="{FF2B5EF4-FFF2-40B4-BE49-F238E27FC236}">
                <a16:creationId xmlns:a16="http://schemas.microsoft.com/office/drawing/2014/main" id="{7CC089C9-75D5-7159-85D4-ED034296E4A4}"/>
              </a:ext>
            </a:extLst>
          </p:cNvPr>
          <p:cNvSpPr txBox="1"/>
          <p:nvPr/>
        </p:nvSpPr>
        <p:spPr>
          <a:xfrm>
            <a:off x="995089" y="5134254"/>
            <a:ext cx="1569660" cy="276999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200" b="1" dirty="0" err="1"/>
              <a:t>远程诊断与处置建议</a:t>
            </a:r>
            <a:endParaRPr lang="en-US" sz="1200" b="1" dirty="0">
              <a:ea typeface="League Spartan" charset="0"/>
              <a:cs typeface="Calibri" panose="020F050202020403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83245C7-A777-AEF9-2036-039B38562164}"/>
              </a:ext>
            </a:extLst>
          </p:cNvPr>
          <p:cNvSpPr txBox="1">
            <a:spLocks/>
          </p:cNvSpPr>
          <p:nvPr/>
        </p:nvSpPr>
        <p:spPr>
          <a:xfrm>
            <a:off x="943897" y="5443863"/>
            <a:ext cx="1672038" cy="643253"/>
          </a:xfrm>
          <a:prstGeom prst="rect">
            <a:avLst/>
          </a:prstGeom>
        </p:spPr>
        <p:txBody>
          <a:bodyPr vert="horz" wrap="square" lIns="60960" tIns="30480" rIns="60960" bIns="3048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报警时推送判断依据、可能原因、相似案例、处置建议</a:t>
            </a:r>
            <a:endParaRPr lang="en-US" sz="900" dirty="0"/>
          </a:p>
          <a:p>
            <a:pPr marL="171450" indent="-171450" algn="l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900" dirty="0" err="1"/>
              <a:t>巡检机器人漏点自动挂起工单闭环</a:t>
            </a:r>
            <a:endParaRPr lang="en-US" sz="900" b="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29" name="Freeform 940">
            <a:extLst>
              <a:ext uri="{FF2B5EF4-FFF2-40B4-BE49-F238E27FC236}">
                <a16:creationId xmlns:a16="http://schemas.microsoft.com/office/drawing/2014/main" id="{54D6FE52-0ED6-15C1-9F87-053FC8A61D73}"/>
              </a:ext>
            </a:extLst>
          </p:cNvPr>
          <p:cNvSpPr>
            <a:spLocks noChangeAspect="1"/>
          </p:cNvSpPr>
          <p:nvPr/>
        </p:nvSpPr>
        <p:spPr bwMode="auto">
          <a:xfrm>
            <a:off x="1562248" y="4501248"/>
            <a:ext cx="435339" cy="408396"/>
          </a:xfrm>
          <a:custGeom>
            <a:avLst/>
            <a:gdLst>
              <a:gd name="T0" fmla="*/ 10094907 w 293328"/>
              <a:gd name="T1" fmla="*/ 5511422 h 293328"/>
              <a:gd name="T2" fmla="*/ 4550546 w 293328"/>
              <a:gd name="T3" fmla="*/ 4401261 h 293328"/>
              <a:gd name="T4" fmla="*/ 4184428 w 293328"/>
              <a:gd name="T5" fmla="*/ 5798781 h 293328"/>
              <a:gd name="T6" fmla="*/ 5400559 w 293328"/>
              <a:gd name="T7" fmla="*/ 6582348 h 293328"/>
              <a:gd name="T8" fmla="*/ 6472759 w 293328"/>
              <a:gd name="T9" fmla="*/ 5798781 h 293328"/>
              <a:gd name="T10" fmla="*/ 6119705 w 293328"/>
              <a:gd name="T11" fmla="*/ 4401261 h 293328"/>
              <a:gd name="T12" fmla="*/ 5321798 w 293328"/>
              <a:gd name="T13" fmla="*/ 1095835 h 293328"/>
              <a:gd name="T14" fmla="*/ 6224538 w 293328"/>
              <a:gd name="T15" fmla="*/ 1515135 h 293328"/>
              <a:gd name="T16" fmla="*/ 7258088 w 293328"/>
              <a:gd name="T17" fmla="*/ 1764202 h 293328"/>
              <a:gd name="T18" fmla="*/ 7859976 w 293328"/>
              <a:gd name="T19" fmla="*/ 2157309 h 293328"/>
              <a:gd name="T20" fmla="*/ 8461775 w 293328"/>
              <a:gd name="T21" fmla="*/ 3022167 h 293328"/>
              <a:gd name="T22" fmla="*/ 9207529 w 293328"/>
              <a:gd name="T23" fmla="*/ 3703596 h 293328"/>
              <a:gd name="T24" fmla="*/ 9168242 w 293328"/>
              <a:gd name="T25" fmla="*/ 4712642 h 293328"/>
              <a:gd name="T26" fmla="*/ 8815000 w 293328"/>
              <a:gd name="T27" fmla="*/ 4267100 h 293328"/>
              <a:gd name="T28" fmla="*/ 8762695 w 293328"/>
              <a:gd name="T29" fmla="*/ 3677397 h 293328"/>
              <a:gd name="T30" fmla="*/ 8147770 w 293328"/>
              <a:gd name="T31" fmla="*/ 2773181 h 293328"/>
              <a:gd name="T32" fmla="*/ 7624468 w 293328"/>
              <a:gd name="T33" fmla="*/ 2484890 h 293328"/>
              <a:gd name="T34" fmla="*/ 6800175 w 293328"/>
              <a:gd name="T35" fmla="*/ 1711767 h 293328"/>
              <a:gd name="T36" fmla="*/ 5688134 w 293328"/>
              <a:gd name="T37" fmla="*/ 1685538 h 293328"/>
              <a:gd name="T38" fmla="*/ 5112459 w 293328"/>
              <a:gd name="T39" fmla="*/ 1502117 h 293328"/>
              <a:gd name="T40" fmla="*/ 4039633 w 293328"/>
              <a:gd name="T41" fmla="*/ 1724841 h 293328"/>
              <a:gd name="T42" fmla="*/ 3581696 w 293328"/>
              <a:gd name="T43" fmla="*/ 2104830 h 293328"/>
              <a:gd name="T44" fmla="*/ 2561279 w 293328"/>
              <a:gd name="T45" fmla="*/ 2563511 h 293328"/>
              <a:gd name="T46" fmla="*/ 2103257 w 293328"/>
              <a:gd name="T47" fmla="*/ 3585664 h 293328"/>
              <a:gd name="T48" fmla="*/ 1723820 w 293328"/>
              <a:gd name="T49" fmla="*/ 4044268 h 293328"/>
              <a:gd name="T50" fmla="*/ 1501500 w 293328"/>
              <a:gd name="T51" fmla="*/ 5118887 h 293328"/>
              <a:gd name="T52" fmla="*/ 1684654 w 293328"/>
              <a:gd name="T53" fmla="*/ 5695410 h 293328"/>
              <a:gd name="T54" fmla="*/ 1710818 w 293328"/>
              <a:gd name="T55" fmla="*/ 6822380 h 293328"/>
              <a:gd name="T56" fmla="*/ 2495735 w 293328"/>
              <a:gd name="T57" fmla="*/ 7634848 h 293328"/>
              <a:gd name="T58" fmla="*/ 2770578 w 293328"/>
              <a:gd name="T59" fmla="*/ 8159066 h 293328"/>
              <a:gd name="T60" fmla="*/ 3673264 w 293328"/>
              <a:gd name="T61" fmla="*/ 8774958 h 293328"/>
              <a:gd name="T62" fmla="*/ 4261997 w 293328"/>
              <a:gd name="T63" fmla="*/ 8827318 h 293328"/>
              <a:gd name="T64" fmla="*/ 4706832 w 293328"/>
              <a:gd name="T65" fmla="*/ 9181164 h 293328"/>
              <a:gd name="T66" fmla="*/ 3921927 w 293328"/>
              <a:gd name="T67" fmla="*/ 9272849 h 293328"/>
              <a:gd name="T68" fmla="*/ 3280772 w 293328"/>
              <a:gd name="T69" fmla="*/ 8656988 h 293328"/>
              <a:gd name="T70" fmla="*/ 2338782 w 293328"/>
              <a:gd name="T71" fmla="*/ 8316252 h 293328"/>
              <a:gd name="T72" fmla="*/ 1985501 w 293328"/>
              <a:gd name="T73" fmla="*/ 7359697 h 293328"/>
              <a:gd name="T74" fmla="*/ 1422960 w 293328"/>
              <a:gd name="T75" fmla="*/ 6468575 h 293328"/>
              <a:gd name="T76" fmla="*/ 1279018 w 293328"/>
              <a:gd name="T77" fmla="*/ 5760948 h 293328"/>
              <a:gd name="T78" fmla="*/ 1462171 w 293328"/>
              <a:gd name="T79" fmla="*/ 4712642 h 293328"/>
              <a:gd name="T80" fmla="*/ 1409958 w 293328"/>
              <a:gd name="T81" fmla="*/ 3703596 h 293328"/>
              <a:gd name="T82" fmla="*/ 2168654 w 293328"/>
              <a:gd name="T83" fmla="*/ 3022167 h 293328"/>
              <a:gd name="T84" fmla="*/ 2770578 w 293328"/>
              <a:gd name="T85" fmla="*/ 2157309 h 293328"/>
              <a:gd name="T86" fmla="*/ 3372357 w 293328"/>
              <a:gd name="T87" fmla="*/ 1764202 h 293328"/>
              <a:gd name="T88" fmla="*/ 4405936 w 293328"/>
              <a:gd name="T89" fmla="*/ 1515135 h 293328"/>
              <a:gd name="T90" fmla="*/ 5321798 w 293328"/>
              <a:gd name="T91" fmla="*/ 1095835 h 293328"/>
              <a:gd name="T92" fmla="*/ 5165152 w 293328"/>
              <a:gd name="T93" fmla="*/ 10330664 h 293328"/>
              <a:gd name="T94" fmla="*/ 3792097 w 293328"/>
              <a:gd name="T95" fmla="*/ 7705561 h 293328"/>
              <a:gd name="T96" fmla="*/ 3556700 w 293328"/>
              <a:gd name="T97" fmla="*/ 7535724 h 293328"/>
              <a:gd name="T98" fmla="*/ 2563005 w 293328"/>
              <a:gd name="T99" fmla="*/ 4466614 h 293328"/>
              <a:gd name="T100" fmla="*/ 5178176 w 293328"/>
              <a:gd name="T101" fmla="*/ 2546746 h 293328"/>
              <a:gd name="T102" fmla="*/ 7950382 w 293328"/>
              <a:gd name="T103" fmla="*/ 4349099 h 293328"/>
              <a:gd name="T104" fmla="*/ 6799670 w 293328"/>
              <a:gd name="T105" fmla="*/ 5837939 h 293328"/>
              <a:gd name="T106" fmla="*/ 5335118 w 293328"/>
              <a:gd name="T107" fmla="*/ 326516 h 293328"/>
              <a:gd name="T108" fmla="*/ 10617946 w 293328"/>
              <a:gd name="T109" fmla="*/ 5446145 h 293328"/>
              <a:gd name="T110" fmla="*/ 0 w 293328"/>
              <a:gd name="T111" fmla="*/ 5328636 h 29332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293328" h="293328">
                <a:moveTo>
                  <a:pt x="277852" y="151696"/>
                </a:moveTo>
                <a:cubicBezTo>
                  <a:pt x="210908" y="157088"/>
                  <a:pt x="156922" y="211009"/>
                  <a:pt x="151523" y="277870"/>
                </a:cubicBezTo>
                <a:lnTo>
                  <a:pt x="277852" y="151696"/>
                </a:lnTo>
                <a:close/>
                <a:moveTo>
                  <a:pt x="146844" y="81959"/>
                </a:moveTo>
                <a:lnTo>
                  <a:pt x="128489" y="118625"/>
                </a:lnTo>
                <a:cubicBezTo>
                  <a:pt x="127769" y="120423"/>
                  <a:pt x="126689" y="121141"/>
                  <a:pt x="125249" y="121141"/>
                </a:cubicBezTo>
                <a:lnTo>
                  <a:pt x="84579" y="127252"/>
                </a:lnTo>
                <a:lnTo>
                  <a:pt x="114092" y="155651"/>
                </a:lnTo>
                <a:cubicBezTo>
                  <a:pt x="114812" y="156729"/>
                  <a:pt x="115532" y="158167"/>
                  <a:pt x="115172" y="159605"/>
                </a:cubicBezTo>
                <a:lnTo>
                  <a:pt x="108334" y="200225"/>
                </a:lnTo>
                <a:lnTo>
                  <a:pt x="144685" y="181173"/>
                </a:lnTo>
                <a:cubicBezTo>
                  <a:pt x="145764" y="180454"/>
                  <a:pt x="147204" y="180454"/>
                  <a:pt x="148644" y="181173"/>
                </a:cubicBezTo>
                <a:lnTo>
                  <a:pt x="175997" y="195552"/>
                </a:lnTo>
                <a:cubicBezTo>
                  <a:pt x="178156" y="193035"/>
                  <a:pt x="180316" y="190160"/>
                  <a:pt x="182835" y="188003"/>
                </a:cubicBezTo>
                <a:lnTo>
                  <a:pt x="178156" y="159605"/>
                </a:lnTo>
                <a:cubicBezTo>
                  <a:pt x="177797" y="158167"/>
                  <a:pt x="178516" y="156729"/>
                  <a:pt x="179596" y="155651"/>
                </a:cubicBezTo>
                <a:lnTo>
                  <a:pt x="208749" y="127252"/>
                </a:lnTo>
                <a:lnTo>
                  <a:pt x="168439" y="121141"/>
                </a:lnTo>
                <a:cubicBezTo>
                  <a:pt x="166639" y="121141"/>
                  <a:pt x="165560" y="120423"/>
                  <a:pt x="164840" y="118625"/>
                </a:cubicBezTo>
                <a:lnTo>
                  <a:pt x="146844" y="81959"/>
                </a:lnTo>
                <a:close/>
                <a:moveTo>
                  <a:pt x="146477" y="30162"/>
                </a:moveTo>
                <a:cubicBezTo>
                  <a:pt x="150798" y="30162"/>
                  <a:pt x="155119" y="31965"/>
                  <a:pt x="158360" y="35212"/>
                </a:cubicBezTo>
                <a:lnTo>
                  <a:pt x="162681" y="40261"/>
                </a:lnTo>
                <a:cubicBezTo>
                  <a:pt x="165202" y="42425"/>
                  <a:pt x="168443" y="43147"/>
                  <a:pt x="171324" y="41704"/>
                </a:cubicBezTo>
                <a:lnTo>
                  <a:pt x="177806" y="39179"/>
                </a:lnTo>
                <a:cubicBezTo>
                  <a:pt x="181767" y="37376"/>
                  <a:pt x="186448" y="37015"/>
                  <a:pt x="190769" y="38818"/>
                </a:cubicBezTo>
                <a:cubicBezTo>
                  <a:pt x="195091" y="40622"/>
                  <a:pt x="197972" y="44229"/>
                  <a:pt x="199772" y="48557"/>
                </a:cubicBezTo>
                <a:lnTo>
                  <a:pt x="202293" y="54688"/>
                </a:lnTo>
                <a:cubicBezTo>
                  <a:pt x="203373" y="57574"/>
                  <a:pt x="206254" y="59377"/>
                  <a:pt x="209495" y="59738"/>
                </a:cubicBezTo>
                <a:lnTo>
                  <a:pt x="216337" y="59377"/>
                </a:lnTo>
                <a:cubicBezTo>
                  <a:pt x="220658" y="59377"/>
                  <a:pt x="225339" y="60820"/>
                  <a:pt x="228580" y="64427"/>
                </a:cubicBezTo>
                <a:cubicBezTo>
                  <a:pt x="231461" y="67673"/>
                  <a:pt x="233622" y="72001"/>
                  <a:pt x="233262" y="76329"/>
                </a:cubicBezTo>
                <a:lnTo>
                  <a:pt x="232902" y="83182"/>
                </a:lnTo>
                <a:cubicBezTo>
                  <a:pt x="232902" y="86428"/>
                  <a:pt x="235062" y="89314"/>
                  <a:pt x="237943" y="90396"/>
                </a:cubicBezTo>
                <a:lnTo>
                  <a:pt x="244425" y="92920"/>
                </a:lnTo>
                <a:cubicBezTo>
                  <a:pt x="248386" y="94363"/>
                  <a:pt x="251987" y="97609"/>
                  <a:pt x="253428" y="101937"/>
                </a:cubicBezTo>
                <a:cubicBezTo>
                  <a:pt x="255228" y="105905"/>
                  <a:pt x="255228" y="110954"/>
                  <a:pt x="253428" y="114922"/>
                </a:cubicBezTo>
                <a:lnTo>
                  <a:pt x="250547" y="121414"/>
                </a:lnTo>
                <a:cubicBezTo>
                  <a:pt x="249106" y="123939"/>
                  <a:pt x="249826" y="127546"/>
                  <a:pt x="252347" y="129710"/>
                </a:cubicBezTo>
                <a:cubicBezTo>
                  <a:pt x="254148" y="131513"/>
                  <a:pt x="254148" y="134399"/>
                  <a:pt x="252347" y="136202"/>
                </a:cubicBezTo>
                <a:cubicBezTo>
                  <a:pt x="250907" y="137645"/>
                  <a:pt x="248026" y="138005"/>
                  <a:pt x="246225" y="136202"/>
                </a:cubicBezTo>
                <a:cubicBezTo>
                  <a:pt x="241184" y="131513"/>
                  <a:pt x="239744" y="123939"/>
                  <a:pt x="242624" y="117447"/>
                </a:cubicBezTo>
                <a:lnTo>
                  <a:pt x="245145" y="111315"/>
                </a:lnTo>
                <a:cubicBezTo>
                  <a:pt x="246225" y="109512"/>
                  <a:pt x="246225" y="107348"/>
                  <a:pt x="245145" y="105544"/>
                </a:cubicBezTo>
                <a:cubicBezTo>
                  <a:pt x="244785" y="103380"/>
                  <a:pt x="242984" y="101937"/>
                  <a:pt x="241184" y="101216"/>
                </a:cubicBezTo>
                <a:lnTo>
                  <a:pt x="234702" y="98691"/>
                </a:lnTo>
                <a:cubicBezTo>
                  <a:pt x="228220" y="96167"/>
                  <a:pt x="223899" y="90035"/>
                  <a:pt x="224259" y="82821"/>
                </a:cubicBezTo>
                <a:lnTo>
                  <a:pt x="224259" y="76329"/>
                </a:lnTo>
                <a:cubicBezTo>
                  <a:pt x="224259" y="74165"/>
                  <a:pt x="223539" y="72001"/>
                  <a:pt x="222098" y="70558"/>
                </a:cubicBezTo>
                <a:cubicBezTo>
                  <a:pt x="220658" y="69116"/>
                  <a:pt x="218497" y="68394"/>
                  <a:pt x="216337" y="68394"/>
                </a:cubicBezTo>
                <a:lnTo>
                  <a:pt x="209855" y="68394"/>
                </a:lnTo>
                <a:cubicBezTo>
                  <a:pt x="202653" y="68755"/>
                  <a:pt x="196531" y="64427"/>
                  <a:pt x="194010" y="57934"/>
                </a:cubicBezTo>
                <a:lnTo>
                  <a:pt x="191490" y="51442"/>
                </a:lnTo>
                <a:cubicBezTo>
                  <a:pt x="190769" y="49639"/>
                  <a:pt x="189329" y="47835"/>
                  <a:pt x="187168" y="47114"/>
                </a:cubicBezTo>
                <a:cubicBezTo>
                  <a:pt x="185368" y="46393"/>
                  <a:pt x="183207" y="46393"/>
                  <a:pt x="181407" y="47475"/>
                </a:cubicBezTo>
                <a:lnTo>
                  <a:pt x="174925" y="49999"/>
                </a:lnTo>
                <a:cubicBezTo>
                  <a:pt x="168803" y="52885"/>
                  <a:pt x="161241" y="51442"/>
                  <a:pt x="156560" y="46393"/>
                </a:cubicBezTo>
                <a:lnTo>
                  <a:pt x="151878" y="41343"/>
                </a:lnTo>
                <a:cubicBezTo>
                  <a:pt x="150438" y="39900"/>
                  <a:pt x="148637" y="39179"/>
                  <a:pt x="146477" y="39179"/>
                </a:cubicBezTo>
                <a:cubicBezTo>
                  <a:pt x="144316" y="39179"/>
                  <a:pt x="142155" y="39900"/>
                  <a:pt x="140715" y="41343"/>
                </a:cubicBezTo>
                <a:lnTo>
                  <a:pt x="136034" y="46393"/>
                </a:lnTo>
                <a:cubicBezTo>
                  <a:pt x="131352" y="51442"/>
                  <a:pt x="123790" y="52885"/>
                  <a:pt x="117308" y="49999"/>
                </a:cubicBezTo>
                <a:lnTo>
                  <a:pt x="111186" y="47475"/>
                </a:lnTo>
                <a:cubicBezTo>
                  <a:pt x="109386" y="46393"/>
                  <a:pt x="107225" y="46393"/>
                  <a:pt x="105425" y="47114"/>
                </a:cubicBezTo>
                <a:cubicBezTo>
                  <a:pt x="103264" y="47835"/>
                  <a:pt x="101824" y="49639"/>
                  <a:pt x="101104" y="51442"/>
                </a:cubicBezTo>
                <a:lnTo>
                  <a:pt x="98583" y="57934"/>
                </a:lnTo>
                <a:cubicBezTo>
                  <a:pt x="96062" y="64427"/>
                  <a:pt x="89940" y="68755"/>
                  <a:pt x="82738" y="68394"/>
                </a:cubicBezTo>
                <a:lnTo>
                  <a:pt x="76256" y="68394"/>
                </a:lnTo>
                <a:cubicBezTo>
                  <a:pt x="74096" y="68394"/>
                  <a:pt x="71935" y="69116"/>
                  <a:pt x="70495" y="70558"/>
                </a:cubicBezTo>
                <a:cubicBezTo>
                  <a:pt x="69054" y="72001"/>
                  <a:pt x="68334" y="74165"/>
                  <a:pt x="68334" y="76329"/>
                </a:cubicBezTo>
                <a:lnTo>
                  <a:pt x="68694" y="82821"/>
                </a:lnTo>
                <a:cubicBezTo>
                  <a:pt x="68694" y="90035"/>
                  <a:pt x="64373" y="96167"/>
                  <a:pt x="57891" y="98691"/>
                </a:cubicBezTo>
                <a:lnTo>
                  <a:pt x="51409" y="101216"/>
                </a:lnTo>
                <a:cubicBezTo>
                  <a:pt x="49609" y="101937"/>
                  <a:pt x="47808" y="103380"/>
                  <a:pt x="47088" y="105544"/>
                </a:cubicBezTo>
                <a:cubicBezTo>
                  <a:pt x="46368" y="107348"/>
                  <a:pt x="46368" y="109512"/>
                  <a:pt x="47448" y="111315"/>
                </a:cubicBezTo>
                <a:lnTo>
                  <a:pt x="49969" y="117447"/>
                </a:lnTo>
                <a:cubicBezTo>
                  <a:pt x="52850" y="123939"/>
                  <a:pt x="51409" y="131513"/>
                  <a:pt x="46368" y="136202"/>
                </a:cubicBezTo>
                <a:lnTo>
                  <a:pt x="41326" y="140891"/>
                </a:lnTo>
                <a:cubicBezTo>
                  <a:pt x="39886" y="142334"/>
                  <a:pt x="39166" y="144498"/>
                  <a:pt x="39166" y="146301"/>
                </a:cubicBezTo>
                <a:cubicBezTo>
                  <a:pt x="39166" y="148465"/>
                  <a:pt x="39886" y="150629"/>
                  <a:pt x="41326" y="152072"/>
                </a:cubicBezTo>
                <a:lnTo>
                  <a:pt x="46368" y="156761"/>
                </a:lnTo>
                <a:cubicBezTo>
                  <a:pt x="51409" y="161450"/>
                  <a:pt x="52850" y="169024"/>
                  <a:pt x="49969" y="175155"/>
                </a:cubicBezTo>
                <a:lnTo>
                  <a:pt x="47448" y="181648"/>
                </a:lnTo>
                <a:cubicBezTo>
                  <a:pt x="46368" y="183451"/>
                  <a:pt x="46368" y="185615"/>
                  <a:pt x="47088" y="187779"/>
                </a:cubicBezTo>
                <a:cubicBezTo>
                  <a:pt x="47808" y="189583"/>
                  <a:pt x="49609" y="191025"/>
                  <a:pt x="51409" y="191747"/>
                </a:cubicBezTo>
                <a:lnTo>
                  <a:pt x="57891" y="194271"/>
                </a:lnTo>
                <a:cubicBezTo>
                  <a:pt x="64373" y="196796"/>
                  <a:pt x="68694" y="202928"/>
                  <a:pt x="68694" y="210141"/>
                </a:cubicBezTo>
                <a:lnTo>
                  <a:pt x="68334" y="216994"/>
                </a:lnTo>
                <a:cubicBezTo>
                  <a:pt x="68334" y="218798"/>
                  <a:pt x="69054" y="220962"/>
                  <a:pt x="70495" y="222405"/>
                </a:cubicBezTo>
                <a:cubicBezTo>
                  <a:pt x="71935" y="223847"/>
                  <a:pt x="74096" y="224929"/>
                  <a:pt x="76256" y="224569"/>
                </a:cubicBezTo>
                <a:lnTo>
                  <a:pt x="82738" y="224569"/>
                </a:lnTo>
                <a:cubicBezTo>
                  <a:pt x="89940" y="224569"/>
                  <a:pt x="96062" y="228536"/>
                  <a:pt x="98583" y="235028"/>
                </a:cubicBezTo>
                <a:lnTo>
                  <a:pt x="101104" y="241521"/>
                </a:lnTo>
                <a:cubicBezTo>
                  <a:pt x="101824" y="243324"/>
                  <a:pt x="103264" y="245127"/>
                  <a:pt x="105425" y="245488"/>
                </a:cubicBezTo>
                <a:cubicBezTo>
                  <a:pt x="107225" y="246570"/>
                  <a:pt x="109386" y="246570"/>
                  <a:pt x="111186" y="245488"/>
                </a:cubicBezTo>
                <a:lnTo>
                  <a:pt x="117308" y="242963"/>
                </a:lnTo>
                <a:cubicBezTo>
                  <a:pt x="123790" y="240078"/>
                  <a:pt x="131352" y="241521"/>
                  <a:pt x="136034" y="246570"/>
                </a:cubicBezTo>
                <a:cubicBezTo>
                  <a:pt x="137834" y="248373"/>
                  <a:pt x="137834" y="251259"/>
                  <a:pt x="136034" y="252702"/>
                </a:cubicBezTo>
                <a:cubicBezTo>
                  <a:pt x="134233" y="254505"/>
                  <a:pt x="131352" y="254505"/>
                  <a:pt x="129552" y="252702"/>
                </a:cubicBezTo>
                <a:cubicBezTo>
                  <a:pt x="127391" y="250177"/>
                  <a:pt x="123790" y="249816"/>
                  <a:pt x="121269" y="250898"/>
                </a:cubicBezTo>
                <a:lnTo>
                  <a:pt x="114788" y="253784"/>
                </a:lnTo>
                <a:cubicBezTo>
                  <a:pt x="112627" y="254866"/>
                  <a:pt x="110466" y="255226"/>
                  <a:pt x="107946" y="255226"/>
                </a:cubicBezTo>
                <a:cubicBezTo>
                  <a:pt x="105785" y="255226"/>
                  <a:pt x="103624" y="254866"/>
                  <a:pt x="101824" y="253784"/>
                </a:cubicBezTo>
                <a:cubicBezTo>
                  <a:pt x="97863" y="251980"/>
                  <a:pt x="94262" y="248734"/>
                  <a:pt x="92821" y="244406"/>
                </a:cubicBezTo>
                <a:lnTo>
                  <a:pt x="90300" y="238274"/>
                </a:lnTo>
                <a:cubicBezTo>
                  <a:pt x="89220" y="235389"/>
                  <a:pt x="85979" y="233225"/>
                  <a:pt x="83098" y="233225"/>
                </a:cubicBezTo>
                <a:lnTo>
                  <a:pt x="76256" y="233586"/>
                </a:lnTo>
                <a:cubicBezTo>
                  <a:pt x="71935" y="233586"/>
                  <a:pt x="67254" y="231782"/>
                  <a:pt x="64373" y="228897"/>
                </a:cubicBezTo>
                <a:cubicBezTo>
                  <a:pt x="60772" y="225651"/>
                  <a:pt x="59332" y="220962"/>
                  <a:pt x="59332" y="216634"/>
                </a:cubicBezTo>
                <a:lnTo>
                  <a:pt x="59692" y="209781"/>
                </a:lnTo>
                <a:cubicBezTo>
                  <a:pt x="59692" y="206535"/>
                  <a:pt x="57891" y="203649"/>
                  <a:pt x="54650" y="202567"/>
                </a:cubicBezTo>
                <a:lnTo>
                  <a:pt x="48528" y="200042"/>
                </a:lnTo>
                <a:cubicBezTo>
                  <a:pt x="44207" y="198239"/>
                  <a:pt x="40606" y="195354"/>
                  <a:pt x="38806" y="191025"/>
                </a:cubicBezTo>
                <a:cubicBezTo>
                  <a:pt x="37005" y="186697"/>
                  <a:pt x="37365" y="182008"/>
                  <a:pt x="39166" y="178041"/>
                </a:cubicBezTo>
                <a:lnTo>
                  <a:pt x="41686" y="171549"/>
                </a:lnTo>
                <a:cubicBezTo>
                  <a:pt x="43487" y="168663"/>
                  <a:pt x="42407" y="165417"/>
                  <a:pt x="40246" y="162892"/>
                </a:cubicBezTo>
                <a:lnTo>
                  <a:pt x="35205" y="158564"/>
                </a:lnTo>
                <a:cubicBezTo>
                  <a:pt x="32324" y="155318"/>
                  <a:pt x="30163" y="150990"/>
                  <a:pt x="30163" y="146301"/>
                </a:cubicBezTo>
                <a:cubicBezTo>
                  <a:pt x="30163" y="141973"/>
                  <a:pt x="32324" y="137645"/>
                  <a:pt x="35205" y="134399"/>
                </a:cubicBezTo>
                <a:lnTo>
                  <a:pt x="40246" y="129710"/>
                </a:lnTo>
                <a:cubicBezTo>
                  <a:pt x="42407" y="127546"/>
                  <a:pt x="43487" y="123939"/>
                  <a:pt x="41686" y="121414"/>
                </a:cubicBezTo>
                <a:lnTo>
                  <a:pt x="39166" y="114922"/>
                </a:lnTo>
                <a:cubicBezTo>
                  <a:pt x="37365" y="110954"/>
                  <a:pt x="37005" y="105905"/>
                  <a:pt x="38806" y="101937"/>
                </a:cubicBezTo>
                <a:cubicBezTo>
                  <a:pt x="40606" y="97609"/>
                  <a:pt x="44207" y="94363"/>
                  <a:pt x="48528" y="92920"/>
                </a:cubicBezTo>
                <a:lnTo>
                  <a:pt x="54650" y="90396"/>
                </a:lnTo>
                <a:cubicBezTo>
                  <a:pt x="57891" y="89314"/>
                  <a:pt x="59692" y="86428"/>
                  <a:pt x="59692" y="83182"/>
                </a:cubicBezTo>
                <a:lnTo>
                  <a:pt x="59332" y="76329"/>
                </a:lnTo>
                <a:cubicBezTo>
                  <a:pt x="59332" y="71640"/>
                  <a:pt x="60772" y="67673"/>
                  <a:pt x="64373" y="64427"/>
                </a:cubicBezTo>
                <a:cubicBezTo>
                  <a:pt x="67254" y="60820"/>
                  <a:pt x="71575" y="59377"/>
                  <a:pt x="76256" y="59377"/>
                </a:cubicBezTo>
                <a:lnTo>
                  <a:pt x="83098" y="59738"/>
                </a:lnTo>
                <a:cubicBezTo>
                  <a:pt x="86339" y="59377"/>
                  <a:pt x="89220" y="57574"/>
                  <a:pt x="90300" y="54688"/>
                </a:cubicBezTo>
                <a:lnTo>
                  <a:pt x="92821" y="48557"/>
                </a:lnTo>
                <a:cubicBezTo>
                  <a:pt x="94262" y="44229"/>
                  <a:pt x="97863" y="40622"/>
                  <a:pt x="101824" y="38818"/>
                </a:cubicBezTo>
                <a:cubicBezTo>
                  <a:pt x="105785" y="37015"/>
                  <a:pt x="110826" y="37376"/>
                  <a:pt x="114788" y="39179"/>
                </a:cubicBezTo>
                <a:lnTo>
                  <a:pt x="121269" y="41704"/>
                </a:lnTo>
                <a:cubicBezTo>
                  <a:pt x="124150" y="43147"/>
                  <a:pt x="127391" y="42425"/>
                  <a:pt x="129552" y="40261"/>
                </a:cubicBezTo>
                <a:lnTo>
                  <a:pt x="134233" y="35212"/>
                </a:lnTo>
                <a:cubicBezTo>
                  <a:pt x="137474" y="31965"/>
                  <a:pt x="141795" y="30162"/>
                  <a:pt x="146477" y="30162"/>
                </a:cubicBezTo>
                <a:close/>
                <a:moveTo>
                  <a:pt x="146844" y="8987"/>
                </a:moveTo>
                <a:cubicBezTo>
                  <a:pt x="70543" y="8987"/>
                  <a:pt x="8638" y="70816"/>
                  <a:pt x="8638" y="146664"/>
                </a:cubicBezTo>
                <a:cubicBezTo>
                  <a:pt x="8638" y="221434"/>
                  <a:pt x="68383" y="282184"/>
                  <a:pt x="142165" y="284341"/>
                </a:cubicBezTo>
                <a:cubicBezTo>
                  <a:pt x="143245" y="253786"/>
                  <a:pt x="153682" y="225747"/>
                  <a:pt x="170598" y="202741"/>
                </a:cubicBezTo>
                <a:lnTo>
                  <a:pt x="146844" y="189800"/>
                </a:lnTo>
                <a:lnTo>
                  <a:pt x="104375" y="212087"/>
                </a:lnTo>
                <a:cubicBezTo>
                  <a:pt x="103655" y="212447"/>
                  <a:pt x="102935" y="212806"/>
                  <a:pt x="102215" y="212806"/>
                </a:cubicBezTo>
                <a:cubicBezTo>
                  <a:pt x="101495" y="212806"/>
                  <a:pt x="100416" y="212447"/>
                  <a:pt x="99696" y="211728"/>
                </a:cubicBezTo>
                <a:cubicBezTo>
                  <a:pt x="98256" y="211009"/>
                  <a:pt x="97536" y="209212"/>
                  <a:pt x="97896" y="207414"/>
                </a:cubicBezTo>
                <a:lnTo>
                  <a:pt x="105814" y="160683"/>
                </a:lnTo>
                <a:lnTo>
                  <a:pt x="71982" y="127252"/>
                </a:lnTo>
                <a:cubicBezTo>
                  <a:pt x="70543" y="126174"/>
                  <a:pt x="70183" y="124377"/>
                  <a:pt x="70543" y="122939"/>
                </a:cubicBezTo>
                <a:cubicBezTo>
                  <a:pt x="71263" y="121141"/>
                  <a:pt x="72702" y="119704"/>
                  <a:pt x="74142" y="119704"/>
                </a:cubicBezTo>
                <a:lnTo>
                  <a:pt x="121650" y="112874"/>
                </a:lnTo>
                <a:lnTo>
                  <a:pt x="142525" y="70097"/>
                </a:lnTo>
                <a:cubicBezTo>
                  <a:pt x="143965" y="66861"/>
                  <a:pt x="149004" y="66861"/>
                  <a:pt x="150803" y="70097"/>
                </a:cubicBezTo>
                <a:lnTo>
                  <a:pt x="171678" y="112874"/>
                </a:lnTo>
                <a:lnTo>
                  <a:pt x="218826" y="119704"/>
                </a:lnTo>
                <a:cubicBezTo>
                  <a:pt x="220626" y="119704"/>
                  <a:pt x="222066" y="121141"/>
                  <a:pt x="222426" y="122939"/>
                </a:cubicBezTo>
                <a:cubicBezTo>
                  <a:pt x="223145" y="124377"/>
                  <a:pt x="222426" y="126174"/>
                  <a:pt x="221706" y="127252"/>
                </a:cubicBezTo>
                <a:lnTo>
                  <a:pt x="187154" y="160683"/>
                </a:lnTo>
                <a:lnTo>
                  <a:pt x="190753" y="180095"/>
                </a:lnTo>
                <a:cubicBezTo>
                  <a:pt x="215587" y="157448"/>
                  <a:pt x="248339" y="143429"/>
                  <a:pt x="284690" y="142350"/>
                </a:cubicBezTo>
                <a:cubicBezTo>
                  <a:pt x="282171" y="68659"/>
                  <a:pt x="221346" y="8987"/>
                  <a:pt x="146844" y="8987"/>
                </a:cubicBezTo>
                <a:close/>
                <a:moveTo>
                  <a:pt x="146844" y="0"/>
                </a:moveTo>
                <a:cubicBezTo>
                  <a:pt x="227464" y="0"/>
                  <a:pt x="293328" y="66143"/>
                  <a:pt x="293328" y="146664"/>
                </a:cubicBezTo>
                <a:cubicBezTo>
                  <a:pt x="293328" y="148102"/>
                  <a:pt x="292968" y="149180"/>
                  <a:pt x="292248" y="149899"/>
                </a:cubicBezTo>
                <a:lnTo>
                  <a:pt x="149723" y="292249"/>
                </a:lnTo>
                <a:cubicBezTo>
                  <a:pt x="149004" y="292968"/>
                  <a:pt x="147564" y="293328"/>
                  <a:pt x="146844" y="293328"/>
                </a:cubicBezTo>
                <a:cubicBezTo>
                  <a:pt x="65864" y="293328"/>
                  <a:pt x="0" y="227545"/>
                  <a:pt x="0" y="146664"/>
                </a:cubicBezTo>
                <a:cubicBezTo>
                  <a:pt x="0" y="66143"/>
                  <a:pt x="65864" y="0"/>
                  <a:pt x="146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endParaRPr lang="en-US" sz="900" dirty="0"/>
          </a:p>
        </p:txBody>
      </p:sp>
      <p:sp>
        <p:nvSpPr>
          <p:cNvPr id="30" name="Freeform 949">
            <a:extLst>
              <a:ext uri="{FF2B5EF4-FFF2-40B4-BE49-F238E27FC236}">
                <a16:creationId xmlns:a16="http://schemas.microsoft.com/office/drawing/2014/main" id="{E4612F6D-612C-FD30-1F25-0E095CAC3B27}"/>
              </a:ext>
            </a:extLst>
          </p:cNvPr>
          <p:cNvSpPr>
            <a:spLocks noChangeAspect="1"/>
          </p:cNvSpPr>
          <p:nvPr/>
        </p:nvSpPr>
        <p:spPr bwMode="auto">
          <a:xfrm>
            <a:off x="1562248" y="2485222"/>
            <a:ext cx="435339" cy="408396"/>
          </a:xfrm>
          <a:custGeom>
            <a:avLst/>
            <a:gdLst>
              <a:gd name="T0" fmla="*/ 1024419 w 293327"/>
              <a:gd name="T1" fmla="*/ 7648542 h 293759"/>
              <a:gd name="T2" fmla="*/ 692140 w 293327"/>
              <a:gd name="T3" fmla="*/ 7648542 h 293759"/>
              <a:gd name="T4" fmla="*/ 9611389 w 293327"/>
              <a:gd name="T5" fmla="*/ 7458004 h 293759"/>
              <a:gd name="T6" fmla="*/ 7519169 w 293327"/>
              <a:gd name="T7" fmla="*/ 8183367 h 293759"/>
              <a:gd name="T8" fmla="*/ 7506098 w 293327"/>
              <a:gd name="T9" fmla="*/ 8597812 h 293759"/>
              <a:gd name="T10" fmla="*/ 9519895 w 293327"/>
              <a:gd name="T11" fmla="*/ 7885464 h 293759"/>
              <a:gd name="T12" fmla="*/ 9611389 w 293327"/>
              <a:gd name="T13" fmla="*/ 7458004 h 293759"/>
              <a:gd name="T14" fmla="*/ 1673882 w 293327"/>
              <a:gd name="T15" fmla="*/ 9737626 h 293759"/>
              <a:gd name="T16" fmla="*/ 10343687 w 293327"/>
              <a:gd name="T17" fmla="*/ 8170401 h 293759"/>
              <a:gd name="T18" fmla="*/ 9546037 w 293327"/>
              <a:gd name="T19" fmla="*/ 8222154 h 293759"/>
              <a:gd name="T20" fmla="*/ 5871499 w 293327"/>
              <a:gd name="T21" fmla="*/ 9180669 h 293759"/>
              <a:gd name="T22" fmla="*/ 4289181 w 293327"/>
              <a:gd name="T23" fmla="*/ 8895723 h 293759"/>
              <a:gd name="T24" fmla="*/ 6904559 w 293327"/>
              <a:gd name="T25" fmla="*/ 8727317 h 293759"/>
              <a:gd name="T26" fmla="*/ 7087604 w 293327"/>
              <a:gd name="T27" fmla="*/ 7989047 h 293759"/>
              <a:gd name="T28" fmla="*/ 4576905 w 293327"/>
              <a:gd name="T29" fmla="*/ 7548643 h 293759"/>
              <a:gd name="T30" fmla="*/ 313910 w 293327"/>
              <a:gd name="T31" fmla="*/ 7134186 h 293759"/>
              <a:gd name="T32" fmla="*/ 1359972 w 293327"/>
              <a:gd name="T33" fmla="*/ 9685880 h 293759"/>
              <a:gd name="T34" fmla="*/ 313910 w 293327"/>
              <a:gd name="T35" fmla="*/ 7134186 h 293759"/>
              <a:gd name="T36" fmla="*/ 1516917 w 293327"/>
              <a:gd name="T37" fmla="*/ 6810337 h 293759"/>
              <a:gd name="T38" fmla="*/ 6773760 w 293327"/>
              <a:gd name="T39" fmla="*/ 7561594 h 293759"/>
              <a:gd name="T40" fmla="*/ 7414530 w 293327"/>
              <a:gd name="T41" fmla="*/ 7885464 h 293759"/>
              <a:gd name="T42" fmla="*/ 9820647 w 293327"/>
              <a:gd name="T43" fmla="*/ 7198905 h 293759"/>
              <a:gd name="T44" fmla="*/ 10016805 w 293327"/>
              <a:gd name="T45" fmla="*/ 7717049 h 293759"/>
              <a:gd name="T46" fmla="*/ 10657531 w 293327"/>
              <a:gd name="T47" fmla="*/ 8183367 h 293759"/>
              <a:gd name="T48" fmla="*/ 4864577 w 293327"/>
              <a:gd name="T49" fmla="*/ 10501849 h 293759"/>
              <a:gd name="T50" fmla="*/ 156867 w 293327"/>
              <a:gd name="T51" fmla="*/ 10009573 h 293759"/>
              <a:gd name="T52" fmla="*/ 0 w 293327"/>
              <a:gd name="T53" fmla="*/ 6965769 h 293759"/>
              <a:gd name="T54" fmla="*/ 6962182 w 293327"/>
              <a:gd name="T55" fmla="*/ 322741 h 293759"/>
              <a:gd name="T56" fmla="*/ 9881876 w 293327"/>
              <a:gd name="T57" fmla="*/ 1703812 h 293759"/>
              <a:gd name="T58" fmla="*/ 6962182 w 293327"/>
              <a:gd name="T59" fmla="*/ 322741 h 293759"/>
              <a:gd name="T60" fmla="*/ 5233922 w 293327"/>
              <a:gd name="T61" fmla="*/ 3523891 h 293759"/>
              <a:gd name="T62" fmla="*/ 5940931 w 293327"/>
              <a:gd name="T63" fmla="*/ 3188267 h 293759"/>
              <a:gd name="T64" fmla="*/ 6634871 w 293327"/>
              <a:gd name="T65" fmla="*/ 3523891 h 293759"/>
              <a:gd name="T66" fmla="*/ 5233922 w 293327"/>
              <a:gd name="T67" fmla="*/ 322741 h 293759"/>
              <a:gd name="T68" fmla="*/ 2000044 w 293327"/>
              <a:gd name="T69" fmla="*/ 1703812 h 293759"/>
              <a:gd name="T70" fmla="*/ 4906608 w 293327"/>
              <a:gd name="T71" fmla="*/ 322741 h 293759"/>
              <a:gd name="T72" fmla="*/ 1829770 w 293327"/>
              <a:gd name="T73" fmla="*/ 0 h 293759"/>
              <a:gd name="T74" fmla="*/ 10196100 w 293327"/>
              <a:gd name="T75" fmla="*/ 154906 h 293759"/>
              <a:gd name="T76" fmla="*/ 10039022 w 293327"/>
              <a:gd name="T77" fmla="*/ 2013599 h 293759"/>
              <a:gd name="T78" fmla="*/ 9724751 w 293327"/>
              <a:gd name="T79" fmla="*/ 6699326 h 293759"/>
              <a:gd name="T80" fmla="*/ 9397399 w 293327"/>
              <a:gd name="T81" fmla="*/ 6699326 h 293759"/>
              <a:gd name="T82" fmla="*/ 6962182 w 293327"/>
              <a:gd name="T83" fmla="*/ 2013599 h 293759"/>
              <a:gd name="T84" fmla="*/ 6883642 w 293327"/>
              <a:gd name="T85" fmla="*/ 3911178 h 293759"/>
              <a:gd name="T86" fmla="*/ 6726497 w 293327"/>
              <a:gd name="T87" fmla="*/ 3923993 h 293759"/>
              <a:gd name="T88" fmla="*/ 5142310 w 293327"/>
              <a:gd name="T89" fmla="*/ 3923993 h 293759"/>
              <a:gd name="T90" fmla="*/ 4906608 w 293327"/>
              <a:gd name="T91" fmla="*/ 3782032 h 293759"/>
              <a:gd name="T92" fmla="*/ 2484433 w 293327"/>
              <a:gd name="T93" fmla="*/ 2013599 h 293759"/>
              <a:gd name="T94" fmla="*/ 2314248 w 293327"/>
              <a:gd name="T95" fmla="*/ 6531494 h 293759"/>
              <a:gd name="T96" fmla="*/ 2157085 w 293327"/>
              <a:gd name="T97" fmla="*/ 2013599 h 293759"/>
              <a:gd name="T98" fmla="*/ 1672725 w 293327"/>
              <a:gd name="T99" fmla="*/ 1858717 h 293759"/>
              <a:gd name="T100" fmla="*/ 1829770 w 293327"/>
              <a:gd name="T101" fmla="*/ 0 h 293759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293327" h="293759">
                <a:moveTo>
                  <a:pt x="23622" y="209550"/>
                </a:moveTo>
                <a:cubicBezTo>
                  <a:pt x="26289" y="209550"/>
                  <a:pt x="28194" y="211382"/>
                  <a:pt x="28194" y="213946"/>
                </a:cubicBezTo>
                <a:cubicBezTo>
                  <a:pt x="28194" y="216511"/>
                  <a:pt x="26289" y="218709"/>
                  <a:pt x="23622" y="218709"/>
                </a:cubicBezTo>
                <a:cubicBezTo>
                  <a:pt x="20955" y="218709"/>
                  <a:pt x="19050" y="216511"/>
                  <a:pt x="19050" y="213946"/>
                </a:cubicBezTo>
                <a:cubicBezTo>
                  <a:pt x="19050" y="211382"/>
                  <a:pt x="20955" y="209550"/>
                  <a:pt x="23622" y="209550"/>
                </a:cubicBezTo>
                <a:close/>
                <a:moveTo>
                  <a:pt x="264534" y="208615"/>
                </a:moveTo>
                <a:cubicBezTo>
                  <a:pt x="262375" y="207529"/>
                  <a:pt x="251218" y="212239"/>
                  <a:pt x="243300" y="215862"/>
                </a:cubicBezTo>
                <a:cubicBezTo>
                  <a:pt x="233222" y="219847"/>
                  <a:pt x="220985" y="224920"/>
                  <a:pt x="206949" y="228905"/>
                </a:cubicBezTo>
                <a:cubicBezTo>
                  <a:pt x="207309" y="231079"/>
                  <a:pt x="207309" y="233615"/>
                  <a:pt x="207309" y="236151"/>
                </a:cubicBezTo>
                <a:cubicBezTo>
                  <a:pt x="206949" y="237238"/>
                  <a:pt x="206949" y="238688"/>
                  <a:pt x="206589" y="240499"/>
                </a:cubicBezTo>
                <a:cubicBezTo>
                  <a:pt x="229983" y="234340"/>
                  <a:pt x="247259" y="227094"/>
                  <a:pt x="259136" y="222021"/>
                </a:cubicBezTo>
                <a:cubicBezTo>
                  <a:pt x="260216" y="221297"/>
                  <a:pt x="261295" y="220934"/>
                  <a:pt x="262015" y="220572"/>
                </a:cubicBezTo>
                <a:cubicBezTo>
                  <a:pt x="265254" y="217674"/>
                  <a:pt x="267054" y="214775"/>
                  <a:pt x="267054" y="212601"/>
                </a:cubicBezTo>
                <a:cubicBezTo>
                  <a:pt x="267054" y="211877"/>
                  <a:pt x="267054" y="210427"/>
                  <a:pt x="264534" y="208615"/>
                </a:cubicBezTo>
                <a:close/>
                <a:moveTo>
                  <a:pt x="46069" y="199558"/>
                </a:moveTo>
                <a:lnTo>
                  <a:pt x="46069" y="272383"/>
                </a:lnTo>
                <a:cubicBezTo>
                  <a:pt x="66584" y="278542"/>
                  <a:pt x="186434" y="310788"/>
                  <a:pt x="277131" y="237963"/>
                </a:cubicBezTo>
                <a:cubicBezTo>
                  <a:pt x="279291" y="236514"/>
                  <a:pt x="284330" y="232166"/>
                  <a:pt x="284689" y="228543"/>
                </a:cubicBezTo>
                <a:cubicBezTo>
                  <a:pt x="284689" y="227456"/>
                  <a:pt x="284330" y="226007"/>
                  <a:pt x="282170" y="224195"/>
                </a:cubicBezTo>
                <a:cubicBezTo>
                  <a:pt x="280371" y="222746"/>
                  <a:pt x="271733" y="226369"/>
                  <a:pt x="262735" y="229992"/>
                </a:cubicBezTo>
                <a:cubicBezTo>
                  <a:pt x="247979" y="236514"/>
                  <a:pt x="225664" y="245934"/>
                  <a:pt x="192912" y="252818"/>
                </a:cubicBezTo>
                <a:cubicBezTo>
                  <a:pt x="185354" y="255354"/>
                  <a:pt x="174917" y="256803"/>
                  <a:pt x="161600" y="256803"/>
                </a:cubicBezTo>
                <a:cubicBezTo>
                  <a:pt x="150443" y="256803"/>
                  <a:pt x="137126" y="256079"/>
                  <a:pt x="122010" y="253542"/>
                </a:cubicBezTo>
                <a:cubicBezTo>
                  <a:pt x="119491" y="253542"/>
                  <a:pt x="118051" y="251369"/>
                  <a:pt x="118051" y="248832"/>
                </a:cubicBezTo>
                <a:cubicBezTo>
                  <a:pt x="118411" y="246296"/>
                  <a:pt x="120570" y="244485"/>
                  <a:pt x="123090" y="244847"/>
                </a:cubicBezTo>
                <a:cubicBezTo>
                  <a:pt x="163400" y="249919"/>
                  <a:pt x="181395" y="247383"/>
                  <a:pt x="190033" y="244122"/>
                </a:cubicBezTo>
                <a:cubicBezTo>
                  <a:pt x="197951" y="240862"/>
                  <a:pt x="198311" y="236876"/>
                  <a:pt x="198311" y="235427"/>
                </a:cubicBezTo>
                <a:cubicBezTo>
                  <a:pt x="198671" y="229992"/>
                  <a:pt x="197591" y="226007"/>
                  <a:pt x="195072" y="223471"/>
                </a:cubicBezTo>
                <a:cubicBezTo>
                  <a:pt x="191833" y="220210"/>
                  <a:pt x="186794" y="220210"/>
                  <a:pt x="186434" y="220210"/>
                </a:cubicBezTo>
                <a:cubicBezTo>
                  <a:pt x="142885" y="220934"/>
                  <a:pt x="135327" y="216224"/>
                  <a:pt x="125969" y="211152"/>
                </a:cubicBezTo>
                <a:cubicBezTo>
                  <a:pt x="116971" y="205717"/>
                  <a:pt x="106894" y="199558"/>
                  <a:pt x="46069" y="199558"/>
                </a:cubicBezTo>
                <a:close/>
                <a:moveTo>
                  <a:pt x="8638" y="199558"/>
                </a:moveTo>
                <a:lnTo>
                  <a:pt x="8638" y="270933"/>
                </a:lnTo>
                <a:lnTo>
                  <a:pt x="37431" y="270933"/>
                </a:lnTo>
                <a:lnTo>
                  <a:pt x="37431" y="199558"/>
                </a:lnTo>
                <a:lnTo>
                  <a:pt x="8638" y="199558"/>
                </a:lnTo>
                <a:close/>
                <a:moveTo>
                  <a:pt x="4319" y="190500"/>
                </a:moveTo>
                <a:lnTo>
                  <a:pt x="41750" y="190500"/>
                </a:lnTo>
                <a:cubicBezTo>
                  <a:pt x="108693" y="190500"/>
                  <a:pt x="120570" y="197021"/>
                  <a:pt x="130648" y="203181"/>
                </a:cubicBezTo>
                <a:cubicBezTo>
                  <a:pt x="138566" y="207891"/>
                  <a:pt x="145404" y="212239"/>
                  <a:pt x="186434" y="211514"/>
                </a:cubicBezTo>
                <a:cubicBezTo>
                  <a:pt x="186434" y="211514"/>
                  <a:pt x="195072" y="211152"/>
                  <a:pt x="201550" y="216949"/>
                </a:cubicBezTo>
                <a:cubicBezTo>
                  <a:pt x="202270" y="218398"/>
                  <a:pt x="203350" y="219123"/>
                  <a:pt x="204070" y="220572"/>
                </a:cubicBezTo>
                <a:cubicBezTo>
                  <a:pt x="217746" y="216587"/>
                  <a:pt x="229983" y="211514"/>
                  <a:pt x="239701" y="207529"/>
                </a:cubicBezTo>
                <a:cubicBezTo>
                  <a:pt x="254817" y="200645"/>
                  <a:pt x="263815" y="196659"/>
                  <a:pt x="270293" y="201369"/>
                </a:cubicBezTo>
                <a:cubicBezTo>
                  <a:pt x="274612" y="204992"/>
                  <a:pt x="275692" y="209340"/>
                  <a:pt x="276052" y="212239"/>
                </a:cubicBezTo>
                <a:cubicBezTo>
                  <a:pt x="276052" y="213326"/>
                  <a:pt x="275692" y="214775"/>
                  <a:pt x="275692" y="215862"/>
                </a:cubicBezTo>
                <a:cubicBezTo>
                  <a:pt x="280730" y="214413"/>
                  <a:pt x="284689" y="214775"/>
                  <a:pt x="287929" y="217311"/>
                </a:cubicBezTo>
                <a:cubicBezTo>
                  <a:pt x="292608" y="221297"/>
                  <a:pt x="293327" y="226007"/>
                  <a:pt x="293327" y="228905"/>
                </a:cubicBezTo>
                <a:cubicBezTo>
                  <a:pt x="292967" y="237963"/>
                  <a:pt x="283970" y="244485"/>
                  <a:pt x="282890" y="245209"/>
                </a:cubicBezTo>
                <a:cubicBezTo>
                  <a:pt x="234662" y="283252"/>
                  <a:pt x="179236" y="293759"/>
                  <a:pt x="133887" y="293759"/>
                </a:cubicBezTo>
                <a:cubicBezTo>
                  <a:pt x="84579" y="293759"/>
                  <a:pt x="46789" y="281803"/>
                  <a:pt x="41030" y="279991"/>
                </a:cubicBezTo>
                <a:lnTo>
                  <a:pt x="4319" y="279991"/>
                </a:lnTo>
                <a:cubicBezTo>
                  <a:pt x="1799" y="279991"/>
                  <a:pt x="0" y="278180"/>
                  <a:pt x="0" y="275281"/>
                </a:cubicBezTo>
                <a:lnTo>
                  <a:pt x="0" y="194848"/>
                </a:lnTo>
                <a:cubicBezTo>
                  <a:pt x="0" y="192311"/>
                  <a:pt x="1799" y="190500"/>
                  <a:pt x="4319" y="190500"/>
                </a:cubicBezTo>
                <a:close/>
                <a:moveTo>
                  <a:pt x="191620" y="9027"/>
                </a:moveTo>
                <a:lnTo>
                  <a:pt x="191620" y="47661"/>
                </a:lnTo>
                <a:lnTo>
                  <a:pt x="271978" y="47661"/>
                </a:lnTo>
                <a:lnTo>
                  <a:pt x="271978" y="9027"/>
                </a:lnTo>
                <a:lnTo>
                  <a:pt x="191620" y="9027"/>
                </a:lnTo>
                <a:close/>
                <a:moveTo>
                  <a:pt x="144053" y="9027"/>
                </a:moveTo>
                <a:lnTo>
                  <a:pt x="144053" y="98571"/>
                </a:lnTo>
                <a:lnTo>
                  <a:pt x="161350" y="89906"/>
                </a:lnTo>
                <a:cubicBezTo>
                  <a:pt x="162071" y="89184"/>
                  <a:pt x="162792" y="89184"/>
                  <a:pt x="163512" y="89184"/>
                </a:cubicBezTo>
                <a:cubicBezTo>
                  <a:pt x="164233" y="89184"/>
                  <a:pt x="164593" y="89184"/>
                  <a:pt x="165314" y="89906"/>
                </a:cubicBezTo>
                <a:lnTo>
                  <a:pt x="182611" y="98571"/>
                </a:lnTo>
                <a:lnTo>
                  <a:pt x="182611" y="9027"/>
                </a:lnTo>
                <a:lnTo>
                  <a:pt x="144053" y="9027"/>
                </a:lnTo>
                <a:close/>
                <a:moveTo>
                  <a:pt x="55046" y="9027"/>
                </a:moveTo>
                <a:lnTo>
                  <a:pt x="55046" y="47661"/>
                </a:lnTo>
                <a:lnTo>
                  <a:pt x="135044" y="47661"/>
                </a:lnTo>
                <a:lnTo>
                  <a:pt x="135044" y="9027"/>
                </a:lnTo>
                <a:lnTo>
                  <a:pt x="55046" y="9027"/>
                </a:lnTo>
                <a:close/>
                <a:moveTo>
                  <a:pt x="50361" y="0"/>
                </a:moveTo>
                <a:lnTo>
                  <a:pt x="276303" y="0"/>
                </a:lnTo>
                <a:cubicBezTo>
                  <a:pt x="278465" y="0"/>
                  <a:pt x="280627" y="1805"/>
                  <a:pt x="280627" y="4333"/>
                </a:cubicBezTo>
                <a:lnTo>
                  <a:pt x="280627" y="51994"/>
                </a:lnTo>
                <a:cubicBezTo>
                  <a:pt x="280627" y="54521"/>
                  <a:pt x="278465" y="56326"/>
                  <a:pt x="276303" y="56326"/>
                </a:cubicBezTo>
                <a:lnTo>
                  <a:pt x="267654" y="56326"/>
                </a:lnTo>
                <a:lnTo>
                  <a:pt x="267654" y="187394"/>
                </a:lnTo>
                <a:cubicBezTo>
                  <a:pt x="267654" y="189560"/>
                  <a:pt x="265492" y="191727"/>
                  <a:pt x="263330" y="191727"/>
                </a:cubicBezTo>
                <a:cubicBezTo>
                  <a:pt x="260807" y="191727"/>
                  <a:pt x="258645" y="189560"/>
                  <a:pt x="258645" y="187394"/>
                </a:cubicBezTo>
                <a:lnTo>
                  <a:pt x="258645" y="56326"/>
                </a:lnTo>
                <a:lnTo>
                  <a:pt x="191620" y="56326"/>
                </a:lnTo>
                <a:lnTo>
                  <a:pt x="191620" y="105793"/>
                </a:lnTo>
                <a:cubicBezTo>
                  <a:pt x="191620" y="107237"/>
                  <a:pt x="190899" y="108681"/>
                  <a:pt x="189458" y="109403"/>
                </a:cubicBezTo>
                <a:cubicBezTo>
                  <a:pt x="188737" y="110126"/>
                  <a:pt x="188016" y="110126"/>
                  <a:pt x="187296" y="110126"/>
                </a:cubicBezTo>
                <a:cubicBezTo>
                  <a:pt x="186575" y="110126"/>
                  <a:pt x="185494" y="110126"/>
                  <a:pt x="185133" y="109764"/>
                </a:cubicBezTo>
                <a:lnTo>
                  <a:pt x="163512" y="98571"/>
                </a:lnTo>
                <a:lnTo>
                  <a:pt x="141531" y="109764"/>
                </a:lnTo>
                <a:cubicBezTo>
                  <a:pt x="140089" y="110487"/>
                  <a:pt x="138648" y="110487"/>
                  <a:pt x="137206" y="109403"/>
                </a:cubicBezTo>
                <a:cubicBezTo>
                  <a:pt x="136125" y="108681"/>
                  <a:pt x="135044" y="107237"/>
                  <a:pt x="135044" y="105793"/>
                </a:cubicBezTo>
                <a:lnTo>
                  <a:pt x="135044" y="56326"/>
                </a:lnTo>
                <a:lnTo>
                  <a:pt x="68379" y="56326"/>
                </a:lnTo>
                <a:lnTo>
                  <a:pt x="68379" y="178006"/>
                </a:lnTo>
                <a:cubicBezTo>
                  <a:pt x="68379" y="180895"/>
                  <a:pt x="66217" y="182700"/>
                  <a:pt x="63695" y="182700"/>
                </a:cubicBezTo>
                <a:cubicBezTo>
                  <a:pt x="61172" y="182700"/>
                  <a:pt x="59370" y="180895"/>
                  <a:pt x="59370" y="178006"/>
                </a:cubicBezTo>
                <a:lnTo>
                  <a:pt x="59370" y="56326"/>
                </a:lnTo>
                <a:lnTo>
                  <a:pt x="50361" y="56326"/>
                </a:lnTo>
                <a:cubicBezTo>
                  <a:pt x="48199" y="56326"/>
                  <a:pt x="46037" y="54521"/>
                  <a:pt x="46037" y="51994"/>
                </a:cubicBezTo>
                <a:lnTo>
                  <a:pt x="46037" y="4333"/>
                </a:lnTo>
                <a:cubicBezTo>
                  <a:pt x="46037" y="1805"/>
                  <a:pt x="48199" y="0"/>
                  <a:pt x="503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 lang="en-US" sz="1067" dirty="0"/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96A0148C-30A8-89D4-87A2-E8A5E7D8A1E5}"/>
              </a:ext>
            </a:extLst>
          </p:cNvPr>
          <p:cNvSpPr/>
          <p:nvPr/>
        </p:nvSpPr>
        <p:spPr>
          <a:xfrm>
            <a:off x="6224902" y="2092960"/>
            <a:ext cx="889130" cy="342779"/>
          </a:xfrm>
          <a:prstGeom prst="wedgeRoundRectCallout">
            <a:avLst/>
          </a:prstGeom>
          <a:solidFill>
            <a:schemeClr val="bg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accent5"/>
                </a:solidFill>
                <a:latin typeface="+mj-lt"/>
              </a:rPr>
              <a:t>AI</a:t>
            </a:r>
            <a:r>
              <a:rPr lang="zh-CN" altLang="en-US" sz="700" b="1" dirty="0">
                <a:solidFill>
                  <a:schemeClr val="accent5"/>
                </a:solidFill>
                <a:latin typeface="+mj-lt"/>
              </a:rPr>
              <a:t>赋能：</a:t>
            </a:r>
            <a:r>
              <a:rPr lang="en-US" sz="700" dirty="0" err="1">
                <a:solidFill>
                  <a:schemeClr val="accent5"/>
                </a:solidFill>
                <a:latin typeface="+mj-lt"/>
              </a:rPr>
              <a:t>多源数据融合，越限前趋势识别</a:t>
            </a:r>
            <a:endParaRPr lang="en-US" sz="7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3B02B9C9-D34D-3898-21A8-C696AF263BEC}"/>
              </a:ext>
            </a:extLst>
          </p:cNvPr>
          <p:cNvSpPr/>
          <p:nvPr/>
        </p:nvSpPr>
        <p:spPr>
          <a:xfrm>
            <a:off x="548640" y="4210571"/>
            <a:ext cx="809221" cy="493037"/>
          </a:xfrm>
          <a:prstGeom prst="wedgeRoundRectCallout">
            <a:avLst>
              <a:gd name="adj1" fmla="val 39530"/>
              <a:gd name="adj2" fmla="val 69614"/>
              <a:gd name="adj3" fmla="val 16667"/>
            </a:avLst>
          </a:prstGeom>
          <a:solidFill>
            <a:schemeClr val="bg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accent5"/>
                </a:solidFill>
                <a:latin typeface="+mj-lt"/>
              </a:rPr>
              <a:t>AI</a:t>
            </a:r>
            <a:r>
              <a:rPr lang="zh-CN" altLang="en-US" sz="700" b="1" dirty="0">
                <a:solidFill>
                  <a:schemeClr val="accent5"/>
                </a:solidFill>
                <a:latin typeface="+mj-lt"/>
              </a:rPr>
              <a:t>赋能：</a:t>
            </a:r>
            <a:r>
              <a:rPr lang="en-US" sz="700" dirty="0" err="1">
                <a:solidFill>
                  <a:schemeClr val="accent5"/>
                </a:solidFill>
              </a:rPr>
              <a:t>案例检索与归因分析，输出建议不下发指令</a:t>
            </a:r>
            <a:endParaRPr lang="en-US" sz="700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58630BD5-F216-D79F-5DEA-D75C3E4D5B07}"/>
              </a:ext>
            </a:extLst>
          </p:cNvPr>
          <p:cNvSpPr/>
          <p:nvPr/>
        </p:nvSpPr>
        <p:spPr>
          <a:xfrm>
            <a:off x="4287261" y="4172928"/>
            <a:ext cx="780040" cy="423962"/>
          </a:xfrm>
          <a:prstGeom prst="wedgeRoundRectCallout">
            <a:avLst>
              <a:gd name="adj1" fmla="val -36235"/>
              <a:gd name="adj2" fmla="val 65645"/>
              <a:gd name="adj3" fmla="val 16667"/>
            </a:avLst>
          </a:prstGeom>
          <a:solidFill>
            <a:schemeClr val="bg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accent5"/>
                </a:solidFill>
                <a:latin typeface="+mj-lt"/>
              </a:rPr>
              <a:t>AI</a:t>
            </a:r>
            <a:r>
              <a:rPr lang="zh-CN" altLang="en-US" sz="700" b="1" dirty="0">
                <a:solidFill>
                  <a:schemeClr val="accent5"/>
                </a:solidFill>
                <a:latin typeface="+mj-lt"/>
              </a:rPr>
              <a:t>赋能：</a:t>
            </a:r>
            <a:r>
              <a:rPr lang="en-US" sz="700" dirty="0" err="1">
                <a:solidFill>
                  <a:schemeClr val="accent5"/>
                </a:solidFill>
              </a:rPr>
              <a:t>健康度模型，指导预防性维护</a:t>
            </a:r>
            <a:endParaRPr lang="en-US" sz="700" dirty="0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BCD5D6-AD55-4672-E227-223B50B1CDBB}"/>
              </a:ext>
            </a:extLst>
          </p:cNvPr>
          <p:cNvGrpSpPr/>
          <p:nvPr/>
        </p:nvGrpSpPr>
        <p:grpSpPr>
          <a:xfrm>
            <a:off x="7345237" y="5265934"/>
            <a:ext cx="3902866" cy="711200"/>
            <a:chOff x="762000" y="5308600"/>
            <a:chExt cx="10668000" cy="711200"/>
          </a:xfrm>
        </p:grpSpPr>
        <p:sp>
          <p:nvSpPr>
            <p:cNvPr id="35" name="圆角矩形 27">
              <a:extLst>
                <a:ext uri="{FF2B5EF4-FFF2-40B4-BE49-F238E27FC236}">
                  <a16:creationId xmlns:a16="http://schemas.microsoft.com/office/drawing/2014/main" id="{73EA5675-EDE8-9FCE-947F-FE19414CB151}"/>
                </a:ext>
              </a:extLst>
            </p:cNvPr>
            <p:cNvSpPr/>
            <p:nvPr/>
          </p:nvSpPr>
          <p:spPr>
            <a:xfrm>
              <a:off x="762000" y="5308600"/>
              <a:ext cx="10668000" cy="711200"/>
            </a:xfrm>
            <a:prstGeom prst="roundRect">
              <a:avLst/>
            </a:prstGeom>
            <a:solidFill>
              <a:srgbClr val="1F386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CN" altLang="en-US" sz="1600"/>
            </a:p>
          </p:txBody>
        </p:sp>
        <p:sp>
          <p:nvSpPr>
            <p:cNvPr id="36" name="文本框 28">
              <a:extLst>
                <a:ext uri="{FF2B5EF4-FFF2-40B4-BE49-F238E27FC236}">
                  <a16:creationId xmlns:a16="http://schemas.microsoft.com/office/drawing/2014/main" id="{E042029E-FBA2-F954-8061-B9A76B616BC8}"/>
                </a:ext>
              </a:extLst>
            </p:cNvPr>
            <p:cNvSpPr txBox="1"/>
            <p:nvPr/>
          </p:nvSpPr>
          <p:spPr>
            <a:xfrm>
              <a:off x="1066799" y="5402590"/>
              <a:ext cx="1005840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FFFFF"/>
                  </a:solidFill>
                  <a:latin typeface="微软雅黑"/>
                  <a:ea typeface="微软雅黑"/>
                </a:rPr>
                <a:t>价值：运维响应从「小时级」提升到「分钟级」，多基地共享一个专家团队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80F45E4F-00BE-AC4D-3072-8E148E675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rcRect t="5264" r="45179" b="7922"/>
          <a:stretch>
            <a:fillRect/>
          </a:stretch>
        </p:blipFill>
        <p:spPr>
          <a:xfrm>
            <a:off x="7628322" y="3087522"/>
            <a:ext cx="3336694" cy="1710302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0C82E5-25FE-B47D-001D-1FE811D22B46}"/>
              </a:ext>
            </a:extLst>
          </p:cNvPr>
          <p:cNvCxnSpPr/>
          <p:nvPr/>
        </p:nvCxnSpPr>
        <p:spPr>
          <a:xfrm>
            <a:off x="7531510" y="2672547"/>
            <a:ext cx="34335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4877E2D-90C3-F275-F519-809D46C79AF5}"/>
              </a:ext>
            </a:extLst>
          </p:cNvPr>
          <p:cNvSpPr/>
          <p:nvPr/>
        </p:nvSpPr>
        <p:spPr>
          <a:xfrm>
            <a:off x="8520676" y="2570448"/>
            <a:ext cx="1455174" cy="20419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j-lt"/>
              </a:rPr>
              <a:t>智能运维平台</a:t>
            </a:r>
            <a:endParaRPr lang="en-US" sz="16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14173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1A6217-0FF9-8D81-9904-E48CFABB5508}"/>
              </a:ext>
            </a:extLst>
          </p:cNvPr>
          <p:cNvSpPr/>
          <p:nvPr/>
        </p:nvSpPr>
        <p:spPr>
          <a:xfrm>
            <a:off x="943897" y="1406844"/>
            <a:ext cx="10333703" cy="6194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33525-4CD7-1D25-D8B6-6A07D7C1AE02}"/>
              </a:ext>
            </a:extLst>
          </p:cNvPr>
          <p:cNvSpPr txBox="1"/>
          <p:nvPr/>
        </p:nvSpPr>
        <p:spPr>
          <a:xfrm>
            <a:off x="1263446" y="1514685"/>
            <a:ext cx="85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F3864"/>
                </a:solidFill>
                <a:latin typeface="微软雅黑"/>
                <a:ea typeface="微软雅黑"/>
              </a:rPr>
              <a:t>定位</a:t>
            </a:r>
            <a:endParaRPr lang="en-US" b="1" dirty="0">
              <a:solidFill>
                <a:srgbClr val="1F3864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62DA6-00C3-6204-6BC1-8C58068EDA72}"/>
              </a:ext>
            </a:extLst>
          </p:cNvPr>
          <p:cNvSpPr txBox="1"/>
          <p:nvPr/>
        </p:nvSpPr>
        <p:spPr>
          <a:xfrm>
            <a:off x="2249130" y="1424172"/>
            <a:ext cx="8898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面向设备销售后的商业风险与运行安全管理需求</a:t>
            </a:r>
            <a:r>
              <a:rPr lang="zh-CN" altLang="en-US" sz="1600" dirty="0"/>
              <a:t>，实现</a:t>
            </a:r>
            <a:r>
              <a:rPr lang="en-US" sz="1600" dirty="0" err="1"/>
              <a:t>安全停机可执行</a:t>
            </a:r>
            <a:r>
              <a:rPr lang="zh-CN" altLang="en-US" sz="1600" dirty="0"/>
              <a:t>、</a:t>
            </a:r>
            <a:r>
              <a:rPr lang="en-US" sz="1600" dirty="0" err="1"/>
              <a:t>设备运行状态可知</a:t>
            </a:r>
            <a:r>
              <a:rPr lang="zh-CN" altLang="en-US" sz="1600" dirty="0"/>
              <a:t>、</a:t>
            </a:r>
            <a:r>
              <a:rPr lang="en-US" sz="1600" dirty="0" err="1"/>
              <a:t>设备运行权限可控</a:t>
            </a:r>
            <a:r>
              <a:rPr lang="zh-CN" altLang="en-US" sz="1600" dirty="0"/>
              <a:t>、</a:t>
            </a:r>
            <a:r>
              <a:rPr lang="en-US" sz="1600" dirty="0" err="1"/>
              <a:t>远程操作可审批</a:t>
            </a:r>
            <a:endParaRPr lang="zh-CN" altLang="en-US" sz="1600" dirty="0">
              <a:solidFill>
                <a:srgbClr val="5B6E8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F8B4563-9820-1DEA-CE74-AC1D6F2C1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020457"/>
              </p:ext>
            </p:extLst>
          </p:nvPr>
        </p:nvGraphicFramePr>
        <p:xfrm>
          <a:off x="943896" y="2375295"/>
          <a:ext cx="10333703" cy="2613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223">
                  <a:extLst>
                    <a:ext uri="{9D8B030D-6E8A-4147-A177-3AD203B41FA5}">
                      <a16:colId xmlns:a16="http://schemas.microsoft.com/office/drawing/2014/main" val="2428049241"/>
                    </a:ext>
                  </a:extLst>
                </a:gridCol>
                <a:gridCol w="2460405">
                  <a:extLst>
                    <a:ext uri="{9D8B030D-6E8A-4147-A177-3AD203B41FA5}">
                      <a16:colId xmlns:a16="http://schemas.microsoft.com/office/drawing/2014/main" val="2306590870"/>
                    </a:ext>
                  </a:extLst>
                </a:gridCol>
                <a:gridCol w="3690609">
                  <a:extLst>
                    <a:ext uri="{9D8B030D-6E8A-4147-A177-3AD203B41FA5}">
                      <a16:colId xmlns:a16="http://schemas.microsoft.com/office/drawing/2014/main" val="3666102419"/>
                    </a:ext>
                  </a:extLst>
                </a:gridCol>
                <a:gridCol w="2829466">
                  <a:extLst>
                    <a:ext uri="{9D8B030D-6E8A-4147-A177-3AD203B41FA5}">
                      <a16:colId xmlns:a16="http://schemas.microsoft.com/office/drawing/2014/main" val="3782352424"/>
                    </a:ext>
                  </a:extLst>
                </a:gridCol>
              </a:tblGrid>
              <a:tr h="522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触发条件（示例）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措施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安全保障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494064"/>
                  </a:ext>
                </a:extLst>
              </a:tr>
              <a:tr h="522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 提醒</a:t>
                      </a:r>
                    </a:p>
                  </a:txBody>
                  <a:tcPr anchor="ctr">
                    <a:solidFill>
                      <a:srgbClr val="4A74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合同状态异常预警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系统通知 ＋ 商务提醒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不影响运行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986952"/>
                  </a:ext>
                </a:extLst>
              </a:tr>
              <a:tr h="522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L2 限制</a:t>
                      </a:r>
                    </a:p>
                  </a:txBody>
                  <a:tcPr anchor="ctr">
                    <a:solidFill>
                      <a:srgbClr val="3D67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逾期达约定期限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限制非核心功能（报表 / 优化服务）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不影响安全运行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79295"/>
                  </a:ext>
                </a:extLst>
              </a:tr>
              <a:tr h="522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L3 降载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持续违约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按 SOP 引导降负荷运行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联锁保护全程有效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743401"/>
                  </a:ext>
                </a:extLst>
              </a:tr>
              <a:tr h="5227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L4 安全停机</a:t>
                      </a:r>
                    </a:p>
                  </a:txBody>
                  <a:tcPr anchor="ctr">
                    <a:solidFill>
                      <a:srgbClr val="A64A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严重违约（合同明确约定）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预通知 → 多级审批 → 按工艺 SOP 有序停车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PLC 联锁兜底，绝非瞬时断电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18694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6DD487D1-F6D7-DCB5-16D7-6AC5BBD56546}"/>
              </a:ext>
            </a:extLst>
          </p:cNvPr>
          <p:cNvGrpSpPr/>
          <p:nvPr/>
        </p:nvGrpSpPr>
        <p:grpSpPr>
          <a:xfrm>
            <a:off x="943897" y="5349846"/>
            <a:ext cx="10333702" cy="482600"/>
            <a:chOff x="943896" y="5288829"/>
            <a:chExt cx="9423400" cy="4826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" name="圆角矩形 6">
              <a:extLst>
                <a:ext uri="{FF2B5EF4-FFF2-40B4-BE49-F238E27FC236}">
                  <a16:creationId xmlns:a16="http://schemas.microsoft.com/office/drawing/2014/main" id="{0B2246A2-98B3-EE09-5200-7ABF291C23AB}"/>
                </a:ext>
              </a:extLst>
            </p:cNvPr>
            <p:cNvSpPr/>
            <p:nvPr/>
          </p:nvSpPr>
          <p:spPr>
            <a:xfrm>
              <a:off x="943896" y="5288829"/>
              <a:ext cx="1752600" cy="482600"/>
            </a:xfrm>
            <a:prstGeom prst="roundRect">
              <a:avLst/>
            </a:prstGeom>
            <a:grpFill/>
            <a:ln w="190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5"/>
                  </a:solidFill>
                  <a:latin typeface="微软雅黑"/>
                  <a:ea typeface="微软雅黑"/>
                </a:rPr>
                <a:t>设备授权绑定</a:t>
              </a:r>
            </a:p>
          </p:txBody>
        </p:sp>
        <p:sp>
          <p:nvSpPr>
            <p:cNvPr id="10" name="圆角矩形 7">
              <a:extLst>
                <a:ext uri="{FF2B5EF4-FFF2-40B4-BE49-F238E27FC236}">
                  <a16:creationId xmlns:a16="http://schemas.microsoft.com/office/drawing/2014/main" id="{53839602-3BF2-AE93-C048-524D8DEEEDC5}"/>
                </a:ext>
              </a:extLst>
            </p:cNvPr>
            <p:cNvSpPr/>
            <p:nvPr/>
          </p:nvSpPr>
          <p:spPr>
            <a:xfrm>
              <a:off x="2861596" y="5288829"/>
              <a:ext cx="1752600" cy="482600"/>
            </a:xfrm>
            <a:prstGeom prst="roundRect">
              <a:avLst/>
            </a:prstGeom>
            <a:grpFill/>
            <a:ln w="190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zh-CN" altLang="en-US" sz="1400" b="1">
                  <a:solidFill>
                    <a:schemeClr val="accent5"/>
                  </a:solidFill>
                  <a:latin typeface="微软雅黑"/>
                  <a:ea typeface="微软雅黑"/>
                </a:rPr>
                <a:t>合同状态校验</a:t>
              </a:r>
            </a:p>
          </p:txBody>
        </p:sp>
        <p:sp>
          <p:nvSpPr>
            <p:cNvPr id="11" name="圆角矩形 8">
              <a:extLst>
                <a:ext uri="{FF2B5EF4-FFF2-40B4-BE49-F238E27FC236}">
                  <a16:creationId xmlns:a16="http://schemas.microsoft.com/office/drawing/2014/main" id="{DF330896-C849-D22E-1051-9793093434C8}"/>
                </a:ext>
              </a:extLst>
            </p:cNvPr>
            <p:cNvSpPr/>
            <p:nvPr/>
          </p:nvSpPr>
          <p:spPr>
            <a:xfrm>
              <a:off x="4779296" y="5288829"/>
              <a:ext cx="1752600" cy="482600"/>
            </a:xfrm>
            <a:prstGeom prst="roundRect">
              <a:avLst/>
            </a:prstGeom>
            <a:grpFill/>
            <a:ln w="190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5"/>
                  </a:solidFill>
                  <a:latin typeface="微软雅黑"/>
                  <a:ea typeface="微软雅黑"/>
                </a:rPr>
                <a:t>安全兜底</a:t>
              </a:r>
            </a:p>
          </p:txBody>
        </p:sp>
        <p:sp>
          <p:nvSpPr>
            <p:cNvPr id="12" name="圆角矩形 9">
              <a:extLst>
                <a:ext uri="{FF2B5EF4-FFF2-40B4-BE49-F238E27FC236}">
                  <a16:creationId xmlns:a16="http://schemas.microsoft.com/office/drawing/2014/main" id="{8573028F-1512-7B47-A109-EDE317763F46}"/>
                </a:ext>
              </a:extLst>
            </p:cNvPr>
            <p:cNvSpPr/>
            <p:nvPr/>
          </p:nvSpPr>
          <p:spPr>
            <a:xfrm>
              <a:off x="6696996" y="5288829"/>
              <a:ext cx="1752600" cy="482600"/>
            </a:xfrm>
            <a:prstGeom prst="roundRect">
              <a:avLst/>
            </a:prstGeom>
            <a:grpFill/>
            <a:ln w="190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5"/>
                  </a:solidFill>
                  <a:latin typeface="微软雅黑"/>
                  <a:ea typeface="微软雅黑"/>
                </a:rPr>
                <a:t>操作审计留痕</a:t>
              </a:r>
            </a:p>
          </p:txBody>
        </p:sp>
        <p:sp>
          <p:nvSpPr>
            <p:cNvPr id="13" name="圆角矩形 10">
              <a:extLst>
                <a:ext uri="{FF2B5EF4-FFF2-40B4-BE49-F238E27FC236}">
                  <a16:creationId xmlns:a16="http://schemas.microsoft.com/office/drawing/2014/main" id="{6D6390C6-1060-821F-F899-87547CCE0B1A}"/>
                </a:ext>
              </a:extLst>
            </p:cNvPr>
            <p:cNvSpPr/>
            <p:nvPr/>
          </p:nvSpPr>
          <p:spPr>
            <a:xfrm>
              <a:off x="8614696" y="5288829"/>
              <a:ext cx="1752600" cy="482600"/>
            </a:xfrm>
            <a:prstGeom prst="roundRect">
              <a:avLst/>
            </a:prstGeom>
            <a:grpFill/>
            <a:ln w="19050" cap="flat" cmpd="sng" algn="ctr">
              <a:solidFill>
                <a:schemeClr val="bg2">
                  <a:lumMod val="9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zh-CN" altLang="en-US" sz="1400" b="1">
                  <a:solidFill>
                    <a:schemeClr val="accent5"/>
                  </a:solidFill>
                  <a:latin typeface="微软雅黑"/>
                  <a:ea typeface="微软雅黑"/>
                </a:rPr>
                <a:t>防篡改日志</a:t>
              </a:r>
            </a:p>
          </p:txBody>
        </p:sp>
      </p:grpSp>
      <p:sp>
        <p:nvSpPr>
          <p:cNvPr id="19" name="文本框 1">
            <a:extLst>
              <a:ext uri="{FF2B5EF4-FFF2-40B4-BE49-F238E27FC236}">
                <a16:creationId xmlns:a16="http://schemas.microsoft.com/office/drawing/2014/main" id="{B7EC201B-986A-2F8C-2312-48F8AC5EE5F8}"/>
              </a:ext>
            </a:extLst>
          </p:cNvPr>
          <p:cNvSpPr txBox="1"/>
          <p:nvPr/>
        </p:nvSpPr>
        <p:spPr>
          <a:xfrm>
            <a:off x="461296" y="330200"/>
            <a:ext cx="11130935" cy="76944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6.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模块二 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|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 远程风控与权限管理：实现远程把设备管起来，甚至关掉</a:t>
            </a:r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但要关得安全、关得合法</a:t>
            </a:r>
          </a:p>
        </p:txBody>
      </p:sp>
    </p:spTree>
    <p:extLst>
      <p:ext uri="{BB962C8B-B14F-4D97-AF65-F5344CB8AC3E}">
        <p14:creationId xmlns:p14="http://schemas.microsoft.com/office/powerpoint/2010/main" val="313496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219DB-1D6F-66D6-68B2-84DDA7D8B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86" y="1985404"/>
            <a:ext cx="7077227" cy="3378806"/>
          </a:xfrm>
          <a:prstGeom prst="rect">
            <a:avLst/>
          </a:prstGeom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407DDCD8-6EF7-ED35-E047-079C0602A48E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7. AI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交互逻辑示例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A8A2B-62AE-F79C-4441-624B308BBA24}"/>
              </a:ext>
            </a:extLst>
          </p:cNvPr>
          <p:cNvSpPr/>
          <p:nvPr/>
        </p:nvSpPr>
        <p:spPr>
          <a:xfrm>
            <a:off x="8504903" y="2577281"/>
            <a:ext cx="2743200" cy="21950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5"/>
                </a:solidFill>
              </a:rPr>
              <a:t>AI</a:t>
            </a:r>
            <a:r>
              <a:rPr lang="zh-CN" altLang="en-US" sz="1600" b="1" dirty="0">
                <a:solidFill>
                  <a:schemeClr val="accent5"/>
                </a:solidFill>
              </a:rPr>
              <a:t>定位于辅助决策和控制，核心判断与决策还是在人</a:t>
            </a:r>
            <a:endParaRPr lang="en-US" altLang="zh-CN" sz="1600" b="1" dirty="0">
              <a:solidFill>
                <a:schemeClr val="accent5"/>
              </a:solidFill>
            </a:endParaRPr>
          </a:p>
          <a:p>
            <a:r>
              <a:rPr lang="zh-CN" altLang="en-US" sz="1600" b="1" dirty="0">
                <a:solidFill>
                  <a:schemeClr val="accent5"/>
                </a:solidFill>
              </a:rPr>
              <a:t>后续可根据实际场景定义</a:t>
            </a:r>
            <a:r>
              <a:rPr lang="en-US" altLang="zh-CN" sz="1600" b="1" dirty="0">
                <a:solidFill>
                  <a:schemeClr val="accent5"/>
                </a:solidFill>
              </a:rPr>
              <a:t>AI</a:t>
            </a:r>
            <a:r>
              <a:rPr lang="zh-CN" altLang="en-US" sz="1600" b="1" dirty="0">
                <a:solidFill>
                  <a:schemeClr val="accent5"/>
                </a:solidFill>
              </a:rPr>
              <a:t>可自动驱动决策的边界</a:t>
            </a:r>
            <a:endParaRPr lang="en-US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25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9880B2-3989-FD41-A039-2206C211ADB7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五个阶段小步快跑，每个阶段有明确交付物与验收标准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2AF89A9-7191-F64A-A59B-B9022D357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31705"/>
              </p:ext>
            </p:extLst>
          </p:nvPr>
        </p:nvGraphicFramePr>
        <p:xfrm>
          <a:off x="762000" y="1397001"/>
          <a:ext cx="10668000" cy="368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394">
                  <a:extLst>
                    <a:ext uri="{9D8B030D-6E8A-4147-A177-3AD203B41FA5}">
                      <a16:colId xmlns:a16="http://schemas.microsoft.com/office/drawing/2014/main" val="3790544235"/>
                    </a:ext>
                  </a:extLst>
                </a:gridCol>
                <a:gridCol w="4854058">
                  <a:extLst>
                    <a:ext uri="{9D8B030D-6E8A-4147-A177-3AD203B41FA5}">
                      <a16:colId xmlns:a16="http://schemas.microsoft.com/office/drawing/2014/main" val="2060386987"/>
                    </a:ext>
                  </a:extLst>
                </a:gridCol>
                <a:gridCol w="3367548">
                  <a:extLst>
                    <a:ext uri="{9D8B030D-6E8A-4147-A177-3AD203B41FA5}">
                      <a16:colId xmlns:a16="http://schemas.microsoft.com/office/drawing/2014/main" val="3759054256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建设内容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9455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阶段一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现状诊断与数据摸底</a:t>
                      </a:r>
                      <a:endParaRPr lang="zh-CN" altLang="en-US" sz="1100" b="0" dirty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4A74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梳理设备、PLC点位、数据现状与远程控制边界</a:t>
                      </a:r>
                      <a:endParaRPr lang="zh-CN" altLang="en-US" sz="1400" dirty="0">
                        <a:solidFill>
                          <a:srgbClr val="33475E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-2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73535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阶段二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边缘接入与底座建设</a:t>
                      </a:r>
                      <a:endParaRPr lang="zh-CN" altLang="en-US" sz="1400" b="0" dirty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3D67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打通PLC数据接入，搭建边缘层与基础平台</a:t>
                      </a:r>
                      <a:endParaRPr lang="zh-CN" altLang="en-US" sz="1400" dirty="0">
                        <a:solidFill>
                          <a:srgbClr val="33475E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4–</a:t>
                      </a:r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2315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阶段三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智能运维平台开发</a:t>
                      </a:r>
                      <a:endParaRPr lang="zh-CN" altLang="en-US" sz="1100" b="0" dirty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开发多基地总览、实时监控、告警、回溯、报表</a:t>
                      </a:r>
                      <a:endParaRPr lang="zh-CN" altLang="en-US" sz="1400" dirty="0">
                        <a:solidFill>
                          <a:srgbClr val="33475E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24928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阶段四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远程授权管理开发</a:t>
                      </a:r>
                      <a:endParaRPr lang="zh-CN" altLang="en-US" sz="1100" b="0" dirty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2749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建设设备授权、权限控制、安全降级与审计机制</a:t>
                      </a:r>
                      <a:endParaRPr lang="zh-CN" altLang="en-US" sz="1400" dirty="0">
                        <a:solidFill>
                          <a:srgbClr val="33475E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944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阶段五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en-US" sz="1100" b="0" dirty="0" err="1">
                          <a:solidFill>
                            <a:schemeClr val="bg1"/>
                          </a:solidFill>
                        </a:rPr>
                        <a:t>联调试运行与优化推广</a:t>
                      </a:r>
                      <a:endParaRPr lang="zh-CN" altLang="en-US" sz="1100" b="0" dirty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单设备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单基地试运行，优化后复制推广</a:t>
                      </a:r>
                      <a:endParaRPr lang="zh-CN" altLang="en-US" sz="1400" dirty="0">
                        <a:solidFill>
                          <a:srgbClr val="33475E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4-6</a:t>
                      </a:r>
                      <a:r>
                        <a:rPr lang="zh-CN" altLang="en-US" sz="1400" b="1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个月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69341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75AC258C-F34A-7D47-97ED-EDE8466F626A}"/>
              </a:ext>
            </a:extLst>
          </p:cNvPr>
          <p:cNvSpPr/>
          <p:nvPr/>
        </p:nvSpPr>
        <p:spPr>
          <a:xfrm>
            <a:off x="762000" y="5334000"/>
            <a:ext cx="10668000" cy="6858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D2CC96-B735-5F4E-B0FD-FCD8D7DCD852}"/>
              </a:ext>
            </a:extLst>
          </p:cNvPr>
          <p:cNvSpPr txBox="1"/>
          <p:nvPr/>
        </p:nvSpPr>
        <p:spPr>
          <a:xfrm>
            <a:off x="1066800" y="5507623"/>
            <a:ext cx="10058400" cy="3385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/>
                </a:solidFill>
                <a:latin typeface="微软雅黑"/>
                <a:ea typeface="微软雅黑"/>
              </a:rPr>
              <a:t>预计</a:t>
            </a:r>
            <a:r>
              <a:rPr lang="en-US" altLang="zh-CN" sz="1600" b="1" dirty="0">
                <a:solidFill>
                  <a:schemeClr val="accent5"/>
                </a:solidFill>
                <a:latin typeface="微软雅黑"/>
                <a:ea typeface="微软雅黑"/>
              </a:rPr>
              <a:t>6</a:t>
            </a:r>
            <a:r>
              <a:rPr lang="zh-CN" altLang="en-US" sz="1600" b="1" dirty="0">
                <a:solidFill>
                  <a:schemeClr val="accent5"/>
                </a:solidFill>
                <a:latin typeface="微软雅黑"/>
                <a:ea typeface="微软雅黑"/>
              </a:rPr>
              <a:t>个月完成两个核心模块的开发并进入试运行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56ADEBE3-5DDF-3440-6330-B04BD48C1F3E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8.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实施路径与阶段计划</a:t>
            </a:r>
          </a:p>
        </p:txBody>
      </p:sp>
    </p:spTree>
    <p:extLst>
      <p:ext uri="{BB962C8B-B14F-4D97-AF65-F5344CB8AC3E}">
        <p14:creationId xmlns:p14="http://schemas.microsoft.com/office/powerpoint/2010/main" val="392410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2A1EC18-5B81-1849-BDE3-5A6D0B83770B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顺序上先保密、后数据 </a:t>
            </a:r>
            <a:r>
              <a:rPr lang="en-US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今天会后即可启动第一步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C5ECBB-A12F-8C46-A22D-3F924E34F42A}"/>
              </a:ext>
            </a:extLst>
          </p:cNvPr>
          <p:cNvSpPr/>
          <p:nvPr/>
        </p:nvSpPr>
        <p:spPr>
          <a:xfrm>
            <a:off x="762000" y="1676400"/>
            <a:ext cx="7035800" cy="38100"/>
          </a:xfrm>
          <a:prstGeom prst="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BE98FC-34A3-0C4C-A61F-9F2106D25FBE}"/>
              </a:ext>
            </a:extLst>
          </p:cNvPr>
          <p:cNvSpPr txBox="1"/>
          <p:nvPr/>
        </p:nvSpPr>
        <p:spPr>
          <a:xfrm>
            <a:off x="762000" y="1320800"/>
            <a:ext cx="7035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A64A0B"/>
                </a:solidFill>
                <a:latin typeface="微软雅黑"/>
                <a:ea typeface="微软雅黑"/>
              </a:rPr>
              <a:t>建议两周内完成 </a:t>
            </a:r>
            <a:r>
              <a:rPr lang="en-US" altLang="zh-CN" sz="1400" b="1">
                <a:solidFill>
                  <a:srgbClr val="A64A0B"/>
                </a:solidFill>
                <a:latin typeface="微软雅黑"/>
                <a:ea typeface="微软雅黑"/>
              </a:rPr>
              <a:t>① – ④</a:t>
            </a:r>
            <a:endParaRPr lang="zh-CN" altLang="en-US" sz="1400" b="1">
              <a:solidFill>
                <a:srgbClr val="A64A0B"/>
              </a:solidFill>
              <a:latin typeface="微软雅黑"/>
              <a:ea typeface="微软雅黑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E10D7D0-8D05-E74A-9DF6-C56107C43E65}"/>
              </a:ext>
            </a:extLst>
          </p:cNvPr>
          <p:cNvSpPr/>
          <p:nvPr/>
        </p:nvSpPr>
        <p:spPr>
          <a:xfrm>
            <a:off x="7620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578620F-2249-824B-B66F-410922A36C81}"/>
              </a:ext>
            </a:extLst>
          </p:cNvPr>
          <p:cNvSpPr/>
          <p:nvPr/>
        </p:nvSpPr>
        <p:spPr>
          <a:xfrm>
            <a:off x="13462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725921-4758-2D48-884E-F16372D5463C}"/>
              </a:ext>
            </a:extLst>
          </p:cNvPr>
          <p:cNvSpPr txBox="1"/>
          <p:nvPr/>
        </p:nvSpPr>
        <p:spPr>
          <a:xfrm>
            <a:off x="8382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签署 </a:t>
            </a:r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NDA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与
合作框架协议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3121551-FFE1-D24E-8EDC-1D3ECEDCA9C5}"/>
              </a:ext>
            </a:extLst>
          </p:cNvPr>
          <p:cNvSpPr/>
          <p:nvPr/>
        </p:nvSpPr>
        <p:spPr>
          <a:xfrm>
            <a:off x="25654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3F32BE8-5EEF-324C-99AA-6A139544C388}"/>
              </a:ext>
            </a:extLst>
          </p:cNvPr>
          <p:cNvSpPr/>
          <p:nvPr/>
        </p:nvSpPr>
        <p:spPr>
          <a:xfrm>
            <a:off x="31496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7D139D-91C7-2048-91BD-E9222C1CAF73}"/>
              </a:ext>
            </a:extLst>
          </p:cNvPr>
          <p:cNvSpPr txBox="1"/>
          <p:nvPr/>
        </p:nvSpPr>
        <p:spPr>
          <a:xfrm>
            <a:off x="26416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提供脱敏
</a:t>
            </a:r>
            <a:r>
              <a:rPr lang="en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点表资料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9469230-6ED0-B444-9063-B5836954135E}"/>
              </a:ext>
            </a:extLst>
          </p:cNvPr>
          <p:cNvSpPr/>
          <p:nvPr/>
        </p:nvSpPr>
        <p:spPr>
          <a:xfrm>
            <a:off x="43688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F2020E8-BCD7-4943-A668-FCE9560516D0}"/>
              </a:ext>
            </a:extLst>
          </p:cNvPr>
          <p:cNvSpPr/>
          <p:nvPr/>
        </p:nvSpPr>
        <p:spPr>
          <a:xfrm>
            <a:off x="49530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8BF29D-FE0E-7842-9C02-BD58E3F778DC}"/>
              </a:ext>
            </a:extLst>
          </p:cNvPr>
          <p:cNvSpPr txBox="1"/>
          <p:nvPr/>
        </p:nvSpPr>
        <p:spPr>
          <a:xfrm>
            <a:off x="44450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深圳线下
技术对接会议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5709DEA-06D6-CE49-ABA2-6986240D7F82}"/>
              </a:ext>
            </a:extLst>
          </p:cNvPr>
          <p:cNvSpPr/>
          <p:nvPr/>
        </p:nvSpPr>
        <p:spPr>
          <a:xfrm>
            <a:off x="6172200" y="1879600"/>
            <a:ext cx="16256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09F1451-6EAB-8943-AE80-FDB8B407E0A9}"/>
              </a:ext>
            </a:extLst>
          </p:cNvPr>
          <p:cNvSpPr/>
          <p:nvPr/>
        </p:nvSpPr>
        <p:spPr>
          <a:xfrm>
            <a:off x="6756400" y="2108200"/>
            <a:ext cx="457200" cy="457200"/>
          </a:xfrm>
          <a:prstGeom prst="ellipse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C9379D-2C71-8A45-9836-C0A744129AFA}"/>
              </a:ext>
            </a:extLst>
          </p:cNvPr>
          <p:cNvSpPr txBox="1"/>
          <p:nvPr/>
        </p:nvSpPr>
        <p:spPr>
          <a:xfrm>
            <a:off x="62484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共同确认
试点产线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D0A5D0E-FDB4-734D-9226-95CECDD12FCD}"/>
              </a:ext>
            </a:extLst>
          </p:cNvPr>
          <p:cNvSpPr/>
          <p:nvPr/>
        </p:nvSpPr>
        <p:spPr>
          <a:xfrm>
            <a:off x="7975600" y="1879600"/>
            <a:ext cx="16256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F52C07D-B2B0-324F-8263-240A1CFAA38E}"/>
              </a:ext>
            </a:extLst>
          </p:cNvPr>
          <p:cNvSpPr/>
          <p:nvPr/>
        </p:nvSpPr>
        <p:spPr>
          <a:xfrm>
            <a:off x="8559800" y="2108200"/>
            <a:ext cx="457200" cy="457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212AA7-9DC3-0646-93C7-3AA567116CF3}"/>
              </a:ext>
            </a:extLst>
          </p:cNvPr>
          <p:cNvSpPr txBox="1"/>
          <p:nvPr/>
        </p:nvSpPr>
        <p:spPr>
          <a:xfrm>
            <a:off x="80518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我方完成
现场调研（</a:t>
            </a:r>
            <a:r>
              <a:rPr lang="en-US" altLang="zh-CN" sz="1400" b="1">
                <a:solidFill>
                  <a:srgbClr val="1F3864"/>
                </a:solidFill>
                <a:latin typeface="微软雅黑"/>
                <a:ea typeface="微软雅黑"/>
              </a:rPr>
              <a:t>1 </a:t>
            </a:r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周）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220BC52-843C-454B-9F8B-EFD28D823943}"/>
              </a:ext>
            </a:extLst>
          </p:cNvPr>
          <p:cNvSpPr/>
          <p:nvPr/>
        </p:nvSpPr>
        <p:spPr>
          <a:xfrm>
            <a:off x="9779000" y="1879600"/>
            <a:ext cx="16256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581E952-8F0A-D149-8532-2B90F8B54DB0}"/>
              </a:ext>
            </a:extLst>
          </p:cNvPr>
          <p:cNvSpPr/>
          <p:nvPr/>
        </p:nvSpPr>
        <p:spPr>
          <a:xfrm>
            <a:off x="10363200" y="2108200"/>
            <a:ext cx="457200" cy="457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2A4C25-6BA9-084B-AF99-D292FD6E5075}"/>
              </a:ext>
            </a:extLst>
          </p:cNvPr>
          <p:cNvSpPr txBox="1"/>
          <p:nvPr/>
        </p:nvSpPr>
        <p:spPr>
          <a:xfrm>
            <a:off x="9855200" y="2717800"/>
            <a:ext cx="14732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1F3864"/>
                </a:solidFill>
                <a:latin typeface="微软雅黑"/>
                <a:ea typeface="微软雅黑"/>
              </a:rPr>
              <a:t>提交详细方案
与精确报价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0AF02CC-6602-C142-8460-B6EED10BC917}"/>
              </a:ext>
            </a:extLst>
          </p:cNvPr>
          <p:cNvSpPr/>
          <p:nvPr/>
        </p:nvSpPr>
        <p:spPr>
          <a:xfrm>
            <a:off x="762000" y="4191000"/>
            <a:ext cx="10668000" cy="8890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156916-100D-FC47-B497-1F4355C6DF2A}"/>
              </a:ext>
            </a:extLst>
          </p:cNvPr>
          <p:cNvSpPr txBox="1"/>
          <p:nvPr/>
        </p:nvSpPr>
        <p:spPr>
          <a:xfrm>
            <a:off x="1066800" y="4443139"/>
            <a:ext cx="10058400" cy="384721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900" b="1" dirty="0">
                <a:solidFill>
                  <a:schemeClr val="accent5"/>
                </a:solidFill>
                <a:latin typeface="微软雅黑"/>
                <a:ea typeface="微软雅黑"/>
              </a:rPr>
              <a:t>我们的承诺：数据不出约定边界 </a:t>
            </a:r>
            <a:r>
              <a:rPr lang="en-US" altLang="zh-CN" sz="1900" b="1" dirty="0">
                <a:solidFill>
                  <a:schemeClr val="accent5"/>
                </a:solidFill>
                <a:latin typeface="微软雅黑"/>
                <a:ea typeface="微软雅黑"/>
              </a:rPr>
              <a:t>· </a:t>
            </a:r>
            <a:r>
              <a:rPr lang="zh-CN" altLang="en-US" sz="1900" b="1" dirty="0">
                <a:solidFill>
                  <a:schemeClr val="accent5"/>
                </a:solidFill>
                <a:latin typeface="微软雅黑"/>
                <a:ea typeface="微软雅黑"/>
              </a:rPr>
              <a:t>技术不进论文 </a:t>
            </a:r>
            <a:r>
              <a:rPr lang="en-US" altLang="zh-CN" sz="1900" b="1" dirty="0">
                <a:solidFill>
                  <a:schemeClr val="accent5"/>
                </a:solidFill>
                <a:latin typeface="微软雅黑"/>
                <a:ea typeface="微软雅黑"/>
              </a:rPr>
              <a:t>· </a:t>
            </a:r>
            <a:r>
              <a:rPr lang="zh-CN" altLang="en-US" sz="1900" b="1" dirty="0">
                <a:solidFill>
                  <a:schemeClr val="accent5"/>
                </a:solidFill>
                <a:latin typeface="微软雅黑"/>
                <a:ea typeface="微软雅黑"/>
              </a:rPr>
              <a:t>只做产业化落地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D9EBD4-4C8F-9249-8F7B-BF54643FDF67}"/>
              </a:ext>
            </a:extLst>
          </p:cNvPr>
          <p:cNvSpPr txBox="1"/>
          <p:nvPr/>
        </p:nvSpPr>
        <p:spPr>
          <a:xfrm>
            <a:off x="762000" y="5308600"/>
            <a:ext cx="10668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今日会后可确认两件事：</a:t>
            </a:r>
            <a:r>
              <a:rPr lang="en" altLang="zh-CN" sz="1500">
                <a:solidFill>
                  <a:srgbClr val="33475E"/>
                </a:solidFill>
                <a:latin typeface="微软雅黑"/>
                <a:ea typeface="微软雅黑"/>
              </a:rPr>
              <a:t>NDA </a:t>
            </a:r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签署时间 </a:t>
            </a:r>
            <a:r>
              <a:rPr lang="en-US" altLang="zh-CN" sz="1500">
                <a:solidFill>
                  <a:srgbClr val="33475E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深圳技术对接会议时间。我方 </a:t>
            </a:r>
            <a:r>
              <a:rPr lang="en" altLang="zh-CN" sz="1500">
                <a:solidFill>
                  <a:srgbClr val="33475E"/>
                </a:solidFill>
                <a:latin typeface="微软雅黑"/>
                <a:ea typeface="微软雅黑"/>
              </a:rPr>
              <a:t>NDA </a:t>
            </a:r>
            <a:r>
              <a:rPr lang="zh-CN" altLang="en-US" sz="1500">
                <a:solidFill>
                  <a:srgbClr val="33475E"/>
                </a:solidFill>
                <a:latin typeface="微软雅黑"/>
                <a:ea typeface="微软雅黑"/>
              </a:rPr>
              <a:t>模板当天发出，贵司法务审定签署后，我方才开始接触任何数据。</a:t>
            </a:r>
          </a:p>
        </p:txBody>
      </p:sp>
      <p:sp>
        <p:nvSpPr>
          <p:cNvPr id="28" name="文本框 1">
            <a:extLst>
              <a:ext uri="{FF2B5EF4-FFF2-40B4-BE49-F238E27FC236}">
                <a16:creationId xmlns:a16="http://schemas.microsoft.com/office/drawing/2014/main" id="{286507E0-AA3E-25D8-204B-55239FEC2C3A}"/>
              </a:ext>
            </a:extLst>
          </p:cNvPr>
          <p:cNvSpPr txBox="1"/>
          <p:nvPr/>
        </p:nvSpPr>
        <p:spPr>
          <a:xfrm>
            <a:off x="461296" y="330200"/>
            <a:ext cx="11130935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F3864"/>
                </a:solidFill>
                <a:latin typeface="微软雅黑"/>
                <a:ea typeface="微软雅黑"/>
              </a:rPr>
              <a:t>10. </a:t>
            </a:r>
            <a:r>
              <a:rPr lang="zh-CN" altLang="en-US" sz="2200" b="1" dirty="0">
                <a:solidFill>
                  <a:srgbClr val="1F3864"/>
                </a:solidFill>
                <a:latin typeface="微软雅黑"/>
                <a:ea typeface="微软雅黑"/>
              </a:rPr>
              <a:t>下一步工作计划：启动六步</a:t>
            </a:r>
          </a:p>
        </p:txBody>
      </p:sp>
    </p:spTree>
    <p:extLst>
      <p:ext uri="{BB962C8B-B14F-4D97-AF65-F5344CB8AC3E}">
        <p14:creationId xmlns:p14="http://schemas.microsoft.com/office/powerpoint/2010/main" val="351865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4C50DD-4918-F444-102F-62EA1573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358DA0-AF1B-565E-F918-5CEF4815282A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12.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实施路径与阶段计划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1D0125-37F4-CB90-F643-D45A70762964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五个阶段小步快跑，每个阶段有明确交付物与验收标准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A8F0FB2-A51D-034C-7CC2-C6C34733B7D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244600"/>
          <a:ext cx="10668000" cy="368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790544235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6038698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59054256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46414211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建设内容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周期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关键交付物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99455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0</a:t>
                      </a:r>
                    </a:p>
                  </a:txBody>
                  <a:tcPr anchor="ctr">
                    <a:solidFill>
                      <a:srgbClr val="4A74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NDA 签署 ＋ 现场调研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1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调研报告、点位评估、实施蓝图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73535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1</a:t>
                      </a:r>
                    </a:p>
                  </a:txBody>
                  <a:tcPr anchor="ctr">
                    <a:solidFill>
                      <a:srgbClr val="3D67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数据接入 ＋ 远程监控 MVP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4–8 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试点线数据底座、实时看板、基础报警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2315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2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AI 异常预警 ＋ 设备健康模型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8–12 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预警模型上线、健康评分、诊断辅助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249288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3</a:t>
                      </a:r>
                    </a:p>
                  </a:txBody>
                  <a:tcPr anchor="ctr">
                    <a:solidFill>
                      <a:srgbClr val="2749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远程运维 ＋ 风控权限系统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8–12 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驾驶舱全功能、分级风控、审计体系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944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4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参数优化 ＋ 多产线复制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3–6 个月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优化建议引擎、复制部署手册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69341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C5C92D28-DC5C-8790-C5F8-9319ED6BF6E6}"/>
              </a:ext>
            </a:extLst>
          </p:cNvPr>
          <p:cNvSpPr/>
          <p:nvPr/>
        </p:nvSpPr>
        <p:spPr>
          <a:xfrm>
            <a:off x="762000" y="5334000"/>
            <a:ext cx="10668000" cy="6858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41EC25-CF45-35EB-9AFE-B56422D4170F}"/>
              </a:ext>
            </a:extLst>
          </p:cNvPr>
          <p:cNvSpPr txBox="1"/>
          <p:nvPr/>
        </p:nvSpPr>
        <p:spPr>
          <a:xfrm>
            <a:off x="1066800" y="5507623"/>
            <a:ext cx="10058400" cy="3385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/>
                <a:ea typeface="微软雅黑"/>
              </a:rPr>
              <a:t>每个阶段独立验收、达标后再启动下一阶段 、</a:t>
            </a:r>
          </a:p>
        </p:txBody>
      </p:sp>
    </p:spTree>
    <p:extLst>
      <p:ext uri="{BB962C8B-B14F-4D97-AF65-F5344CB8AC3E}">
        <p14:creationId xmlns:p14="http://schemas.microsoft.com/office/powerpoint/2010/main" val="402059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21CFE9-FB2E-F84E-8DFB-335D7EB27480}"/>
              </a:ext>
            </a:extLst>
          </p:cNvPr>
          <p:cNvSpPr txBox="1"/>
          <p:nvPr/>
        </p:nvSpPr>
        <p:spPr>
          <a:xfrm>
            <a:off x="736600" y="3302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 dirty="0">
                <a:solidFill>
                  <a:srgbClr val="1F3864"/>
                </a:solidFill>
                <a:latin typeface="微软雅黑"/>
                <a:ea typeface="微软雅黑"/>
              </a:rPr>
              <a:t>8. </a:t>
            </a:r>
            <a:r>
              <a:rPr lang="zh-CN" altLang="en-US" sz="2600" b="1" dirty="0">
                <a:solidFill>
                  <a:srgbClr val="1F3864"/>
                </a:solidFill>
                <a:latin typeface="微软雅黑"/>
                <a:ea typeface="微软雅黑"/>
              </a:rPr>
              <a:t>模块二：远程运维驾驶舱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5981B5-9CA7-B643-A533-DC42E58DDDF5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让一个总部团队管住多地工厂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从「人跟着设备跑」变成「数据跑、人决策」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070C853-A85E-FE45-BA95-22D27FE2073C}"/>
              </a:ext>
            </a:extLst>
          </p:cNvPr>
          <p:cNvSpPr/>
          <p:nvPr/>
        </p:nvSpPr>
        <p:spPr>
          <a:xfrm>
            <a:off x="762000" y="12954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1605FC-6840-4B4E-97FB-8048533EBF2B}"/>
              </a:ext>
            </a:extLst>
          </p:cNvPr>
          <p:cNvSpPr/>
          <p:nvPr/>
        </p:nvSpPr>
        <p:spPr>
          <a:xfrm>
            <a:off x="1041400" y="1600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D6CF11-D355-2142-9665-41763CD99E2E}"/>
              </a:ext>
            </a:extLst>
          </p:cNvPr>
          <p:cNvSpPr txBox="1"/>
          <p:nvPr/>
        </p:nvSpPr>
        <p:spPr>
          <a:xfrm>
            <a:off x="1270000" y="1473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多基地总览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70013E-D840-8D4C-9DED-9B4854EE62FC}"/>
              </a:ext>
            </a:extLst>
          </p:cNvPr>
          <p:cNvSpPr txBox="1"/>
          <p:nvPr/>
        </p:nvSpPr>
        <p:spPr>
          <a:xfrm>
            <a:off x="1041400" y="19558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珠海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云浮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韶关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广州各基地运行状态一屏尽览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B801403-E0EF-6443-99E5-3D52962E5DCE}"/>
              </a:ext>
            </a:extLst>
          </p:cNvPr>
          <p:cNvSpPr/>
          <p:nvPr/>
        </p:nvSpPr>
        <p:spPr>
          <a:xfrm>
            <a:off x="4406900" y="12954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48C47C-1853-8049-8744-C236B0D780C3}"/>
              </a:ext>
            </a:extLst>
          </p:cNvPr>
          <p:cNvSpPr/>
          <p:nvPr/>
        </p:nvSpPr>
        <p:spPr>
          <a:xfrm>
            <a:off x="4686300" y="1600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A6C7E5-86E0-3745-B8E4-955E9AC9E4BF}"/>
              </a:ext>
            </a:extLst>
          </p:cNvPr>
          <p:cNvSpPr txBox="1"/>
          <p:nvPr/>
        </p:nvSpPr>
        <p:spPr>
          <a:xfrm>
            <a:off x="4914900" y="1473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实时监视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BDEA12-AD27-0847-9CBB-A8BC697BC23C}"/>
              </a:ext>
            </a:extLst>
          </p:cNvPr>
          <p:cNvSpPr txBox="1"/>
          <p:nvPr/>
        </p:nvSpPr>
        <p:spPr>
          <a:xfrm>
            <a:off x="4686300" y="19558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关键工艺参数实时曲线，异常项自动置顶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E29EBC75-230D-A14D-8D40-316A0ED96798}"/>
              </a:ext>
            </a:extLst>
          </p:cNvPr>
          <p:cNvSpPr/>
          <p:nvPr/>
        </p:nvSpPr>
        <p:spPr>
          <a:xfrm>
            <a:off x="8051800" y="12954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BADA3F-2F52-BF44-A305-3209F466764B}"/>
              </a:ext>
            </a:extLst>
          </p:cNvPr>
          <p:cNvSpPr/>
          <p:nvPr/>
        </p:nvSpPr>
        <p:spPr>
          <a:xfrm>
            <a:off x="8331200" y="1600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6BC98E-1256-CC46-89D6-9BFAD8A8D936}"/>
              </a:ext>
            </a:extLst>
          </p:cNvPr>
          <p:cNvSpPr txBox="1"/>
          <p:nvPr/>
        </p:nvSpPr>
        <p:spPr>
          <a:xfrm>
            <a:off x="8559800" y="1473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历史回溯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E6C9CE-0837-8D4B-9547-8C9AA22C56AB}"/>
              </a:ext>
            </a:extLst>
          </p:cNvPr>
          <p:cNvSpPr txBox="1"/>
          <p:nvPr/>
        </p:nvSpPr>
        <p:spPr>
          <a:xfrm>
            <a:off x="8331200" y="19558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任意时段参数曲线对比，事件前后追溯分析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733812F-AF45-7442-9B72-A7EA334E5139}"/>
              </a:ext>
            </a:extLst>
          </p:cNvPr>
          <p:cNvSpPr/>
          <p:nvPr/>
        </p:nvSpPr>
        <p:spPr>
          <a:xfrm>
            <a:off x="762000" y="32258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7C2EC6-F798-944F-845A-AA7FCE8F0BCE}"/>
              </a:ext>
            </a:extLst>
          </p:cNvPr>
          <p:cNvSpPr/>
          <p:nvPr/>
        </p:nvSpPr>
        <p:spPr>
          <a:xfrm>
            <a:off x="1041400" y="3530600"/>
            <a:ext cx="114300" cy="1143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53589F-6CB7-2F4E-B756-40CFAB58BFB4}"/>
              </a:ext>
            </a:extLst>
          </p:cNvPr>
          <p:cNvSpPr txBox="1"/>
          <p:nvPr/>
        </p:nvSpPr>
        <p:spPr>
          <a:xfrm>
            <a:off x="1270000" y="3403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分级报警推送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036172-20B7-5945-93A0-27D71F537B9E}"/>
              </a:ext>
            </a:extLst>
          </p:cNvPr>
          <p:cNvSpPr txBox="1"/>
          <p:nvPr/>
        </p:nvSpPr>
        <p:spPr>
          <a:xfrm>
            <a:off x="1041400" y="38862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短信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/ </a:t>
            </a:r>
            <a:r>
              <a:rPr lang="en" altLang="zh-CN" sz="1400">
                <a:solidFill>
                  <a:srgbClr val="33475E"/>
                </a:solidFill>
                <a:latin typeface="微软雅黑"/>
                <a:ea typeface="微软雅黑"/>
              </a:rPr>
              <a:t>App /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电话多通道触达对应责任人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31DA86F-2A22-EB46-B243-030AAEA6391C}"/>
              </a:ext>
            </a:extLst>
          </p:cNvPr>
          <p:cNvSpPr/>
          <p:nvPr/>
        </p:nvSpPr>
        <p:spPr>
          <a:xfrm>
            <a:off x="4406900" y="32258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A138C7-5109-D44A-8914-78CDE297FF73}"/>
              </a:ext>
            </a:extLst>
          </p:cNvPr>
          <p:cNvSpPr/>
          <p:nvPr/>
        </p:nvSpPr>
        <p:spPr>
          <a:xfrm>
            <a:off x="4686300" y="3530600"/>
            <a:ext cx="114300" cy="1143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1204C3-263A-2747-B665-2D98BEC9F8E5}"/>
              </a:ext>
            </a:extLst>
          </p:cNvPr>
          <p:cNvSpPr txBox="1"/>
          <p:nvPr/>
        </p:nvSpPr>
        <p:spPr>
          <a:xfrm>
            <a:off x="4914900" y="3403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巡检机器人联动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4819F6-1962-3643-9C1E-8B891098792E}"/>
              </a:ext>
            </a:extLst>
          </p:cNvPr>
          <p:cNvSpPr txBox="1"/>
          <p:nvPr/>
        </p:nvSpPr>
        <p:spPr>
          <a:xfrm>
            <a:off x="4686300" y="38862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机器人发现漏点，自动挂起事件工单并闭环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A98E5B08-7BB4-B347-B241-5842DA9700D7}"/>
              </a:ext>
            </a:extLst>
          </p:cNvPr>
          <p:cNvSpPr/>
          <p:nvPr/>
        </p:nvSpPr>
        <p:spPr>
          <a:xfrm>
            <a:off x="8051800" y="3225800"/>
            <a:ext cx="3378200" cy="1727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314FE1-7DA2-3A46-9E57-F213DD318E64}"/>
              </a:ext>
            </a:extLst>
          </p:cNvPr>
          <p:cNvSpPr/>
          <p:nvPr/>
        </p:nvSpPr>
        <p:spPr>
          <a:xfrm>
            <a:off x="8331200" y="3530600"/>
            <a:ext cx="114300" cy="114300"/>
          </a:xfrm>
          <a:prstGeom prst="rect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028889C-C6C0-934C-9E41-CB89C0B865E9}"/>
              </a:ext>
            </a:extLst>
          </p:cNvPr>
          <p:cNvSpPr txBox="1"/>
          <p:nvPr/>
        </p:nvSpPr>
        <p:spPr>
          <a:xfrm>
            <a:off x="8559800" y="34036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日报月报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21076D7-1269-564C-8A68-6694762204A8}"/>
              </a:ext>
            </a:extLst>
          </p:cNvPr>
          <p:cNvSpPr txBox="1"/>
          <p:nvPr/>
        </p:nvSpPr>
        <p:spPr>
          <a:xfrm>
            <a:off x="8331200" y="3886200"/>
            <a:ext cx="28448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产量、能耗、报警、维保报告自动生成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EF4F40E0-BA31-E247-A118-CB9FEA7759D0}"/>
              </a:ext>
            </a:extLst>
          </p:cNvPr>
          <p:cNvSpPr/>
          <p:nvPr/>
        </p:nvSpPr>
        <p:spPr>
          <a:xfrm>
            <a:off x="762000" y="5308600"/>
            <a:ext cx="10668000" cy="7112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511D94-EFAE-B84B-9798-84054D00DCE4}"/>
              </a:ext>
            </a:extLst>
          </p:cNvPr>
          <p:cNvSpPr txBox="1"/>
          <p:nvPr/>
        </p:nvSpPr>
        <p:spPr>
          <a:xfrm>
            <a:off x="1066800" y="5308600"/>
            <a:ext cx="100584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价值：运维响应从「小时级」提升到「分钟级」，多基地共享一个专家团队</a:t>
            </a:r>
          </a:p>
        </p:txBody>
      </p:sp>
    </p:spTree>
    <p:extLst>
      <p:ext uri="{BB962C8B-B14F-4D97-AF65-F5344CB8AC3E}">
        <p14:creationId xmlns:p14="http://schemas.microsoft.com/office/powerpoint/2010/main" val="2060060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E3BADA-B82B-0C44-BA5F-F887644447A7}"/>
              </a:ext>
            </a:extLst>
          </p:cNvPr>
          <p:cNvSpPr txBox="1"/>
          <p:nvPr/>
        </p:nvSpPr>
        <p:spPr>
          <a:xfrm>
            <a:off x="736600" y="330200"/>
            <a:ext cx="965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9.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模块三：</a:t>
            </a:r>
            <a:r>
              <a:rPr lang="en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AI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异常预警与设备健康模型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455C33-F259-4240-AF82-543342EC7E17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CN" sz="140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的第一战场不是控制，而是「比报警早一步」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把事后处置变成事前干预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1E27FA1-2DBA-6B45-9EC1-B84840584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00797"/>
              </p:ext>
            </p:extLst>
          </p:nvPr>
        </p:nvGraphicFramePr>
        <p:xfrm>
          <a:off x="762000" y="1244600"/>
          <a:ext cx="10668000" cy="381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525572237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1333131521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六项 AI 能力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解决什么问题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0766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温度异常趋势预警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在越限报警之前识别爬升 / 漂移趋势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34968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压力波动模式识别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发现异常波动模式，提示工况劣化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138137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堵塞风险预测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多参数关联分析，提前提示管道堵塞倾向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56802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泄漏风险识别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融合传感器数据与巡检机器人监测结果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89177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设备健康评分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关键机组健康度量化，指导预防性维护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87823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故障原因辅助判断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报警发生时推送相似历史案例与排查建议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817070"/>
                  </a:ext>
                </a:extLst>
              </a:tr>
            </a:tbl>
          </a:graphicData>
        </a:graphic>
      </p:graphicFrame>
      <p:sp>
        <p:nvSpPr>
          <p:cNvPr id="6" name="圆角矩形 5">
            <a:extLst>
              <a:ext uri="{FF2B5EF4-FFF2-40B4-BE49-F238E27FC236}">
                <a16:creationId xmlns:a16="http://schemas.microsoft.com/office/drawing/2014/main" id="{86106DF2-EB32-A340-A057-F17F664CB8B5}"/>
              </a:ext>
            </a:extLst>
          </p:cNvPr>
          <p:cNvSpPr/>
          <p:nvPr/>
        </p:nvSpPr>
        <p:spPr>
          <a:xfrm>
            <a:off x="762000" y="5334000"/>
            <a:ext cx="10668000" cy="685800"/>
          </a:xfrm>
          <a:prstGeom prst="round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53C7F8-2F36-F746-8530-95CF8088004D}"/>
              </a:ext>
            </a:extLst>
          </p:cNvPr>
          <p:cNvSpPr txBox="1"/>
          <p:nvPr/>
        </p:nvSpPr>
        <p:spPr>
          <a:xfrm>
            <a:off x="1066800" y="5334000"/>
            <a:ext cx="10058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定位：</a:t>
            </a:r>
            <a:r>
              <a:rPr lang="en" altLang="zh-CN" sz="1600" b="1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输出「预警 ＋ 建议」，处置决策由人执行 </a:t>
            </a:r>
            <a:r>
              <a:rPr lang="en-US" altLang="zh-CN" sz="1600" b="1">
                <a:solidFill>
                  <a:srgbClr val="FFFFFF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辅助决策，不替代人</a:t>
            </a:r>
          </a:p>
        </p:txBody>
      </p:sp>
    </p:spTree>
    <p:extLst>
      <p:ext uri="{BB962C8B-B14F-4D97-AF65-F5344CB8AC3E}">
        <p14:creationId xmlns:p14="http://schemas.microsoft.com/office/powerpoint/2010/main" val="292788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48FEA2E-4BCC-3749-B7B4-D42CA446AC38}"/>
              </a:ext>
            </a:extLst>
          </p:cNvPr>
          <p:cNvSpPr txBox="1"/>
          <p:nvPr/>
        </p:nvSpPr>
        <p:spPr>
          <a:xfrm>
            <a:off x="736600" y="330200"/>
            <a:ext cx="838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10.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模块四：工艺参数优化与产率提升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6C93C55-B0C4-1341-980A-1E6FB169A30B}"/>
              </a:ext>
            </a:extLst>
          </p:cNvPr>
          <p:cNvSpPr/>
          <p:nvPr/>
        </p:nvSpPr>
        <p:spPr>
          <a:xfrm>
            <a:off x="9347200" y="381000"/>
            <a:ext cx="2082800" cy="381000"/>
          </a:xfrm>
          <a:prstGeom prst="roundRect">
            <a:avLst/>
          </a:prstGeom>
          <a:solidFill>
            <a:srgbClr val="A64A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第二 </a:t>
            </a:r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/ 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三阶段启动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5FB86A-FA65-C240-B229-4CC91A7B98AF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当数据底座和预警体系跑稳之后，</a:t>
            </a:r>
            <a:r>
              <a:rPr lang="en" altLang="zh-CN" sz="140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才进入「帮设备多赚钱」的阶段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37BB1BF-B77B-3A45-8652-3695B34B9E19}"/>
              </a:ext>
            </a:extLst>
          </p:cNvPr>
          <p:cNvSpPr/>
          <p:nvPr/>
        </p:nvSpPr>
        <p:spPr>
          <a:xfrm>
            <a:off x="762000" y="12700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0EAB5-74A5-8643-B687-5003C7C642A6}"/>
              </a:ext>
            </a:extLst>
          </p:cNvPr>
          <p:cNvSpPr/>
          <p:nvPr/>
        </p:nvSpPr>
        <p:spPr>
          <a:xfrm>
            <a:off x="1041400" y="15494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80CFE4-AD66-D64B-9258-24BA67470786}"/>
              </a:ext>
            </a:extLst>
          </p:cNvPr>
          <p:cNvSpPr txBox="1"/>
          <p:nvPr/>
        </p:nvSpPr>
        <p:spPr>
          <a:xfrm>
            <a:off x="1270000" y="1422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进料速度优化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68DC28-9C3A-384C-AEDE-F849B953F2DE}"/>
              </a:ext>
            </a:extLst>
          </p:cNvPr>
          <p:cNvSpPr txBox="1"/>
          <p:nvPr/>
        </p:nvSpPr>
        <p:spPr>
          <a:xfrm>
            <a:off x="1041400" y="18796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稳定工况、减少波动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6CB19F3-EC64-FE4F-BE7C-C4E3DF17CB4A}"/>
              </a:ext>
            </a:extLst>
          </p:cNvPr>
          <p:cNvSpPr/>
          <p:nvPr/>
        </p:nvSpPr>
        <p:spPr>
          <a:xfrm>
            <a:off x="4406900" y="12700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242A8-DA54-1440-A230-1D15D16B7600}"/>
              </a:ext>
            </a:extLst>
          </p:cNvPr>
          <p:cNvSpPr/>
          <p:nvPr/>
        </p:nvSpPr>
        <p:spPr>
          <a:xfrm>
            <a:off x="4686300" y="15494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AA3C5D-6701-AC4A-AB19-9ACB827B8A4C}"/>
              </a:ext>
            </a:extLst>
          </p:cNvPr>
          <p:cNvSpPr txBox="1"/>
          <p:nvPr/>
        </p:nvSpPr>
        <p:spPr>
          <a:xfrm>
            <a:off x="4914900" y="1422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炉温曲线优化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DC3945-A8DE-DC46-B0FC-A81B588F0941}"/>
              </a:ext>
            </a:extLst>
          </p:cNvPr>
          <p:cNvSpPr txBox="1"/>
          <p:nvPr/>
        </p:nvSpPr>
        <p:spPr>
          <a:xfrm>
            <a:off x="4686300" y="18796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在安全区间内寻找更优温度策略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1CB3AC4-E242-E041-8DB6-FCE8AD0881CA}"/>
              </a:ext>
            </a:extLst>
          </p:cNvPr>
          <p:cNvSpPr/>
          <p:nvPr/>
        </p:nvSpPr>
        <p:spPr>
          <a:xfrm>
            <a:off x="8051800" y="12700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2E4E92-ABFE-DC4A-9732-B2E8A3196571}"/>
              </a:ext>
            </a:extLst>
          </p:cNvPr>
          <p:cNvSpPr/>
          <p:nvPr/>
        </p:nvSpPr>
        <p:spPr>
          <a:xfrm>
            <a:off x="8331200" y="15494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24EC11-4A26-184C-923F-AAE83080E67C}"/>
              </a:ext>
            </a:extLst>
          </p:cNvPr>
          <p:cNvSpPr txBox="1"/>
          <p:nvPr/>
        </p:nvSpPr>
        <p:spPr>
          <a:xfrm>
            <a:off x="8559800" y="14224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冷凝效率优化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C80A2D-828F-EC43-9DDD-DCA26B4F1882}"/>
              </a:ext>
            </a:extLst>
          </p:cNvPr>
          <p:cNvSpPr txBox="1"/>
          <p:nvPr/>
        </p:nvSpPr>
        <p:spPr>
          <a:xfrm>
            <a:off x="8331200" y="18796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提升目标产物回收效率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E574748-77FB-944D-B467-7739FDB8E04E}"/>
              </a:ext>
            </a:extLst>
          </p:cNvPr>
          <p:cNvSpPr/>
          <p:nvPr/>
        </p:nvSpPr>
        <p:spPr>
          <a:xfrm>
            <a:off x="762000" y="28448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F46A20-398D-8A46-B6F8-A932E08F8E8A}"/>
              </a:ext>
            </a:extLst>
          </p:cNvPr>
          <p:cNvSpPr/>
          <p:nvPr/>
        </p:nvSpPr>
        <p:spPr>
          <a:xfrm>
            <a:off x="1041400" y="3124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87C74A-C6FC-E541-ABC3-E4A47F5EEDE2}"/>
              </a:ext>
            </a:extLst>
          </p:cNvPr>
          <p:cNvSpPr txBox="1"/>
          <p:nvPr/>
        </p:nvSpPr>
        <p:spPr>
          <a:xfrm>
            <a:off x="1270000" y="2997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原料适配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D1C6AD-172C-1840-914D-A2ECCD18CBE1}"/>
              </a:ext>
            </a:extLst>
          </p:cNvPr>
          <p:cNvSpPr txBox="1"/>
          <p:nvPr/>
        </p:nvSpPr>
        <p:spPr>
          <a:xfrm>
            <a:off x="1041400" y="34544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不同塑料配比下的参数推荐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EDBF0C8-DC4C-5B40-B543-EEC20E4CB297}"/>
              </a:ext>
            </a:extLst>
          </p:cNvPr>
          <p:cNvSpPr/>
          <p:nvPr/>
        </p:nvSpPr>
        <p:spPr>
          <a:xfrm>
            <a:off x="4406900" y="28448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D1B585-3096-C141-ADB7-DFA4C949C9B5}"/>
              </a:ext>
            </a:extLst>
          </p:cNvPr>
          <p:cNvSpPr/>
          <p:nvPr/>
        </p:nvSpPr>
        <p:spPr>
          <a:xfrm>
            <a:off x="4686300" y="3124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94F42D-A1AA-E648-AB02-9E243CC9BCF9}"/>
              </a:ext>
            </a:extLst>
          </p:cNvPr>
          <p:cNvSpPr txBox="1"/>
          <p:nvPr/>
        </p:nvSpPr>
        <p:spPr>
          <a:xfrm>
            <a:off x="4914900" y="2997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出油率预测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CE7F96C-8A27-9C42-8929-EF68FC0600A3}"/>
              </a:ext>
            </a:extLst>
          </p:cNvPr>
          <p:cNvSpPr txBox="1"/>
          <p:nvPr/>
        </p:nvSpPr>
        <p:spPr>
          <a:xfrm>
            <a:off x="4686300" y="34544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投料前预估产出，支撑排产与销售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7CC17E5-2217-C74E-B81B-B380775FF178}"/>
              </a:ext>
            </a:extLst>
          </p:cNvPr>
          <p:cNvSpPr/>
          <p:nvPr/>
        </p:nvSpPr>
        <p:spPr>
          <a:xfrm>
            <a:off x="8051800" y="2844800"/>
            <a:ext cx="3378200" cy="139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6EDF31-E1B7-7440-8471-2CC3410D6C0C}"/>
              </a:ext>
            </a:extLst>
          </p:cNvPr>
          <p:cNvSpPr/>
          <p:nvPr/>
        </p:nvSpPr>
        <p:spPr>
          <a:xfrm>
            <a:off x="8331200" y="3124200"/>
            <a:ext cx="114300" cy="114300"/>
          </a:xfrm>
          <a:prstGeom prst="rect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2B671B-02DA-4348-9F9A-6BB215B4331D}"/>
              </a:ext>
            </a:extLst>
          </p:cNvPr>
          <p:cNvSpPr txBox="1"/>
          <p:nvPr/>
        </p:nvSpPr>
        <p:spPr>
          <a:xfrm>
            <a:off x="8559800" y="2997200"/>
            <a:ext cx="266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F3864"/>
                </a:solidFill>
                <a:latin typeface="微软雅黑"/>
                <a:ea typeface="微软雅黑"/>
              </a:rPr>
              <a:t>能耗优化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750A93-7422-B146-B8DB-15A8702D68A8}"/>
              </a:ext>
            </a:extLst>
          </p:cNvPr>
          <p:cNvSpPr txBox="1"/>
          <p:nvPr/>
        </p:nvSpPr>
        <p:spPr>
          <a:xfrm>
            <a:off x="8331200" y="3454400"/>
            <a:ext cx="28448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单位产出能耗持续下降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14416CD1-10C0-A24B-97C6-C95E32C57B57}"/>
              </a:ext>
            </a:extLst>
          </p:cNvPr>
          <p:cNvSpPr/>
          <p:nvPr/>
        </p:nvSpPr>
        <p:spPr>
          <a:xfrm>
            <a:off x="762000" y="4470400"/>
            <a:ext cx="10668000" cy="15494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A64A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21A590-9980-0F45-A2F9-1EDFE9258FED}"/>
              </a:ext>
            </a:extLst>
          </p:cNvPr>
          <p:cNvSpPr txBox="1"/>
          <p:nvPr/>
        </p:nvSpPr>
        <p:spPr>
          <a:xfrm>
            <a:off x="1066800" y="46482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A64A0B"/>
                </a:solidFill>
                <a:latin typeface="微软雅黑"/>
                <a:ea typeface="微软雅黑"/>
              </a:rPr>
              <a:t>启动前提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ADAA4F2-F9B1-6E40-AF17-F65C2680434D}"/>
              </a:ext>
            </a:extLst>
          </p:cNvPr>
          <p:cNvSpPr txBox="1"/>
          <p:nvPr/>
        </p:nvSpPr>
        <p:spPr>
          <a:xfrm>
            <a:off x="1066800" y="5054600"/>
            <a:ext cx="10058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≥ </a:t>
            </a:r>
            <a:r>
              <a:rPr lang="en-US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3–6 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个月稳定运行数据积累　</a:t>
            </a:r>
            <a:r>
              <a:rPr lang="en-US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　与贵司工艺专家联合标定　</a:t>
            </a:r>
            <a:r>
              <a:rPr lang="en-US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·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　所有优化建议经人工确认后执行
没有足够数据支撑的「优化」是猜测，不是 </a:t>
            </a:r>
            <a:r>
              <a:rPr lang="en" altLang="zh-CN" sz="1400" dirty="0">
                <a:solidFill>
                  <a:srgbClr val="33475E"/>
                </a:solidFill>
                <a:latin typeface="微软雅黑"/>
                <a:ea typeface="微软雅黑"/>
              </a:rPr>
              <a:t>AI —— </a:t>
            </a:r>
            <a:r>
              <a:rPr lang="zh-CN" altLang="en-US" sz="1400" dirty="0">
                <a:solidFill>
                  <a:srgbClr val="33475E"/>
                </a:solidFill>
                <a:latin typeface="微软雅黑"/>
                <a:ea typeface="微软雅黑"/>
              </a:rPr>
              <a:t>本阶段前不承诺任何具体产率提升数字</a:t>
            </a:r>
          </a:p>
        </p:txBody>
      </p:sp>
    </p:spTree>
    <p:extLst>
      <p:ext uri="{BB962C8B-B14F-4D97-AF65-F5344CB8AC3E}">
        <p14:creationId xmlns:p14="http://schemas.microsoft.com/office/powerpoint/2010/main" val="2927355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DA4A2F-744D-D548-9C8D-69ECFA701D9A}"/>
              </a:ext>
            </a:extLst>
          </p:cNvPr>
          <p:cNvSpPr txBox="1"/>
          <p:nvPr/>
        </p:nvSpPr>
        <p:spPr>
          <a:xfrm>
            <a:off x="736600" y="3302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11.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模块五：设备销售后的远程风控与权限管理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6169B3-182F-E744-93C0-D74A2C6E4E52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把合同条款变成技术上可执行、法律上可举证、安全上有兜底的分级机制 </a:t>
            </a:r>
            <a:r>
              <a:rPr lang="en-US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不是「一键关机」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FB433F9-8062-0A40-99CC-AD3220071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99569"/>
              </p:ext>
            </p:extLst>
          </p:nvPr>
        </p:nvGraphicFramePr>
        <p:xfrm>
          <a:off x="762000" y="1244600"/>
          <a:ext cx="106680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42804924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30659087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666102419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78235242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触发条件（示例）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措施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安全保障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49406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L1 提醒</a:t>
                      </a:r>
                    </a:p>
                  </a:txBody>
                  <a:tcPr anchor="ctr">
                    <a:solidFill>
                      <a:srgbClr val="4A74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合同状态异常预警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系统通知 ＋ 商务提醒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不影响运行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98695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L2 限制</a:t>
                      </a:r>
                    </a:p>
                  </a:txBody>
                  <a:tcPr anchor="ctr">
                    <a:solidFill>
                      <a:srgbClr val="3D67A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逾期达约定期限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限制非核心功能（报表 / 优化服务）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不影响安全运行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8792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L3 降载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持续违约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按 SOP 引导降负荷运行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联锁保护全程有效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7434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L4 安全停机</a:t>
                      </a:r>
                    </a:p>
                  </a:txBody>
                  <a:tcPr anchor="ctr">
                    <a:solidFill>
                      <a:srgbClr val="A64A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严重违约（合同明确约定）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预通知 → 多级审批 → 按工艺 SOP 有序停车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rgbClr val="33475E"/>
                          </a:solidFill>
                          <a:latin typeface="微软雅黑"/>
                          <a:ea typeface="微软雅黑"/>
                        </a:rPr>
                        <a:t>PLC 联锁兜底，绝非瞬时断电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1869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4B62189-0C79-1345-AF29-C98FC298BBDE}"/>
              </a:ext>
            </a:extLst>
          </p:cNvPr>
          <p:cNvSpPr txBox="1"/>
          <p:nvPr/>
        </p:nvSpPr>
        <p:spPr>
          <a:xfrm>
            <a:off x="762000" y="5257800"/>
            <a:ext cx="116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五道防线：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5C2E2F-312A-2945-92BC-D23FE558B27E}"/>
              </a:ext>
            </a:extLst>
          </p:cNvPr>
          <p:cNvSpPr/>
          <p:nvPr/>
        </p:nvSpPr>
        <p:spPr>
          <a:xfrm>
            <a:off x="20066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设备授权绑定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21B01E6-7CC2-0346-ACB8-DD5B97908B5B}"/>
              </a:ext>
            </a:extLst>
          </p:cNvPr>
          <p:cNvSpPr/>
          <p:nvPr/>
        </p:nvSpPr>
        <p:spPr>
          <a:xfrm>
            <a:off x="39243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合同状态校验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C97E899-C835-C643-B864-19303F1E6A83}"/>
              </a:ext>
            </a:extLst>
          </p:cNvPr>
          <p:cNvSpPr/>
          <p:nvPr/>
        </p:nvSpPr>
        <p:spPr>
          <a:xfrm>
            <a:off x="58420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多级审批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96F0BF-27A7-F943-BF15-FC2718BAB991}"/>
              </a:ext>
            </a:extLst>
          </p:cNvPr>
          <p:cNvSpPr/>
          <p:nvPr/>
        </p:nvSpPr>
        <p:spPr>
          <a:xfrm>
            <a:off x="77597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操作审计留痕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77E7831-5641-E945-9A1A-0FAE6F181777}"/>
              </a:ext>
            </a:extLst>
          </p:cNvPr>
          <p:cNvSpPr/>
          <p:nvPr/>
        </p:nvSpPr>
        <p:spPr>
          <a:xfrm>
            <a:off x="9677400" y="5181600"/>
            <a:ext cx="1752600" cy="482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防篡改日志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E92C2D-0028-3F40-8491-59BE858ADE37}"/>
              </a:ext>
            </a:extLst>
          </p:cNvPr>
          <p:cNvSpPr txBox="1"/>
          <p:nvPr/>
        </p:nvSpPr>
        <p:spPr>
          <a:xfrm>
            <a:off x="762000" y="57404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所有措施以购销合同中的明确授权条款为前提，法务先行；每一步操作有审批、有日志、可举证。</a:t>
            </a:r>
          </a:p>
        </p:txBody>
      </p:sp>
    </p:spTree>
    <p:extLst>
      <p:ext uri="{BB962C8B-B14F-4D97-AF65-F5344CB8AC3E}">
        <p14:creationId xmlns:p14="http://schemas.microsoft.com/office/powerpoint/2010/main" val="396728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2162468-0C6D-4B46-B1ED-621D0ABC2028}"/>
              </a:ext>
            </a:extLst>
          </p:cNvPr>
          <p:cNvSpPr txBox="1"/>
          <p:nvPr/>
        </p:nvSpPr>
        <p:spPr>
          <a:xfrm>
            <a:off x="736600" y="330200"/>
            <a:ext cx="10414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7.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模块一：设备数据底座与 </a:t>
            </a:r>
            <a:r>
              <a:rPr lang="en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SCADA / MES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数据接入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DE75AF-AC9A-3146-9820-4879C4FF78C2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先把「设备数据」完整、准确、带时间戳地存下来 </a:t>
            </a:r>
            <a:r>
              <a:rPr lang="en-US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数据底座是所有 </a:t>
            </a:r>
            <a:r>
              <a:rPr lang="en" altLang="zh-CN" sz="1400" dirty="0">
                <a:solidFill>
                  <a:srgbClr val="5B6E88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 dirty="0">
                <a:solidFill>
                  <a:srgbClr val="5B6E88"/>
                </a:solidFill>
                <a:latin typeface="微软雅黑"/>
                <a:ea typeface="微软雅黑"/>
              </a:rPr>
              <a:t>能力的地基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C026A99-7AEB-1941-99E8-121250E72F7C}"/>
              </a:ext>
            </a:extLst>
          </p:cNvPr>
          <p:cNvSpPr/>
          <p:nvPr/>
        </p:nvSpPr>
        <p:spPr>
          <a:xfrm>
            <a:off x="762000" y="12700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工艺数据
温度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压力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流量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液位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D8A5A4D-2D9A-DD4E-8052-2A76654A533B}"/>
              </a:ext>
            </a:extLst>
          </p:cNvPr>
          <p:cNvSpPr/>
          <p:nvPr/>
        </p:nvSpPr>
        <p:spPr>
          <a:xfrm>
            <a:off x="762000" y="22606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运行数据
报警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启停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产量批次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2E1153-2E31-C94F-890D-91C1BD5F7CFA}"/>
              </a:ext>
            </a:extLst>
          </p:cNvPr>
          <p:cNvSpPr/>
          <p:nvPr/>
        </p:nvSpPr>
        <p:spPr>
          <a:xfrm>
            <a:off x="762000" y="32512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维保数据
故障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维修工单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备件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52DF61A-44F0-654D-AD89-1CD1DCCE31BB}"/>
              </a:ext>
            </a:extLst>
          </p:cNvPr>
          <p:cNvSpPr/>
          <p:nvPr/>
        </p:nvSpPr>
        <p:spPr>
          <a:xfrm>
            <a:off x="762000" y="4241800"/>
            <a:ext cx="2603500" cy="812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安防数据
巡检漏点 </a:t>
            </a:r>
            <a:r>
              <a:rPr lang="en-US" altLang="zh-CN" sz="14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b="1" dirty="0">
                <a:solidFill>
                  <a:srgbClr val="1F3864"/>
                </a:solidFill>
                <a:latin typeface="微软雅黑"/>
                <a:ea typeface="微软雅黑"/>
              </a:rPr>
              <a:t>消防状态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729C8ADE-75F2-F240-ADE3-FAD3AA57DC82}"/>
              </a:ext>
            </a:extLst>
          </p:cNvPr>
          <p:cNvSpPr/>
          <p:nvPr/>
        </p:nvSpPr>
        <p:spPr>
          <a:xfrm>
            <a:off x="3454400" y="2743200"/>
            <a:ext cx="660400" cy="457200"/>
          </a:xfrm>
          <a:prstGeom prst="rightArrow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F95CE73B-3FFA-CF4D-90E5-74A3759C3BC8}"/>
              </a:ext>
            </a:extLst>
          </p:cNvPr>
          <p:cNvSpPr/>
          <p:nvPr/>
        </p:nvSpPr>
        <p:spPr>
          <a:xfrm>
            <a:off x="7594600" y="2743200"/>
            <a:ext cx="660400" cy="457200"/>
          </a:xfrm>
          <a:prstGeom prst="rightArrow">
            <a:avLst/>
          </a:prstGeom>
          <a:solidFill>
            <a:srgbClr val="0F9E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57BCEFD-06F1-2642-A0A7-93C0F5299989}"/>
              </a:ext>
            </a:extLst>
          </p:cNvPr>
          <p:cNvSpPr/>
          <p:nvPr/>
        </p:nvSpPr>
        <p:spPr>
          <a:xfrm>
            <a:off x="4216400" y="1270000"/>
            <a:ext cx="3276600" cy="37084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49A925-5F97-4042-A279-9350DA2887CF}"/>
              </a:ext>
            </a:extLst>
          </p:cNvPr>
          <p:cNvSpPr txBox="1"/>
          <p:nvPr/>
        </p:nvSpPr>
        <p:spPr>
          <a:xfrm>
            <a:off x="4216400" y="1498600"/>
            <a:ext cx="3276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/>
                <a:ea typeface="微软雅黑"/>
              </a:rPr>
              <a:t>设备数据底座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856B11-95C0-E648-A51C-8A313B4430A1}"/>
              </a:ext>
            </a:extLst>
          </p:cNvPr>
          <p:cNvSpPr txBox="1"/>
          <p:nvPr/>
        </p:nvSpPr>
        <p:spPr>
          <a:xfrm>
            <a:off x="4419600" y="2006600"/>
            <a:ext cx="28702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边缘网关就近采集
断网缓存 </a:t>
            </a:r>
            <a:r>
              <a:rPr lang="en-US" altLang="zh-CN" sz="1400" dirty="0">
                <a:solidFill>
                  <a:srgbClr val="D5E1F2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断点续传
时序数据库统一存储
统一时间戳 </a:t>
            </a:r>
            <a:r>
              <a:rPr lang="en-US" altLang="zh-CN" sz="1400" dirty="0">
                <a:solidFill>
                  <a:srgbClr val="D5E1F2"/>
                </a:solidFill>
                <a:latin typeface="微软雅黑"/>
                <a:ea typeface="微软雅黑"/>
              </a:rPr>
              <a:t>· </a:t>
            </a:r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统一点位命名
与 </a:t>
            </a:r>
            <a:r>
              <a:rPr lang="en" altLang="zh-CN" sz="1400" dirty="0">
                <a:solidFill>
                  <a:srgbClr val="D5E1F2"/>
                </a:solidFill>
                <a:latin typeface="微软雅黑"/>
                <a:ea typeface="微软雅黑"/>
              </a:rPr>
              <a:t>SCADA / MES
</a:t>
            </a:r>
            <a:r>
              <a:rPr lang="zh-CN" altLang="en-US" sz="1400" dirty="0">
                <a:solidFill>
                  <a:srgbClr val="D5E1F2"/>
                </a:solidFill>
                <a:latin typeface="微软雅黑"/>
                <a:ea typeface="微软雅黑"/>
              </a:rPr>
              <a:t>预留标准接口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A9BD945-725F-8546-9D56-9EF21B9C8249}"/>
              </a:ext>
            </a:extLst>
          </p:cNvPr>
          <p:cNvSpPr/>
          <p:nvPr/>
        </p:nvSpPr>
        <p:spPr>
          <a:xfrm>
            <a:off x="8356600" y="1473200"/>
            <a:ext cx="3073400" cy="863600"/>
          </a:xfrm>
          <a:prstGeom prst="roundRect">
            <a:avLst/>
          </a:prstGeom>
          <a:solidFill>
            <a:srgbClr val="EAF1FA"/>
          </a:solidFill>
          <a:ln w="12700" cap="flat" cmpd="sng" algn="ctr">
            <a:solidFill>
              <a:srgbClr val="B7C9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远程运维驾驶舱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5493464-1360-4547-80DA-6E952F4BA87B}"/>
              </a:ext>
            </a:extLst>
          </p:cNvPr>
          <p:cNvSpPr/>
          <p:nvPr/>
        </p:nvSpPr>
        <p:spPr>
          <a:xfrm>
            <a:off x="8356600" y="2641600"/>
            <a:ext cx="3073400" cy="863600"/>
          </a:xfrm>
          <a:prstGeom prst="roundRect">
            <a:avLst/>
          </a:prstGeom>
          <a:solidFill>
            <a:srgbClr val="EAF1FA"/>
          </a:solidFill>
          <a:ln w="12700" cap="flat" cmpd="sng" algn="ctr">
            <a:solidFill>
              <a:srgbClr val="B7C9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en" altLang="zh-CN" sz="1500" b="1">
                <a:solidFill>
                  <a:srgbClr val="1F3864"/>
                </a:solidFill>
                <a:latin typeface="微软雅黑"/>
                <a:ea typeface="微软雅黑"/>
              </a:rPr>
              <a:t>AI </a:t>
            </a:r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模型训练与异常预警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B082313-EDAB-1A44-8C8E-E42F7C7B1350}"/>
              </a:ext>
            </a:extLst>
          </p:cNvPr>
          <p:cNvSpPr/>
          <p:nvPr/>
        </p:nvSpPr>
        <p:spPr>
          <a:xfrm>
            <a:off x="8356600" y="3810000"/>
            <a:ext cx="3073400" cy="863600"/>
          </a:xfrm>
          <a:prstGeom prst="roundRect">
            <a:avLst/>
          </a:prstGeom>
          <a:solidFill>
            <a:srgbClr val="EAF1FA"/>
          </a:solidFill>
          <a:ln w="12700" cap="flat" cmpd="sng" algn="ctr">
            <a:solidFill>
              <a:srgbClr val="B7C9E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zh-CN" altLang="en-US" sz="1500" b="1">
                <a:solidFill>
                  <a:srgbClr val="1F3864"/>
                </a:solidFill>
                <a:latin typeface="微软雅黑"/>
                <a:ea typeface="微软雅黑"/>
              </a:rPr>
              <a:t>报表与数据资产沉淀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A96EB21-5129-AC43-A918-0E0E469582CD}"/>
              </a:ext>
            </a:extLst>
          </p:cNvPr>
          <p:cNvSpPr/>
          <p:nvPr/>
        </p:nvSpPr>
        <p:spPr>
          <a:xfrm>
            <a:off x="762000" y="5257800"/>
            <a:ext cx="10668000" cy="7366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2CF002-97A8-4546-B3D1-A1F975AD328D}"/>
              </a:ext>
            </a:extLst>
          </p:cNvPr>
          <p:cNvSpPr txBox="1"/>
          <p:nvPr/>
        </p:nvSpPr>
        <p:spPr>
          <a:xfrm>
            <a:off x="1066800" y="5257800"/>
            <a:ext cx="10058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交付物：一套可查询、可回溯、可授权访问的设备数据资产　</a:t>
            </a:r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</a:rPr>
              <a:t>　部署在贵司指定环境内，访问全程权限化、审计留痕</a:t>
            </a:r>
          </a:p>
        </p:txBody>
      </p:sp>
    </p:spTree>
    <p:extLst>
      <p:ext uri="{BB962C8B-B14F-4D97-AF65-F5344CB8AC3E}">
        <p14:creationId xmlns:p14="http://schemas.microsoft.com/office/powerpoint/2010/main" val="36396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937A67-9F20-0A49-9C59-DA476267D01C}"/>
              </a:ext>
            </a:extLst>
          </p:cNvPr>
          <p:cNvSpPr txBox="1"/>
          <p:nvPr/>
        </p:nvSpPr>
        <p:spPr>
          <a:xfrm>
            <a:off x="736600" y="330200"/>
            <a:ext cx="9652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600" b="1">
                <a:solidFill>
                  <a:srgbClr val="1F3864"/>
                </a:solidFill>
                <a:latin typeface="微软雅黑"/>
                <a:ea typeface="微软雅黑"/>
              </a:rPr>
              <a:t>13. </a:t>
            </a:r>
            <a:r>
              <a:rPr lang="zh-CN" altLang="en-US" sz="2600" b="1">
                <a:solidFill>
                  <a:srgbClr val="1F3864"/>
                </a:solidFill>
                <a:latin typeface="微软雅黑"/>
                <a:ea typeface="微软雅黑"/>
              </a:rPr>
              <a:t>试点线建设方案：先做一条「模范线」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91C079-1238-2845-90FD-80C7079538A8}"/>
              </a:ext>
            </a:extLst>
          </p:cNvPr>
          <p:cNvSpPr txBox="1"/>
          <p:nvPr/>
        </p:nvSpPr>
        <p:spPr>
          <a:xfrm>
            <a:off x="762000" y="838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跑通全流程、验证全价值，再复制 </a:t>
            </a:r>
            <a:r>
              <a:rPr lang="en-US" altLang="zh-CN" sz="1400">
                <a:solidFill>
                  <a:srgbClr val="5B6E88"/>
                </a:solidFill>
                <a:latin typeface="微软雅黑"/>
                <a:ea typeface="微软雅黑"/>
              </a:rPr>
              <a:t>—— </a:t>
            </a:r>
            <a:r>
              <a:rPr lang="zh-CN" altLang="en-US" sz="1400">
                <a:solidFill>
                  <a:srgbClr val="5B6E88"/>
                </a:solidFill>
                <a:latin typeface="微软雅黑"/>
                <a:ea typeface="微软雅黑"/>
              </a:rPr>
              <a:t>不建议全厂一次性铺开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8998B84-16CE-394B-943D-A0AC781D634B}"/>
              </a:ext>
            </a:extLst>
          </p:cNvPr>
          <p:cNvSpPr/>
          <p:nvPr/>
        </p:nvSpPr>
        <p:spPr>
          <a:xfrm>
            <a:off x="762000" y="1244600"/>
            <a:ext cx="3886200" cy="3657600"/>
          </a:xfrm>
          <a:prstGeom prst="round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CDD1D4-B5D1-9B45-B788-F1917BFE2399}"/>
              </a:ext>
            </a:extLst>
          </p:cNvPr>
          <p:cNvSpPr txBox="1"/>
          <p:nvPr/>
        </p:nvSpPr>
        <p:spPr>
          <a:xfrm>
            <a:off x="1066800" y="14732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>
                <a:solidFill>
                  <a:srgbClr val="FFFFFF"/>
                </a:solidFill>
                <a:latin typeface="微软雅黑"/>
                <a:ea typeface="微软雅黑"/>
              </a:rPr>
              <a:t>为什么先做试点线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555CFB-798D-804A-A77E-1E8A066119BF}"/>
              </a:ext>
            </a:extLst>
          </p:cNvPr>
          <p:cNvSpPr txBox="1"/>
          <p:nvPr/>
        </p:nvSpPr>
        <p:spPr>
          <a:xfrm>
            <a:off x="1066800" y="1930400"/>
            <a:ext cx="3302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D5E1F2"/>
                </a:solidFill>
                <a:latin typeface="微软雅黑"/>
                <a:ea typeface="微软雅黑"/>
              </a:rPr>
              <a:t>风险最小
不干扰其他产线正常生产
见效最快
</a:t>
            </a:r>
            <a:r>
              <a:rPr lang="en-US" altLang="zh-CN" sz="1400">
                <a:solidFill>
                  <a:srgbClr val="D5E1F2"/>
                </a:solidFill>
                <a:latin typeface="微软雅黑"/>
                <a:ea typeface="微软雅黑"/>
              </a:rPr>
              <a:t>8 </a:t>
            </a:r>
            <a:r>
              <a:rPr lang="zh-CN" altLang="en-US" sz="1400">
                <a:solidFill>
                  <a:srgbClr val="D5E1F2"/>
                </a:solidFill>
                <a:latin typeface="微软雅黑"/>
                <a:ea typeface="微软雅黑"/>
              </a:rPr>
              <a:t>周内看到第一版可用系统
标准先行
试点沉淀的点表规范、部署手册
即是「</a:t>
            </a:r>
            <a:r>
              <a:rPr lang="en-US" altLang="zh-CN" sz="1400">
                <a:solidFill>
                  <a:srgbClr val="D5E1F2"/>
                </a:solidFill>
                <a:latin typeface="微软雅黑"/>
                <a:ea typeface="微软雅黑"/>
              </a:rPr>
              <a:t>1 → </a:t>
            </a:r>
            <a:r>
              <a:rPr lang="en" altLang="zh-CN" sz="1400">
                <a:solidFill>
                  <a:srgbClr val="D5E1F2"/>
                </a:solidFill>
                <a:latin typeface="微软雅黑"/>
                <a:ea typeface="微软雅黑"/>
              </a:rPr>
              <a:t>N</a:t>
            </a:r>
            <a:r>
              <a:rPr lang="zh-CN" altLang="en" sz="1400">
                <a:solidFill>
                  <a:srgbClr val="D5E1F2"/>
                </a:solidFill>
                <a:latin typeface="微软雅黑"/>
                <a:ea typeface="微软雅黑"/>
              </a:rPr>
              <a:t>」</a:t>
            </a:r>
            <a:r>
              <a:rPr lang="zh-CN" altLang="en-US" sz="1400">
                <a:solidFill>
                  <a:srgbClr val="D5E1F2"/>
                </a:solidFill>
                <a:latin typeface="微软雅黑"/>
                <a:ea typeface="微软雅黑"/>
              </a:rPr>
              <a:t>复制模板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41DF263-DE42-774B-A2DC-B8D1CB1ED064}"/>
              </a:ext>
            </a:extLst>
          </p:cNvPr>
          <p:cNvSpPr/>
          <p:nvPr/>
        </p:nvSpPr>
        <p:spPr>
          <a:xfrm>
            <a:off x="4953000" y="1244600"/>
            <a:ext cx="6477000" cy="3657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DE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4323F8-DE59-5345-8B50-C663FE0A28C4}"/>
              </a:ext>
            </a:extLst>
          </p:cNvPr>
          <p:cNvSpPr txBox="1"/>
          <p:nvPr/>
        </p:nvSpPr>
        <p:spPr>
          <a:xfrm>
            <a:off x="5257800" y="14732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700" b="1">
                <a:solidFill>
                  <a:srgbClr val="1F3864"/>
                </a:solidFill>
                <a:latin typeface="微软雅黑"/>
                <a:ea typeface="微软雅黑"/>
              </a:rPr>
              <a:t>试点线六项建设内容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B65A184-499C-B847-804B-0798BACCE235}"/>
              </a:ext>
            </a:extLst>
          </p:cNvPr>
          <p:cNvSpPr/>
          <p:nvPr/>
        </p:nvSpPr>
        <p:spPr>
          <a:xfrm>
            <a:off x="5257800" y="19558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722F28-0F9A-7040-868F-4B1F9CAF8540}"/>
              </a:ext>
            </a:extLst>
          </p:cNvPr>
          <p:cNvSpPr txBox="1"/>
          <p:nvPr/>
        </p:nvSpPr>
        <p:spPr>
          <a:xfrm>
            <a:off x="5740400" y="19685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CN" sz="1400">
                <a:solidFill>
                  <a:srgbClr val="33475E"/>
                </a:solidFill>
                <a:latin typeface="微软雅黑"/>
                <a:ea typeface="微软雅黑"/>
              </a:rPr>
              <a:t>PLC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数据接入（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100+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点位采集验证）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C9E9FDA-071D-E64E-B705-B2C82546FD36}"/>
              </a:ext>
            </a:extLst>
          </p:cNvPr>
          <p:cNvSpPr/>
          <p:nvPr/>
        </p:nvSpPr>
        <p:spPr>
          <a:xfrm>
            <a:off x="5257800" y="24384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97A606-99FF-0C46-9A2B-0F7753365212}"/>
              </a:ext>
            </a:extLst>
          </p:cNvPr>
          <p:cNvSpPr txBox="1"/>
          <p:nvPr/>
        </p:nvSpPr>
        <p:spPr>
          <a:xfrm>
            <a:off x="5740400" y="24511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实时运行看板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9E1FDA2-9C18-3145-B2BD-DBF4ED8590FD}"/>
              </a:ext>
            </a:extLst>
          </p:cNvPr>
          <p:cNvSpPr/>
          <p:nvPr/>
        </p:nvSpPr>
        <p:spPr>
          <a:xfrm>
            <a:off x="5257800" y="29210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7D4CEB-B800-9D4F-A6FE-616901E2333F}"/>
              </a:ext>
            </a:extLst>
          </p:cNvPr>
          <p:cNvSpPr txBox="1"/>
          <p:nvPr/>
        </p:nvSpPr>
        <p:spPr>
          <a:xfrm>
            <a:off x="5740400" y="29337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历史趋势查询与对比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F95C0B0-6F08-7341-92EE-4D3625ED755E}"/>
              </a:ext>
            </a:extLst>
          </p:cNvPr>
          <p:cNvSpPr/>
          <p:nvPr/>
        </p:nvSpPr>
        <p:spPr>
          <a:xfrm>
            <a:off x="5257800" y="34036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BDF64B-F19D-DC46-8EAE-D040EDEE1037}"/>
              </a:ext>
            </a:extLst>
          </p:cNvPr>
          <p:cNvSpPr txBox="1"/>
          <p:nvPr/>
        </p:nvSpPr>
        <p:spPr>
          <a:xfrm>
            <a:off x="5740400" y="34163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基础报警与分级推送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277432A-8505-1343-87CC-B2D48530C7BD}"/>
              </a:ext>
            </a:extLst>
          </p:cNvPr>
          <p:cNvSpPr/>
          <p:nvPr/>
        </p:nvSpPr>
        <p:spPr>
          <a:xfrm>
            <a:off x="5257800" y="38862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581C73-BEE7-9249-B655-01F98F219902}"/>
              </a:ext>
            </a:extLst>
          </p:cNvPr>
          <p:cNvSpPr txBox="1"/>
          <p:nvPr/>
        </p:nvSpPr>
        <p:spPr>
          <a:xfrm>
            <a:off x="5740400" y="38989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zh-CN" sz="1400">
                <a:solidFill>
                  <a:srgbClr val="33475E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异常预警（首批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2–3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个高价值场景）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766B8D8-B311-A041-8B11-9375A0194F0C}"/>
              </a:ext>
            </a:extLst>
          </p:cNvPr>
          <p:cNvSpPr/>
          <p:nvPr/>
        </p:nvSpPr>
        <p:spPr>
          <a:xfrm>
            <a:off x="5257800" y="4368800"/>
            <a:ext cx="330200" cy="330200"/>
          </a:xfrm>
          <a:prstGeom prst="ellipse">
            <a:avLst/>
          </a:prstGeom>
          <a:solidFill>
            <a:srgbClr val="2F559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  <a:endParaRPr lang="zh-CN" altLang="en-US"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AD79B9-3FED-9B4F-A335-DEA8E7FD8E46}"/>
              </a:ext>
            </a:extLst>
          </p:cNvPr>
          <p:cNvSpPr txBox="1"/>
          <p:nvPr/>
        </p:nvSpPr>
        <p:spPr>
          <a:xfrm>
            <a:off x="5740400" y="4381500"/>
            <a:ext cx="5461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远程运维工作流（事件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—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工单 </a:t>
            </a:r>
            <a:r>
              <a:rPr lang="en-US" altLang="zh-CN" sz="1400">
                <a:solidFill>
                  <a:srgbClr val="33475E"/>
                </a:solidFill>
                <a:latin typeface="微软雅黑"/>
                <a:ea typeface="微软雅黑"/>
              </a:rPr>
              <a:t>— </a:t>
            </a:r>
            <a:r>
              <a:rPr lang="zh-CN" altLang="en-US" sz="1400">
                <a:solidFill>
                  <a:srgbClr val="33475E"/>
                </a:solidFill>
                <a:latin typeface="微软雅黑"/>
                <a:ea typeface="微软雅黑"/>
              </a:rPr>
              <a:t>闭环）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264EBE3-CEB8-2448-9376-38DE9DBE2F08}"/>
              </a:ext>
            </a:extLst>
          </p:cNvPr>
          <p:cNvSpPr/>
          <p:nvPr/>
        </p:nvSpPr>
        <p:spPr>
          <a:xfrm>
            <a:off x="762000" y="5181600"/>
            <a:ext cx="10668000" cy="8128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0EAC32-F4AE-A346-9514-4EF7C23123EB}"/>
              </a:ext>
            </a:extLst>
          </p:cNvPr>
          <p:cNvSpPr txBox="1"/>
          <p:nvPr/>
        </p:nvSpPr>
        <p:spPr>
          <a:xfrm>
            <a:off x="1066800" y="5426417"/>
            <a:ext cx="10058400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zh-CN" altLang="en-US" sz="1500" b="1" dirty="0">
                <a:solidFill>
                  <a:srgbClr val="1F3864"/>
                </a:solidFill>
                <a:latin typeface="微软雅黑"/>
                <a:ea typeface="微软雅黑"/>
              </a:rPr>
              <a:t>选线建议：数据条件好 </a:t>
            </a:r>
            <a:r>
              <a:rPr lang="en-US" altLang="zh-CN" sz="15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 dirty="0">
                <a:solidFill>
                  <a:srgbClr val="1F3864"/>
                </a:solidFill>
                <a:latin typeface="微软雅黑"/>
                <a:ea typeface="微软雅黑"/>
              </a:rPr>
              <a:t>工况有代表性 </a:t>
            </a:r>
            <a:r>
              <a:rPr lang="en-US" altLang="zh-CN" sz="1500" b="1" dirty="0">
                <a:solidFill>
                  <a:srgbClr val="1F3864"/>
                </a:solidFill>
                <a:latin typeface="微软雅黑"/>
                <a:ea typeface="微软雅黑"/>
              </a:rPr>
              <a:t>· </a:t>
            </a:r>
            <a:r>
              <a:rPr lang="zh-CN" altLang="en-US" sz="1500" b="1" dirty="0">
                <a:solidFill>
                  <a:srgbClr val="1F3864"/>
                </a:solidFill>
                <a:latin typeface="微软雅黑"/>
                <a:ea typeface="微软雅黑"/>
              </a:rPr>
              <a:t>现场配合度高　</a:t>
            </a:r>
          </a:p>
        </p:txBody>
      </p:sp>
    </p:spTree>
    <p:extLst>
      <p:ext uri="{BB962C8B-B14F-4D97-AF65-F5344CB8AC3E}">
        <p14:creationId xmlns:p14="http://schemas.microsoft.com/office/powerpoint/2010/main" val="27723489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a95972d9-9211-461b-9cc1-7eb56a47a51a"/>
</p:tagLst>
</file>

<file path=ppt/theme/theme1.xml><?xml version="1.0" encoding="utf-8"?>
<a:theme xmlns:a="http://schemas.openxmlformats.org/drawingml/2006/main" name="Office 主题​​ [1783308780289]">
  <a:themeElements>
    <a:clrScheme name="Office">
      <a:dk1>
        <a:srgbClr val="1F3864"/>
      </a:dk1>
      <a:lt1>
        <a:srgbClr val="FFFFFF"/>
      </a:lt1>
      <a:dk2>
        <a:srgbClr val="0E2841"/>
      </a:dk2>
      <a:lt2>
        <a:srgbClr val="EDF1F6"/>
      </a:lt2>
      <a:accent1>
        <a:srgbClr val="2F5597"/>
      </a:accent1>
      <a:accent2>
        <a:srgbClr val="E97132"/>
      </a:accent2>
      <a:accent3>
        <a:srgbClr val="0F9ED5"/>
      </a:accent3>
      <a:accent4>
        <a:srgbClr val="8FAADC"/>
      </a:accent4>
      <a:accent5>
        <a:srgbClr val="44546A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 panose="02110004020202020204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 panose="02110004020202020204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3F2F61-67CF-B348-B271-49C943B083C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68ebd87-802b-4b13-80b8-f387511d35c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2220</Words>
  <Application>Microsoft Macintosh PowerPoint</Application>
  <PresentationFormat>宽屏</PresentationFormat>
  <Paragraphs>295</Paragraphs>
  <Slides>17</Slides>
  <Notes>0</Notes>
  <HiddenSlides>7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Microsoft YaHei</vt:lpstr>
      <vt:lpstr>Microsoft YaHei</vt:lpstr>
      <vt:lpstr>Arial Unicode MS</vt:lpstr>
      <vt:lpstr>League Spartan</vt:lpstr>
      <vt:lpstr>Aptos</vt:lpstr>
      <vt:lpstr>Arial</vt:lpstr>
      <vt:lpstr>Courier New</vt:lpstr>
      <vt:lpstr>Office 主题​​ [1783308780289]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奕慷 李</dc:creator>
  <cp:lastModifiedBy>奕慷 李</cp:lastModifiedBy>
  <cp:revision>4</cp:revision>
  <dcterms:created xsi:type="dcterms:W3CDTF">2026-07-06T03:24:03Z</dcterms:created>
  <dcterms:modified xsi:type="dcterms:W3CDTF">2026-07-13T02:18:06Z</dcterms:modified>
</cp:coreProperties>
</file>